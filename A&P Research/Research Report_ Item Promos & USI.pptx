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Proxima Nova"/>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6" name="Vassili Samolis"/>
  <p:cmAuthor clrIdx="1" id="1" initials="" lastIdx="4" name="Kelly Peterson"/>
  <p:cmAuthor clrIdx="2" id="2" initials="" lastIdx="2" name="Charles Lee"/>
  <p:cmAuthor clrIdx="3" id="3" initials="" lastIdx="1" name="Joanne Le"/>
  <p:cmAuthor clrIdx="4" id="4" initials="" lastIdx="1" name="Erin Butler"/>
  <p:cmAuthor clrIdx="5" id="5" initials="" lastIdx="1" name="Olivia Xu"/>
  <p:cmAuthor clrIdx="6" id="6" initials="" lastIdx="1" name="Jeremy Friedland"/>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7077B52-D3A9-42B8-AD11-62ACA520BC4F}">
  <a:tblStyle styleId="{67077B52-D3A9-42B8-AD11-62ACA520BC4F}"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roximaNova-bold.fntdata"/><Relationship Id="rId30" Type="http://schemas.openxmlformats.org/officeDocument/2006/relationships/font" Target="fonts/ProximaNova-regular.fntdata"/><Relationship Id="rId11" Type="http://schemas.openxmlformats.org/officeDocument/2006/relationships/slide" Target="slides/slide5.xml"/><Relationship Id="rId33" Type="http://schemas.openxmlformats.org/officeDocument/2006/relationships/font" Target="fonts/ProximaNova-boldItalic.fntdata"/><Relationship Id="rId10" Type="http://schemas.openxmlformats.org/officeDocument/2006/relationships/slide" Target="slides/slide4.xml"/><Relationship Id="rId32" Type="http://schemas.openxmlformats.org/officeDocument/2006/relationships/font" Target="fonts/ProximaNova-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4-09-06T18:01:14.282">
    <p:pos x="2060" y="856"/>
    <p:text>@kelly.peterson@doordash.com Do you mean instead of "free item" to say "free app" or "free drink" ?</p:text>
  </p:cm>
  <p:cm authorId="1" idx="1" dt="2024-09-06T13:40:49.874">
    <p:pos x="2060" y="856"/>
    <p:text>Correct, today Cx assume the worst case scenario (in terms of value) when they see free item.  By clarifying what is free (or the value of it) we can remove the guess work and potentially garner more interest in visiting these Mx.  I am working with Natalie, Joanne &amp; Lindsay now on a quick UXR to assess some options.</p:text>
  </p:cm>
  <p:cm authorId="0" idx="2" dt="2024-09-06T14:04:18.350">
    <p:pos x="2060" y="856"/>
    <p:text>@charles.lee@doordash.com @mauricio@doordash.com wdyt?</p:text>
  </p:cm>
  <p:cm authorId="2" idx="1" dt="2024-09-06T17:10:08.361">
    <p:pos x="2060" y="856"/>
    <p:text>this is a good one that we chatted about in the past. the POV was that
- Free {item name} e.g. 10pc chicken nuggets  --&gt; wont scale 
- Free {category name}- e.g. appetizer, drink--&gt; very hard to do/scale without a standardized menu structure &amp; catalog mapping. 
if we believe free item is the most critical item promo type- i would question if store badge is the right merchandising. e.g. we can. 
1. leverage item carousel 
2. leverage other store cell format that showcases key items (remember Spotlight SP anyone :P )
cc @joanne.le@doordash.com @natalie.binns@doordash.com
1 total reaction
Joanne Le reacted with ➕ at 2024-09-06 17:56 PM</p:text>
  </p:cm>
  <p:cm authorId="3" idx="1" dt="2024-09-06T18:01:14.282">
    <p:pos x="2060" y="856"/>
    <p:text>Yep, also something we were exploring from Deals Hub work was tappable badges that opens the items or showing max value of the savings but ultimately best way to communicate the value of item promos is to merchandise the items.</p:text>
  </p:cm>
  <p:cm authorId="0" idx="3" dt="2024-09-06T14:03:55.805">
    <p:pos x="232" y="856"/>
    <p:text>@kelly.peterson@doordash.com I don't understand this</p:text>
  </p:cm>
  <p:cm authorId="1" idx="2" dt="2024-09-06T13:39:31.132">
    <p:pos x="232" y="856"/>
    <p:text>Sorry for the confusion! This refers to when you click to see more details about the item and promo from the USI.  Cx found the information we provided confusing and had difficulty because we don't always follow a consistent format/information structure for these details.  I am recommending that we work with content to create a template that Mx can fill in with their item details so it shows consistently to Cx.  This will help them understand the value, requirements and limitations more quickly.</p:text>
  </p:cm>
  <p:cm authorId="0" idx="4" dt="2024-09-06T14:03:55.805">
    <p:pos x="232" y="856"/>
    <p:text>makes sense - thank you</p:text>
  </p:cm>
  <p:cm authorId="0" idx="5" dt="2024-09-06T11:53:37.771">
    <p:pos x="232" y="956"/>
    <p:text>@natalie.binns@doordash.com What is the minimum value we allow for today?</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4" idx="1" dt="2024-09-05T18:07:38.168">
    <p:pos x="2715" y="1236"/>
    <p:text>what flexibility are they expecting that we dont have ? just more items on bogo ?</p:text>
  </p:cm>
  <p:cm authorId="1" idx="3" dt="2024-09-05T18:07:38.168">
    <p:pos x="2715" y="1236"/>
    <p:text>This is likely skewed by a few folks who had recently run into issues with a chipotle BOGO.  They knew they had to get 2 make your own bowls but didn't know every item in the bowl had to be exactly the same.  They feel like if you cant switch up a sauce or an item within the free item it makes it less appealing.</p:text>
  </p:cm>
  <p:cm authorId="0" idx="6" dt="2024-09-10T17:57:18.330">
    <p:pos x="2715" y="1336"/>
    <p:text>@charles.lee@doordash.com what is our minimum today?</p:text>
  </p:cm>
  <p:cm authorId="2" idx="2" dt="2024-09-06T16:45:24.160">
    <p:pos x="2715" y="1336"/>
    <p:text>@natalie.binns@doordash.com @olivia.xu@doordash.com</p:text>
  </p:cm>
  <p:cm authorId="5" idx="1" dt="2024-09-10T17:57:18.330">
    <p:pos x="2715" y="1336"/>
    <p:text>badging requires $4+ for item promos (portal and ads manager aligned). Badge cart level promo min is $3 and default recommendation for spend x get y in portal today is 20% off $15 (up to $5 discount). 
We're revisit default portal  recommendations especially with learnings from ongoing subtotal min test</p:text>
  </p:cm>
  <p:cm authorId="6" idx="1" dt="2024-08-15T17:57:21.513">
    <p:pos x="2715" y="1436"/>
    <p:text>I assume relative to stores menu price? or was 25 cited across?</p:text>
  </p:cm>
  <p:cm authorId="1" idx="4" dt="2024-08-15T17:57:21.513">
    <p:pos x="2715" y="1436"/>
    <p:text>25 was cited across the respondents we spoke to, some Cx spoke about it relative to ordering size (e.g. single vs as a group) but didn't talk much about the Rx itself.</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2c4d88aa37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 name="Google Shape;39;g2c4d88aa37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77522063e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77522063e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2f23b9ed74e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2f23b9ed74e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f23b9ed74e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f23b9ed74e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d53ba846a_0_1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d53ba846a_0_1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2f23b9ed74e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2f23b9ed74e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f23b9ed74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f23b9ed74e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ce2659bd7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ce2659bd7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f0b3460cdd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f0b3460cdd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2f0b3460cdd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2f0b3460cd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f0b3460cd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f0b3460cd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f23b9ed74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f23b9ed74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f23b9ed74e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f23b9ed74e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f0b3460cdd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f0b3460cdd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f0b3460cd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f0b3460cd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f0b3460cdd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f0b3460cd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f0b3460cd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f0b3460cd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f0b3460cdd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f0b3460cd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f23b9ed74e_0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f23b9ed74e_0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f23b9ed74e_0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f23b9ed74e_0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f23b9ed74e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f23b9ed74e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f23b9ed74e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f23b9ed74e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d53ba846a_0_1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d53ba846a_0_1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type="title">
  <p:cSld name="TITLE">
    <p:spTree>
      <p:nvGrpSpPr>
        <p:cNvPr id="6" name="Shape 6"/>
        <p:cNvGrpSpPr/>
        <p:nvPr/>
      </p:nvGrpSpPr>
      <p:grpSpPr>
        <a:xfrm>
          <a:off x="0" y="0"/>
          <a:ext cx="0" cy="0"/>
          <a:chOff x="0" y="0"/>
          <a:chExt cx="0" cy="0"/>
        </a:xfrm>
      </p:grpSpPr>
      <p:sp>
        <p:nvSpPr>
          <p:cNvPr id="7" name="Google Shape;7;p2"/>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8" name="Google Shape;8;p2"/>
          <p:cNvPicPr preferRelativeResize="0"/>
          <p:nvPr/>
        </p:nvPicPr>
        <p:blipFill>
          <a:blip r:embed="rId2">
            <a:alphaModFix/>
          </a:blip>
          <a:stretch>
            <a:fillRect/>
          </a:stretch>
        </p:blipFill>
        <p:spPr>
          <a:xfrm>
            <a:off x="8197738" y="269687"/>
            <a:ext cx="297201" cy="168825"/>
          </a:xfrm>
          <a:prstGeom prst="rect">
            <a:avLst/>
          </a:prstGeom>
          <a:noFill/>
          <a:ln>
            <a:noFill/>
          </a:ln>
        </p:spPr>
      </p:pic>
      <p:sp>
        <p:nvSpPr>
          <p:cNvPr id="9" name="Google Shape;9;p2"/>
          <p:cNvSpPr txBox="1"/>
          <p:nvPr/>
        </p:nvSpPr>
        <p:spPr>
          <a:xfrm>
            <a:off x="649063" y="154275"/>
            <a:ext cx="1497600" cy="321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00">
                <a:solidFill>
                  <a:srgbClr val="CCCCCC"/>
                </a:solidFill>
                <a:latin typeface="Proxima Nova"/>
                <a:ea typeface="Proxima Nova"/>
                <a:cs typeface="Proxima Nova"/>
                <a:sym typeface="Proxima Nova"/>
              </a:rPr>
              <a:t>Presentation Subject</a:t>
            </a:r>
            <a:endParaRPr sz="900">
              <a:solidFill>
                <a:srgbClr val="CCCCCC"/>
              </a:solidFill>
              <a:latin typeface="Proxima Nova"/>
              <a:ea typeface="Proxima Nova"/>
              <a:cs typeface="Proxima Nova"/>
              <a:sym typeface="Proxima Nov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without header">
  <p:cSld name="TITLE_2">
    <p:spTree>
      <p:nvGrpSpPr>
        <p:cNvPr id="10" name="Shape 10"/>
        <p:cNvGrpSpPr/>
        <p:nvPr/>
      </p:nvGrpSpPr>
      <p:grpSpPr>
        <a:xfrm>
          <a:off x="0" y="0"/>
          <a:ext cx="0" cy="0"/>
          <a:chOff x="0" y="0"/>
          <a:chExt cx="0" cy="0"/>
        </a:xfrm>
      </p:grpSpPr>
      <p:sp>
        <p:nvSpPr>
          <p:cNvPr id="11" name="Google Shape;11;p3"/>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2" name="Google Shape;12;p3"/>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Master">
  <p:cSld name="TITLE_1">
    <p:bg>
      <p:bgPr>
        <a:solidFill>
          <a:srgbClr val="F3F3F3"/>
        </a:solidFill>
      </p:bgPr>
    </p:bg>
    <p:spTree>
      <p:nvGrpSpPr>
        <p:cNvPr id="13" name="Shape 13"/>
        <p:cNvGrpSpPr/>
        <p:nvPr/>
      </p:nvGrpSpPr>
      <p:grpSpPr>
        <a:xfrm>
          <a:off x="0" y="0"/>
          <a:ext cx="0" cy="0"/>
          <a:chOff x="0" y="0"/>
          <a:chExt cx="0" cy="0"/>
        </a:xfrm>
      </p:grpSpPr>
      <p:sp>
        <p:nvSpPr>
          <p:cNvPr id="14" name="Google Shape;14;p4"/>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5" name="Google Shape;15;p4"/>
          <p:cNvPicPr preferRelativeResize="0"/>
          <p:nvPr/>
        </p:nvPicPr>
        <p:blipFill>
          <a:blip r:embed="rId2">
            <a:alphaModFix/>
          </a:blip>
          <a:stretch>
            <a:fillRect/>
          </a:stretch>
        </p:blipFill>
        <p:spPr>
          <a:xfrm>
            <a:off x="8197738" y="269687"/>
            <a:ext cx="297201" cy="168825"/>
          </a:xfrm>
          <a:prstGeom prst="rect">
            <a:avLst/>
          </a:prstGeom>
          <a:noFill/>
          <a:ln>
            <a:noFill/>
          </a:ln>
        </p:spPr>
      </p:pic>
      <p:sp>
        <p:nvSpPr>
          <p:cNvPr id="16" name="Google Shape;16;p4"/>
          <p:cNvSpPr txBox="1"/>
          <p:nvPr/>
        </p:nvSpPr>
        <p:spPr>
          <a:xfrm>
            <a:off x="649063" y="154275"/>
            <a:ext cx="1497600" cy="3213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900">
                <a:solidFill>
                  <a:srgbClr val="CCCCCC"/>
                </a:solidFill>
                <a:latin typeface="Proxima Nova"/>
                <a:ea typeface="Proxima Nova"/>
                <a:cs typeface="Proxima Nova"/>
                <a:sym typeface="Proxima Nova"/>
              </a:rPr>
              <a:t>Presentation Subject</a:t>
            </a:r>
            <a:endParaRPr sz="900">
              <a:solidFill>
                <a:srgbClr val="CCCCCC"/>
              </a:solidFill>
              <a:latin typeface="Proxima Nova"/>
              <a:ea typeface="Proxima Nova"/>
              <a:cs typeface="Proxima Nova"/>
              <a:sym typeface="Proxima Nov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d" type="secHead">
  <p:cSld name="SECTION_HEADER">
    <p:bg>
      <p:bgPr>
        <a:solidFill>
          <a:srgbClr val="E23208"/>
        </a:solidFill>
      </p:bgPr>
    </p:bg>
    <p:spTree>
      <p:nvGrpSpPr>
        <p:cNvPr id="17" name="Shape 17"/>
        <p:cNvGrpSpPr/>
        <p:nvPr/>
      </p:nvGrpSpPr>
      <p:grpSpPr>
        <a:xfrm>
          <a:off x="0" y="0"/>
          <a:ext cx="0" cy="0"/>
          <a:chOff x="0" y="0"/>
          <a:chExt cx="0" cy="0"/>
        </a:xfrm>
      </p:grpSpPr>
      <p:sp>
        <p:nvSpPr>
          <p:cNvPr id="18" name="Google Shape;18;p5"/>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19" name="Google Shape;19;p5"/>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cean">
  <p:cSld name="SECTION_HEADER_2">
    <p:bg>
      <p:bgPr>
        <a:solidFill>
          <a:srgbClr val="518C8F"/>
        </a:solidFill>
      </p:bgPr>
    </p:bg>
    <p:spTree>
      <p:nvGrpSpPr>
        <p:cNvPr id="20" name="Shape 20"/>
        <p:cNvGrpSpPr/>
        <p:nvPr/>
      </p:nvGrpSpPr>
      <p:grpSpPr>
        <a:xfrm>
          <a:off x="0" y="0"/>
          <a:ext cx="0" cy="0"/>
          <a:chOff x="0" y="0"/>
          <a:chExt cx="0" cy="0"/>
        </a:xfrm>
      </p:grpSpPr>
      <p:sp>
        <p:nvSpPr>
          <p:cNvPr id="21" name="Google Shape;21;p6"/>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6"/>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lush">
  <p:cSld name="SECTION_HEADER_1">
    <p:bg>
      <p:bgPr>
        <a:solidFill>
          <a:srgbClr val="E5BBB7"/>
        </a:solidFill>
      </p:bgPr>
    </p:bg>
    <p:spTree>
      <p:nvGrpSpPr>
        <p:cNvPr id="23" name="Shape 23"/>
        <p:cNvGrpSpPr/>
        <p:nvPr/>
      </p:nvGrpSpPr>
      <p:grpSpPr>
        <a:xfrm>
          <a:off x="0" y="0"/>
          <a:ext cx="0" cy="0"/>
          <a:chOff x="0" y="0"/>
          <a:chExt cx="0" cy="0"/>
        </a:xfrm>
      </p:grpSpPr>
      <p:sp>
        <p:nvSpPr>
          <p:cNvPr id="24" name="Google Shape;24;p7"/>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3F3F3"/>
                </a:solidFill>
                <a:latin typeface="Proxima Nova"/>
                <a:ea typeface="Proxima Nova"/>
                <a:cs typeface="Proxima Nova"/>
                <a:sym typeface="Proxima Nova"/>
              </a:defRPr>
            </a:lvl1pPr>
            <a:lvl2pPr lvl="1" rtl="0" algn="r">
              <a:buNone/>
              <a:defRPr sz="1000">
                <a:solidFill>
                  <a:srgbClr val="F3F3F3"/>
                </a:solidFill>
                <a:latin typeface="Proxima Nova"/>
                <a:ea typeface="Proxima Nova"/>
                <a:cs typeface="Proxima Nova"/>
                <a:sym typeface="Proxima Nova"/>
              </a:defRPr>
            </a:lvl2pPr>
            <a:lvl3pPr lvl="2" rtl="0" algn="r">
              <a:buNone/>
              <a:defRPr sz="1000">
                <a:solidFill>
                  <a:srgbClr val="F3F3F3"/>
                </a:solidFill>
                <a:latin typeface="Proxima Nova"/>
                <a:ea typeface="Proxima Nova"/>
                <a:cs typeface="Proxima Nova"/>
                <a:sym typeface="Proxima Nova"/>
              </a:defRPr>
            </a:lvl3pPr>
            <a:lvl4pPr lvl="3" rtl="0" algn="r">
              <a:buNone/>
              <a:defRPr sz="1000">
                <a:solidFill>
                  <a:srgbClr val="F3F3F3"/>
                </a:solidFill>
                <a:latin typeface="Proxima Nova"/>
                <a:ea typeface="Proxima Nova"/>
                <a:cs typeface="Proxima Nova"/>
                <a:sym typeface="Proxima Nova"/>
              </a:defRPr>
            </a:lvl4pPr>
            <a:lvl5pPr lvl="4" rtl="0" algn="r">
              <a:buNone/>
              <a:defRPr sz="1000">
                <a:solidFill>
                  <a:srgbClr val="F3F3F3"/>
                </a:solidFill>
                <a:latin typeface="Proxima Nova"/>
                <a:ea typeface="Proxima Nova"/>
                <a:cs typeface="Proxima Nova"/>
                <a:sym typeface="Proxima Nova"/>
              </a:defRPr>
            </a:lvl5pPr>
            <a:lvl6pPr lvl="5" rtl="0" algn="r">
              <a:buNone/>
              <a:defRPr sz="1000">
                <a:solidFill>
                  <a:srgbClr val="F3F3F3"/>
                </a:solidFill>
                <a:latin typeface="Proxima Nova"/>
                <a:ea typeface="Proxima Nova"/>
                <a:cs typeface="Proxima Nova"/>
                <a:sym typeface="Proxima Nova"/>
              </a:defRPr>
            </a:lvl6pPr>
            <a:lvl7pPr lvl="6" rtl="0" algn="r">
              <a:buNone/>
              <a:defRPr sz="1000">
                <a:solidFill>
                  <a:srgbClr val="F3F3F3"/>
                </a:solidFill>
                <a:latin typeface="Proxima Nova"/>
                <a:ea typeface="Proxima Nova"/>
                <a:cs typeface="Proxima Nova"/>
                <a:sym typeface="Proxima Nova"/>
              </a:defRPr>
            </a:lvl7pPr>
            <a:lvl8pPr lvl="7" rtl="0" algn="r">
              <a:buNone/>
              <a:defRPr sz="1000">
                <a:solidFill>
                  <a:srgbClr val="F3F3F3"/>
                </a:solidFill>
                <a:latin typeface="Proxima Nova"/>
                <a:ea typeface="Proxima Nova"/>
                <a:cs typeface="Proxima Nova"/>
                <a:sym typeface="Proxima Nova"/>
              </a:defRPr>
            </a:lvl8pPr>
            <a:lvl9pPr lvl="8" rtl="0" algn="r">
              <a:buNone/>
              <a:defRPr sz="1000">
                <a:solidFill>
                  <a:srgbClr val="F3F3F3"/>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5" name="Google Shape;25;p7"/>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ky">
  <p:cSld name="SECTION_HEADER_1_1">
    <p:bg>
      <p:bgPr>
        <a:solidFill>
          <a:srgbClr val="BEDFE9"/>
        </a:solidFill>
      </p:bgPr>
    </p:bg>
    <p:spTree>
      <p:nvGrpSpPr>
        <p:cNvPr id="26" name="Shape 26"/>
        <p:cNvGrpSpPr/>
        <p:nvPr/>
      </p:nvGrpSpPr>
      <p:grpSpPr>
        <a:xfrm>
          <a:off x="0" y="0"/>
          <a:ext cx="0" cy="0"/>
          <a:chOff x="0" y="0"/>
          <a:chExt cx="0" cy="0"/>
        </a:xfrm>
      </p:grpSpPr>
      <p:sp>
        <p:nvSpPr>
          <p:cNvPr id="27" name="Google Shape;27;p8"/>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3F3F3"/>
                </a:solidFill>
                <a:latin typeface="Proxima Nova"/>
                <a:ea typeface="Proxima Nova"/>
                <a:cs typeface="Proxima Nova"/>
                <a:sym typeface="Proxima Nova"/>
              </a:defRPr>
            </a:lvl1pPr>
            <a:lvl2pPr lvl="1" rtl="0" algn="r">
              <a:buNone/>
              <a:defRPr sz="1000">
                <a:solidFill>
                  <a:srgbClr val="F3F3F3"/>
                </a:solidFill>
                <a:latin typeface="Proxima Nova"/>
                <a:ea typeface="Proxima Nova"/>
                <a:cs typeface="Proxima Nova"/>
                <a:sym typeface="Proxima Nova"/>
              </a:defRPr>
            </a:lvl2pPr>
            <a:lvl3pPr lvl="2" rtl="0" algn="r">
              <a:buNone/>
              <a:defRPr sz="1000">
                <a:solidFill>
                  <a:srgbClr val="F3F3F3"/>
                </a:solidFill>
                <a:latin typeface="Proxima Nova"/>
                <a:ea typeface="Proxima Nova"/>
                <a:cs typeface="Proxima Nova"/>
                <a:sym typeface="Proxima Nova"/>
              </a:defRPr>
            </a:lvl3pPr>
            <a:lvl4pPr lvl="3" rtl="0" algn="r">
              <a:buNone/>
              <a:defRPr sz="1000">
                <a:solidFill>
                  <a:srgbClr val="F3F3F3"/>
                </a:solidFill>
                <a:latin typeface="Proxima Nova"/>
                <a:ea typeface="Proxima Nova"/>
                <a:cs typeface="Proxima Nova"/>
                <a:sym typeface="Proxima Nova"/>
              </a:defRPr>
            </a:lvl4pPr>
            <a:lvl5pPr lvl="4" rtl="0" algn="r">
              <a:buNone/>
              <a:defRPr sz="1000">
                <a:solidFill>
                  <a:srgbClr val="F3F3F3"/>
                </a:solidFill>
                <a:latin typeface="Proxima Nova"/>
                <a:ea typeface="Proxima Nova"/>
                <a:cs typeface="Proxima Nova"/>
                <a:sym typeface="Proxima Nova"/>
              </a:defRPr>
            </a:lvl5pPr>
            <a:lvl6pPr lvl="5" rtl="0" algn="r">
              <a:buNone/>
              <a:defRPr sz="1000">
                <a:solidFill>
                  <a:srgbClr val="F3F3F3"/>
                </a:solidFill>
                <a:latin typeface="Proxima Nova"/>
                <a:ea typeface="Proxima Nova"/>
                <a:cs typeface="Proxima Nova"/>
                <a:sym typeface="Proxima Nova"/>
              </a:defRPr>
            </a:lvl6pPr>
            <a:lvl7pPr lvl="6" rtl="0" algn="r">
              <a:buNone/>
              <a:defRPr sz="1000">
                <a:solidFill>
                  <a:srgbClr val="F3F3F3"/>
                </a:solidFill>
                <a:latin typeface="Proxima Nova"/>
                <a:ea typeface="Proxima Nova"/>
                <a:cs typeface="Proxima Nova"/>
                <a:sym typeface="Proxima Nova"/>
              </a:defRPr>
            </a:lvl7pPr>
            <a:lvl8pPr lvl="7" rtl="0" algn="r">
              <a:buNone/>
              <a:defRPr sz="1000">
                <a:solidFill>
                  <a:srgbClr val="F3F3F3"/>
                </a:solidFill>
                <a:latin typeface="Proxima Nova"/>
                <a:ea typeface="Proxima Nova"/>
                <a:cs typeface="Proxima Nova"/>
                <a:sym typeface="Proxima Nova"/>
              </a:defRPr>
            </a:lvl8pPr>
            <a:lvl9pPr lvl="8" rtl="0" algn="r">
              <a:buNone/>
              <a:defRPr sz="1000">
                <a:solidFill>
                  <a:srgbClr val="F3F3F3"/>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28" name="Google Shape;28;p8"/>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mon">
  <p:cSld name="SECTION_HEADER_1_1_2">
    <p:bg>
      <p:bgPr>
        <a:solidFill>
          <a:srgbClr val="F8E500"/>
        </a:solidFill>
      </p:bgPr>
    </p:bg>
    <p:spTree>
      <p:nvGrpSpPr>
        <p:cNvPr id="29" name="Shape 29"/>
        <p:cNvGrpSpPr/>
        <p:nvPr/>
      </p:nvGrpSpPr>
      <p:grpSpPr>
        <a:xfrm>
          <a:off x="0" y="0"/>
          <a:ext cx="0" cy="0"/>
          <a:chOff x="0" y="0"/>
          <a:chExt cx="0" cy="0"/>
        </a:xfrm>
      </p:grpSpPr>
      <p:sp>
        <p:nvSpPr>
          <p:cNvPr id="30" name="Google Shape;30;p9"/>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FFFFFF"/>
                </a:solidFill>
                <a:latin typeface="Proxima Nova"/>
                <a:ea typeface="Proxima Nova"/>
                <a:cs typeface="Proxima Nova"/>
                <a:sym typeface="Proxima Nova"/>
              </a:defRPr>
            </a:lvl1pPr>
            <a:lvl2pPr lvl="1" rtl="0" algn="r">
              <a:buNone/>
              <a:defRPr sz="1000">
                <a:solidFill>
                  <a:srgbClr val="FFFFFF"/>
                </a:solidFill>
                <a:latin typeface="Proxima Nova"/>
                <a:ea typeface="Proxima Nova"/>
                <a:cs typeface="Proxima Nova"/>
                <a:sym typeface="Proxima Nova"/>
              </a:defRPr>
            </a:lvl2pPr>
            <a:lvl3pPr lvl="2" rtl="0" algn="r">
              <a:buNone/>
              <a:defRPr sz="1000">
                <a:solidFill>
                  <a:srgbClr val="FFFFFF"/>
                </a:solidFill>
                <a:latin typeface="Proxima Nova"/>
                <a:ea typeface="Proxima Nova"/>
                <a:cs typeface="Proxima Nova"/>
                <a:sym typeface="Proxima Nova"/>
              </a:defRPr>
            </a:lvl3pPr>
            <a:lvl4pPr lvl="3" rtl="0" algn="r">
              <a:buNone/>
              <a:defRPr sz="1000">
                <a:solidFill>
                  <a:srgbClr val="FFFFFF"/>
                </a:solidFill>
                <a:latin typeface="Proxima Nova"/>
                <a:ea typeface="Proxima Nova"/>
                <a:cs typeface="Proxima Nova"/>
                <a:sym typeface="Proxima Nova"/>
              </a:defRPr>
            </a:lvl4pPr>
            <a:lvl5pPr lvl="4" rtl="0" algn="r">
              <a:buNone/>
              <a:defRPr sz="1000">
                <a:solidFill>
                  <a:srgbClr val="FFFFFF"/>
                </a:solidFill>
                <a:latin typeface="Proxima Nova"/>
                <a:ea typeface="Proxima Nova"/>
                <a:cs typeface="Proxima Nova"/>
                <a:sym typeface="Proxima Nova"/>
              </a:defRPr>
            </a:lvl5pPr>
            <a:lvl6pPr lvl="5" rtl="0" algn="r">
              <a:buNone/>
              <a:defRPr sz="1000">
                <a:solidFill>
                  <a:srgbClr val="FFFFFF"/>
                </a:solidFill>
                <a:latin typeface="Proxima Nova"/>
                <a:ea typeface="Proxima Nova"/>
                <a:cs typeface="Proxima Nova"/>
                <a:sym typeface="Proxima Nova"/>
              </a:defRPr>
            </a:lvl6pPr>
            <a:lvl7pPr lvl="6" rtl="0" algn="r">
              <a:buNone/>
              <a:defRPr sz="1000">
                <a:solidFill>
                  <a:srgbClr val="FFFFFF"/>
                </a:solidFill>
                <a:latin typeface="Proxima Nova"/>
                <a:ea typeface="Proxima Nova"/>
                <a:cs typeface="Proxima Nova"/>
                <a:sym typeface="Proxima Nova"/>
              </a:defRPr>
            </a:lvl7pPr>
            <a:lvl8pPr lvl="7" rtl="0" algn="r">
              <a:buNone/>
              <a:defRPr sz="1000">
                <a:solidFill>
                  <a:srgbClr val="FFFFFF"/>
                </a:solidFill>
                <a:latin typeface="Proxima Nova"/>
                <a:ea typeface="Proxima Nova"/>
                <a:cs typeface="Proxima Nova"/>
                <a:sym typeface="Proxima Nova"/>
              </a:defRPr>
            </a:lvl8pPr>
            <a:lvl9pPr lvl="8" rtl="0" algn="r">
              <a:buNone/>
              <a:defRPr sz="1000">
                <a:solidFill>
                  <a:srgbClr val="FFFFFF"/>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1" name="Google Shape;31;p9"/>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rest">
  <p:cSld name="SECTION_HEADER_1_1_1">
    <p:bg>
      <p:bgPr>
        <a:solidFill>
          <a:srgbClr val="3A5648"/>
        </a:solidFill>
      </p:bgPr>
    </p:bg>
    <p:spTree>
      <p:nvGrpSpPr>
        <p:cNvPr id="32" name="Shape 32"/>
        <p:cNvGrpSpPr/>
        <p:nvPr/>
      </p:nvGrpSpPr>
      <p:grpSpPr>
        <a:xfrm>
          <a:off x="0" y="0"/>
          <a:ext cx="0" cy="0"/>
          <a:chOff x="0" y="0"/>
          <a:chExt cx="0" cy="0"/>
        </a:xfrm>
      </p:grpSpPr>
      <p:sp>
        <p:nvSpPr>
          <p:cNvPr id="33" name="Google Shape;33;p10"/>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pic>
        <p:nvPicPr>
          <p:cNvPr id="34" name="Google Shape;34;p10"/>
          <p:cNvPicPr preferRelativeResize="0"/>
          <p:nvPr/>
        </p:nvPicPr>
        <p:blipFill>
          <a:blip r:embed="rId2">
            <a:alphaModFix/>
          </a:blip>
          <a:stretch>
            <a:fillRect/>
          </a:stretch>
        </p:blipFill>
        <p:spPr>
          <a:xfrm>
            <a:off x="8197738" y="269687"/>
            <a:ext cx="297201" cy="1688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SECTION_HEADER_1_1_1_1">
    <p:bg>
      <p:bgPr>
        <a:solidFill>
          <a:srgbClr val="FFFFFF"/>
        </a:solidFill>
      </p:bgPr>
    </p:bg>
    <p:spTree>
      <p:nvGrpSpPr>
        <p:cNvPr id="35" name="Shape 35"/>
        <p:cNvGrpSpPr/>
        <p:nvPr/>
      </p:nvGrpSpPr>
      <p:grpSpPr>
        <a:xfrm>
          <a:off x="0" y="0"/>
          <a:ext cx="0" cy="0"/>
          <a:chOff x="0" y="0"/>
          <a:chExt cx="0" cy="0"/>
        </a:xfrm>
      </p:grpSpPr>
      <p:sp>
        <p:nvSpPr>
          <p:cNvPr id="36" name="Google Shape;36;p11"/>
          <p:cNvSpPr txBox="1"/>
          <p:nvPr>
            <p:ph idx="12" type="sldNum"/>
          </p:nvPr>
        </p:nvSpPr>
        <p:spPr>
          <a:xfrm>
            <a:off x="79462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rgbClr val="CCCCCC"/>
                </a:solidFill>
                <a:latin typeface="Proxima Nova"/>
                <a:ea typeface="Proxima Nova"/>
                <a:cs typeface="Proxima Nova"/>
                <a:sym typeface="Proxima Nova"/>
              </a:defRPr>
            </a:lvl1pPr>
            <a:lvl2pPr lvl="1" rtl="0" algn="r">
              <a:buNone/>
              <a:defRPr sz="1000">
                <a:solidFill>
                  <a:srgbClr val="CCCCCC"/>
                </a:solidFill>
                <a:latin typeface="Proxima Nova"/>
                <a:ea typeface="Proxima Nova"/>
                <a:cs typeface="Proxima Nova"/>
                <a:sym typeface="Proxima Nova"/>
              </a:defRPr>
            </a:lvl2pPr>
            <a:lvl3pPr lvl="2" rtl="0" algn="r">
              <a:buNone/>
              <a:defRPr sz="1000">
                <a:solidFill>
                  <a:srgbClr val="CCCCCC"/>
                </a:solidFill>
                <a:latin typeface="Proxima Nova"/>
                <a:ea typeface="Proxima Nova"/>
                <a:cs typeface="Proxima Nova"/>
                <a:sym typeface="Proxima Nova"/>
              </a:defRPr>
            </a:lvl3pPr>
            <a:lvl4pPr lvl="3" rtl="0" algn="r">
              <a:buNone/>
              <a:defRPr sz="1000">
                <a:solidFill>
                  <a:srgbClr val="CCCCCC"/>
                </a:solidFill>
                <a:latin typeface="Proxima Nova"/>
                <a:ea typeface="Proxima Nova"/>
                <a:cs typeface="Proxima Nova"/>
                <a:sym typeface="Proxima Nova"/>
              </a:defRPr>
            </a:lvl4pPr>
            <a:lvl5pPr lvl="4" rtl="0" algn="r">
              <a:buNone/>
              <a:defRPr sz="1000">
                <a:solidFill>
                  <a:srgbClr val="CCCCCC"/>
                </a:solidFill>
                <a:latin typeface="Proxima Nova"/>
                <a:ea typeface="Proxima Nova"/>
                <a:cs typeface="Proxima Nova"/>
                <a:sym typeface="Proxima Nova"/>
              </a:defRPr>
            </a:lvl5pPr>
            <a:lvl6pPr lvl="5" rtl="0" algn="r">
              <a:buNone/>
              <a:defRPr sz="1000">
                <a:solidFill>
                  <a:srgbClr val="CCCCCC"/>
                </a:solidFill>
                <a:latin typeface="Proxima Nova"/>
                <a:ea typeface="Proxima Nova"/>
                <a:cs typeface="Proxima Nova"/>
                <a:sym typeface="Proxima Nova"/>
              </a:defRPr>
            </a:lvl6pPr>
            <a:lvl7pPr lvl="6" rtl="0" algn="r">
              <a:buNone/>
              <a:defRPr sz="1000">
                <a:solidFill>
                  <a:srgbClr val="CCCCCC"/>
                </a:solidFill>
                <a:latin typeface="Proxima Nova"/>
                <a:ea typeface="Proxima Nova"/>
                <a:cs typeface="Proxima Nova"/>
                <a:sym typeface="Proxima Nova"/>
              </a:defRPr>
            </a:lvl7pPr>
            <a:lvl8pPr lvl="7" rtl="0" algn="r">
              <a:buNone/>
              <a:defRPr sz="1000">
                <a:solidFill>
                  <a:srgbClr val="CCCCCC"/>
                </a:solidFill>
                <a:latin typeface="Proxima Nova"/>
                <a:ea typeface="Proxima Nova"/>
                <a:cs typeface="Proxima Nova"/>
                <a:sym typeface="Proxima Nova"/>
              </a:defRPr>
            </a:lvl8pPr>
            <a:lvl9pPr lvl="8" rtl="0" algn="r">
              <a:buNone/>
              <a:defRPr sz="1000">
                <a:solidFill>
                  <a:srgbClr val="CCCCCC"/>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 Id="rId3" Type="http://schemas.openxmlformats.org/officeDocument/2006/relationships/hyperlink" Target="https://docs.google.com/document/u/0/d/1r-xcGqlF4yh8FGofEYbIGU2blCsTHBc0ZLk4NXcD56E/edi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slide" Target="/ppt/slides/slide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omments" Target="../comments/commen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comments" Target="../comments/comment2.xml"/><Relationship Id="rId4" Type="http://schemas.openxmlformats.org/officeDocument/2006/relationships/image" Target="../media/image6.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hyperlink" Target="http://drive.google.com/file/d/1VhYVOx0izo8CjWCsbUAwvhmC8Dzf46zh/view" TargetMode="External"/><Relationship Id="rId5"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drive.google.com/file/d/1meIhnrOmgxWkgVyCMT2iegAov9fHa_Q0/view" TargetMode="External"/><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 name="Shape 40"/>
        <p:cNvGrpSpPr/>
        <p:nvPr/>
      </p:nvGrpSpPr>
      <p:grpSpPr>
        <a:xfrm>
          <a:off x="0" y="0"/>
          <a:ext cx="0" cy="0"/>
          <a:chOff x="0" y="0"/>
          <a:chExt cx="0" cy="0"/>
        </a:xfrm>
      </p:grpSpPr>
      <p:sp>
        <p:nvSpPr>
          <p:cNvPr id="41" name="Google Shape;41;p12"/>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 name="Google Shape;42;p12"/>
          <p:cNvSpPr txBox="1"/>
          <p:nvPr/>
        </p:nvSpPr>
        <p:spPr>
          <a:xfrm>
            <a:off x="686000" y="3441325"/>
            <a:ext cx="2980200" cy="39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000">
                <a:solidFill>
                  <a:schemeClr val="dk1"/>
                </a:solidFill>
                <a:latin typeface="Proxima Nova"/>
                <a:ea typeface="Proxima Nova"/>
                <a:cs typeface="Proxima Nova"/>
                <a:sym typeface="Proxima Nova"/>
              </a:rPr>
              <a:t>Kelly Peterson</a:t>
            </a:r>
            <a:endParaRPr b="1" sz="800">
              <a:solidFill>
                <a:schemeClr val="dk1"/>
              </a:solidFill>
              <a:latin typeface="Proxima Nova"/>
              <a:ea typeface="Proxima Nova"/>
              <a:cs typeface="Proxima Nova"/>
              <a:sym typeface="Proxima Nova"/>
            </a:endParaRPr>
          </a:p>
        </p:txBody>
      </p:sp>
      <p:sp>
        <p:nvSpPr>
          <p:cNvPr id="43" name="Google Shape;43;p12"/>
          <p:cNvSpPr txBox="1"/>
          <p:nvPr/>
        </p:nvSpPr>
        <p:spPr>
          <a:xfrm>
            <a:off x="686000" y="3799625"/>
            <a:ext cx="2980200" cy="542700"/>
          </a:xfrm>
          <a:prstGeom prst="rect">
            <a:avLst/>
          </a:prstGeom>
          <a:noFill/>
          <a:ln>
            <a:noFill/>
          </a:ln>
        </p:spPr>
        <p:txBody>
          <a:bodyPr anchorCtr="0" anchor="t" bIns="91425" lIns="91425" spcFirstLastPara="1" rIns="91425" wrap="square" tIns="91425">
            <a:noAutofit/>
          </a:bodyPr>
          <a:lstStyle/>
          <a:p>
            <a:pPr indent="0" lvl="0" marL="0" rtl="0" algn="l">
              <a:lnSpc>
                <a:spcPct val="130000"/>
              </a:lnSpc>
              <a:spcBef>
                <a:spcPts val="0"/>
              </a:spcBef>
              <a:spcAft>
                <a:spcPts val="0"/>
              </a:spcAft>
              <a:buNone/>
            </a:pPr>
            <a:r>
              <a:rPr lang="en" sz="1000">
                <a:solidFill>
                  <a:schemeClr val="dk1"/>
                </a:solidFill>
                <a:latin typeface="Proxima Nova"/>
                <a:ea typeface="Proxima Nova"/>
                <a:cs typeface="Proxima Nova"/>
                <a:sym typeface="Proxima Nova"/>
              </a:rPr>
              <a:t>Date: August 2024</a:t>
            </a:r>
            <a:endParaRPr sz="1000">
              <a:solidFill>
                <a:schemeClr val="dk1"/>
              </a:solidFill>
              <a:latin typeface="Proxima Nova"/>
              <a:ea typeface="Proxima Nova"/>
              <a:cs typeface="Proxima Nova"/>
              <a:sym typeface="Proxima Nova"/>
            </a:endParaRPr>
          </a:p>
          <a:p>
            <a:pPr indent="0" lvl="0" marL="0" rtl="0" algn="l">
              <a:lnSpc>
                <a:spcPct val="130000"/>
              </a:lnSpc>
              <a:spcBef>
                <a:spcPts val="0"/>
              </a:spcBef>
              <a:spcAft>
                <a:spcPts val="0"/>
              </a:spcAft>
              <a:buNone/>
            </a:pPr>
            <a:r>
              <a:t/>
            </a:r>
            <a:endParaRPr sz="1000">
              <a:solidFill>
                <a:schemeClr val="dk1"/>
              </a:solidFill>
              <a:latin typeface="Proxima Nova"/>
              <a:ea typeface="Proxima Nova"/>
              <a:cs typeface="Proxima Nova"/>
              <a:sym typeface="Proxima Nova"/>
            </a:endParaRPr>
          </a:p>
        </p:txBody>
      </p:sp>
      <p:sp>
        <p:nvSpPr>
          <p:cNvPr id="44" name="Google Shape;44;p12"/>
          <p:cNvSpPr txBox="1"/>
          <p:nvPr/>
        </p:nvSpPr>
        <p:spPr>
          <a:xfrm>
            <a:off x="609750" y="1529300"/>
            <a:ext cx="40971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700">
                <a:solidFill>
                  <a:schemeClr val="dk1"/>
                </a:solidFill>
                <a:latin typeface="Proxima Nova"/>
                <a:ea typeface="Proxima Nova"/>
                <a:cs typeface="Proxima Nova"/>
                <a:sym typeface="Proxima Nova"/>
              </a:rPr>
              <a:t>Item Promos &amp; USI</a:t>
            </a:r>
            <a:endParaRPr b="1" sz="37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800">
                <a:solidFill>
                  <a:schemeClr val="dk1"/>
                </a:solidFill>
                <a:latin typeface="Proxima Nova"/>
                <a:ea typeface="Proxima Nova"/>
                <a:cs typeface="Proxima Nova"/>
                <a:sym typeface="Proxima Nova"/>
              </a:rPr>
              <a:t>Getting 1% Better Every Day</a:t>
            </a:r>
            <a:endParaRPr b="1" sz="1800">
              <a:solidFill>
                <a:schemeClr val="dk1"/>
              </a:solidFill>
              <a:latin typeface="Proxima Nova"/>
              <a:ea typeface="Proxima Nova"/>
              <a:cs typeface="Proxima Nova"/>
              <a:sym typeface="Proxima Nova"/>
            </a:endParaRPr>
          </a:p>
        </p:txBody>
      </p:sp>
      <p:pic>
        <p:nvPicPr>
          <p:cNvPr id="45" name="Google Shape;45;p12"/>
          <p:cNvPicPr preferRelativeResize="0"/>
          <p:nvPr/>
        </p:nvPicPr>
        <p:blipFill>
          <a:blip r:embed="rId3">
            <a:alphaModFix/>
          </a:blip>
          <a:stretch>
            <a:fillRect/>
          </a:stretch>
        </p:blipFill>
        <p:spPr>
          <a:xfrm>
            <a:off x="723399" y="1284763"/>
            <a:ext cx="1408775" cy="162575"/>
          </a:xfrm>
          <a:prstGeom prst="rect">
            <a:avLst/>
          </a:prstGeom>
          <a:noFill/>
          <a:ln>
            <a:noFill/>
          </a:ln>
        </p:spPr>
      </p:pic>
      <p:pic>
        <p:nvPicPr>
          <p:cNvPr id="46" name="Google Shape;46;p12"/>
          <p:cNvPicPr preferRelativeResize="0"/>
          <p:nvPr/>
        </p:nvPicPr>
        <p:blipFill rotWithShape="1">
          <a:blip r:embed="rId4">
            <a:alphaModFix/>
          </a:blip>
          <a:srcRect b="7270" l="0" r="0" t="0"/>
          <a:stretch/>
        </p:blipFill>
        <p:spPr>
          <a:xfrm>
            <a:off x="4581475" y="510825"/>
            <a:ext cx="3913475" cy="38799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 name="Google Shape;52;p13"/>
          <p:cNvSpPr txBox="1"/>
          <p:nvPr/>
        </p:nvSpPr>
        <p:spPr>
          <a:xfrm>
            <a:off x="609800" y="381125"/>
            <a:ext cx="4004100" cy="374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2000">
                <a:solidFill>
                  <a:schemeClr val="dk1"/>
                </a:solidFill>
                <a:latin typeface="Proxima Nova"/>
                <a:ea typeface="Proxima Nova"/>
                <a:cs typeface="Proxima Nova"/>
                <a:sym typeface="Proxima Nova"/>
              </a:rPr>
              <a:t>Background</a:t>
            </a:r>
            <a:endParaRPr b="1" sz="20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Item promos (e.g. buy one get one free, free item) are a great way for Mx to drive sales &amp; subtotal, and a very attractive offer for Cx to save money. However, at scale Cx are experiencing issues in their overall experience with these promos that is causing Cx frustration and could lead to drop off.</a:t>
            </a:r>
            <a:endParaRPr sz="11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b="1" lang="en" sz="2000">
                <a:solidFill>
                  <a:schemeClr val="dk1"/>
                </a:solidFill>
                <a:latin typeface="Proxima Nova"/>
                <a:ea typeface="Proxima Nova"/>
                <a:cs typeface="Proxima Nova"/>
                <a:sym typeface="Proxima Nova"/>
              </a:rPr>
              <a:t>Research Objective</a:t>
            </a:r>
            <a:endParaRPr sz="11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This research is meant to identify the key areas of friction and frustration and the short term and long term solutions to ensure a seamless item promo experience for Cx. </a:t>
            </a:r>
            <a:endParaRPr sz="12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b="1" sz="12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lang="en" sz="900" u="sng">
                <a:solidFill>
                  <a:schemeClr val="dk1"/>
                </a:solidFill>
                <a:latin typeface="Proxima Nova"/>
                <a:ea typeface="Proxima Nova"/>
                <a:cs typeface="Proxima Nova"/>
                <a:sym typeface="Proxima Nova"/>
                <a:hlinkClick r:id="rId3">
                  <a:extLst>
                    <a:ext uri="{A12FA001-AC4F-418D-AE19-62706E023703}">
                      <ahyp:hlinkClr val="tx"/>
                    </a:ext>
                  </a:extLst>
                </a:hlinkClick>
              </a:rPr>
              <a:t>Full Research Brief Here</a:t>
            </a:r>
            <a:endParaRPr sz="900">
              <a:solidFill>
                <a:schemeClr val="dk1"/>
              </a:solidFill>
              <a:latin typeface="Proxima Nova"/>
              <a:ea typeface="Proxima Nova"/>
              <a:cs typeface="Proxima Nova"/>
              <a:sym typeface="Proxima Nova"/>
            </a:endParaRPr>
          </a:p>
        </p:txBody>
      </p:sp>
      <p:sp>
        <p:nvSpPr>
          <p:cNvPr id="53" name="Google Shape;53;p13"/>
          <p:cNvSpPr txBox="1"/>
          <p:nvPr/>
        </p:nvSpPr>
        <p:spPr>
          <a:xfrm>
            <a:off x="5193825" y="386825"/>
            <a:ext cx="3000000" cy="359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2000">
                <a:solidFill>
                  <a:schemeClr val="dk1"/>
                </a:solidFill>
                <a:latin typeface="Proxima Nova"/>
                <a:ea typeface="Proxima Nova"/>
                <a:cs typeface="Proxima Nova"/>
                <a:sym typeface="Proxima Nova"/>
              </a:rPr>
              <a:t>Methodology</a:t>
            </a:r>
            <a:endParaRPr b="1" sz="20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rPr b="1" lang="en" sz="1200">
                <a:solidFill>
                  <a:schemeClr val="dk1"/>
                </a:solidFill>
                <a:latin typeface="Proxima Nova"/>
                <a:ea typeface="Proxima Nova"/>
                <a:cs typeface="Proxima Nova"/>
                <a:sym typeface="Proxima Nova"/>
              </a:rPr>
              <a:t>8 X 45 min 1:1 interviews</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solidFill>
                <a:schemeClr val="dk1"/>
              </a:solidFill>
              <a:latin typeface="Proxima Nova"/>
              <a:ea typeface="Proxima Nova"/>
              <a:cs typeface="Proxima Nova"/>
              <a:sym typeface="Proxima Nova"/>
            </a:endParaRPr>
          </a:p>
          <a:p>
            <a:pPr indent="-298450" lvl="0" marL="457200" rtl="0" algn="l">
              <a:lnSpc>
                <a:spcPct val="115000"/>
              </a:lnSpc>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All Cx had placed an order in the P30 days</a:t>
            </a:r>
            <a:endParaRPr sz="1100">
              <a:solidFill>
                <a:schemeClr val="dk1"/>
              </a:solidFill>
              <a:latin typeface="Proxima Nova"/>
              <a:ea typeface="Proxima Nova"/>
              <a:cs typeface="Proxima Nova"/>
              <a:sym typeface="Proxima Nova"/>
            </a:endParaRPr>
          </a:p>
          <a:p>
            <a:pPr indent="0" lvl="0" marL="457200" rtl="0" algn="l">
              <a:lnSpc>
                <a:spcPct val="115000"/>
              </a:lnSpc>
              <a:spcBef>
                <a:spcPts val="0"/>
              </a:spcBef>
              <a:spcAft>
                <a:spcPts val="0"/>
              </a:spcAft>
              <a:buNone/>
            </a:pPr>
            <a:r>
              <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All Cx indicated some level of interest of using deals on DoorDash with varying levels of price sensitivity</a:t>
            </a:r>
            <a:endParaRPr sz="11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457200" rtl="0" algn="l">
              <a:lnSpc>
                <a:spcPct val="115000"/>
              </a:lnSpc>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sz="1200">
              <a:solidFill>
                <a:schemeClr val="dk1"/>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4"/>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 name="Google Shape;59;p14"/>
          <p:cNvSpPr txBox="1"/>
          <p:nvPr/>
        </p:nvSpPr>
        <p:spPr>
          <a:xfrm>
            <a:off x="609800" y="1537775"/>
            <a:ext cx="75516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00">
                <a:solidFill>
                  <a:srgbClr val="FFFFFF"/>
                </a:solidFill>
                <a:latin typeface="Proxima Nova"/>
                <a:ea typeface="Proxima Nova"/>
                <a:cs typeface="Proxima Nova"/>
                <a:sym typeface="Proxima Nova"/>
              </a:rPr>
              <a:t>Summary of Recommendations</a:t>
            </a:r>
            <a:endParaRPr sz="41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41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4100">
              <a:solidFill>
                <a:srgbClr val="FFFFFF"/>
              </a:solidFill>
              <a:latin typeface="Proxima Nova"/>
              <a:ea typeface="Proxima Nova"/>
              <a:cs typeface="Proxima Nova"/>
              <a:sym typeface="Proxima Nova"/>
            </a:endParaRPr>
          </a:p>
          <a:p>
            <a:pPr indent="0" lvl="0" marL="0" rtl="0" algn="l">
              <a:spcBef>
                <a:spcPts val="0"/>
              </a:spcBef>
              <a:spcAft>
                <a:spcPts val="0"/>
              </a:spcAft>
              <a:buNone/>
            </a:pPr>
            <a:r>
              <a:t/>
            </a:r>
            <a:endParaRPr sz="4100">
              <a:solidFill>
                <a:srgbClr val="FFFFFF"/>
              </a:solidFill>
              <a:latin typeface="Proxima Nova"/>
              <a:ea typeface="Proxima Nova"/>
              <a:cs typeface="Proxima Nova"/>
              <a:sym typeface="Proxima Nova"/>
            </a:endParaRPr>
          </a:p>
          <a:p>
            <a:pPr indent="0" lvl="0" marL="0" rtl="0" algn="l">
              <a:spcBef>
                <a:spcPts val="0"/>
              </a:spcBef>
              <a:spcAft>
                <a:spcPts val="0"/>
              </a:spcAft>
              <a:buNone/>
            </a:pPr>
            <a:r>
              <a:rPr lang="en" sz="1200" u="sng">
                <a:solidFill>
                  <a:schemeClr val="hlink"/>
                </a:solidFill>
                <a:latin typeface="Proxima Nova"/>
                <a:ea typeface="Proxima Nova"/>
                <a:cs typeface="Proxima Nova"/>
                <a:sym typeface="Proxima Nova"/>
                <a:hlinkClick action="ppaction://hlinksldjump" r:id="rId3"/>
              </a:rPr>
              <a:t>See detailed recommendations starting at slide 19</a:t>
            </a:r>
            <a:endParaRPr sz="1200">
              <a:solidFill>
                <a:srgbClr val="FFFFFF"/>
              </a:solidFill>
              <a:latin typeface="Proxima Nova"/>
              <a:ea typeface="Proxima Nova"/>
              <a:cs typeface="Proxima Nova"/>
              <a:sym typeface="Proxima Nov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nvSpPr>
        <p:spPr>
          <a:xfrm>
            <a:off x="369825" y="1359475"/>
            <a:ext cx="2513100" cy="3024600"/>
          </a:xfrm>
          <a:prstGeom prst="rect">
            <a:avLst/>
          </a:prstGeom>
          <a:noFill/>
          <a:ln>
            <a:noFill/>
          </a:ln>
        </p:spPr>
        <p:txBody>
          <a:bodyPr anchorCtr="0" anchor="t" bIns="91425" lIns="91425" spcFirstLastPara="1" rIns="91425" wrap="square" tIns="91425">
            <a:spAutoFit/>
          </a:bodyPr>
          <a:lstStyle/>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Exclude low value item</a:t>
            </a:r>
            <a:r>
              <a:rPr lang="en" sz="1100">
                <a:solidFill>
                  <a:schemeClr val="dk1"/>
                </a:solidFill>
                <a:latin typeface="Proxima Nova"/>
                <a:ea typeface="Proxima Nova"/>
                <a:cs typeface="Proxima Nova"/>
                <a:sym typeface="Proxima Nova"/>
              </a:rPr>
              <a:t> promotions from Mx options</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100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a:t>
            </a:r>
            <a:r>
              <a:rPr lang="en" sz="1100">
                <a:solidFill>
                  <a:schemeClr val="dk1"/>
                </a:solidFill>
                <a:latin typeface="Proxima Nova"/>
                <a:ea typeface="Proxima Nova"/>
                <a:cs typeface="Proxima Nova"/>
                <a:sym typeface="Proxima Nova"/>
              </a:rPr>
              <a:t>nly allow one item promo per Mx to avoid confusion until stackability is possible</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100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Only show strikethrough on menu page of the deal that is being highlighted in the progress bar/cart.  </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1000"/>
              </a:spcBef>
              <a:spcAft>
                <a:spcPts val="100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It</a:t>
            </a:r>
            <a:r>
              <a:rPr lang="en" sz="1100">
                <a:solidFill>
                  <a:schemeClr val="dk1"/>
                </a:solidFill>
                <a:latin typeface="Proxima Nova"/>
                <a:ea typeface="Proxima Nova"/>
                <a:cs typeface="Proxima Nova"/>
                <a:sym typeface="Proxima Nova"/>
              </a:rPr>
              <a:t>em details should be edited by content and tested to create a template that ensures clarity &amp; simplicity</a:t>
            </a:r>
            <a:endParaRPr sz="1100">
              <a:solidFill>
                <a:schemeClr val="dk1"/>
              </a:solidFill>
              <a:latin typeface="Proxima Nova"/>
              <a:ea typeface="Proxima Nova"/>
              <a:cs typeface="Proxima Nova"/>
              <a:sym typeface="Proxima Nova"/>
            </a:endParaRPr>
          </a:p>
        </p:txBody>
      </p:sp>
      <p:sp>
        <p:nvSpPr>
          <p:cNvPr id="66" name="Google Shape;66;p15"/>
          <p:cNvSpPr txBox="1"/>
          <p:nvPr/>
        </p:nvSpPr>
        <p:spPr>
          <a:xfrm>
            <a:off x="3271175" y="1359475"/>
            <a:ext cx="2513100" cy="31419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For high value item promos indicate the item (e.g. app, entree, dessert) </a:t>
            </a:r>
            <a:r>
              <a:rPr lang="en" sz="1100">
                <a:solidFill>
                  <a:schemeClr val="dk1"/>
                </a:solidFill>
                <a:latin typeface="Proxima Nova"/>
                <a:ea typeface="Proxima Nova"/>
                <a:cs typeface="Proxima Nova"/>
                <a:sym typeface="Proxima Nova"/>
              </a:rPr>
              <a:t>in the badge description for clarity.  </a:t>
            </a:r>
            <a:r>
              <a:rPr lang="en" sz="1100">
                <a:solidFill>
                  <a:schemeClr val="dk1"/>
                </a:solidFill>
                <a:latin typeface="Proxima Nova"/>
                <a:ea typeface="Proxima Nova"/>
                <a:cs typeface="Proxima Nova"/>
                <a:sym typeface="Proxima Nova"/>
              </a:rPr>
              <a:t>On the store page, the badge should include the pricing (e.g. $0 when spend $20+)</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100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C</a:t>
            </a:r>
            <a:r>
              <a:rPr lang="en" sz="1100">
                <a:solidFill>
                  <a:schemeClr val="dk1"/>
                </a:solidFill>
                <a:latin typeface="Proxima Nova"/>
                <a:ea typeface="Proxima Nova"/>
                <a:cs typeface="Proxima Nova"/>
                <a:sym typeface="Proxima Nova"/>
              </a:rPr>
              <a:t>ontinue to push to have some sort of item visual or text explanation within the USI to identify free items</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1000"/>
              </a:spcBef>
              <a:spcAft>
                <a:spcPts val="1000"/>
              </a:spcAft>
              <a:buClr>
                <a:schemeClr val="dk1"/>
              </a:buClr>
              <a:buSzPts val="1100"/>
              <a:buFont typeface="Proxima Nova"/>
              <a:buChar char="●"/>
            </a:pPr>
            <a:r>
              <a:rPr lang="en" sz="1100">
                <a:solidFill>
                  <a:schemeClr val="dk1"/>
                </a:solidFill>
                <a:latin typeface="Proxima Nova"/>
                <a:ea typeface="Proxima Nova"/>
                <a:cs typeface="Proxima Nova"/>
                <a:sym typeface="Proxima Nova"/>
              </a:rPr>
              <a:t>Location of merchandising (featured vs. menu section) matters less because of USI</a:t>
            </a:r>
            <a:endParaRPr sz="1100">
              <a:solidFill>
                <a:schemeClr val="dk1"/>
              </a:solidFill>
              <a:latin typeface="Proxima Nova"/>
              <a:ea typeface="Proxima Nova"/>
              <a:cs typeface="Proxima Nova"/>
              <a:sym typeface="Proxima Nova"/>
            </a:endParaRPr>
          </a:p>
        </p:txBody>
      </p:sp>
      <p:sp>
        <p:nvSpPr>
          <p:cNvPr id="67" name="Google Shape;67;p15"/>
          <p:cNvSpPr txBox="1"/>
          <p:nvPr/>
        </p:nvSpPr>
        <p:spPr>
          <a:xfrm>
            <a:off x="6105150" y="1359475"/>
            <a:ext cx="2444100" cy="2818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There is a broader need for consistent badge requirements.  Ideally all badges should include value and any minimum spend requirements.</a:t>
            </a:r>
            <a:endParaRPr sz="1100">
              <a:solidFill>
                <a:schemeClr val="dk1"/>
              </a:solidFill>
              <a:latin typeface="Proxima Nova"/>
              <a:ea typeface="Proxima Nova"/>
              <a:cs typeface="Proxima Nova"/>
              <a:sym typeface="Proxima Nova"/>
            </a:endParaRPr>
          </a:p>
          <a:p>
            <a:pPr indent="-298450" lvl="0" marL="457200" rtl="0" algn="l">
              <a:lnSpc>
                <a:spcPct val="115000"/>
              </a:lnSpc>
              <a:spcBef>
                <a:spcPts val="1000"/>
              </a:spcBef>
              <a:spcAft>
                <a:spcPts val="100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We closely with the checkout team to streamline and clarify how deals are shown within the cart summary, as well as, how and where they can swap between promotions on the cart page  </a:t>
            </a:r>
            <a:endParaRPr sz="1100">
              <a:solidFill>
                <a:schemeClr val="dk1"/>
              </a:solidFill>
              <a:latin typeface="Proxima Nova"/>
              <a:ea typeface="Proxima Nova"/>
              <a:cs typeface="Proxima Nova"/>
              <a:sym typeface="Proxima Nova"/>
            </a:endParaRPr>
          </a:p>
        </p:txBody>
      </p:sp>
      <p:sp>
        <p:nvSpPr>
          <p:cNvPr id="68" name="Google Shape;68;p15"/>
          <p:cNvSpPr txBox="1"/>
          <p:nvPr/>
        </p:nvSpPr>
        <p:spPr>
          <a:xfrm>
            <a:off x="6797400" y="219100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a:p>
        </p:txBody>
      </p:sp>
      <p:sp>
        <p:nvSpPr>
          <p:cNvPr id="69" name="Google Shape;69;p15"/>
          <p:cNvSpPr/>
          <p:nvPr/>
        </p:nvSpPr>
        <p:spPr>
          <a:xfrm>
            <a:off x="369800" y="552975"/>
            <a:ext cx="2513100" cy="393600"/>
          </a:xfrm>
          <a:prstGeom prst="roundRect">
            <a:avLst>
              <a:gd fmla="val 16667" name="adj"/>
            </a:avLst>
          </a:prstGeom>
          <a:solidFill>
            <a:srgbClr val="E2320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Item Promo: Immediate Needs</a:t>
            </a:r>
            <a:endParaRPr b="1" sz="900">
              <a:solidFill>
                <a:schemeClr val="lt1"/>
              </a:solidFill>
              <a:latin typeface="Proxima Nova"/>
              <a:ea typeface="Proxima Nova"/>
              <a:cs typeface="Proxima Nova"/>
              <a:sym typeface="Proxima Nova"/>
            </a:endParaRPr>
          </a:p>
        </p:txBody>
      </p:sp>
      <p:sp>
        <p:nvSpPr>
          <p:cNvPr id="70" name="Google Shape;70;p15"/>
          <p:cNvSpPr/>
          <p:nvPr/>
        </p:nvSpPr>
        <p:spPr>
          <a:xfrm>
            <a:off x="3236475" y="552975"/>
            <a:ext cx="2513100" cy="393600"/>
          </a:xfrm>
          <a:prstGeom prst="roundRect">
            <a:avLst>
              <a:gd fmla="val 16667" name="adj"/>
            </a:avLst>
          </a:prstGeom>
          <a:solidFill>
            <a:srgbClr val="E0666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chemeClr val="lt1"/>
                </a:solidFill>
                <a:latin typeface="Proxima Nova"/>
                <a:ea typeface="Proxima Nova"/>
                <a:cs typeface="Proxima Nova"/>
                <a:sym typeface="Proxima Nova"/>
              </a:rPr>
              <a:t>Item Promo: Longer Term Solutions</a:t>
            </a:r>
            <a:endParaRPr>
              <a:solidFill>
                <a:schemeClr val="lt1"/>
              </a:solidFill>
            </a:endParaRPr>
          </a:p>
        </p:txBody>
      </p:sp>
      <p:sp>
        <p:nvSpPr>
          <p:cNvPr id="71" name="Google Shape;71;p15"/>
          <p:cNvSpPr/>
          <p:nvPr/>
        </p:nvSpPr>
        <p:spPr>
          <a:xfrm>
            <a:off x="6055725" y="552975"/>
            <a:ext cx="2513100" cy="393600"/>
          </a:xfrm>
          <a:prstGeom prst="roundRect">
            <a:avLst>
              <a:gd fmla="val 16667" name="adj"/>
            </a:avLst>
          </a:prstGeom>
          <a:solidFill>
            <a:srgbClr val="F4CCCC"/>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900">
                <a:solidFill>
                  <a:schemeClr val="dk1"/>
                </a:solidFill>
                <a:latin typeface="Proxima Nova"/>
                <a:ea typeface="Proxima Nova"/>
                <a:cs typeface="Proxima Nova"/>
                <a:sym typeface="Proxima Nova"/>
              </a:rPr>
              <a:t>Overall promo experience: Systematic needs</a:t>
            </a:r>
            <a:endParaRPr>
              <a:solidFill>
                <a:schemeClr val="dk1"/>
              </a:solidFill>
            </a:endParaRPr>
          </a:p>
        </p:txBody>
      </p:sp>
      <p:cxnSp>
        <p:nvCxnSpPr>
          <p:cNvPr id="72" name="Google Shape;72;p15"/>
          <p:cNvCxnSpPr>
            <a:endCxn id="70" idx="1"/>
          </p:cNvCxnSpPr>
          <p:nvPr/>
        </p:nvCxnSpPr>
        <p:spPr>
          <a:xfrm>
            <a:off x="2882775" y="749775"/>
            <a:ext cx="353700" cy="0"/>
          </a:xfrm>
          <a:prstGeom prst="straightConnector1">
            <a:avLst/>
          </a:prstGeom>
          <a:noFill/>
          <a:ln cap="flat" cmpd="sng" w="9525">
            <a:solidFill>
              <a:srgbClr val="F4CCCC"/>
            </a:solidFill>
            <a:prstDash val="solid"/>
            <a:round/>
            <a:headEnd len="med" w="med" type="none"/>
            <a:tailEnd len="med" w="med" type="triangle"/>
          </a:ln>
        </p:spPr>
      </p:cxnSp>
      <p:cxnSp>
        <p:nvCxnSpPr>
          <p:cNvPr id="73" name="Google Shape;73;p15"/>
          <p:cNvCxnSpPr/>
          <p:nvPr/>
        </p:nvCxnSpPr>
        <p:spPr>
          <a:xfrm>
            <a:off x="5702025" y="749775"/>
            <a:ext cx="353700" cy="0"/>
          </a:xfrm>
          <a:prstGeom prst="straightConnector1">
            <a:avLst/>
          </a:prstGeom>
          <a:noFill/>
          <a:ln cap="flat" cmpd="sng" w="9525">
            <a:solidFill>
              <a:srgbClr val="F4CCCC"/>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6"/>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 name="Google Shape;79;p16"/>
          <p:cNvSpPr txBox="1"/>
          <p:nvPr/>
        </p:nvSpPr>
        <p:spPr>
          <a:xfrm>
            <a:off x="609800" y="1537775"/>
            <a:ext cx="75516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00">
                <a:solidFill>
                  <a:srgbClr val="FFFFFF"/>
                </a:solidFill>
                <a:latin typeface="Proxima Nova"/>
                <a:ea typeface="Proxima Nova"/>
                <a:cs typeface="Proxima Nova"/>
                <a:sym typeface="Proxima Nova"/>
              </a:rPr>
              <a:t>Optimizing the Cx experience around item promos</a:t>
            </a:r>
            <a:endParaRPr sz="4100">
              <a:solidFill>
                <a:srgbClr val="FFFFFF"/>
              </a:solidFill>
              <a:latin typeface="Proxima Nova"/>
              <a:ea typeface="Proxima Nova"/>
              <a:cs typeface="Proxima Nova"/>
              <a:sym typeface="Proxima Nova"/>
            </a:endParaRPr>
          </a:p>
        </p:txBody>
      </p:sp>
      <p:sp>
        <p:nvSpPr>
          <p:cNvPr id="80" name="Google Shape;80;p16"/>
          <p:cNvSpPr txBox="1"/>
          <p:nvPr/>
        </p:nvSpPr>
        <p:spPr>
          <a:xfrm>
            <a:off x="-891875" y="-744675"/>
            <a:ext cx="484800" cy="27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7"/>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6" name="Google Shape;86;p17"/>
          <p:cNvSpPr txBox="1"/>
          <p:nvPr/>
        </p:nvSpPr>
        <p:spPr>
          <a:xfrm>
            <a:off x="354075" y="2742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While Cx are excited by promotions; they are also skeptical of deals</a:t>
            </a:r>
            <a:endParaRPr b="1" sz="2000">
              <a:solidFill>
                <a:schemeClr val="dk1"/>
              </a:solidFill>
              <a:latin typeface="Proxima Nova"/>
              <a:ea typeface="Proxima Nova"/>
              <a:cs typeface="Proxima Nova"/>
              <a:sym typeface="Proxima Nova"/>
            </a:endParaRPr>
          </a:p>
        </p:txBody>
      </p:sp>
      <p:pic>
        <p:nvPicPr>
          <p:cNvPr id="87" name="Google Shape;87;p17"/>
          <p:cNvPicPr preferRelativeResize="0"/>
          <p:nvPr/>
        </p:nvPicPr>
        <p:blipFill>
          <a:blip r:embed="rId3">
            <a:alphaModFix/>
          </a:blip>
          <a:stretch>
            <a:fillRect/>
          </a:stretch>
        </p:blipFill>
        <p:spPr>
          <a:xfrm>
            <a:off x="605650" y="1644625"/>
            <a:ext cx="1186125" cy="1186125"/>
          </a:xfrm>
          <a:prstGeom prst="rect">
            <a:avLst/>
          </a:prstGeom>
          <a:noFill/>
          <a:ln>
            <a:noFill/>
          </a:ln>
        </p:spPr>
      </p:pic>
      <p:sp>
        <p:nvSpPr>
          <p:cNvPr id="88" name="Google Shape;88;p17"/>
          <p:cNvSpPr txBox="1"/>
          <p:nvPr/>
        </p:nvSpPr>
        <p:spPr>
          <a:xfrm>
            <a:off x="2034150" y="1687900"/>
            <a:ext cx="6460800" cy="12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Proxima Nova"/>
                <a:ea typeface="Proxima Nova"/>
                <a:cs typeface="Proxima Nova"/>
                <a:sym typeface="Proxima Nova"/>
              </a:rPr>
              <a:t>Half of Cx expressed </a:t>
            </a:r>
            <a:r>
              <a:rPr b="1" lang="en" sz="1300">
                <a:latin typeface="Proxima Nova"/>
                <a:ea typeface="Proxima Nova"/>
                <a:cs typeface="Proxima Nova"/>
                <a:sym typeface="Proxima Nova"/>
              </a:rPr>
              <a:t>some level of skepticism</a:t>
            </a:r>
            <a:r>
              <a:rPr lang="en" sz="1300">
                <a:latin typeface="Proxima Nova"/>
                <a:ea typeface="Proxima Nova"/>
                <a:cs typeface="Proxima Nova"/>
                <a:sym typeface="Proxima Nova"/>
              </a:rPr>
              <a:t> about deals on DoorDash.  They expressed concerns that </a:t>
            </a:r>
            <a:r>
              <a:rPr b="1" lang="en" sz="1300">
                <a:latin typeface="Proxima Nova"/>
                <a:ea typeface="Proxima Nova"/>
                <a:cs typeface="Proxima Nova"/>
                <a:sym typeface="Proxima Nova"/>
              </a:rPr>
              <a:t>prices were inflated</a:t>
            </a:r>
            <a:r>
              <a:rPr lang="en" sz="1300">
                <a:latin typeface="Proxima Nova"/>
                <a:ea typeface="Proxima Nova"/>
                <a:cs typeface="Proxima Nova"/>
                <a:sym typeface="Proxima Nova"/>
              </a:rPr>
              <a:t> to give the </a:t>
            </a:r>
            <a:r>
              <a:rPr b="1" lang="en" sz="1300">
                <a:latin typeface="Proxima Nova"/>
                <a:ea typeface="Proxima Nova"/>
                <a:cs typeface="Proxima Nova"/>
                <a:sym typeface="Proxima Nova"/>
              </a:rPr>
              <a:t>perception of savings</a:t>
            </a:r>
            <a:r>
              <a:rPr lang="en" sz="1300">
                <a:latin typeface="Proxima Nova"/>
                <a:ea typeface="Proxima Nova"/>
                <a:cs typeface="Proxima Nova"/>
                <a:sym typeface="Proxima Nova"/>
              </a:rPr>
              <a:t>, or that even with savings it is still </a:t>
            </a:r>
            <a:r>
              <a:rPr b="1" lang="en" sz="1300">
                <a:latin typeface="Proxima Nova"/>
                <a:ea typeface="Proxima Nova"/>
                <a:cs typeface="Proxima Nova"/>
                <a:sym typeface="Proxima Nova"/>
              </a:rPr>
              <a:t>more expensive</a:t>
            </a:r>
            <a:r>
              <a:rPr lang="en" sz="1300">
                <a:latin typeface="Proxima Nova"/>
                <a:ea typeface="Proxima Nova"/>
                <a:cs typeface="Proxima Nova"/>
                <a:sym typeface="Proxima Nova"/>
              </a:rPr>
              <a:t> than going in person to a Rx.</a:t>
            </a:r>
            <a:endParaRPr sz="1300">
              <a:latin typeface="Proxima Nova"/>
              <a:ea typeface="Proxima Nova"/>
              <a:cs typeface="Proxima Nova"/>
              <a:sym typeface="Proxima Nova"/>
            </a:endParaRPr>
          </a:p>
        </p:txBody>
      </p:sp>
      <p:pic>
        <p:nvPicPr>
          <p:cNvPr id="89" name="Google Shape;89;p17"/>
          <p:cNvPicPr preferRelativeResize="0"/>
          <p:nvPr/>
        </p:nvPicPr>
        <p:blipFill>
          <a:blip r:embed="rId4">
            <a:alphaModFix/>
          </a:blip>
          <a:stretch>
            <a:fillRect/>
          </a:stretch>
        </p:blipFill>
        <p:spPr>
          <a:xfrm>
            <a:off x="605650" y="3415325"/>
            <a:ext cx="1186125" cy="1186125"/>
          </a:xfrm>
          <a:prstGeom prst="rect">
            <a:avLst/>
          </a:prstGeom>
          <a:noFill/>
          <a:ln>
            <a:noFill/>
          </a:ln>
        </p:spPr>
      </p:pic>
      <p:sp>
        <p:nvSpPr>
          <p:cNvPr id="90" name="Google Shape;90;p17"/>
          <p:cNvSpPr txBox="1"/>
          <p:nvPr/>
        </p:nvSpPr>
        <p:spPr>
          <a:xfrm>
            <a:off x="2034150" y="3277725"/>
            <a:ext cx="6460800" cy="125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Proxima Nova"/>
                <a:ea typeface="Proxima Nova"/>
                <a:cs typeface="Proxima Nova"/>
                <a:sym typeface="Proxima Nova"/>
              </a:rPr>
              <a:t>Some of the Cx </a:t>
            </a:r>
            <a:r>
              <a:rPr lang="en" sz="1300">
                <a:latin typeface="Proxima Nova"/>
                <a:ea typeface="Proxima Nova"/>
                <a:cs typeface="Proxima Nova"/>
                <a:sym typeface="Proxima Nova"/>
              </a:rPr>
              <a:t>skepticism</a:t>
            </a:r>
            <a:r>
              <a:rPr lang="en" sz="1300">
                <a:latin typeface="Proxima Nova"/>
                <a:ea typeface="Proxima Nova"/>
                <a:cs typeface="Proxima Nova"/>
                <a:sym typeface="Proxima Nova"/>
              </a:rPr>
              <a:t> comes from </a:t>
            </a:r>
            <a:r>
              <a:rPr b="1" lang="en" sz="1300">
                <a:latin typeface="Proxima Nova"/>
                <a:ea typeface="Proxima Nova"/>
                <a:cs typeface="Proxima Nova"/>
                <a:sym typeface="Proxima Nova"/>
              </a:rPr>
              <a:t>confusion around the deals themselves</a:t>
            </a:r>
            <a:r>
              <a:rPr lang="en" sz="1300">
                <a:latin typeface="Proxima Nova"/>
                <a:ea typeface="Proxima Nova"/>
                <a:cs typeface="Proxima Nova"/>
                <a:sym typeface="Proxima Nova"/>
              </a:rPr>
              <a:t>.  Cx cite </a:t>
            </a:r>
            <a:r>
              <a:rPr b="1" lang="en" sz="1300">
                <a:latin typeface="Proxima Nova"/>
                <a:ea typeface="Proxima Nova"/>
                <a:cs typeface="Proxima Nova"/>
                <a:sym typeface="Proxima Nova"/>
              </a:rPr>
              <a:t>inconsistencies across badges, deal descriptions and requirements</a:t>
            </a:r>
            <a:r>
              <a:rPr lang="en" sz="1300">
                <a:latin typeface="Proxima Nova"/>
                <a:ea typeface="Proxima Nova"/>
                <a:cs typeface="Proxima Nova"/>
                <a:sym typeface="Proxima Nova"/>
              </a:rPr>
              <a:t> that make it </a:t>
            </a:r>
            <a:r>
              <a:rPr b="1" lang="en" sz="1300">
                <a:latin typeface="Proxima Nova"/>
                <a:ea typeface="Proxima Nova"/>
                <a:cs typeface="Proxima Nova"/>
                <a:sym typeface="Proxima Nova"/>
              </a:rPr>
              <a:t>confusing to know when a deal is a good deal.</a:t>
            </a:r>
            <a:r>
              <a:rPr lang="en" sz="1300">
                <a:latin typeface="Proxima Nova"/>
                <a:ea typeface="Proxima Nova"/>
                <a:cs typeface="Proxima Nova"/>
                <a:sym typeface="Proxima Nova"/>
              </a:rPr>
              <a:t>  Cx feel that the value and requirements should be shown in a consistent manner.</a:t>
            </a:r>
            <a:endParaRPr sz="1300">
              <a:latin typeface="Proxima Nova"/>
              <a:ea typeface="Proxima Nova"/>
              <a:cs typeface="Proxima Nova"/>
              <a:sym typeface="Proxima Nov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8"/>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6" name="Google Shape;96;p18"/>
          <p:cNvSpPr txBox="1"/>
          <p:nvPr/>
        </p:nvSpPr>
        <p:spPr>
          <a:xfrm>
            <a:off x="354075" y="2742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Cx are most interested in deals with “tangible value”</a:t>
            </a:r>
            <a:endParaRPr b="1" sz="2000">
              <a:solidFill>
                <a:schemeClr val="dk1"/>
              </a:solidFill>
              <a:latin typeface="Proxima Nova"/>
              <a:ea typeface="Proxima Nova"/>
              <a:cs typeface="Proxima Nova"/>
              <a:sym typeface="Proxima Nova"/>
            </a:endParaRPr>
          </a:p>
        </p:txBody>
      </p:sp>
      <p:sp>
        <p:nvSpPr>
          <p:cNvPr id="97" name="Google Shape;97;p18"/>
          <p:cNvSpPr txBox="1"/>
          <p:nvPr/>
        </p:nvSpPr>
        <p:spPr>
          <a:xfrm>
            <a:off x="4310200" y="1962925"/>
            <a:ext cx="3370500" cy="21954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Proxima Nova"/>
              <a:buChar char="●"/>
            </a:pPr>
            <a:r>
              <a:rPr lang="en" sz="1200">
                <a:latin typeface="Proxima Nova"/>
                <a:ea typeface="Proxima Nova"/>
                <a:cs typeface="Proxima Nova"/>
                <a:sym typeface="Proxima Nova"/>
              </a:rPr>
              <a:t>Deals have </a:t>
            </a:r>
            <a:r>
              <a:rPr b="1" lang="en" sz="1200">
                <a:solidFill>
                  <a:srgbClr val="E23208"/>
                </a:solidFill>
                <a:latin typeface="Proxima Nova"/>
                <a:ea typeface="Proxima Nova"/>
                <a:cs typeface="Proxima Nova"/>
                <a:sym typeface="Proxima Nova"/>
              </a:rPr>
              <a:t>high minimum amounts</a:t>
            </a:r>
            <a:r>
              <a:rPr lang="en" sz="1200">
                <a:solidFill>
                  <a:srgbClr val="E23208"/>
                </a:solidFill>
                <a:latin typeface="Proxima Nova"/>
                <a:ea typeface="Proxima Nova"/>
                <a:cs typeface="Proxima Nova"/>
                <a:sym typeface="Proxima Nova"/>
              </a:rPr>
              <a:t> </a:t>
            </a:r>
            <a:r>
              <a:rPr lang="en" sz="1200">
                <a:latin typeface="Proxima Nova"/>
                <a:ea typeface="Proxima Nova"/>
                <a:cs typeface="Proxima Nova"/>
                <a:sym typeface="Proxima Nova"/>
              </a:rPr>
              <a:t>(over $25) </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Deals have </a:t>
            </a:r>
            <a:r>
              <a:rPr b="1" lang="en" sz="1200">
                <a:solidFill>
                  <a:srgbClr val="E23208"/>
                </a:solidFill>
                <a:latin typeface="Proxima Nova"/>
                <a:ea typeface="Proxima Nova"/>
                <a:cs typeface="Proxima Nova"/>
                <a:sym typeface="Proxima Nova"/>
              </a:rPr>
              <a:t>low value</a:t>
            </a:r>
            <a:r>
              <a:rPr b="1" lang="en" sz="1200">
                <a:latin typeface="Proxima Nova"/>
                <a:ea typeface="Proxima Nova"/>
                <a:cs typeface="Proxima Nova"/>
                <a:sym typeface="Proxima Nova"/>
              </a:rPr>
              <a:t> </a:t>
            </a:r>
            <a:r>
              <a:rPr lang="en" sz="1200">
                <a:latin typeface="Proxima Nova"/>
                <a:ea typeface="Proxima Nova"/>
                <a:cs typeface="Proxima Nova"/>
                <a:sym typeface="Proxima Nova"/>
              </a:rPr>
              <a:t>(under $5)</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Deals are </a:t>
            </a:r>
            <a:r>
              <a:rPr b="1" lang="en" sz="1200">
                <a:solidFill>
                  <a:srgbClr val="E23208"/>
                </a:solidFill>
                <a:latin typeface="Proxima Nova"/>
                <a:ea typeface="Proxima Nova"/>
                <a:cs typeface="Proxima Nova"/>
                <a:sym typeface="Proxima Nova"/>
              </a:rPr>
              <a:t>inconsistent</a:t>
            </a:r>
            <a:r>
              <a:rPr lang="en" sz="1200">
                <a:latin typeface="Proxima Nova"/>
                <a:ea typeface="Proxima Nova"/>
                <a:cs typeface="Proxima Nova"/>
                <a:sym typeface="Proxima Nova"/>
              </a:rPr>
              <a:t> are </a:t>
            </a:r>
            <a:r>
              <a:rPr b="1" lang="en" sz="1200">
                <a:solidFill>
                  <a:srgbClr val="E23208"/>
                </a:solidFill>
                <a:latin typeface="Proxima Nova"/>
                <a:ea typeface="Proxima Nova"/>
                <a:cs typeface="Proxima Nova"/>
                <a:sym typeface="Proxima Nova"/>
              </a:rPr>
              <a:t>confusing</a:t>
            </a:r>
            <a:r>
              <a:rPr lang="en" sz="1200">
                <a:latin typeface="Proxima Nova"/>
                <a:ea typeface="Proxima Nova"/>
                <a:cs typeface="Proxima Nova"/>
                <a:sym typeface="Proxima Nova"/>
              </a:rPr>
              <a:t> to understand</a:t>
            </a:r>
            <a:endParaRPr sz="1200">
              <a:latin typeface="Proxima Nova"/>
              <a:ea typeface="Proxima Nova"/>
              <a:cs typeface="Proxima Nova"/>
              <a:sym typeface="Proxima Nova"/>
            </a:endParaRPr>
          </a:p>
          <a:p>
            <a:pPr indent="-304800" lvl="0" marL="457200" rtl="0" algn="l">
              <a:spcBef>
                <a:spcPts val="1000"/>
              </a:spcBef>
              <a:spcAft>
                <a:spcPts val="1000"/>
              </a:spcAft>
              <a:buSzPts val="1200"/>
              <a:buFont typeface="Proxima Nova"/>
              <a:buChar char="●"/>
            </a:pPr>
            <a:r>
              <a:rPr lang="en" sz="1200">
                <a:latin typeface="Proxima Nova"/>
                <a:ea typeface="Proxima Nova"/>
                <a:cs typeface="Proxima Nova"/>
                <a:sym typeface="Proxima Nova"/>
              </a:rPr>
              <a:t>BOGO does</a:t>
            </a:r>
            <a:r>
              <a:rPr lang="en" sz="1200">
                <a:solidFill>
                  <a:srgbClr val="E23208"/>
                </a:solidFill>
                <a:latin typeface="Proxima Nova"/>
                <a:ea typeface="Proxima Nova"/>
                <a:cs typeface="Proxima Nova"/>
                <a:sym typeface="Proxima Nova"/>
              </a:rPr>
              <a:t> </a:t>
            </a:r>
            <a:r>
              <a:rPr b="1" lang="en" sz="1200">
                <a:solidFill>
                  <a:srgbClr val="E23208"/>
                </a:solidFill>
                <a:latin typeface="Proxima Nova"/>
                <a:ea typeface="Proxima Nova"/>
                <a:cs typeface="Proxima Nova"/>
                <a:sym typeface="Proxima Nova"/>
              </a:rPr>
              <a:t>not allow flexibility</a:t>
            </a:r>
            <a:r>
              <a:rPr lang="en" sz="1200">
                <a:latin typeface="Proxima Nova"/>
                <a:ea typeface="Proxima Nova"/>
                <a:cs typeface="Proxima Nova"/>
                <a:sym typeface="Proxima Nova"/>
              </a:rPr>
              <a:t> in the items</a:t>
            </a:r>
            <a:endParaRPr sz="1200">
              <a:latin typeface="Proxima Nova"/>
              <a:ea typeface="Proxima Nova"/>
              <a:cs typeface="Proxima Nova"/>
              <a:sym typeface="Proxima Nova"/>
            </a:endParaRPr>
          </a:p>
        </p:txBody>
      </p:sp>
      <p:sp>
        <p:nvSpPr>
          <p:cNvPr id="98" name="Google Shape;98;p18"/>
          <p:cNvSpPr txBox="1"/>
          <p:nvPr/>
        </p:nvSpPr>
        <p:spPr>
          <a:xfrm>
            <a:off x="1247250" y="1292900"/>
            <a:ext cx="3470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Proxima Nova"/>
                <a:ea typeface="Proxima Nova"/>
                <a:cs typeface="Proxima Nova"/>
                <a:sym typeface="Proxima Nova"/>
              </a:rPr>
              <a:t>Cx like when….</a:t>
            </a:r>
            <a:endParaRPr sz="1600">
              <a:solidFill>
                <a:schemeClr val="dk1"/>
              </a:solidFill>
            </a:endParaRPr>
          </a:p>
        </p:txBody>
      </p:sp>
      <p:sp>
        <p:nvSpPr>
          <p:cNvPr id="99" name="Google Shape;99;p18"/>
          <p:cNvSpPr txBox="1"/>
          <p:nvPr/>
        </p:nvSpPr>
        <p:spPr>
          <a:xfrm>
            <a:off x="5024550" y="1292900"/>
            <a:ext cx="3470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1"/>
                </a:solidFill>
                <a:latin typeface="Proxima Nova"/>
                <a:ea typeface="Proxima Nova"/>
                <a:cs typeface="Proxima Nova"/>
                <a:sym typeface="Proxima Nova"/>
              </a:rPr>
              <a:t>Cx dislike when….</a:t>
            </a:r>
            <a:endParaRPr sz="1600">
              <a:solidFill>
                <a:schemeClr val="dk1"/>
              </a:solidFill>
            </a:endParaRPr>
          </a:p>
        </p:txBody>
      </p:sp>
      <p:sp>
        <p:nvSpPr>
          <p:cNvPr id="100" name="Google Shape;100;p18"/>
          <p:cNvSpPr txBox="1"/>
          <p:nvPr/>
        </p:nvSpPr>
        <p:spPr>
          <a:xfrm>
            <a:off x="689825" y="1962925"/>
            <a:ext cx="3000000" cy="17343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Deals have</a:t>
            </a:r>
            <a:r>
              <a:rPr lang="en" sz="1200">
                <a:solidFill>
                  <a:schemeClr val="dk1"/>
                </a:solidFill>
                <a:latin typeface="Proxima Nova"/>
                <a:ea typeface="Proxima Nova"/>
                <a:cs typeface="Proxima Nova"/>
                <a:sym typeface="Proxima Nova"/>
              </a:rPr>
              <a:t> </a:t>
            </a:r>
            <a:r>
              <a:rPr b="1" lang="en" sz="1200">
                <a:solidFill>
                  <a:srgbClr val="38761D"/>
                </a:solidFill>
                <a:latin typeface="Proxima Nova"/>
                <a:ea typeface="Proxima Nova"/>
                <a:cs typeface="Proxima Nova"/>
                <a:sym typeface="Proxima Nova"/>
              </a:rPr>
              <a:t>free delivery</a:t>
            </a:r>
            <a:r>
              <a:rPr lang="en" sz="1200">
                <a:solidFill>
                  <a:schemeClr val="dk1"/>
                </a:solidFill>
                <a:latin typeface="Proxima Nova"/>
                <a:ea typeface="Proxima Nova"/>
                <a:cs typeface="Proxima Nova"/>
                <a:sym typeface="Proxima Nova"/>
              </a:rPr>
              <a:t> because it </a:t>
            </a:r>
            <a:r>
              <a:rPr b="1" lang="en" sz="1200">
                <a:solidFill>
                  <a:srgbClr val="38761D"/>
                </a:solidFill>
                <a:latin typeface="Proxima Nova"/>
                <a:ea typeface="Proxima Nova"/>
                <a:cs typeface="Proxima Nova"/>
                <a:sym typeface="Proxima Nova"/>
              </a:rPr>
              <a:t>removes a clear expense</a:t>
            </a:r>
            <a:r>
              <a:rPr lang="en" sz="1200">
                <a:solidFill>
                  <a:schemeClr val="dk1"/>
                </a:solidFill>
                <a:latin typeface="Proxima Nova"/>
                <a:ea typeface="Proxima Nova"/>
                <a:cs typeface="Proxima Nova"/>
                <a:sym typeface="Proxima Nova"/>
              </a:rPr>
              <a:t> and guilt around ordering</a:t>
            </a:r>
            <a:endParaRPr sz="1200">
              <a:solidFill>
                <a:schemeClr val="dk1"/>
              </a:solidFill>
              <a:latin typeface="Proxima Nova"/>
              <a:ea typeface="Proxima Nova"/>
              <a:cs typeface="Proxima Nova"/>
              <a:sym typeface="Proxima Nova"/>
            </a:endParaRPr>
          </a:p>
          <a:p>
            <a:pPr indent="-304800" lvl="0" marL="457200" rtl="0" algn="l">
              <a:spcBef>
                <a:spcPts val="10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Have a </a:t>
            </a:r>
            <a:r>
              <a:rPr b="1" lang="en" sz="1200">
                <a:solidFill>
                  <a:srgbClr val="38761D"/>
                </a:solidFill>
                <a:latin typeface="Proxima Nova"/>
                <a:ea typeface="Proxima Nova"/>
                <a:cs typeface="Proxima Nova"/>
                <a:sym typeface="Proxima Nova"/>
              </a:rPr>
              <a:t>concrete number off</a:t>
            </a:r>
            <a:r>
              <a:rPr lang="en" sz="1200">
                <a:solidFill>
                  <a:schemeClr val="dk1"/>
                </a:solidFill>
                <a:latin typeface="Proxima Nova"/>
                <a:ea typeface="Proxima Nova"/>
                <a:cs typeface="Proxima Nova"/>
                <a:sym typeface="Proxima Nova"/>
              </a:rPr>
              <a:t> that doesn’t require math or feel arbitrary</a:t>
            </a:r>
            <a:endParaRPr sz="1200">
              <a:solidFill>
                <a:schemeClr val="dk1"/>
              </a:solidFill>
              <a:latin typeface="Proxima Nova"/>
              <a:ea typeface="Proxima Nova"/>
              <a:cs typeface="Proxima Nova"/>
              <a:sym typeface="Proxima Nova"/>
            </a:endParaRPr>
          </a:p>
          <a:p>
            <a:pPr indent="-304800" lvl="0" marL="457200" rtl="0" algn="l">
              <a:spcBef>
                <a:spcPts val="1000"/>
              </a:spcBef>
              <a:spcAft>
                <a:spcPts val="1000"/>
              </a:spcAft>
              <a:buClr>
                <a:schemeClr val="dk1"/>
              </a:buClr>
              <a:buSzPts val="1200"/>
              <a:buFont typeface="Proxima Nova"/>
              <a:buChar char="●"/>
            </a:pPr>
            <a:r>
              <a:rPr lang="en" sz="1200">
                <a:solidFill>
                  <a:schemeClr val="dk1"/>
                </a:solidFill>
                <a:latin typeface="Proxima Nova"/>
                <a:ea typeface="Proxima Nova"/>
                <a:cs typeface="Proxima Nova"/>
                <a:sym typeface="Proxima Nova"/>
              </a:rPr>
              <a:t>BOGO for the </a:t>
            </a:r>
            <a:r>
              <a:rPr b="1" lang="en" sz="1200">
                <a:solidFill>
                  <a:srgbClr val="38761D"/>
                </a:solidFill>
                <a:latin typeface="Proxima Nova"/>
                <a:ea typeface="Proxima Nova"/>
                <a:cs typeface="Proxima Nova"/>
                <a:sym typeface="Proxima Nova"/>
              </a:rPr>
              <a:t>value of the deal</a:t>
            </a:r>
            <a:endParaRPr b="1" sz="1200">
              <a:solidFill>
                <a:srgbClr val="38761D"/>
              </a:solidFill>
              <a:latin typeface="Proxima Nova"/>
              <a:ea typeface="Proxima Nova"/>
              <a:cs typeface="Proxima Nova"/>
              <a:sym typeface="Proxima Nova"/>
            </a:endParaRPr>
          </a:p>
        </p:txBody>
      </p:sp>
      <p:sp>
        <p:nvSpPr>
          <p:cNvPr id="101" name="Google Shape;101;p18"/>
          <p:cNvSpPr txBox="1"/>
          <p:nvPr/>
        </p:nvSpPr>
        <p:spPr>
          <a:xfrm>
            <a:off x="4533950" y="3856975"/>
            <a:ext cx="30000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E23208"/>
                </a:solidFill>
              </a:rPr>
              <a:t>“</a:t>
            </a:r>
            <a:r>
              <a:rPr i="1" lang="en" sz="1100">
                <a:solidFill>
                  <a:srgbClr val="E23208"/>
                </a:solidFill>
              </a:rPr>
              <a:t>Something</a:t>
            </a:r>
            <a:r>
              <a:rPr i="1" lang="en" sz="1100">
                <a:solidFill>
                  <a:srgbClr val="E23208"/>
                </a:solidFill>
              </a:rPr>
              <a:t> like $5 off, that’s not great”</a:t>
            </a:r>
            <a:endParaRPr i="1" sz="1100">
              <a:solidFill>
                <a:srgbClr val="E23208"/>
              </a:solidFill>
            </a:endParaRPr>
          </a:p>
          <a:p>
            <a:pPr indent="0" lvl="0" marL="0" rtl="0" algn="l">
              <a:spcBef>
                <a:spcPts val="0"/>
              </a:spcBef>
              <a:spcAft>
                <a:spcPts val="0"/>
              </a:spcAft>
              <a:buNone/>
            </a:pPr>
            <a:r>
              <a:t/>
            </a:r>
            <a:endParaRPr i="1" sz="1100">
              <a:solidFill>
                <a:srgbClr val="E23208"/>
              </a:solidFill>
            </a:endParaRPr>
          </a:p>
          <a:p>
            <a:pPr indent="0" lvl="0" marL="0" rtl="0" algn="l">
              <a:spcBef>
                <a:spcPts val="0"/>
              </a:spcBef>
              <a:spcAft>
                <a:spcPts val="0"/>
              </a:spcAft>
              <a:buNone/>
            </a:pPr>
            <a:r>
              <a:rPr i="1" lang="en" sz="1100">
                <a:solidFill>
                  <a:srgbClr val="E23208"/>
                </a:solidFill>
              </a:rPr>
              <a:t>“When I have to spend $50 to get something, </a:t>
            </a:r>
            <a:r>
              <a:rPr i="1" lang="en" sz="1100">
                <a:solidFill>
                  <a:srgbClr val="E23208"/>
                </a:solidFill>
              </a:rPr>
              <a:t>it's</a:t>
            </a:r>
            <a:r>
              <a:rPr i="1" lang="en" sz="1100">
                <a:solidFill>
                  <a:srgbClr val="E23208"/>
                </a:solidFill>
              </a:rPr>
              <a:t> just not gonna happen”</a:t>
            </a:r>
            <a:endParaRPr i="1" sz="1100">
              <a:solidFill>
                <a:srgbClr val="E23208"/>
              </a:solidFill>
            </a:endParaRPr>
          </a:p>
          <a:p>
            <a:pPr indent="0" lvl="0" marL="0" rtl="0" algn="l">
              <a:spcBef>
                <a:spcPts val="0"/>
              </a:spcBef>
              <a:spcAft>
                <a:spcPts val="0"/>
              </a:spcAft>
              <a:buNone/>
            </a:pPr>
            <a:r>
              <a:t/>
            </a:r>
            <a:endParaRPr i="1" sz="1100">
              <a:solidFill>
                <a:srgbClr val="E23208"/>
              </a:solidFill>
            </a:endParaRPr>
          </a:p>
        </p:txBody>
      </p:sp>
      <p:sp>
        <p:nvSpPr>
          <p:cNvPr id="102" name="Google Shape;102;p18"/>
          <p:cNvSpPr txBox="1"/>
          <p:nvPr/>
        </p:nvSpPr>
        <p:spPr>
          <a:xfrm>
            <a:off x="634600" y="3856975"/>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100">
                <a:solidFill>
                  <a:srgbClr val="38761D"/>
                </a:solidFill>
              </a:rPr>
              <a:t>“L</a:t>
            </a:r>
            <a:r>
              <a:rPr i="1" lang="en" sz="1100">
                <a:solidFill>
                  <a:srgbClr val="38761D"/>
                </a:solidFill>
              </a:rPr>
              <a:t>ike no minimum or no delivery fee? Yeah those (I like).”</a:t>
            </a:r>
            <a:endParaRPr i="1" sz="1100">
              <a:solidFill>
                <a:srgbClr val="38761D"/>
              </a:solidFill>
            </a:endParaRPr>
          </a:p>
          <a:p>
            <a:pPr indent="0" lvl="0" marL="0" rtl="0" algn="l">
              <a:spcBef>
                <a:spcPts val="0"/>
              </a:spcBef>
              <a:spcAft>
                <a:spcPts val="0"/>
              </a:spcAft>
              <a:buNone/>
            </a:pPr>
            <a:r>
              <a:t/>
            </a:r>
            <a:endParaRPr i="1" sz="1100">
              <a:solidFill>
                <a:srgbClr val="38761D"/>
              </a:solidFill>
            </a:endParaRPr>
          </a:p>
          <a:p>
            <a:pPr indent="0" lvl="0" marL="0" rtl="0" algn="l">
              <a:spcBef>
                <a:spcPts val="0"/>
              </a:spcBef>
              <a:spcAft>
                <a:spcPts val="0"/>
              </a:spcAft>
              <a:buNone/>
            </a:pPr>
            <a:r>
              <a:rPr i="1" lang="en" sz="1100">
                <a:solidFill>
                  <a:srgbClr val="38761D"/>
                </a:solidFill>
              </a:rPr>
              <a:t>“BOGO are helpful”</a:t>
            </a:r>
            <a:endParaRPr i="1" sz="1100">
              <a:solidFill>
                <a:srgbClr val="38761D"/>
              </a:solidFill>
            </a:endParaRPr>
          </a:p>
        </p:txBody>
      </p:sp>
      <p:pic>
        <p:nvPicPr>
          <p:cNvPr id="103" name="Google Shape;103;p18"/>
          <p:cNvPicPr preferRelativeResize="0"/>
          <p:nvPr/>
        </p:nvPicPr>
        <p:blipFill>
          <a:blip r:embed="rId4">
            <a:alphaModFix/>
          </a:blip>
          <a:stretch>
            <a:fillRect/>
          </a:stretch>
        </p:blipFill>
        <p:spPr>
          <a:xfrm>
            <a:off x="424225" y="1157364"/>
            <a:ext cx="655074" cy="655074"/>
          </a:xfrm>
          <a:prstGeom prst="rect">
            <a:avLst/>
          </a:prstGeom>
          <a:noFill/>
          <a:ln>
            <a:noFill/>
          </a:ln>
        </p:spPr>
      </p:pic>
      <p:pic>
        <p:nvPicPr>
          <p:cNvPr id="104" name="Google Shape;104;p18"/>
          <p:cNvPicPr preferRelativeResize="0"/>
          <p:nvPr/>
        </p:nvPicPr>
        <p:blipFill>
          <a:blip r:embed="rId5">
            <a:alphaModFix/>
          </a:blip>
          <a:stretch>
            <a:fillRect/>
          </a:stretch>
        </p:blipFill>
        <p:spPr>
          <a:xfrm>
            <a:off x="4310200" y="1127725"/>
            <a:ext cx="714351" cy="7143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p:nvPr/>
        </p:nvSpPr>
        <p:spPr>
          <a:xfrm>
            <a:off x="354075" y="1060425"/>
            <a:ext cx="5014800" cy="3933600"/>
          </a:xfrm>
          <a:prstGeom prst="rect">
            <a:avLst/>
          </a:prstGeom>
          <a:solidFill>
            <a:srgbClr val="F3F3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 name="Google Shape;110;p19"/>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 name="Google Shape;111;p19"/>
          <p:cNvSpPr txBox="1"/>
          <p:nvPr/>
        </p:nvSpPr>
        <p:spPr>
          <a:xfrm>
            <a:off x="354075" y="2742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Free item badge does not garner much attention or interest from Cx</a:t>
            </a:r>
            <a:endParaRPr b="1" sz="2000">
              <a:solidFill>
                <a:schemeClr val="dk1"/>
              </a:solidFill>
              <a:latin typeface="Proxima Nova"/>
              <a:ea typeface="Proxima Nova"/>
              <a:cs typeface="Proxima Nova"/>
              <a:sym typeface="Proxima Nova"/>
            </a:endParaRPr>
          </a:p>
        </p:txBody>
      </p:sp>
      <p:pic>
        <p:nvPicPr>
          <p:cNvPr id="112" name="Google Shape;112;p19"/>
          <p:cNvPicPr preferRelativeResize="0"/>
          <p:nvPr/>
        </p:nvPicPr>
        <p:blipFill>
          <a:blip r:embed="rId3">
            <a:alphaModFix/>
          </a:blip>
          <a:stretch>
            <a:fillRect/>
          </a:stretch>
        </p:blipFill>
        <p:spPr>
          <a:xfrm>
            <a:off x="1669925" y="1198725"/>
            <a:ext cx="2087026" cy="1747975"/>
          </a:xfrm>
          <a:prstGeom prst="rect">
            <a:avLst/>
          </a:prstGeom>
          <a:noFill/>
          <a:ln>
            <a:noFill/>
          </a:ln>
        </p:spPr>
      </p:pic>
      <p:sp>
        <p:nvSpPr>
          <p:cNvPr id="113" name="Google Shape;113;p19"/>
          <p:cNvSpPr txBox="1"/>
          <p:nvPr/>
        </p:nvSpPr>
        <p:spPr>
          <a:xfrm>
            <a:off x="680775" y="2946700"/>
            <a:ext cx="4361400" cy="2047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1100">
                <a:solidFill>
                  <a:schemeClr val="dk1"/>
                </a:solidFill>
                <a:latin typeface="Proxima Nova"/>
                <a:ea typeface="Proxima Nova"/>
                <a:cs typeface="Proxima Nova"/>
                <a:sym typeface="Proxima Nova"/>
              </a:rPr>
              <a:t>Very few Cx indicated interest in the free item or free item deals in general:</a:t>
            </a:r>
            <a:endParaRPr sz="1100">
              <a:solidFill>
                <a:schemeClr val="dk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1100">
              <a:solidFill>
                <a:schemeClr val="dk1"/>
              </a:solidFill>
              <a:latin typeface="Proxima Nova"/>
              <a:ea typeface="Proxima Nova"/>
              <a:cs typeface="Proxima Nova"/>
              <a:sym typeface="Proxima Nova"/>
            </a:endParaRPr>
          </a:p>
          <a:p>
            <a:pPr indent="-298450" lvl="0" marL="457200" rtl="0" algn="l">
              <a:lnSpc>
                <a:spcPct val="100000"/>
              </a:lnSpc>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Cx assume the item is </a:t>
            </a:r>
            <a:r>
              <a:rPr b="1" lang="en" sz="1100">
                <a:solidFill>
                  <a:schemeClr val="dk1"/>
                </a:solidFill>
                <a:latin typeface="Proxima Nova"/>
                <a:ea typeface="Proxima Nova"/>
                <a:cs typeface="Proxima Nova"/>
                <a:sym typeface="Proxima Nova"/>
              </a:rPr>
              <a:t>low value</a:t>
            </a:r>
            <a:r>
              <a:rPr lang="en" sz="1100">
                <a:solidFill>
                  <a:schemeClr val="dk1"/>
                </a:solidFill>
                <a:latin typeface="Proxima Nova"/>
                <a:ea typeface="Proxima Nova"/>
                <a:cs typeface="Proxima Nova"/>
                <a:sym typeface="Proxima Nova"/>
              </a:rPr>
              <a:t> (e.g. soda, fries or dessert) and not worth ordering from a Rx for</a:t>
            </a:r>
            <a:endParaRPr sz="1100">
              <a:solidFill>
                <a:schemeClr val="dk1"/>
              </a:solidFill>
              <a:latin typeface="Proxima Nova"/>
              <a:ea typeface="Proxima Nova"/>
              <a:cs typeface="Proxima Nova"/>
              <a:sym typeface="Proxima Nova"/>
            </a:endParaRPr>
          </a:p>
          <a:p>
            <a:pPr indent="-298450" lvl="0" marL="457200" rtl="0" algn="l">
              <a:lnSpc>
                <a:spcPct val="100000"/>
              </a:lnSpc>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Cx assume they will </a:t>
            </a:r>
            <a:r>
              <a:rPr b="1" lang="en" sz="1100">
                <a:solidFill>
                  <a:schemeClr val="dk1"/>
                </a:solidFill>
                <a:latin typeface="Proxima Nova"/>
                <a:ea typeface="Proxima Nova"/>
                <a:cs typeface="Proxima Nova"/>
                <a:sym typeface="Proxima Nova"/>
              </a:rPr>
              <a:t>not like the item</a:t>
            </a:r>
            <a:r>
              <a:rPr lang="en" sz="1100">
                <a:solidFill>
                  <a:schemeClr val="dk1"/>
                </a:solidFill>
                <a:latin typeface="Proxima Nova"/>
                <a:ea typeface="Proxima Nova"/>
                <a:cs typeface="Proxima Nova"/>
                <a:sym typeface="Proxima Nova"/>
              </a:rPr>
              <a:t> that is free</a:t>
            </a:r>
            <a:endParaRPr sz="1100">
              <a:solidFill>
                <a:schemeClr val="dk1"/>
              </a:solidFill>
              <a:latin typeface="Proxima Nova"/>
              <a:ea typeface="Proxima Nova"/>
              <a:cs typeface="Proxima Nova"/>
              <a:sym typeface="Proxima Nova"/>
            </a:endParaRPr>
          </a:p>
          <a:p>
            <a:pPr indent="-298450" lvl="0" marL="457200" rtl="0" algn="l">
              <a:lnSpc>
                <a:spcPct val="100000"/>
              </a:lnSpc>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Some Cx worry the </a:t>
            </a:r>
            <a:r>
              <a:rPr b="1" lang="en" sz="1100">
                <a:solidFill>
                  <a:schemeClr val="dk1"/>
                </a:solidFill>
                <a:latin typeface="Proxima Nova"/>
                <a:ea typeface="Proxima Nova"/>
                <a:cs typeface="Proxima Nova"/>
                <a:sym typeface="Proxima Nova"/>
              </a:rPr>
              <a:t>Rx will inflate prices just to give the deal</a:t>
            </a:r>
            <a:endParaRPr b="1" sz="1100">
              <a:solidFill>
                <a:schemeClr val="dk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b="1" sz="1100">
              <a:solidFill>
                <a:schemeClr val="dk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i="1" lang="en" sz="1100">
                <a:solidFill>
                  <a:srgbClr val="E23208"/>
                </a:solidFill>
                <a:latin typeface="Proxima Nova"/>
                <a:ea typeface="Proxima Nova"/>
                <a:cs typeface="Proxima Nova"/>
                <a:sym typeface="Proxima Nova"/>
              </a:rPr>
              <a:t>In our example case, the value of the free item was almost $19, but Cx had no idea that it would be “worth it” for them</a:t>
            </a:r>
            <a:endParaRPr sz="1100">
              <a:solidFill>
                <a:srgbClr val="E23208"/>
              </a:solidFill>
            </a:endParaRPr>
          </a:p>
        </p:txBody>
      </p:sp>
      <p:sp>
        <p:nvSpPr>
          <p:cNvPr id="114" name="Google Shape;114;p19"/>
          <p:cNvSpPr txBox="1"/>
          <p:nvPr/>
        </p:nvSpPr>
        <p:spPr>
          <a:xfrm>
            <a:off x="5538025" y="1060425"/>
            <a:ext cx="34704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300">
                <a:solidFill>
                  <a:schemeClr val="dk1"/>
                </a:solidFill>
                <a:latin typeface="Proxima Nova"/>
                <a:ea typeface="Proxima Nova"/>
                <a:cs typeface="Proxima Nova"/>
                <a:sym typeface="Proxima Nova"/>
              </a:rPr>
              <a:t>Reactions to “Free item” badge on homepage compared to other deal badges:</a:t>
            </a:r>
            <a:endParaRPr sz="1300">
              <a:solidFill>
                <a:schemeClr val="dk1"/>
              </a:solidFill>
            </a:endParaRPr>
          </a:p>
        </p:txBody>
      </p:sp>
      <p:pic>
        <p:nvPicPr>
          <p:cNvPr id="115" name="Google Shape;115;p19" title="Free_item_value.mp4">
            <a:hlinkClick r:id="rId4"/>
          </p:cNvPr>
          <p:cNvPicPr preferRelativeResize="0"/>
          <p:nvPr/>
        </p:nvPicPr>
        <p:blipFill>
          <a:blip r:embed="rId5">
            <a:alphaModFix/>
          </a:blip>
          <a:stretch>
            <a:fillRect/>
          </a:stretch>
        </p:blipFill>
        <p:spPr>
          <a:xfrm>
            <a:off x="5521275" y="1951725"/>
            <a:ext cx="3470326" cy="195205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10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 name="Google Shape;121;p20"/>
          <p:cNvSpPr txBox="1"/>
          <p:nvPr/>
        </p:nvSpPr>
        <p:spPr>
          <a:xfrm>
            <a:off x="354075" y="2742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Cx expect the free item to be at the top of the store page; the USI </a:t>
            </a:r>
            <a:r>
              <a:rPr b="1" i="1" lang="en" sz="2000">
                <a:solidFill>
                  <a:schemeClr val="dk1"/>
                </a:solidFill>
                <a:latin typeface="Proxima Nova"/>
                <a:ea typeface="Proxima Nova"/>
                <a:cs typeface="Proxima Nova"/>
                <a:sym typeface="Proxima Nova"/>
              </a:rPr>
              <a:t>mostly</a:t>
            </a:r>
            <a:r>
              <a:rPr b="1" lang="en" sz="2000">
                <a:solidFill>
                  <a:schemeClr val="dk1"/>
                </a:solidFill>
                <a:latin typeface="Proxima Nova"/>
                <a:ea typeface="Proxima Nova"/>
                <a:cs typeface="Proxima Nova"/>
                <a:sym typeface="Proxima Nova"/>
              </a:rPr>
              <a:t> meets this need</a:t>
            </a:r>
            <a:endParaRPr b="1" sz="2000">
              <a:solidFill>
                <a:schemeClr val="dk1"/>
              </a:solidFill>
              <a:latin typeface="Proxima Nova"/>
              <a:ea typeface="Proxima Nova"/>
              <a:cs typeface="Proxima Nova"/>
              <a:sym typeface="Proxima Nova"/>
            </a:endParaRPr>
          </a:p>
        </p:txBody>
      </p:sp>
      <p:pic>
        <p:nvPicPr>
          <p:cNvPr id="122" name="Google Shape;122;p20"/>
          <p:cNvPicPr preferRelativeResize="0"/>
          <p:nvPr/>
        </p:nvPicPr>
        <p:blipFill>
          <a:blip r:embed="rId3">
            <a:alphaModFix/>
          </a:blip>
          <a:stretch>
            <a:fillRect/>
          </a:stretch>
        </p:blipFill>
        <p:spPr>
          <a:xfrm>
            <a:off x="1588150" y="1201325"/>
            <a:ext cx="1779100" cy="3779300"/>
          </a:xfrm>
          <a:prstGeom prst="rect">
            <a:avLst/>
          </a:prstGeom>
          <a:noFill/>
          <a:ln>
            <a:noFill/>
          </a:ln>
        </p:spPr>
      </p:pic>
      <p:sp>
        <p:nvSpPr>
          <p:cNvPr id="123" name="Google Shape;123;p20"/>
          <p:cNvSpPr/>
          <p:nvPr/>
        </p:nvSpPr>
        <p:spPr>
          <a:xfrm>
            <a:off x="1479600" y="3033425"/>
            <a:ext cx="2047800" cy="526800"/>
          </a:xfrm>
          <a:prstGeom prst="rect">
            <a:avLst/>
          </a:prstGeom>
          <a:noFill/>
          <a:ln cap="flat" cmpd="sng" w="19050">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4" name="Google Shape;124;p20"/>
          <p:cNvSpPr/>
          <p:nvPr/>
        </p:nvSpPr>
        <p:spPr>
          <a:xfrm>
            <a:off x="3907650" y="1227425"/>
            <a:ext cx="3871800" cy="2332800"/>
          </a:xfrm>
          <a:prstGeom prst="rect">
            <a:avLst/>
          </a:prstGeom>
          <a:noFill/>
          <a:ln>
            <a:noFill/>
          </a:ln>
        </p:spPr>
        <p:txBody>
          <a:bodyPr anchorCtr="0" anchor="ctr" bIns="91425" lIns="91425" spcFirstLastPara="1" rIns="91425" wrap="square" tIns="91425">
            <a:noAutofit/>
          </a:bodyPr>
          <a:lstStyle/>
          <a:p>
            <a:pPr indent="-304800" lvl="0" marL="457200" rtl="0" algn="l">
              <a:spcBef>
                <a:spcPts val="0"/>
              </a:spcBef>
              <a:spcAft>
                <a:spcPts val="0"/>
              </a:spcAft>
              <a:buSzPts val="1200"/>
              <a:buFont typeface="Proxima Nova"/>
              <a:buChar char="●"/>
            </a:pPr>
            <a:r>
              <a:rPr lang="en" sz="1200">
                <a:latin typeface="Proxima Nova"/>
                <a:ea typeface="Proxima Nova"/>
                <a:cs typeface="Proxima Nova"/>
                <a:sym typeface="Proxima Nova"/>
              </a:rPr>
              <a:t>Cx indicated that they expected to see a banner or ad at the top of the page with the free item.  3 out of 8 Cx indicated there should probably be a menu section for free items.</a:t>
            </a:r>
            <a:endParaRPr sz="1200">
              <a:latin typeface="Proxima Nova"/>
              <a:ea typeface="Proxima Nova"/>
              <a:cs typeface="Proxima Nova"/>
              <a:sym typeface="Proxima Nova"/>
            </a:endParaRPr>
          </a:p>
          <a:p>
            <a:pPr indent="0" lvl="0" marL="457200" rtl="0" algn="l">
              <a:spcBef>
                <a:spcPts val="0"/>
              </a:spcBef>
              <a:spcAft>
                <a:spcPts val="0"/>
              </a:spcAft>
              <a:buNone/>
            </a:pPr>
            <a:r>
              <a:t/>
            </a:r>
            <a:endParaRPr sz="1200">
              <a:latin typeface="Proxima Nova"/>
              <a:ea typeface="Proxima Nova"/>
              <a:cs typeface="Proxima Nova"/>
              <a:sym typeface="Proxima Nova"/>
            </a:endParaRPr>
          </a:p>
          <a:p>
            <a:pPr indent="-304800" lvl="0" marL="457200" rtl="0" algn="l">
              <a:spcBef>
                <a:spcPts val="0"/>
              </a:spcBef>
              <a:spcAft>
                <a:spcPts val="0"/>
              </a:spcAft>
              <a:buSzPts val="1200"/>
              <a:buFont typeface="Proxima Nova"/>
              <a:buChar char="●"/>
            </a:pPr>
            <a:r>
              <a:rPr lang="en" sz="1200">
                <a:latin typeface="Proxima Nova"/>
                <a:ea typeface="Proxima Nova"/>
                <a:cs typeface="Proxima Nova"/>
                <a:sym typeface="Proxima Nova"/>
              </a:rPr>
              <a:t>Cx noticed the USI right away, mostly due to to its location.  They felt it was clear to get the information, but 4 out of 8 were frustrated to have to click to another step to learn more.</a:t>
            </a:r>
            <a:endParaRPr sz="1200">
              <a:latin typeface="Proxima Nova"/>
              <a:ea typeface="Proxima Nova"/>
              <a:cs typeface="Proxima Nova"/>
              <a:sym typeface="Proxima Nov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1"/>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0" name="Google Shape;130;p21"/>
          <p:cNvSpPr txBox="1"/>
          <p:nvPr/>
        </p:nvSpPr>
        <p:spPr>
          <a:xfrm>
            <a:off x="354075" y="2742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Promo description was short but not simple</a:t>
            </a:r>
            <a:endParaRPr b="1" sz="2000">
              <a:solidFill>
                <a:schemeClr val="dk1"/>
              </a:solidFill>
              <a:latin typeface="Proxima Nova"/>
              <a:ea typeface="Proxima Nova"/>
              <a:cs typeface="Proxima Nova"/>
              <a:sym typeface="Proxima Nova"/>
            </a:endParaRPr>
          </a:p>
        </p:txBody>
      </p:sp>
      <p:pic>
        <p:nvPicPr>
          <p:cNvPr id="131" name="Google Shape;131;p21"/>
          <p:cNvPicPr preferRelativeResize="0"/>
          <p:nvPr/>
        </p:nvPicPr>
        <p:blipFill>
          <a:blip r:embed="rId3">
            <a:alphaModFix/>
          </a:blip>
          <a:stretch>
            <a:fillRect/>
          </a:stretch>
        </p:blipFill>
        <p:spPr>
          <a:xfrm>
            <a:off x="456325" y="964625"/>
            <a:ext cx="2763833" cy="4002526"/>
          </a:xfrm>
          <a:prstGeom prst="rect">
            <a:avLst/>
          </a:prstGeom>
          <a:noFill/>
          <a:ln>
            <a:noFill/>
          </a:ln>
        </p:spPr>
      </p:pic>
      <p:sp>
        <p:nvSpPr>
          <p:cNvPr id="132" name="Google Shape;132;p21"/>
          <p:cNvSpPr/>
          <p:nvPr/>
        </p:nvSpPr>
        <p:spPr>
          <a:xfrm>
            <a:off x="347325" y="2304600"/>
            <a:ext cx="1236000" cy="223200"/>
          </a:xfrm>
          <a:prstGeom prst="ellipse">
            <a:avLst/>
          </a:prstGeom>
          <a:no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21"/>
          <p:cNvSpPr/>
          <p:nvPr/>
        </p:nvSpPr>
        <p:spPr>
          <a:xfrm>
            <a:off x="456325" y="2983300"/>
            <a:ext cx="684000" cy="223200"/>
          </a:xfrm>
          <a:prstGeom prst="ellipse">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21"/>
          <p:cNvSpPr/>
          <p:nvPr/>
        </p:nvSpPr>
        <p:spPr>
          <a:xfrm>
            <a:off x="456325" y="1563850"/>
            <a:ext cx="3044400" cy="3420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1"/>
          <p:cNvSpPr/>
          <p:nvPr/>
        </p:nvSpPr>
        <p:spPr>
          <a:xfrm>
            <a:off x="1965800" y="3296075"/>
            <a:ext cx="1598700" cy="223200"/>
          </a:xfrm>
          <a:prstGeom prst="ellipse">
            <a:avLst/>
          </a:prstGeom>
          <a:noFill/>
          <a:ln cap="flat" cmpd="sng" w="952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6" name="Google Shape;136;p21"/>
          <p:cNvCxnSpPr>
            <a:stCxn id="134" idx="6"/>
          </p:cNvCxnSpPr>
          <p:nvPr/>
        </p:nvCxnSpPr>
        <p:spPr>
          <a:xfrm flipH="1" rot="10800000">
            <a:off x="3500725" y="1434550"/>
            <a:ext cx="865500" cy="300300"/>
          </a:xfrm>
          <a:prstGeom prst="straightConnector1">
            <a:avLst/>
          </a:prstGeom>
          <a:noFill/>
          <a:ln cap="flat" cmpd="sng" w="9525">
            <a:solidFill>
              <a:srgbClr val="E23208"/>
            </a:solidFill>
            <a:prstDash val="solid"/>
            <a:round/>
            <a:headEnd len="med" w="med" type="none"/>
            <a:tailEnd len="med" w="med" type="none"/>
          </a:ln>
        </p:spPr>
      </p:cxnSp>
      <p:sp>
        <p:nvSpPr>
          <p:cNvPr id="137" name="Google Shape;137;p21"/>
          <p:cNvSpPr txBox="1"/>
          <p:nvPr/>
        </p:nvSpPr>
        <p:spPr>
          <a:xfrm>
            <a:off x="4370550" y="964625"/>
            <a:ext cx="4457100" cy="1200600"/>
          </a:xfrm>
          <a:prstGeom prst="rect">
            <a:avLst/>
          </a:prstGeom>
          <a:noFill/>
          <a:ln cap="flat" cmpd="sng" w="9525">
            <a:solidFill>
              <a:srgbClr val="E23208"/>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spcBef>
                <a:spcPts val="0"/>
              </a:spcBef>
              <a:spcAft>
                <a:spcPts val="0"/>
              </a:spcAft>
              <a:buClr>
                <a:srgbClr val="E23208"/>
              </a:buClr>
              <a:buSzPts val="1100"/>
              <a:buFont typeface="Proxima Nova"/>
              <a:buChar char="●"/>
            </a:pPr>
            <a:r>
              <a:rPr lang="en" sz="1100">
                <a:solidFill>
                  <a:schemeClr val="dk1"/>
                </a:solidFill>
                <a:latin typeface="Proxima Nova"/>
                <a:ea typeface="Proxima Nova"/>
                <a:cs typeface="Proxima Nova"/>
                <a:sym typeface="Proxima Nova"/>
              </a:rPr>
              <a:t>Cx found this language very confusing and found the bullets contradictory</a:t>
            </a:r>
            <a:endParaRPr sz="1100">
              <a:solidFill>
                <a:schemeClr val="dk1"/>
              </a:solidFill>
              <a:latin typeface="Proxima Nova"/>
              <a:ea typeface="Proxima Nova"/>
              <a:cs typeface="Proxima Nova"/>
              <a:sym typeface="Proxima Nova"/>
            </a:endParaRPr>
          </a:p>
          <a:p>
            <a:pPr indent="-298450" lvl="1" marL="914400" rtl="0" algn="l">
              <a:spcBef>
                <a:spcPts val="0"/>
              </a:spcBef>
              <a:spcAft>
                <a:spcPts val="0"/>
              </a:spcAft>
              <a:buClr>
                <a:srgbClr val="E23208"/>
              </a:buClr>
              <a:buSzPts val="1100"/>
              <a:buFont typeface="Proxima Nova"/>
              <a:buChar char="○"/>
            </a:pPr>
            <a:r>
              <a:rPr lang="en" sz="1100">
                <a:solidFill>
                  <a:schemeClr val="dk1"/>
                </a:solidFill>
                <a:latin typeface="Proxima Nova"/>
                <a:ea typeface="Proxima Nova"/>
                <a:cs typeface="Proxima Nova"/>
                <a:sym typeface="Proxima Nova"/>
              </a:rPr>
              <a:t>Add the item, but it’s not included?</a:t>
            </a:r>
            <a:endParaRPr sz="1100">
              <a:solidFill>
                <a:schemeClr val="dk1"/>
              </a:solidFill>
              <a:latin typeface="Proxima Nova"/>
              <a:ea typeface="Proxima Nova"/>
              <a:cs typeface="Proxima Nova"/>
              <a:sym typeface="Proxima Nova"/>
            </a:endParaRPr>
          </a:p>
          <a:p>
            <a:pPr indent="-298450" lvl="1" marL="914400" rtl="0" algn="l">
              <a:spcBef>
                <a:spcPts val="0"/>
              </a:spcBef>
              <a:spcAft>
                <a:spcPts val="0"/>
              </a:spcAft>
              <a:buClr>
                <a:srgbClr val="E23208"/>
              </a:buClr>
              <a:buSzPts val="1100"/>
              <a:buFont typeface="Proxima Nova"/>
              <a:buChar char="○"/>
            </a:pPr>
            <a:r>
              <a:rPr lang="en" sz="1100">
                <a:solidFill>
                  <a:schemeClr val="dk1"/>
                </a:solidFill>
                <a:latin typeface="Proxima Nova"/>
                <a:ea typeface="Proxima Nova"/>
                <a:cs typeface="Proxima Nova"/>
                <a:sym typeface="Proxima Nova"/>
              </a:rPr>
              <a:t>What do I have to apply for?</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rgbClr val="E23208"/>
              </a:buClr>
              <a:buSzPts val="1100"/>
              <a:buFont typeface="Proxima Nova"/>
              <a:buChar char="●"/>
            </a:pPr>
            <a:r>
              <a:rPr lang="en" sz="1100">
                <a:solidFill>
                  <a:schemeClr val="dk1"/>
                </a:solidFill>
                <a:latin typeface="Proxima Nova"/>
                <a:ea typeface="Proxima Nova"/>
                <a:cs typeface="Proxima Nova"/>
                <a:sym typeface="Proxima Nova"/>
              </a:rPr>
              <a:t>Need to call out if total requirements are before or after fees/tax/tip</a:t>
            </a:r>
            <a:endParaRPr sz="1100">
              <a:solidFill>
                <a:schemeClr val="dk1"/>
              </a:solidFill>
              <a:latin typeface="Proxima Nova"/>
              <a:ea typeface="Proxima Nova"/>
              <a:cs typeface="Proxima Nova"/>
              <a:sym typeface="Proxima Nova"/>
            </a:endParaRPr>
          </a:p>
        </p:txBody>
      </p:sp>
      <p:cxnSp>
        <p:nvCxnSpPr>
          <p:cNvPr id="138" name="Google Shape;138;p21"/>
          <p:cNvCxnSpPr>
            <a:stCxn id="132" idx="6"/>
            <a:endCxn id="139" idx="1"/>
          </p:cNvCxnSpPr>
          <p:nvPr/>
        </p:nvCxnSpPr>
        <p:spPr>
          <a:xfrm>
            <a:off x="1583325" y="2416200"/>
            <a:ext cx="2787300" cy="108900"/>
          </a:xfrm>
          <a:prstGeom prst="straightConnector1">
            <a:avLst/>
          </a:prstGeom>
          <a:noFill/>
          <a:ln cap="flat" cmpd="sng" w="9525">
            <a:solidFill>
              <a:srgbClr val="9900FF"/>
            </a:solidFill>
            <a:prstDash val="solid"/>
            <a:round/>
            <a:headEnd len="med" w="med" type="none"/>
            <a:tailEnd len="med" w="med" type="none"/>
          </a:ln>
        </p:spPr>
      </p:cxnSp>
      <p:sp>
        <p:nvSpPr>
          <p:cNvPr id="139" name="Google Shape;139;p21"/>
          <p:cNvSpPr txBox="1"/>
          <p:nvPr/>
        </p:nvSpPr>
        <p:spPr>
          <a:xfrm>
            <a:off x="4370550" y="2263550"/>
            <a:ext cx="4457100" cy="523200"/>
          </a:xfrm>
          <a:prstGeom prst="rect">
            <a:avLst/>
          </a:prstGeom>
          <a:noFill/>
          <a:ln cap="flat" cmpd="sng" w="9525">
            <a:solidFill>
              <a:srgbClr val="9900FF"/>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spcBef>
                <a:spcPts val="0"/>
              </a:spcBef>
              <a:spcAft>
                <a:spcPts val="0"/>
              </a:spcAft>
              <a:buClr>
                <a:srgbClr val="9900FF"/>
              </a:buClr>
              <a:buSzPts val="1100"/>
              <a:buFont typeface="Proxima Nova"/>
              <a:buChar char="●"/>
            </a:pPr>
            <a:r>
              <a:rPr lang="en" sz="1100">
                <a:solidFill>
                  <a:schemeClr val="dk1"/>
                </a:solidFill>
                <a:latin typeface="Proxima Nova"/>
                <a:ea typeface="Proxima Nova"/>
                <a:cs typeface="Proxima Nova"/>
                <a:sym typeface="Proxima Nova"/>
              </a:rPr>
              <a:t>Cx felt we were making it take even longer to assess interest by making them read details before showing the eligible items</a:t>
            </a:r>
            <a:endParaRPr sz="1100">
              <a:solidFill>
                <a:schemeClr val="dk1"/>
              </a:solidFill>
              <a:latin typeface="Proxima Nova"/>
              <a:ea typeface="Proxima Nova"/>
              <a:cs typeface="Proxima Nova"/>
              <a:sym typeface="Proxima Nova"/>
            </a:endParaRPr>
          </a:p>
        </p:txBody>
      </p:sp>
      <p:cxnSp>
        <p:nvCxnSpPr>
          <p:cNvPr id="140" name="Google Shape;140;p21"/>
          <p:cNvCxnSpPr>
            <a:stCxn id="133" idx="6"/>
            <a:endCxn id="141" idx="1"/>
          </p:cNvCxnSpPr>
          <p:nvPr/>
        </p:nvCxnSpPr>
        <p:spPr>
          <a:xfrm>
            <a:off x="1140325" y="3094900"/>
            <a:ext cx="3230100" cy="150000"/>
          </a:xfrm>
          <a:prstGeom prst="straightConnector1">
            <a:avLst/>
          </a:prstGeom>
          <a:noFill/>
          <a:ln cap="flat" cmpd="sng" w="9525">
            <a:solidFill>
              <a:srgbClr val="0000FF"/>
            </a:solidFill>
            <a:prstDash val="solid"/>
            <a:round/>
            <a:headEnd len="med" w="med" type="none"/>
            <a:tailEnd len="med" w="med" type="none"/>
          </a:ln>
        </p:spPr>
      </p:cxnSp>
      <p:sp>
        <p:nvSpPr>
          <p:cNvPr id="141" name="Google Shape;141;p21"/>
          <p:cNvSpPr txBox="1"/>
          <p:nvPr/>
        </p:nvSpPr>
        <p:spPr>
          <a:xfrm>
            <a:off x="4370550" y="2983300"/>
            <a:ext cx="4457100" cy="523200"/>
          </a:xfrm>
          <a:prstGeom prst="rect">
            <a:avLst/>
          </a:prstGeom>
          <a:noFill/>
          <a:ln cap="flat" cmpd="sng" w="9525">
            <a:solidFill>
              <a:srgbClr val="0000FF"/>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spcBef>
                <a:spcPts val="0"/>
              </a:spcBef>
              <a:spcAft>
                <a:spcPts val="0"/>
              </a:spcAft>
              <a:buClr>
                <a:srgbClr val="0000FF"/>
              </a:buClr>
              <a:buSzPts val="1100"/>
              <a:buFont typeface="Proxima Nova"/>
              <a:buChar char="●"/>
            </a:pPr>
            <a:r>
              <a:rPr lang="en" sz="1100">
                <a:solidFill>
                  <a:schemeClr val="dk1"/>
                </a:solidFill>
                <a:latin typeface="Proxima Nova"/>
                <a:ea typeface="Proxima Nova"/>
                <a:cs typeface="Proxima Nova"/>
                <a:sym typeface="Proxima Nova"/>
              </a:rPr>
              <a:t>Cx did not recognize the value of the item and therefore the value of the savings, we can do better to call this out</a:t>
            </a:r>
            <a:endParaRPr sz="1100">
              <a:solidFill>
                <a:schemeClr val="dk1"/>
              </a:solidFill>
              <a:latin typeface="Proxima Nova"/>
              <a:ea typeface="Proxima Nova"/>
              <a:cs typeface="Proxima Nova"/>
              <a:sym typeface="Proxima Nova"/>
            </a:endParaRPr>
          </a:p>
        </p:txBody>
      </p:sp>
      <p:sp>
        <p:nvSpPr>
          <p:cNvPr id="142" name="Google Shape;142;p21"/>
          <p:cNvSpPr txBox="1"/>
          <p:nvPr/>
        </p:nvSpPr>
        <p:spPr>
          <a:xfrm>
            <a:off x="4366225" y="3728250"/>
            <a:ext cx="4457100" cy="523200"/>
          </a:xfrm>
          <a:prstGeom prst="rect">
            <a:avLst/>
          </a:prstGeom>
          <a:noFill/>
          <a:ln cap="flat" cmpd="sng" w="9525">
            <a:solidFill>
              <a:srgbClr val="FF00FF"/>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spcBef>
                <a:spcPts val="0"/>
              </a:spcBef>
              <a:spcAft>
                <a:spcPts val="0"/>
              </a:spcAft>
              <a:buClr>
                <a:srgbClr val="FF00FF"/>
              </a:buClr>
              <a:buSzPts val="1100"/>
              <a:buFont typeface="Proxima Nova"/>
              <a:buChar char="●"/>
            </a:pPr>
            <a:r>
              <a:rPr lang="en" sz="1100">
                <a:solidFill>
                  <a:schemeClr val="dk1"/>
                </a:solidFill>
                <a:latin typeface="Proxima Nova"/>
                <a:ea typeface="Proxima Nova"/>
                <a:cs typeface="Proxima Nova"/>
                <a:sym typeface="Proxima Nova"/>
              </a:rPr>
              <a:t>Cx were unclear about the call to action, are they supposed to add it or start shopping.  </a:t>
            </a:r>
            <a:r>
              <a:rPr lang="en" sz="1100">
                <a:solidFill>
                  <a:schemeClr val="dk1"/>
                </a:solidFill>
                <a:latin typeface="Proxima Nova"/>
                <a:ea typeface="Proxima Nova"/>
                <a:cs typeface="Proxima Nova"/>
                <a:sym typeface="Proxima Nova"/>
              </a:rPr>
              <a:t>What's</a:t>
            </a:r>
            <a:r>
              <a:rPr lang="en" sz="1100">
                <a:solidFill>
                  <a:schemeClr val="dk1"/>
                </a:solidFill>
                <a:latin typeface="Proxima Nova"/>
                <a:ea typeface="Proxima Nova"/>
                <a:cs typeface="Proxima Nova"/>
                <a:sym typeface="Proxima Nova"/>
              </a:rPr>
              <a:t> the next step?</a:t>
            </a:r>
            <a:endParaRPr sz="1100">
              <a:solidFill>
                <a:schemeClr val="dk1"/>
              </a:solidFill>
              <a:latin typeface="Proxima Nova"/>
              <a:ea typeface="Proxima Nova"/>
              <a:cs typeface="Proxima Nova"/>
              <a:sym typeface="Proxima Nova"/>
            </a:endParaRPr>
          </a:p>
        </p:txBody>
      </p:sp>
      <p:cxnSp>
        <p:nvCxnSpPr>
          <p:cNvPr id="143" name="Google Shape;143;p21"/>
          <p:cNvCxnSpPr>
            <a:stCxn id="135" idx="5"/>
            <a:endCxn id="142" idx="1"/>
          </p:cNvCxnSpPr>
          <p:nvPr/>
        </p:nvCxnSpPr>
        <p:spPr>
          <a:xfrm>
            <a:off x="3330376" y="3486588"/>
            <a:ext cx="1035900" cy="503400"/>
          </a:xfrm>
          <a:prstGeom prst="straightConnector1">
            <a:avLst/>
          </a:prstGeom>
          <a:noFill/>
          <a:ln cap="flat" cmpd="sng" w="9525">
            <a:solidFill>
              <a:srgbClr val="FF00FF"/>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9" name="Google Shape;149;p22"/>
          <p:cNvSpPr txBox="1"/>
          <p:nvPr/>
        </p:nvSpPr>
        <p:spPr>
          <a:xfrm>
            <a:off x="354075" y="274275"/>
            <a:ext cx="78357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In menu merchandising also proved confusing for some Cx</a:t>
            </a:r>
            <a:endParaRPr b="1" sz="2000">
              <a:solidFill>
                <a:schemeClr val="dk1"/>
              </a:solidFill>
              <a:latin typeface="Proxima Nova"/>
              <a:ea typeface="Proxima Nova"/>
              <a:cs typeface="Proxima Nova"/>
              <a:sym typeface="Proxima Nova"/>
            </a:endParaRPr>
          </a:p>
        </p:txBody>
      </p:sp>
      <p:sp>
        <p:nvSpPr>
          <p:cNvPr id="150" name="Google Shape;150;p22"/>
          <p:cNvSpPr txBox="1"/>
          <p:nvPr/>
        </p:nvSpPr>
        <p:spPr>
          <a:xfrm>
            <a:off x="2981250" y="1317450"/>
            <a:ext cx="4965000" cy="14577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Proxima Nova"/>
              <a:buChar char="●"/>
            </a:pPr>
            <a:r>
              <a:rPr lang="en" sz="1200">
                <a:latin typeface="Proxima Nova"/>
                <a:ea typeface="Proxima Nova"/>
                <a:cs typeface="Proxima Nova"/>
                <a:sym typeface="Proxima Nova"/>
              </a:rPr>
              <a:t>Only half of Cx noticed the badge under the item</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2 out of 8 Cx did not understand that the badge meant it was the free item; they instead though it was a repeat advertisement from the homepage</a:t>
            </a:r>
            <a:endParaRPr sz="1200">
              <a:latin typeface="Proxima Nova"/>
              <a:ea typeface="Proxima Nova"/>
              <a:cs typeface="Proxima Nova"/>
              <a:sym typeface="Proxima Nova"/>
            </a:endParaRPr>
          </a:p>
          <a:p>
            <a:pPr indent="-304800" lvl="0" marL="457200" rtl="0" algn="l">
              <a:spcBef>
                <a:spcPts val="1000"/>
              </a:spcBef>
              <a:spcAft>
                <a:spcPts val="1000"/>
              </a:spcAft>
              <a:buSzPts val="1200"/>
              <a:buFont typeface="Proxima Nova"/>
              <a:buChar char="●"/>
            </a:pPr>
            <a:r>
              <a:rPr lang="en" sz="1200">
                <a:latin typeface="Proxima Nova"/>
                <a:ea typeface="Proxima Nova"/>
                <a:cs typeface="Proxima Nova"/>
                <a:sym typeface="Proxima Nova"/>
              </a:rPr>
              <a:t>Cx were particularly confused when seeing the badge next to the 30% off badge </a:t>
            </a:r>
            <a:r>
              <a:rPr lang="en" sz="1200">
                <a:latin typeface="Proxima Nova"/>
                <a:ea typeface="Proxima Nova"/>
                <a:cs typeface="Proxima Nova"/>
                <a:sym typeface="Proxima Nova"/>
              </a:rPr>
              <a:t>because</a:t>
            </a:r>
            <a:r>
              <a:rPr lang="en" sz="1200">
                <a:latin typeface="Proxima Nova"/>
                <a:ea typeface="Proxima Nova"/>
                <a:cs typeface="Proxima Nova"/>
                <a:sym typeface="Proxima Nova"/>
              </a:rPr>
              <a:t> of the inconsistencies in formatting between the two offers</a:t>
            </a:r>
            <a:endParaRPr sz="1200">
              <a:latin typeface="Proxima Nova"/>
              <a:ea typeface="Proxima Nova"/>
              <a:cs typeface="Proxima Nova"/>
              <a:sym typeface="Proxima Nova"/>
            </a:endParaRPr>
          </a:p>
        </p:txBody>
      </p:sp>
      <p:pic>
        <p:nvPicPr>
          <p:cNvPr id="151" name="Google Shape;151;p22"/>
          <p:cNvPicPr preferRelativeResize="0"/>
          <p:nvPr/>
        </p:nvPicPr>
        <p:blipFill rotWithShape="1">
          <a:blip r:embed="rId3">
            <a:alphaModFix/>
          </a:blip>
          <a:srcRect b="0" l="3521" r="3073" t="0"/>
          <a:stretch/>
        </p:blipFill>
        <p:spPr>
          <a:xfrm>
            <a:off x="438600" y="884400"/>
            <a:ext cx="2304600" cy="4002500"/>
          </a:xfrm>
          <a:prstGeom prst="rect">
            <a:avLst/>
          </a:prstGeom>
          <a:noFill/>
          <a:ln>
            <a:noFill/>
          </a:ln>
        </p:spPr>
      </p:pic>
      <p:sp>
        <p:nvSpPr>
          <p:cNvPr id="152" name="Google Shape;152;p22"/>
          <p:cNvSpPr/>
          <p:nvPr/>
        </p:nvSpPr>
        <p:spPr>
          <a:xfrm>
            <a:off x="318975" y="1403500"/>
            <a:ext cx="1315800" cy="1770300"/>
          </a:xfrm>
          <a:prstGeom prst="rect">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3" name="Google Shape;153;p22"/>
          <p:cNvPicPr preferRelativeResize="0"/>
          <p:nvPr/>
        </p:nvPicPr>
        <p:blipFill>
          <a:blip r:embed="rId4">
            <a:alphaModFix/>
          </a:blip>
          <a:stretch>
            <a:fillRect/>
          </a:stretch>
        </p:blipFill>
        <p:spPr>
          <a:xfrm>
            <a:off x="6045500" y="2895650"/>
            <a:ext cx="2063550" cy="20635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3"/>
          <p:cNvSpPr txBox="1"/>
          <p:nvPr/>
        </p:nvSpPr>
        <p:spPr>
          <a:xfrm>
            <a:off x="206750" y="232525"/>
            <a:ext cx="83631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Store page merchandising + unstackable deals= Cx confusion &amp; mistrust</a:t>
            </a:r>
            <a:endParaRPr b="1" sz="2000">
              <a:solidFill>
                <a:schemeClr val="dk1"/>
              </a:solidFill>
              <a:latin typeface="Proxima Nova"/>
              <a:ea typeface="Proxima Nova"/>
              <a:cs typeface="Proxima Nova"/>
              <a:sym typeface="Proxima Nova"/>
            </a:endParaRPr>
          </a:p>
        </p:txBody>
      </p:sp>
      <p:sp>
        <p:nvSpPr>
          <p:cNvPr id="160" name="Google Shape;160;p23"/>
          <p:cNvSpPr txBox="1"/>
          <p:nvPr/>
        </p:nvSpPr>
        <p:spPr>
          <a:xfrm>
            <a:off x="4104200" y="1093225"/>
            <a:ext cx="4896900" cy="21954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Proxima Nova"/>
              <a:buChar char="●"/>
            </a:pPr>
            <a:r>
              <a:rPr b="1" lang="en" sz="1200">
                <a:solidFill>
                  <a:schemeClr val="dk1"/>
                </a:solidFill>
                <a:latin typeface="Proxima Nova"/>
                <a:ea typeface="Proxima Nova"/>
                <a:cs typeface="Proxima Nova"/>
                <a:sym typeface="Proxima Nova"/>
              </a:rPr>
              <a:t>Every Cx caught on to the change in price</a:t>
            </a:r>
            <a:r>
              <a:rPr lang="en" sz="1200">
                <a:solidFill>
                  <a:schemeClr val="dk1"/>
                </a:solidFill>
                <a:latin typeface="Proxima Nova"/>
                <a:ea typeface="Proxima Nova"/>
                <a:cs typeface="Proxima Nova"/>
                <a:sym typeface="Proxima Nova"/>
              </a:rPr>
              <a:t> for the 30% item, just at different phases- some Cx saw it right away via the progress bar while others didn’t realize until the cart phase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All Cx found this experience to be </a:t>
            </a:r>
            <a:r>
              <a:rPr b="1" lang="en" sz="1200">
                <a:solidFill>
                  <a:schemeClr val="dk1"/>
                </a:solidFill>
                <a:latin typeface="Proxima Nova"/>
                <a:ea typeface="Proxima Nova"/>
                <a:cs typeface="Proxima Nova"/>
                <a:sym typeface="Proxima Nova"/>
              </a:rPr>
              <a:t>extremely frustrating</a:t>
            </a:r>
            <a:r>
              <a:rPr lang="en" sz="1200">
                <a:solidFill>
                  <a:schemeClr val="dk1"/>
                </a:solidFill>
                <a:latin typeface="Proxima Nova"/>
                <a:ea typeface="Proxima Nova"/>
                <a:cs typeface="Proxima Nova"/>
                <a:sym typeface="Proxima Nova"/>
              </a:rPr>
              <a:t> and many </a:t>
            </a:r>
            <a:r>
              <a:rPr b="1" lang="en" sz="1200">
                <a:solidFill>
                  <a:schemeClr val="dk1"/>
                </a:solidFill>
                <a:latin typeface="Proxima Nova"/>
                <a:ea typeface="Proxima Nova"/>
                <a:cs typeface="Proxima Nova"/>
                <a:sym typeface="Proxima Nova"/>
              </a:rPr>
              <a:t>expressed it would be a big trust buster for them for DoorDash</a:t>
            </a:r>
            <a:endParaRPr b="1"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b="1"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25% of Cx indicated they were </a:t>
            </a:r>
            <a:r>
              <a:rPr b="1" lang="en" sz="1200">
                <a:solidFill>
                  <a:schemeClr val="dk1"/>
                </a:solidFill>
                <a:latin typeface="Proxima Nova"/>
                <a:ea typeface="Proxima Nova"/>
                <a:cs typeface="Proxima Nova"/>
                <a:sym typeface="Proxima Nova"/>
              </a:rPr>
              <a:t>likely to walk away</a:t>
            </a:r>
            <a:r>
              <a:rPr lang="en" sz="1200">
                <a:solidFill>
                  <a:schemeClr val="dk1"/>
                </a:solidFill>
                <a:latin typeface="Proxima Nova"/>
                <a:ea typeface="Proxima Nova"/>
                <a:cs typeface="Proxima Nova"/>
                <a:sym typeface="Proxima Nova"/>
              </a:rPr>
              <a:t> from the Rx or DoorDash if they experienced this </a:t>
            </a:r>
            <a:endParaRPr b="1" sz="1200">
              <a:latin typeface="Proxima Nova"/>
              <a:ea typeface="Proxima Nova"/>
              <a:cs typeface="Proxima Nova"/>
              <a:sym typeface="Proxima Nova"/>
            </a:endParaRPr>
          </a:p>
        </p:txBody>
      </p:sp>
      <p:sp>
        <p:nvSpPr>
          <p:cNvPr id="161" name="Google Shape;161;p23"/>
          <p:cNvSpPr/>
          <p:nvPr/>
        </p:nvSpPr>
        <p:spPr>
          <a:xfrm>
            <a:off x="217100" y="1169425"/>
            <a:ext cx="3887100" cy="122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Proxima Nova"/>
                <a:ea typeface="Proxima Nova"/>
                <a:cs typeface="Proxima Nova"/>
                <a:sym typeface="Proxima Nova"/>
              </a:rPr>
              <a:t>Context: </a:t>
            </a:r>
            <a:r>
              <a:rPr lang="en" sz="1200">
                <a:latin typeface="Proxima Nova"/>
                <a:ea typeface="Proxima Nova"/>
                <a:cs typeface="Proxima Nova"/>
                <a:sym typeface="Proxima Nova"/>
              </a:rPr>
              <a:t> In the prototype, Cx had </a:t>
            </a:r>
            <a:r>
              <a:rPr b="1" lang="en" sz="1200">
                <a:latin typeface="Proxima Nova"/>
                <a:ea typeface="Proxima Nova"/>
                <a:cs typeface="Proxima Nova"/>
                <a:sym typeface="Proxima Nova"/>
              </a:rPr>
              <a:t>multiple deals </a:t>
            </a:r>
            <a:r>
              <a:rPr lang="en" sz="1200">
                <a:latin typeface="Proxima Nova"/>
                <a:ea typeface="Proxima Nova"/>
                <a:cs typeface="Proxima Nova"/>
                <a:sym typeface="Proxima Nova"/>
              </a:rPr>
              <a:t>available at the store.  Other deals were highlighted using </a:t>
            </a:r>
            <a:r>
              <a:rPr b="1" lang="en" sz="1200">
                <a:latin typeface="Proxima Nova"/>
                <a:ea typeface="Proxima Nova"/>
                <a:cs typeface="Proxima Nova"/>
                <a:sym typeface="Proxima Nova"/>
              </a:rPr>
              <a:t>strikethrough pricing &amp; badging on the store page</a:t>
            </a:r>
            <a:r>
              <a:rPr lang="en" sz="1200">
                <a:latin typeface="Proxima Nova"/>
                <a:ea typeface="Proxima Nova"/>
                <a:cs typeface="Proxima Nova"/>
                <a:sym typeface="Proxima Nova"/>
              </a:rPr>
              <a:t>, but when added to </a:t>
            </a:r>
            <a:r>
              <a:rPr b="1" lang="en" sz="1200">
                <a:latin typeface="Proxima Nova"/>
                <a:ea typeface="Proxima Nova"/>
                <a:cs typeface="Proxima Nova"/>
                <a:sym typeface="Proxima Nova"/>
              </a:rPr>
              <a:t>the cart the full item price was shown</a:t>
            </a:r>
            <a:r>
              <a:rPr lang="en" sz="1200">
                <a:latin typeface="Proxima Nova"/>
                <a:ea typeface="Proxima Nova"/>
                <a:cs typeface="Proxima Nova"/>
                <a:sym typeface="Proxima Nova"/>
              </a:rPr>
              <a:t>.</a:t>
            </a:r>
            <a:endParaRPr sz="1200">
              <a:latin typeface="Proxima Nova"/>
              <a:ea typeface="Proxima Nova"/>
              <a:cs typeface="Proxima Nova"/>
              <a:sym typeface="Proxima Nova"/>
            </a:endParaRPr>
          </a:p>
        </p:txBody>
      </p:sp>
      <p:pic>
        <p:nvPicPr>
          <p:cNvPr id="162" name="Google Shape;162;p23"/>
          <p:cNvPicPr preferRelativeResize="0"/>
          <p:nvPr/>
        </p:nvPicPr>
        <p:blipFill>
          <a:blip r:embed="rId3">
            <a:alphaModFix/>
          </a:blip>
          <a:stretch>
            <a:fillRect/>
          </a:stretch>
        </p:blipFill>
        <p:spPr>
          <a:xfrm>
            <a:off x="890600" y="2451575"/>
            <a:ext cx="2652328" cy="26052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8" name="Google Shape;168;p24"/>
          <p:cNvSpPr txBox="1"/>
          <p:nvPr/>
        </p:nvSpPr>
        <p:spPr>
          <a:xfrm>
            <a:off x="206750" y="232525"/>
            <a:ext cx="83631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Cx struggled to make sense of the pricing switch during the interviews…</a:t>
            </a:r>
            <a:endParaRPr b="1" sz="2000">
              <a:solidFill>
                <a:schemeClr val="dk1"/>
              </a:solidFill>
              <a:latin typeface="Proxima Nova"/>
              <a:ea typeface="Proxima Nova"/>
              <a:cs typeface="Proxima Nova"/>
              <a:sym typeface="Proxima Nova"/>
            </a:endParaRPr>
          </a:p>
        </p:txBody>
      </p:sp>
      <p:pic>
        <p:nvPicPr>
          <p:cNvPr id="169" name="Google Shape;169;p24" title="Multiple_item_deals.mp4">
            <a:hlinkClick r:id="rId3"/>
          </p:cNvPr>
          <p:cNvPicPr preferRelativeResize="0"/>
          <p:nvPr/>
        </p:nvPicPr>
        <p:blipFill>
          <a:blip r:embed="rId4">
            <a:alphaModFix/>
          </a:blip>
          <a:stretch>
            <a:fillRect/>
          </a:stretch>
        </p:blipFill>
        <p:spPr>
          <a:xfrm>
            <a:off x="1120925" y="1099225"/>
            <a:ext cx="6665251" cy="3749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
                                        </p:tgtEl>
                                        <p:attrNameLst>
                                          <p:attrName>style.visibility</p:attrName>
                                        </p:attrNameLst>
                                      </p:cBhvr>
                                      <p:to>
                                        <p:strVal val="visible"/>
                                      </p:to>
                                    </p:set>
                                    <p:animEffect filter="fade" transition="in">
                                      <p:cBhvr>
                                        <p:cTn dur="1000"/>
                                        <p:tgtEl>
                                          <p:spTgt spid="1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3" name="Shape 173"/>
        <p:cNvGrpSpPr/>
        <p:nvPr/>
      </p:nvGrpSpPr>
      <p:grpSpPr>
        <a:xfrm>
          <a:off x="0" y="0"/>
          <a:ext cx="0" cy="0"/>
          <a:chOff x="0" y="0"/>
          <a:chExt cx="0" cy="0"/>
        </a:xfrm>
      </p:grpSpPr>
      <p:sp>
        <p:nvSpPr>
          <p:cNvPr id="174" name="Google Shape;174;p25"/>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5"/>
          <p:cNvSpPr txBox="1"/>
          <p:nvPr/>
        </p:nvSpPr>
        <p:spPr>
          <a:xfrm>
            <a:off x="354075" y="2742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Most Cx would build their cart before the free item</a:t>
            </a:r>
            <a:endParaRPr b="1" sz="2000">
              <a:solidFill>
                <a:schemeClr val="dk1"/>
              </a:solidFill>
              <a:latin typeface="Proxima Nova"/>
              <a:ea typeface="Proxima Nova"/>
              <a:cs typeface="Proxima Nova"/>
              <a:sym typeface="Proxima Nova"/>
            </a:endParaRPr>
          </a:p>
        </p:txBody>
      </p:sp>
      <p:sp>
        <p:nvSpPr>
          <p:cNvPr id="176" name="Google Shape;176;p25"/>
          <p:cNvSpPr txBox="1"/>
          <p:nvPr/>
        </p:nvSpPr>
        <p:spPr>
          <a:xfrm>
            <a:off x="620900" y="1056525"/>
            <a:ext cx="7587900" cy="2195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6 out of 8 Cx indicated they would prefer to build a cart to the required minimum before “unlocking” the free item</a:t>
            </a:r>
            <a:endParaRPr>
              <a:latin typeface="Proxima Nova"/>
              <a:ea typeface="Proxima Nova"/>
              <a:cs typeface="Proxima Nova"/>
              <a:sym typeface="Proxima Nova"/>
            </a:endParaRPr>
          </a:p>
          <a:p>
            <a:pPr indent="0" lvl="0" marL="457200" rtl="0" algn="l">
              <a:spcBef>
                <a:spcPts val="0"/>
              </a:spcBef>
              <a:spcAft>
                <a:spcPts val="0"/>
              </a:spcAft>
              <a:buNone/>
            </a:pPr>
            <a:r>
              <a:t/>
            </a:r>
            <a:endParaRPr>
              <a:latin typeface="Proxima Nova"/>
              <a:ea typeface="Proxima Nova"/>
              <a:cs typeface="Proxima Nova"/>
              <a:sym typeface="Proxima Nova"/>
            </a:endParaRPr>
          </a:p>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Cx found the progress bar to be clear and helpful either way, but would rather select the item once the $20 was reached</a:t>
            </a:r>
            <a:endParaRPr>
              <a:latin typeface="Proxima Nova"/>
              <a:ea typeface="Proxima Nova"/>
              <a:cs typeface="Proxima Nova"/>
              <a:sym typeface="Proxima Nova"/>
            </a:endParaRPr>
          </a:p>
        </p:txBody>
      </p:sp>
      <p:pic>
        <p:nvPicPr>
          <p:cNvPr id="177" name="Google Shape;177;p25"/>
          <p:cNvPicPr preferRelativeResize="0"/>
          <p:nvPr/>
        </p:nvPicPr>
        <p:blipFill>
          <a:blip r:embed="rId3">
            <a:alphaModFix/>
          </a:blip>
          <a:stretch>
            <a:fillRect/>
          </a:stretch>
        </p:blipFill>
        <p:spPr>
          <a:xfrm>
            <a:off x="2372600" y="2900750"/>
            <a:ext cx="4196850" cy="12590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6"/>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 name="Google Shape;183;p26"/>
          <p:cNvSpPr txBox="1"/>
          <p:nvPr/>
        </p:nvSpPr>
        <p:spPr>
          <a:xfrm>
            <a:off x="354075" y="2742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Cart page is mostly clear but can be improved</a:t>
            </a:r>
            <a:endParaRPr b="1" sz="2000">
              <a:solidFill>
                <a:schemeClr val="dk1"/>
              </a:solidFill>
              <a:latin typeface="Proxima Nova"/>
              <a:ea typeface="Proxima Nova"/>
              <a:cs typeface="Proxima Nova"/>
              <a:sym typeface="Proxima Nova"/>
            </a:endParaRPr>
          </a:p>
        </p:txBody>
      </p:sp>
      <p:pic>
        <p:nvPicPr>
          <p:cNvPr id="184" name="Google Shape;184;p26"/>
          <p:cNvPicPr preferRelativeResize="0"/>
          <p:nvPr/>
        </p:nvPicPr>
        <p:blipFill>
          <a:blip r:embed="rId3">
            <a:alphaModFix/>
          </a:blip>
          <a:stretch>
            <a:fillRect/>
          </a:stretch>
        </p:blipFill>
        <p:spPr>
          <a:xfrm>
            <a:off x="354075" y="1151650"/>
            <a:ext cx="2367426" cy="3726875"/>
          </a:xfrm>
          <a:prstGeom prst="rect">
            <a:avLst/>
          </a:prstGeom>
          <a:noFill/>
          <a:ln>
            <a:noFill/>
          </a:ln>
        </p:spPr>
      </p:pic>
      <p:pic>
        <p:nvPicPr>
          <p:cNvPr id="185" name="Google Shape;185;p26"/>
          <p:cNvPicPr preferRelativeResize="0"/>
          <p:nvPr/>
        </p:nvPicPr>
        <p:blipFill>
          <a:blip r:embed="rId4">
            <a:alphaModFix/>
          </a:blip>
          <a:stretch>
            <a:fillRect/>
          </a:stretch>
        </p:blipFill>
        <p:spPr>
          <a:xfrm>
            <a:off x="2721501" y="1187741"/>
            <a:ext cx="2281850" cy="3654699"/>
          </a:xfrm>
          <a:prstGeom prst="rect">
            <a:avLst/>
          </a:prstGeom>
          <a:noFill/>
          <a:ln>
            <a:noFill/>
          </a:ln>
        </p:spPr>
      </p:pic>
      <p:sp>
        <p:nvSpPr>
          <p:cNvPr id="186" name="Google Shape;186;p26"/>
          <p:cNvSpPr txBox="1"/>
          <p:nvPr/>
        </p:nvSpPr>
        <p:spPr>
          <a:xfrm>
            <a:off x="5429250" y="1151650"/>
            <a:ext cx="3273000" cy="15933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Proxima Nova"/>
              <a:buChar char="●"/>
            </a:pPr>
            <a:r>
              <a:rPr lang="en" sz="1200">
                <a:latin typeface="Proxima Nova"/>
                <a:ea typeface="Proxima Nova"/>
                <a:cs typeface="Proxima Nova"/>
                <a:sym typeface="Proxima Nova"/>
              </a:rPr>
              <a:t>Items section and summary section were so spread out</a:t>
            </a:r>
            <a:endParaRPr sz="1200">
              <a:latin typeface="Proxima Nova"/>
              <a:ea typeface="Proxima Nova"/>
              <a:cs typeface="Proxima Nova"/>
              <a:sym typeface="Proxima Nova"/>
            </a:endParaRPr>
          </a:p>
          <a:p>
            <a:pPr indent="-304800" lvl="0" marL="457200" rtl="0" algn="l">
              <a:spcBef>
                <a:spcPts val="1000"/>
              </a:spcBef>
              <a:spcAft>
                <a:spcPts val="0"/>
              </a:spcAft>
              <a:buSzPts val="1200"/>
              <a:buFont typeface="Proxima Nova"/>
              <a:buChar char="●"/>
            </a:pPr>
            <a:r>
              <a:rPr lang="en" sz="1200">
                <a:latin typeface="Proxima Nova"/>
                <a:ea typeface="Proxima Nova"/>
                <a:cs typeface="Proxima Nova"/>
                <a:sym typeface="Proxima Nova"/>
              </a:rPr>
              <a:t>Cx felt the deal applied didn’t really connect to the discount in this format</a:t>
            </a:r>
            <a:endParaRPr sz="1200">
              <a:latin typeface="Proxima Nova"/>
              <a:ea typeface="Proxima Nova"/>
              <a:cs typeface="Proxima Nova"/>
              <a:sym typeface="Proxima Nova"/>
            </a:endParaRPr>
          </a:p>
          <a:p>
            <a:pPr indent="-304800" lvl="0" marL="457200" rtl="0" algn="l">
              <a:spcBef>
                <a:spcPts val="1000"/>
              </a:spcBef>
              <a:spcAft>
                <a:spcPts val="1000"/>
              </a:spcAft>
              <a:buSzPts val="1200"/>
              <a:buFont typeface="Proxima Nova"/>
              <a:buChar char="●"/>
            </a:pPr>
            <a:r>
              <a:rPr lang="en" sz="1200">
                <a:latin typeface="Proxima Nova"/>
                <a:ea typeface="Proxima Nova"/>
                <a:cs typeface="Proxima Nova"/>
                <a:sym typeface="Proxima Nova"/>
              </a:rPr>
              <a:t>Half of Cx did not realize they could swap the promo on the cart page if they wanted to</a:t>
            </a:r>
            <a:endParaRPr sz="1200">
              <a:latin typeface="Proxima Nova"/>
              <a:ea typeface="Proxima Nova"/>
              <a:cs typeface="Proxima Nova"/>
              <a:sym typeface="Proxima Nova"/>
            </a:endParaRPr>
          </a:p>
        </p:txBody>
      </p:sp>
      <p:sp>
        <p:nvSpPr>
          <p:cNvPr id="187" name="Google Shape;187;p26"/>
          <p:cNvSpPr/>
          <p:nvPr/>
        </p:nvSpPr>
        <p:spPr>
          <a:xfrm>
            <a:off x="2712025" y="2866150"/>
            <a:ext cx="2281800" cy="3936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8" name="Google Shape;188;p26"/>
          <p:cNvSpPr/>
          <p:nvPr/>
        </p:nvSpPr>
        <p:spPr>
          <a:xfrm>
            <a:off x="2721525" y="3780550"/>
            <a:ext cx="2281800" cy="3936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6"/>
          <p:cNvSpPr/>
          <p:nvPr/>
        </p:nvSpPr>
        <p:spPr>
          <a:xfrm>
            <a:off x="13800" y="1361200"/>
            <a:ext cx="2707800" cy="690900"/>
          </a:xfrm>
          <a:prstGeom prst="ellipse">
            <a:avLst/>
          </a:prstGeom>
          <a:noFill/>
          <a:ln cap="flat" cmpd="sng" w="9525">
            <a:solidFill>
              <a:srgbClr val="E2320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7"/>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5" name="Google Shape;195;p27"/>
          <p:cNvSpPr txBox="1"/>
          <p:nvPr/>
        </p:nvSpPr>
        <p:spPr>
          <a:xfrm>
            <a:off x="505225" y="1358975"/>
            <a:ext cx="7336500" cy="9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Some other unique ideas from our Cx…</a:t>
            </a:r>
            <a:endParaRPr sz="5000">
              <a:solidFill>
                <a:srgbClr val="FFFFFF"/>
              </a:solidFill>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28"/>
          <p:cNvSpPr txBox="1"/>
          <p:nvPr/>
        </p:nvSpPr>
        <p:spPr>
          <a:xfrm>
            <a:off x="354075" y="2742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Make deal communications feel more like social</a:t>
            </a:r>
            <a:endParaRPr b="1" sz="2300">
              <a:solidFill>
                <a:schemeClr val="dk1"/>
              </a:solidFill>
              <a:latin typeface="Proxima Nova"/>
              <a:ea typeface="Proxima Nova"/>
              <a:cs typeface="Proxima Nova"/>
              <a:sym typeface="Proxima Nova"/>
            </a:endParaRPr>
          </a:p>
        </p:txBody>
      </p:sp>
      <p:sp>
        <p:nvSpPr>
          <p:cNvPr id="202" name="Google Shape;202;p28"/>
          <p:cNvSpPr txBox="1"/>
          <p:nvPr/>
        </p:nvSpPr>
        <p:spPr>
          <a:xfrm>
            <a:off x="394925" y="1208575"/>
            <a:ext cx="4451700" cy="10545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Provide a visual cue similar to “open to work” on LinkedIn</a:t>
            </a:r>
            <a:endParaRPr>
              <a:latin typeface="Proxima Nova"/>
              <a:ea typeface="Proxima Nova"/>
              <a:cs typeface="Proxima Nova"/>
              <a:sym typeface="Proxima Nova"/>
            </a:endParaRPr>
          </a:p>
          <a:p>
            <a:pPr indent="0" lvl="0" marL="457200" rtl="0" algn="l">
              <a:spcBef>
                <a:spcPts val="0"/>
              </a:spcBef>
              <a:spcAft>
                <a:spcPts val="0"/>
              </a:spcAft>
              <a:buNone/>
            </a:pPr>
            <a:r>
              <a:t/>
            </a:r>
            <a:endParaRPr>
              <a:latin typeface="Proxima Nova"/>
              <a:ea typeface="Proxima Nova"/>
              <a:cs typeface="Proxima Nova"/>
              <a:sym typeface="Proxima Nova"/>
            </a:endParaRPr>
          </a:p>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Any Rx that currently has deals available would have the band indicating that there are opportunities to save</a:t>
            </a:r>
            <a:endParaRPr>
              <a:latin typeface="Proxima Nova"/>
              <a:ea typeface="Proxima Nova"/>
              <a:cs typeface="Proxima Nova"/>
              <a:sym typeface="Proxima Nova"/>
            </a:endParaRPr>
          </a:p>
          <a:p>
            <a:pPr indent="0" lvl="0" marL="457200" rtl="0" algn="l">
              <a:spcBef>
                <a:spcPts val="0"/>
              </a:spcBef>
              <a:spcAft>
                <a:spcPts val="0"/>
              </a:spcAft>
              <a:buNone/>
            </a:pPr>
            <a:r>
              <a:t/>
            </a:r>
            <a:endParaRPr>
              <a:latin typeface="Proxima Nova"/>
              <a:ea typeface="Proxima Nova"/>
              <a:cs typeface="Proxima Nova"/>
              <a:sym typeface="Proxima Nova"/>
            </a:endParaRPr>
          </a:p>
          <a:p>
            <a:pPr indent="-317500" lvl="0" marL="457200" rtl="0" algn="l">
              <a:spcBef>
                <a:spcPts val="0"/>
              </a:spcBef>
              <a:spcAft>
                <a:spcPts val="0"/>
              </a:spcAft>
              <a:buSzPts val="1400"/>
              <a:buFont typeface="Proxima Nova"/>
              <a:buChar char="●"/>
            </a:pPr>
            <a:r>
              <a:rPr lang="en">
                <a:latin typeface="Proxima Nova"/>
                <a:ea typeface="Proxima Nova"/>
                <a:cs typeface="Proxima Nova"/>
                <a:sym typeface="Proxima Nova"/>
              </a:rPr>
              <a:t>You can then click on the store icon to see all deals available (similar to the experience of clicking through stories on IG)</a:t>
            </a:r>
            <a:endParaRPr>
              <a:latin typeface="Proxima Nova"/>
              <a:ea typeface="Proxima Nova"/>
              <a:cs typeface="Proxima Nova"/>
              <a:sym typeface="Proxima Nova"/>
            </a:endParaRPr>
          </a:p>
          <a:p>
            <a:pPr indent="0" lvl="0" marL="0" rtl="0" algn="l">
              <a:spcBef>
                <a:spcPts val="0"/>
              </a:spcBef>
              <a:spcAft>
                <a:spcPts val="0"/>
              </a:spcAft>
              <a:buNone/>
            </a:pPr>
            <a:r>
              <a:t/>
            </a:r>
            <a:endParaRPr>
              <a:latin typeface="Proxima Nova"/>
              <a:ea typeface="Proxima Nova"/>
              <a:cs typeface="Proxima Nova"/>
              <a:sym typeface="Proxima Nova"/>
            </a:endParaRPr>
          </a:p>
          <a:p>
            <a:pPr indent="0" lvl="0" marL="0" rtl="0" algn="l">
              <a:spcBef>
                <a:spcPts val="0"/>
              </a:spcBef>
              <a:spcAft>
                <a:spcPts val="0"/>
              </a:spcAft>
              <a:buNone/>
            </a:pPr>
            <a:r>
              <a:t/>
            </a:r>
            <a:endParaRPr>
              <a:latin typeface="Proxima Nova"/>
              <a:ea typeface="Proxima Nova"/>
              <a:cs typeface="Proxima Nova"/>
              <a:sym typeface="Proxima Nova"/>
            </a:endParaRPr>
          </a:p>
        </p:txBody>
      </p:sp>
      <p:pic>
        <p:nvPicPr>
          <p:cNvPr id="203" name="Google Shape;203;p28"/>
          <p:cNvPicPr preferRelativeResize="0"/>
          <p:nvPr/>
        </p:nvPicPr>
        <p:blipFill>
          <a:blip r:embed="rId3">
            <a:alphaModFix/>
          </a:blip>
          <a:stretch>
            <a:fillRect/>
          </a:stretch>
        </p:blipFill>
        <p:spPr>
          <a:xfrm>
            <a:off x="5226700" y="1520275"/>
            <a:ext cx="2857500" cy="1600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29"/>
          <p:cNvSpPr txBox="1"/>
          <p:nvPr/>
        </p:nvSpPr>
        <p:spPr>
          <a:xfrm>
            <a:off x="354075" y="2742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300">
                <a:solidFill>
                  <a:schemeClr val="dk1"/>
                </a:solidFill>
                <a:latin typeface="Proxima Nova"/>
                <a:ea typeface="Proxima Nova"/>
                <a:cs typeface="Proxima Nova"/>
                <a:sym typeface="Proxima Nova"/>
              </a:rPr>
              <a:t>Faster toggling on the cart page</a:t>
            </a:r>
            <a:endParaRPr b="1" sz="2300">
              <a:solidFill>
                <a:schemeClr val="dk1"/>
              </a:solidFill>
              <a:latin typeface="Proxima Nova"/>
              <a:ea typeface="Proxima Nova"/>
              <a:cs typeface="Proxima Nova"/>
              <a:sym typeface="Proxima Nova"/>
            </a:endParaRPr>
          </a:p>
        </p:txBody>
      </p:sp>
      <p:sp>
        <p:nvSpPr>
          <p:cNvPr id="210" name="Google Shape;210;p29"/>
          <p:cNvSpPr txBox="1"/>
          <p:nvPr/>
        </p:nvSpPr>
        <p:spPr>
          <a:xfrm>
            <a:off x="458075" y="1304200"/>
            <a:ext cx="4261200" cy="219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latin typeface="Proxima Nova"/>
                <a:ea typeface="Proxima Nova"/>
                <a:cs typeface="Proxima Nova"/>
                <a:sym typeface="Proxima Nova"/>
              </a:rPr>
              <a:t>Two Cx said it would be extremely helpful that if you clicked the arrow to select between multiple promotions that it would show you both the promotions available and how it would impact your cart total</a:t>
            </a:r>
            <a:endParaRPr sz="1300">
              <a:latin typeface="Proxima Nova"/>
              <a:ea typeface="Proxima Nova"/>
              <a:cs typeface="Proxima Nova"/>
              <a:sym typeface="Proxima Nova"/>
            </a:endParaRPr>
          </a:p>
          <a:p>
            <a:pPr indent="0" lvl="0" marL="0" rtl="0" algn="l">
              <a:spcBef>
                <a:spcPts val="0"/>
              </a:spcBef>
              <a:spcAft>
                <a:spcPts val="0"/>
              </a:spcAft>
              <a:buNone/>
            </a:pPr>
            <a:r>
              <a:t/>
            </a:r>
            <a:endParaRPr sz="1300">
              <a:latin typeface="Proxima Nova"/>
              <a:ea typeface="Proxima Nova"/>
              <a:cs typeface="Proxima Nova"/>
              <a:sym typeface="Proxima Nova"/>
            </a:endParaRPr>
          </a:p>
        </p:txBody>
      </p:sp>
      <p:pic>
        <p:nvPicPr>
          <p:cNvPr id="211" name="Google Shape;211;p29"/>
          <p:cNvPicPr preferRelativeResize="0"/>
          <p:nvPr/>
        </p:nvPicPr>
        <p:blipFill rotWithShape="1">
          <a:blip r:embed="rId3">
            <a:alphaModFix/>
          </a:blip>
          <a:srcRect b="11734" l="0" r="0" t="37088"/>
          <a:stretch/>
        </p:blipFill>
        <p:spPr>
          <a:xfrm>
            <a:off x="1271900" y="2554424"/>
            <a:ext cx="2281850" cy="1870375"/>
          </a:xfrm>
          <a:prstGeom prst="rect">
            <a:avLst/>
          </a:prstGeom>
          <a:noFill/>
          <a:ln>
            <a:noFill/>
          </a:ln>
        </p:spPr>
      </p:pic>
      <p:pic>
        <p:nvPicPr>
          <p:cNvPr id="212" name="Google Shape;212;p29"/>
          <p:cNvPicPr preferRelativeResize="0"/>
          <p:nvPr/>
        </p:nvPicPr>
        <p:blipFill>
          <a:blip r:embed="rId4">
            <a:alphaModFix/>
          </a:blip>
          <a:stretch>
            <a:fillRect/>
          </a:stretch>
        </p:blipFill>
        <p:spPr>
          <a:xfrm>
            <a:off x="5521100" y="2117522"/>
            <a:ext cx="2064249" cy="20642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0"/>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8" name="Google Shape;218;p30"/>
          <p:cNvSpPr txBox="1"/>
          <p:nvPr/>
        </p:nvSpPr>
        <p:spPr>
          <a:xfrm>
            <a:off x="609800" y="1537775"/>
            <a:ext cx="7551600" cy="13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100">
                <a:solidFill>
                  <a:srgbClr val="FFFFFF"/>
                </a:solidFill>
                <a:latin typeface="Proxima Nova"/>
                <a:ea typeface="Proxima Nova"/>
                <a:cs typeface="Proxima Nova"/>
                <a:sym typeface="Proxima Nova"/>
              </a:rPr>
              <a:t>Detailed </a:t>
            </a:r>
            <a:r>
              <a:rPr lang="en" sz="4100">
                <a:solidFill>
                  <a:srgbClr val="FFFFFF"/>
                </a:solidFill>
                <a:latin typeface="Proxima Nova"/>
                <a:ea typeface="Proxima Nova"/>
                <a:cs typeface="Proxima Nova"/>
                <a:sym typeface="Proxima Nova"/>
              </a:rPr>
              <a:t>Recommendations</a:t>
            </a:r>
            <a:endParaRPr sz="4100">
              <a:solidFill>
                <a:srgbClr val="FFFFFF"/>
              </a:solidFill>
              <a:latin typeface="Proxima Nova"/>
              <a:ea typeface="Proxima Nova"/>
              <a:cs typeface="Proxima Nova"/>
              <a:sym typeface="Proxima Nova"/>
            </a:endParaRPr>
          </a:p>
        </p:txBody>
      </p:sp>
      <p:sp>
        <p:nvSpPr>
          <p:cNvPr id="219" name="Google Shape;219;p30"/>
          <p:cNvSpPr txBox="1"/>
          <p:nvPr/>
        </p:nvSpPr>
        <p:spPr>
          <a:xfrm>
            <a:off x="-891875" y="-744675"/>
            <a:ext cx="484800" cy="27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1"/>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25" name="Google Shape;225;p31"/>
          <p:cNvGraphicFramePr/>
          <p:nvPr/>
        </p:nvGraphicFramePr>
        <p:xfrm>
          <a:off x="378275" y="666325"/>
          <a:ext cx="3000000" cy="3000000"/>
        </p:xfrm>
        <a:graphic>
          <a:graphicData uri="http://schemas.openxmlformats.org/drawingml/2006/table">
            <a:tbl>
              <a:tblPr>
                <a:noFill/>
                <a:tableStyleId>{67077B52-D3A9-42B8-AD11-62ACA520BC4F}</a:tableStyleId>
              </a:tblPr>
              <a:tblGrid>
                <a:gridCol w="3331225"/>
                <a:gridCol w="5056225"/>
              </a:tblGrid>
              <a:tr h="381000">
                <a:tc>
                  <a:txBody>
                    <a:bodyPr/>
                    <a:lstStyle/>
                    <a:p>
                      <a:pPr indent="0" lvl="0" marL="0" rtl="0" algn="ctr">
                        <a:lnSpc>
                          <a:spcPct val="115000"/>
                        </a:lnSpc>
                        <a:spcBef>
                          <a:spcPts val="0"/>
                        </a:spcBef>
                        <a:spcAft>
                          <a:spcPts val="0"/>
                        </a:spcAft>
                        <a:buNone/>
                      </a:pPr>
                      <a:r>
                        <a:rPr b="1" lang="en" sz="1200">
                          <a:solidFill>
                            <a:schemeClr val="lt1"/>
                          </a:solidFill>
                        </a:rPr>
                        <a:t>UXR Recommendation</a:t>
                      </a:r>
                      <a:endParaRPr b="1" sz="1200">
                        <a:solidFill>
                          <a:schemeClr val="lt1"/>
                        </a:solidFill>
                      </a:endParaRPr>
                    </a:p>
                  </a:txBody>
                  <a:tcPr marT="91425" marB="91425" marR="91425" marL="91425" anchor="ctr">
                    <a:solidFill>
                      <a:srgbClr val="FF0000"/>
                    </a:solidFill>
                  </a:tcPr>
                </a:tc>
                <a:tc>
                  <a:txBody>
                    <a:bodyPr/>
                    <a:lstStyle/>
                    <a:p>
                      <a:pPr indent="0" lvl="0" marL="0" rtl="0" algn="ctr">
                        <a:spcBef>
                          <a:spcPts val="0"/>
                        </a:spcBef>
                        <a:spcAft>
                          <a:spcPts val="0"/>
                        </a:spcAft>
                        <a:buNone/>
                      </a:pPr>
                      <a:r>
                        <a:rPr b="1" lang="en" sz="1200">
                          <a:solidFill>
                            <a:schemeClr val="lt1"/>
                          </a:solidFill>
                        </a:rPr>
                        <a:t>Cx Detailed Insight</a:t>
                      </a:r>
                      <a:endParaRPr b="1" sz="1200">
                        <a:solidFill>
                          <a:schemeClr val="lt1"/>
                        </a:solidFill>
                      </a:endParaRPr>
                    </a:p>
                  </a:txBody>
                  <a:tcPr marT="91425" marB="91425" marR="91425" marL="91425" anchor="ctr">
                    <a:solidFill>
                      <a:srgbClr val="FF0000"/>
                    </a:solidFill>
                  </a:tcPr>
                </a:tc>
              </a:tr>
              <a:tr h="381000">
                <a:tc>
                  <a:txBody>
                    <a:bodyPr/>
                    <a:lstStyle/>
                    <a:p>
                      <a:pPr indent="0" lvl="0" marL="0" rtl="0" algn="l">
                        <a:lnSpc>
                          <a:spcPct val="115000"/>
                        </a:lnSpc>
                        <a:spcBef>
                          <a:spcPts val="0"/>
                        </a:spcBef>
                        <a:spcAft>
                          <a:spcPts val="0"/>
                        </a:spcAft>
                        <a:buNone/>
                      </a:pPr>
                      <a:r>
                        <a:rPr b="1" lang="en" sz="1100">
                          <a:solidFill>
                            <a:schemeClr val="dk1"/>
                          </a:solidFill>
                          <a:latin typeface="Proxima Nova"/>
                          <a:ea typeface="Proxima Nova"/>
                          <a:cs typeface="Proxima Nova"/>
                          <a:sym typeface="Proxima Nova"/>
                        </a:rPr>
                        <a:t>For high value item promos indicate the item (e.g. app, entree, dessert) in the badge description for clarity.  On the store page, the badge should include the pricing (e.g. $0 when spend $20+)</a:t>
                      </a:r>
                      <a:endParaRPr b="1" sz="1100">
                        <a:solidFill>
                          <a:schemeClr val="dk1"/>
                        </a:solidFill>
                        <a:latin typeface="Proxima Nova"/>
                        <a:ea typeface="Proxima Nova"/>
                        <a:cs typeface="Proxima Nova"/>
                        <a:sym typeface="Proxima Nova"/>
                      </a:endParaRPr>
                    </a:p>
                  </a:txBody>
                  <a:tcPr marT="91425" marB="91425" marR="91425" marL="91425" anchor="ctr"/>
                </a:tc>
                <a:tc>
                  <a:txBody>
                    <a:bodyPr/>
                    <a:lstStyle/>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On the homepage, the value of the item is not understood and therefore does not generate interest among Cx</a:t>
                      </a:r>
                      <a:endParaRPr i="1" sz="1000">
                        <a:solidFill>
                          <a:schemeClr val="dk1"/>
                        </a:solidFill>
                        <a:latin typeface="Proxima Nova"/>
                        <a:ea typeface="Proxima Nova"/>
                        <a:cs typeface="Proxima Nova"/>
                        <a:sym typeface="Proxima Nova"/>
                      </a:endParaRPr>
                    </a:p>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On the store page, half of Cx did not connect that the badge meant that item was the free item, instead it felt like a continued advertisement for the deal at the store</a:t>
                      </a:r>
                      <a:endParaRPr i="1" sz="1000">
                        <a:solidFill>
                          <a:schemeClr val="dk1"/>
                        </a:solidFill>
                        <a:latin typeface="Proxima Nova"/>
                        <a:ea typeface="Proxima Nova"/>
                        <a:cs typeface="Proxima Nova"/>
                        <a:sym typeface="Proxima Nova"/>
                      </a:endParaRPr>
                    </a:p>
                  </a:txBody>
                  <a:tcPr marT="91425" marB="91425" marR="91425" marL="91425" anchor="ctr"/>
                </a:tc>
              </a:tr>
              <a:tr h="381000">
                <a:tc>
                  <a:txBody>
                    <a:bodyPr/>
                    <a:lstStyle/>
                    <a:p>
                      <a:pPr indent="0" lvl="0" marL="0" rtl="0" algn="l">
                        <a:spcBef>
                          <a:spcPts val="0"/>
                        </a:spcBef>
                        <a:spcAft>
                          <a:spcPts val="0"/>
                        </a:spcAft>
                        <a:buNone/>
                      </a:pPr>
                      <a:r>
                        <a:rPr b="1" lang="en" sz="1100">
                          <a:solidFill>
                            <a:schemeClr val="dk1"/>
                          </a:solidFill>
                          <a:latin typeface="Proxima Nova"/>
                          <a:ea typeface="Proxima Nova"/>
                          <a:cs typeface="Proxima Nova"/>
                          <a:sym typeface="Proxima Nova"/>
                        </a:rPr>
                        <a:t>Exclude low value item promotions from Mx options</a:t>
                      </a:r>
                      <a:endParaRPr b="1" sz="1100">
                        <a:solidFill>
                          <a:schemeClr val="dk1"/>
                        </a:solidFill>
                        <a:latin typeface="Proxima Nova"/>
                        <a:ea typeface="Proxima Nova"/>
                        <a:cs typeface="Proxima Nova"/>
                        <a:sym typeface="Proxima Nova"/>
                      </a:endParaRPr>
                    </a:p>
                  </a:txBody>
                  <a:tcPr marT="91425" marB="91425" marR="91425" marL="91425" anchor="ctr"/>
                </a:tc>
                <a:tc>
                  <a:txBody>
                    <a:bodyPr/>
                    <a:lstStyle/>
                    <a:p>
                      <a:pPr indent="-292100" lvl="0" marL="457200" rtl="0" algn="l">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Most Cx typically ignore item promotions because they assume they are low value items</a:t>
                      </a:r>
                      <a:endParaRPr i="1" sz="1000">
                        <a:solidFill>
                          <a:schemeClr val="dk1"/>
                        </a:solidFill>
                        <a:latin typeface="Proxima Nova"/>
                        <a:ea typeface="Proxima Nova"/>
                        <a:cs typeface="Proxima Nova"/>
                        <a:sym typeface="Proxima Nova"/>
                      </a:endParaRPr>
                    </a:p>
                    <a:p>
                      <a:pPr indent="-292100" lvl="0" marL="457200" rtl="0" algn="l">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Cx are less interested in savings that are less than $5</a:t>
                      </a:r>
                      <a:endParaRPr i="1" sz="1000">
                        <a:solidFill>
                          <a:schemeClr val="dk1"/>
                        </a:solidFill>
                        <a:latin typeface="Proxima Nova"/>
                        <a:ea typeface="Proxima Nova"/>
                        <a:cs typeface="Proxima Nova"/>
                        <a:sym typeface="Proxima Nova"/>
                      </a:endParaRPr>
                    </a:p>
                  </a:txBody>
                  <a:tcPr marT="91425" marB="91425" marR="91425" marL="91425" anchor="ctr"/>
                </a:tc>
              </a:tr>
              <a:tr h="381000">
                <a:tc>
                  <a:txBody>
                    <a:bodyPr/>
                    <a:lstStyle/>
                    <a:p>
                      <a:pPr indent="0" lvl="0" marL="0" rtl="0" algn="l">
                        <a:lnSpc>
                          <a:spcPct val="115000"/>
                        </a:lnSpc>
                        <a:spcBef>
                          <a:spcPts val="0"/>
                        </a:spcBef>
                        <a:spcAft>
                          <a:spcPts val="0"/>
                        </a:spcAft>
                        <a:buNone/>
                      </a:pPr>
                      <a:r>
                        <a:rPr b="1" lang="en" sz="1100">
                          <a:solidFill>
                            <a:schemeClr val="dk1"/>
                          </a:solidFill>
                          <a:latin typeface="Proxima Nova"/>
                          <a:ea typeface="Proxima Nova"/>
                          <a:cs typeface="Proxima Nova"/>
                          <a:sym typeface="Proxima Nova"/>
                        </a:rPr>
                        <a:t>We should only show strikethrough on the menu page of the deal that is being highlighted in the progress bar/cart.  In lieu of stackability we should only allow one item promo per Mx to avoid confusion.</a:t>
                      </a:r>
                      <a:endParaRPr b="1" sz="1100">
                        <a:solidFill>
                          <a:schemeClr val="dk1"/>
                        </a:solidFill>
                        <a:latin typeface="Proxima Nova"/>
                        <a:ea typeface="Proxima Nova"/>
                        <a:cs typeface="Proxima Nova"/>
                        <a:sym typeface="Proxima Nova"/>
                      </a:endParaRPr>
                    </a:p>
                  </a:txBody>
                  <a:tcPr marT="91425" marB="91425" marR="91425" marL="91425" anchor="ctr"/>
                </a:tc>
                <a:tc>
                  <a:txBody>
                    <a:bodyPr/>
                    <a:lstStyle/>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Cx assume they are getting the strike through pricing even though they know they only can use one deal per order (this is because they are not connecting the badge)</a:t>
                      </a:r>
                      <a:endParaRPr i="1" sz="1000">
                        <a:solidFill>
                          <a:schemeClr val="dk1"/>
                        </a:solidFill>
                        <a:latin typeface="Proxima Nova"/>
                        <a:ea typeface="Proxima Nova"/>
                        <a:cs typeface="Proxima Nova"/>
                        <a:sym typeface="Proxima Nova"/>
                      </a:endParaRPr>
                    </a:p>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Cx found it to be very sneaky when the progress bar and/or cart did not show the prices they expected, they felt it would really cause them to lose trust in DoorDash if that noticed that without explanation</a:t>
                      </a:r>
                      <a:endParaRPr i="1" sz="1000">
                        <a:solidFill>
                          <a:schemeClr val="dk1"/>
                        </a:solidFill>
                        <a:latin typeface="Proxima Nova"/>
                        <a:ea typeface="Proxima Nova"/>
                        <a:cs typeface="Proxima Nova"/>
                        <a:sym typeface="Proxima Nova"/>
                      </a:endParaRPr>
                    </a:p>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Cx are already somewhat skeptical about these deals, any additional trust busters may cause them to abandon their cart</a:t>
                      </a:r>
                      <a:endParaRPr i="1" sz="1000">
                        <a:solidFill>
                          <a:schemeClr val="dk1"/>
                        </a:solidFill>
                        <a:latin typeface="Proxima Nova"/>
                        <a:ea typeface="Proxima Nova"/>
                        <a:cs typeface="Proxima Nova"/>
                        <a:sym typeface="Proxima Nova"/>
                      </a:endParaRPr>
                    </a:p>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Seeing the strikethrough pricing makes them think the 30% off deal is better than the free item, even though the value of the free item is almost double that of the 30% deal</a:t>
                      </a:r>
                      <a:endParaRPr i="1" sz="1000">
                        <a:solidFill>
                          <a:schemeClr val="dk1"/>
                        </a:solidFill>
                        <a:latin typeface="Proxima Nova"/>
                        <a:ea typeface="Proxima Nova"/>
                        <a:cs typeface="Proxima Nova"/>
                        <a:sym typeface="Proxima Nova"/>
                      </a:endParaRPr>
                    </a:p>
                  </a:txBody>
                  <a:tcPr marT="91425" marB="91425" marR="91425" marL="91425" anchor="ctr"/>
                </a:tc>
              </a:tr>
            </a:tbl>
          </a:graphicData>
        </a:graphic>
      </p:graphicFrame>
      <p:sp>
        <p:nvSpPr>
          <p:cNvPr id="226" name="Google Shape;226;p31"/>
          <p:cNvSpPr txBox="1"/>
          <p:nvPr/>
        </p:nvSpPr>
        <p:spPr>
          <a:xfrm>
            <a:off x="385975" y="1227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Item promo experience (1 of 2)</a:t>
            </a:r>
            <a:endParaRPr b="1" sz="2000">
              <a:solidFill>
                <a:schemeClr val="dk1"/>
              </a:solidFill>
              <a:latin typeface="Proxima Nova"/>
              <a:ea typeface="Proxima Nova"/>
              <a:cs typeface="Proxima Nova"/>
              <a:sym typeface="Proxima Nov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2"/>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32" name="Google Shape;232;p32"/>
          <p:cNvGraphicFramePr/>
          <p:nvPr/>
        </p:nvGraphicFramePr>
        <p:xfrm>
          <a:off x="425100" y="736425"/>
          <a:ext cx="3000000" cy="3000000"/>
        </p:xfrm>
        <a:graphic>
          <a:graphicData uri="http://schemas.openxmlformats.org/drawingml/2006/table">
            <a:tbl>
              <a:tblPr>
                <a:noFill/>
                <a:tableStyleId>{67077B52-D3A9-42B8-AD11-62ACA520BC4F}</a:tableStyleId>
              </a:tblPr>
              <a:tblGrid>
                <a:gridCol w="3331225"/>
                <a:gridCol w="5056225"/>
              </a:tblGrid>
              <a:tr h="420525">
                <a:tc>
                  <a:txBody>
                    <a:bodyPr/>
                    <a:lstStyle/>
                    <a:p>
                      <a:pPr indent="0" lvl="0" marL="0" rtl="0" algn="ctr">
                        <a:lnSpc>
                          <a:spcPct val="115000"/>
                        </a:lnSpc>
                        <a:spcBef>
                          <a:spcPts val="0"/>
                        </a:spcBef>
                        <a:spcAft>
                          <a:spcPts val="0"/>
                        </a:spcAft>
                        <a:buNone/>
                      </a:pPr>
                      <a:r>
                        <a:rPr b="1" lang="en" sz="1200">
                          <a:solidFill>
                            <a:schemeClr val="lt1"/>
                          </a:solidFill>
                        </a:rPr>
                        <a:t>UXR Recommendation</a:t>
                      </a:r>
                      <a:endParaRPr b="1" sz="1200">
                        <a:solidFill>
                          <a:schemeClr val="lt1"/>
                        </a:solidFill>
                      </a:endParaRPr>
                    </a:p>
                  </a:txBody>
                  <a:tcPr marT="91425" marB="91425" marR="91425" marL="91425" anchor="ctr">
                    <a:solidFill>
                      <a:srgbClr val="FF0000"/>
                    </a:solidFill>
                  </a:tcPr>
                </a:tc>
                <a:tc>
                  <a:txBody>
                    <a:bodyPr/>
                    <a:lstStyle/>
                    <a:p>
                      <a:pPr indent="0" lvl="0" marL="0" rtl="0" algn="ctr">
                        <a:spcBef>
                          <a:spcPts val="0"/>
                        </a:spcBef>
                        <a:spcAft>
                          <a:spcPts val="0"/>
                        </a:spcAft>
                        <a:buNone/>
                      </a:pPr>
                      <a:r>
                        <a:rPr b="1" lang="en" sz="1200">
                          <a:solidFill>
                            <a:schemeClr val="lt1"/>
                          </a:solidFill>
                        </a:rPr>
                        <a:t>Cx Detailed Insight</a:t>
                      </a:r>
                      <a:endParaRPr b="1" sz="1200">
                        <a:solidFill>
                          <a:schemeClr val="lt1"/>
                        </a:solidFill>
                      </a:endParaRPr>
                    </a:p>
                  </a:txBody>
                  <a:tcPr marT="91425" marB="91425" marR="91425" marL="91425" anchor="ctr">
                    <a:solidFill>
                      <a:srgbClr val="FF0000"/>
                    </a:solidFill>
                  </a:tcPr>
                </a:tc>
              </a:tr>
              <a:tr h="950375">
                <a:tc>
                  <a:txBody>
                    <a:bodyPr/>
                    <a:lstStyle/>
                    <a:p>
                      <a:pPr indent="0" lvl="0" marL="0" rtl="0" algn="l">
                        <a:lnSpc>
                          <a:spcPct val="115000"/>
                        </a:lnSpc>
                        <a:spcBef>
                          <a:spcPts val="0"/>
                        </a:spcBef>
                        <a:spcAft>
                          <a:spcPts val="0"/>
                        </a:spcAft>
                        <a:buNone/>
                      </a:pPr>
                      <a:r>
                        <a:rPr b="1" lang="en" sz="1100">
                          <a:solidFill>
                            <a:schemeClr val="dk1"/>
                          </a:solidFill>
                          <a:latin typeface="Proxima Nova"/>
                          <a:ea typeface="Proxima Nova"/>
                          <a:cs typeface="Proxima Nova"/>
                          <a:sym typeface="Proxima Nova"/>
                        </a:rPr>
                        <a:t>T</a:t>
                      </a:r>
                      <a:r>
                        <a:rPr b="1" lang="en" sz="1100">
                          <a:solidFill>
                            <a:schemeClr val="dk1"/>
                          </a:solidFill>
                          <a:latin typeface="Proxima Nova"/>
                          <a:ea typeface="Proxima Nova"/>
                          <a:cs typeface="Proxima Nova"/>
                          <a:sym typeface="Proxima Nova"/>
                        </a:rPr>
                        <a:t>he item details should be edited by content and tested further to ensure clarity &amp; simplicity</a:t>
                      </a:r>
                      <a:endParaRPr b="1" sz="1100">
                        <a:solidFill>
                          <a:schemeClr val="dk1"/>
                        </a:solidFill>
                        <a:latin typeface="Proxima Nova"/>
                        <a:ea typeface="Proxima Nova"/>
                        <a:cs typeface="Proxima Nova"/>
                        <a:sym typeface="Proxima Nova"/>
                      </a:endParaRPr>
                    </a:p>
                  </a:txBody>
                  <a:tcPr marT="91425" marB="91425" marR="91425" marL="91425" anchor="ctr"/>
                </a:tc>
                <a:tc>
                  <a:txBody>
                    <a:bodyPr/>
                    <a:lstStyle/>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Cx find the information in the USI to be confusing</a:t>
                      </a:r>
                      <a:endParaRPr i="1" sz="1000">
                        <a:solidFill>
                          <a:schemeClr val="dk1"/>
                        </a:solidFill>
                        <a:latin typeface="Proxima Nova"/>
                        <a:ea typeface="Proxima Nova"/>
                        <a:cs typeface="Proxima Nova"/>
                        <a:sym typeface="Proxima Nova"/>
                      </a:endParaRPr>
                    </a:p>
                    <a:p>
                      <a:pPr indent="-292100" lvl="1" marL="9144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They feel the free item should be on the top (don't bury it further)</a:t>
                      </a:r>
                      <a:endParaRPr i="1" sz="1000">
                        <a:solidFill>
                          <a:schemeClr val="dk1"/>
                        </a:solidFill>
                        <a:latin typeface="Proxima Nova"/>
                        <a:ea typeface="Proxima Nova"/>
                        <a:cs typeface="Proxima Nova"/>
                        <a:sym typeface="Proxima Nova"/>
                      </a:endParaRPr>
                    </a:p>
                    <a:p>
                      <a:pPr indent="-292100" lvl="1" marL="9144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They didn’t get a clear sense of the value of the item</a:t>
                      </a:r>
                      <a:endParaRPr i="1" sz="1000">
                        <a:solidFill>
                          <a:schemeClr val="dk1"/>
                        </a:solidFill>
                        <a:latin typeface="Proxima Nova"/>
                        <a:ea typeface="Proxima Nova"/>
                        <a:cs typeface="Proxima Nova"/>
                        <a:sym typeface="Proxima Nova"/>
                      </a:endParaRPr>
                    </a:p>
                    <a:p>
                      <a:pPr indent="-292100" lvl="1" marL="9144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Some of the wording of the details felt unnecessarily complicated </a:t>
                      </a:r>
                      <a:endParaRPr i="1" sz="1000">
                        <a:solidFill>
                          <a:schemeClr val="dk1"/>
                        </a:solidFill>
                        <a:latin typeface="Proxima Nova"/>
                        <a:ea typeface="Proxima Nova"/>
                        <a:cs typeface="Proxima Nova"/>
                        <a:sym typeface="Proxima Nova"/>
                      </a:endParaRPr>
                    </a:p>
                  </a:txBody>
                  <a:tcPr marT="91425" marB="91425" marR="91425" marL="91425" anchor="ctr"/>
                </a:tc>
              </a:tr>
              <a:tr h="1025200">
                <a:tc>
                  <a:txBody>
                    <a:bodyPr/>
                    <a:lstStyle/>
                    <a:p>
                      <a:pPr indent="0" lvl="0" marL="0" rtl="0" algn="l">
                        <a:lnSpc>
                          <a:spcPct val="115000"/>
                        </a:lnSpc>
                        <a:spcBef>
                          <a:spcPts val="0"/>
                        </a:spcBef>
                        <a:spcAft>
                          <a:spcPts val="0"/>
                        </a:spcAft>
                        <a:buNone/>
                      </a:pPr>
                      <a:r>
                        <a:rPr b="1" lang="en" sz="1100">
                          <a:solidFill>
                            <a:schemeClr val="dk1"/>
                          </a:solidFill>
                          <a:latin typeface="Proxima Nova"/>
                          <a:ea typeface="Proxima Nova"/>
                          <a:cs typeface="Proxima Nova"/>
                          <a:sym typeface="Proxima Nova"/>
                        </a:rPr>
                        <a:t>We should continue to push to have some sort of item visual or text explanation within the USI to more quickly connect Cx with the free item information.  </a:t>
                      </a:r>
                      <a:endParaRPr b="1" sz="1100">
                        <a:solidFill>
                          <a:schemeClr val="dk1"/>
                        </a:solidFill>
                        <a:latin typeface="Proxima Nova"/>
                        <a:ea typeface="Proxima Nova"/>
                        <a:cs typeface="Proxima Nova"/>
                        <a:sym typeface="Proxima Nova"/>
                      </a:endParaRPr>
                    </a:p>
                  </a:txBody>
                  <a:tcPr marT="91425" marB="91425" marR="91425" marL="91425" anchor="ctr"/>
                </a:tc>
                <a:tc>
                  <a:txBody>
                    <a:bodyPr/>
                    <a:lstStyle/>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Overall the USI does it’s job of alerting Cx to what the free items are and felt clear and prominent</a:t>
                      </a:r>
                      <a:endParaRPr i="1" sz="1000">
                        <a:solidFill>
                          <a:schemeClr val="dk1"/>
                        </a:solidFill>
                        <a:latin typeface="Proxima Nova"/>
                        <a:ea typeface="Proxima Nova"/>
                        <a:cs typeface="Proxima Nova"/>
                        <a:sym typeface="Proxima Nova"/>
                      </a:endParaRPr>
                    </a:p>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Ideally in a future state Cx would want more detail in the USI on the store page without having to click further</a:t>
                      </a:r>
                      <a:endParaRPr i="1" sz="1000">
                        <a:solidFill>
                          <a:schemeClr val="dk1"/>
                        </a:solidFill>
                        <a:latin typeface="Proxima Nova"/>
                        <a:ea typeface="Proxima Nova"/>
                        <a:cs typeface="Proxima Nova"/>
                        <a:sym typeface="Proxima Nova"/>
                      </a:endParaRPr>
                    </a:p>
                  </a:txBody>
                  <a:tcPr marT="91425" marB="91425" marR="91425" marL="91425" anchor="ctr"/>
                </a:tc>
              </a:tr>
              <a:tr h="1530700">
                <a:tc>
                  <a:txBody>
                    <a:bodyPr/>
                    <a:lstStyle/>
                    <a:p>
                      <a:pPr indent="0" lvl="0" marL="0" rtl="0" algn="l">
                        <a:lnSpc>
                          <a:spcPct val="115000"/>
                        </a:lnSpc>
                        <a:spcBef>
                          <a:spcPts val="0"/>
                        </a:spcBef>
                        <a:spcAft>
                          <a:spcPts val="0"/>
                        </a:spcAft>
                        <a:buNone/>
                      </a:pPr>
                      <a:r>
                        <a:rPr b="1" lang="en" sz="1100">
                          <a:solidFill>
                            <a:schemeClr val="dk1"/>
                          </a:solidFill>
                          <a:latin typeface="Proxima Nova"/>
                          <a:ea typeface="Proxima Nova"/>
                          <a:cs typeface="Proxima Nova"/>
                          <a:sym typeface="Proxima Nova"/>
                        </a:rPr>
                        <a:t>The location of a featured item vs. menu item should not matter because Cx will see the free item in the USI; if we do merchandise within the store it is critical that strike through and badging is clear and consistent across offers.</a:t>
                      </a:r>
                      <a:endParaRPr b="1" sz="1100">
                        <a:solidFill>
                          <a:schemeClr val="dk1"/>
                        </a:solidFill>
                        <a:latin typeface="Proxima Nova"/>
                        <a:ea typeface="Proxima Nova"/>
                        <a:cs typeface="Proxima Nova"/>
                        <a:sym typeface="Proxima Nova"/>
                      </a:endParaRPr>
                    </a:p>
                    <a:p>
                      <a:pPr indent="0" lvl="0" marL="0" rtl="0" algn="l">
                        <a:lnSpc>
                          <a:spcPct val="115000"/>
                        </a:lnSpc>
                        <a:spcBef>
                          <a:spcPts val="0"/>
                        </a:spcBef>
                        <a:spcAft>
                          <a:spcPts val="0"/>
                        </a:spcAft>
                        <a:buNone/>
                      </a:pPr>
                      <a:r>
                        <a:t/>
                      </a:r>
                      <a:endParaRPr b="1" sz="1100">
                        <a:solidFill>
                          <a:schemeClr val="dk1"/>
                        </a:solidFill>
                        <a:latin typeface="Proxima Nova"/>
                        <a:ea typeface="Proxima Nova"/>
                        <a:cs typeface="Proxima Nova"/>
                        <a:sym typeface="Proxima Nova"/>
                      </a:endParaRPr>
                    </a:p>
                  </a:txBody>
                  <a:tcPr marT="91425" marB="91425" marR="91425" marL="91425" anchor="ctr"/>
                </a:tc>
                <a:tc>
                  <a:txBody>
                    <a:bodyPr/>
                    <a:lstStyle/>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When it comes to providing the free item outside of the USI, Cx are split between having a specific menu section vs. having it in the featured items</a:t>
                      </a:r>
                      <a:endParaRPr i="1" sz="1000">
                        <a:solidFill>
                          <a:schemeClr val="dk1"/>
                        </a:solidFill>
                        <a:latin typeface="Proxima Nova"/>
                        <a:ea typeface="Proxima Nova"/>
                        <a:cs typeface="Proxima Nova"/>
                        <a:sym typeface="Proxima Nova"/>
                      </a:endParaRPr>
                    </a:p>
                    <a:p>
                      <a:pPr indent="-292100" lvl="1" marL="9144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Some of this may be due to the fact that it's not always clear that is the free item with the badging</a:t>
                      </a:r>
                      <a:endParaRPr i="1" sz="1000">
                        <a:solidFill>
                          <a:schemeClr val="dk1"/>
                        </a:solidFill>
                        <a:latin typeface="Proxima Nova"/>
                        <a:ea typeface="Proxima Nova"/>
                        <a:cs typeface="Proxima Nova"/>
                        <a:sym typeface="Proxima Nova"/>
                      </a:endParaRPr>
                    </a:p>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It was not clear where Cx should look or click to find details on the other discounts available at the same store</a:t>
                      </a:r>
                      <a:endParaRPr i="1" sz="10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i="1" sz="1000">
                        <a:solidFill>
                          <a:schemeClr val="dk1"/>
                        </a:solidFill>
                        <a:latin typeface="Proxima Nova"/>
                        <a:ea typeface="Proxima Nova"/>
                        <a:cs typeface="Proxima Nova"/>
                        <a:sym typeface="Proxima Nova"/>
                      </a:endParaRPr>
                    </a:p>
                  </a:txBody>
                  <a:tcPr marT="91425" marB="91425" marR="91425" marL="91425" anchor="ctr"/>
                </a:tc>
              </a:tr>
            </a:tbl>
          </a:graphicData>
        </a:graphic>
      </p:graphicFrame>
      <p:sp>
        <p:nvSpPr>
          <p:cNvPr id="233" name="Google Shape;233;p32"/>
          <p:cNvSpPr txBox="1"/>
          <p:nvPr/>
        </p:nvSpPr>
        <p:spPr>
          <a:xfrm>
            <a:off x="385975" y="1227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Item promo experience (2 of 2)</a:t>
            </a:r>
            <a:endParaRPr b="1" sz="2000">
              <a:solidFill>
                <a:schemeClr val="dk1"/>
              </a:solidFill>
              <a:latin typeface="Proxima Nova"/>
              <a:ea typeface="Proxima Nova"/>
              <a:cs typeface="Proxima Nova"/>
              <a:sym typeface="Proxima Nov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3"/>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39" name="Google Shape;239;p33"/>
          <p:cNvGraphicFramePr/>
          <p:nvPr/>
        </p:nvGraphicFramePr>
        <p:xfrm>
          <a:off x="464975" y="836175"/>
          <a:ext cx="3000000" cy="3000000"/>
        </p:xfrm>
        <a:graphic>
          <a:graphicData uri="http://schemas.openxmlformats.org/drawingml/2006/table">
            <a:tbl>
              <a:tblPr>
                <a:noFill/>
                <a:tableStyleId>{67077B52-D3A9-42B8-AD11-62ACA520BC4F}</a:tableStyleId>
              </a:tblPr>
              <a:tblGrid>
                <a:gridCol w="3011350"/>
                <a:gridCol w="4570700"/>
              </a:tblGrid>
              <a:tr h="515125">
                <a:tc>
                  <a:txBody>
                    <a:bodyPr/>
                    <a:lstStyle/>
                    <a:p>
                      <a:pPr indent="0" lvl="0" marL="0" rtl="0" algn="ctr">
                        <a:lnSpc>
                          <a:spcPct val="115000"/>
                        </a:lnSpc>
                        <a:spcBef>
                          <a:spcPts val="0"/>
                        </a:spcBef>
                        <a:spcAft>
                          <a:spcPts val="0"/>
                        </a:spcAft>
                        <a:buNone/>
                      </a:pPr>
                      <a:r>
                        <a:rPr b="1" lang="en" sz="1200">
                          <a:solidFill>
                            <a:schemeClr val="lt1"/>
                          </a:solidFill>
                        </a:rPr>
                        <a:t>UXR Recommendation</a:t>
                      </a:r>
                      <a:endParaRPr b="1" sz="1200">
                        <a:solidFill>
                          <a:schemeClr val="lt1"/>
                        </a:solidFill>
                      </a:endParaRPr>
                    </a:p>
                  </a:txBody>
                  <a:tcPr marT="91425" marB="91425" marR="91425" marL="91425" anchor="ctr">
                    <a:solidFill>
                      <a:srgbClr val="FF0000"/>
                    </a:solidFill>
                  </a:tcPr>
                </a:tc>
                <a:tc>
                  <a:txBody>
                    <a:bodyPr/>
                    <a:lstStyle/>
                    <a:p>
                      <a:pPr indent="0" lvl="0" marL="0" rtl="0" algn="ctr">
                        <a:spcBef>
                          <a:spcPts val="0"/>
                        </a:spcBef>
                        <a:spcAft>
                          <a:spcPts val="0"/>
                        </a:spcAft>
                        <a:buNone/>
                      </a:pPr>
                      <a:r>
                        <a:rPr b="1" lang="en" sz="1200">
                          <a:solidFill>
                            <a:schemeClr val="lt1"/>
                          </a:solidFill>
                        </a:rPr>
                        <a:t>Cx Detailed Insight</a:t>
                      </a:r>
                      <a:endParaRPr b="1" sz="1200">
                        <a:solidFill>
                          <a:schemeClr val="lt1"/>
                        </a:solidFill>
                      </a:endParaRPr>
                    </a:p>
                  </a:txBody>
                  <a:tcPr marT="91425" marB="91425" marR="91425" marL="91425" anchor="ctr">
                    <a:solidFill>
                      <a:srgbClr val="FF0000"/>
                    </a:solidFill>
                  </a:tcPr>
                </a:tc>
              </a:tr>
              <a:tr h="1401075">
                <a:tc>
                  <a:txBody>
                    <a:bodyPr/>
                    <a:lstStyle/>
                    <a:p>
                      <a:pPr indent="0" lvl="0" marL="0" rtl="0" algn="l">
                        <a:lnSpc>
                          <a:spcPct val="115000"/>
                        </a:lnSpc>
                        <a:spcBef>
                          <a:spcPts val="0"/>
                        </a:spcBef>
                        <a:spcAft>
                          <a:spcPts val="0"/>
                        </a:spcAft>
                        <a:buNone/>
                      </a:pPr>
                      <a:r>
                        <a:rPr b="1" lang="en" sz="1100">
                          <a:solidFill>
                            <a:schemeClr val="dk1"/>
                          </a:solidFill>
                          <a:latin typeface="Proxima Nova"/>
                          <a:ea typeface="Proxima Nova"/>
                          <a:cs typeface="Proxima Nova"/>
                          <a:sym typeface="Proxima Nova"/>
                        </a:rPr>
                        <a:t>There is a broader need for consistent badge requirements.  Ideally all badges should include value and any minimum spend requirements.</a:t>
                      </a:r>
                      <a:endParaRPr b="1" sz="1100">
                        <a:solidFill>
                          <a:schemeClr val="dk1"/>
                        </a:solidFill>
                        <a:latin typeface="Proxima Nova"/>
                        <a:ea typeface="Proxima Nova"/>
                        <a:cs typeface="Proxima Nova"/>
                        <a:sym typeface="Proxima Nova"/>
                      </a:endParaRPr>
                    </a:p>
                  </a:txBody>
                  <a:tcPr marT="91425" marB="91425" marR="91425" marL="91425" anchor="ctr"/>
                </a:tc>
                <a:tc>
                  <a:txBody>
                    <a:bodyPr/>
                    <a:lstStyle/>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Cx have a very hard time understanding deals when there is not consistent language in the badge (percentage off, minimum spend, maximum savings, value of savings)</a:t>
                      </a:r>
                      <a:endParaRPr i="1" sz="1000">
                        <a:solidFill>
                          <a:schemeClr val="dk1"/>
                        </a:solidFill>
                        <a:latin typeface="Proxima Nova"/>
                        <a:ea typeface="Proxima Nova"/>
                        <a:cs typeface="Proxima Nova"/>
                        <a:sym typeface="Proxima Nova"/>
                      </a:endParaRPr>
                    </a:p>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In the examples shown Cx actually think that the lower value deal is more valuable because there is a clear savings amount</a:t>
                      </a:r>
                      <a:endParaRPr i="1" sz="1000">
                        <a:solidFill>
                          <a:schemeClr val="dk1"/>
                        </a:solidFill>
                        <a:latin typeface="Proxima Nova"/>
                        <a:ea typeface="Proxima Nova"/>
                        <a:cs typeface="Proxima Nova"/>
                        <a:sym typeface="Proxima Nova"/>
                      </a:endParaRPr>
                    </a:p>
                  </a:txBody>
                  <a:tcPr marT="91425" marB="91425" marR="91425" marL="91425" anchor="ctr"/>
                </a:tc>
              </a:tr>
              <a:tr h="1875000">
                <a:tc>
                  <a:txBody>
                    <a:bodyPr/>
                    <a:lstStyle/>
                    <a:p>
                      <a:pPr indent="0" lvl="0" marL="0" rtl="0" algn="l">
                        <a:lnSpc>
                          <a:spcPct val="115000"/>
                        </a:lnSpc>
                        <a:spcBef>
                          <a:spcPts val="0"/>
                        </a:spcBef>
                        <a:spcAft>
                          <a:spcPts val="0"/>
                        </a:spcAft>
                        <a:buNone/>
                      </a:pPr>
                      <a:r>
                        <a:rPr b="1" lang="en" sz="1100">
                          <a:solidFill>
                            <a:schemeClr val="dk1"/>
                          </a:solidFill>
                          <a:latin typeface="Proxima Nova"/>
                          <a:ea typeface="Proxima Nova"/>
                          <a:cs typeface="Proxima Nova"/>
                          <a:sym typeface="Proxima Nova"/>
                        </a:rPr>
                        <a:t>We should work closely with the checkout team to streamline and clarify how deals are shown within the cart summary.  Additionally as more Rx have multiple non-stackable promos available we will need to make it more clear to Cx how and where they can swap between promotions on the cart page.  </a:t>
                      </a:r>
                      <a:endParaRPr b="1" sz="1100">
                        <a:solidFill>
                          <a:schemeClr val="dk1"/>
                        </a:solidFill>
                        <a:latin typeface="Proxima Nova"/>
                        <a:ea typeface="Proxima Nova"/>
                        <a:cs typeface="Proxima Nova"/>
                        <a:sym typeface="Proxima Nova"/>
                      </a:endParaRPr>
                    </a:p>
                  </a:txBody>
                  <a:tcPr marT="91425" marB="91425" marR="91425" marL="91425" anchor="ctr"/>
                </a:tc>
                <a:tc>
                  <a:txBody>
                    <a:bodyPr/>
                    <a:lstStyle/>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Cx would like to see the item prices with the deals closer to the full details</a:t>
                      </a:r>
                      <a:endParaRPr i="1" sz="1000">
                        <a:solidFill>
                          <a:schemeClr val="dk1"/>
                        </a:solidFill>
                        <a:latin typeface="Proxima Nova"/>
                        <a:ea typeface="Proxima Nova"/>
                        <a:cs typeface="Proxima Nova"/>
                        <a:sym typeface="Proxima Nova"/>
                      </a:endParaRPr>
                    </a:p>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Cx would like to see what the discount is next to where it says discounts</a:t>
                      </a:r>
                      <a:endParaRPr i="1" sz="1000">
                        <a:solidFill>
                          <a:schemeClr val="dk1"/>
                        </a:solidFill>
                        <a:latin typeface="Proxima Nova"/>
                        <a:ea typeface="Proxima Nova"/>
                        <a:cs typeface="Proxima Nova"/>
                        <a:sym typeface="Proxima Nova"/>
                      </a:endParaRPr>
                    </a:p>
                    <a:p>
                      <a:pPr indent="-292100" lvl="0" marL="457200" rtl="0" algn="l">
                        <a:lnSpc>
                          <a:spcPct val="115000"/>
                        </a:lnSpc>
                        <a:spcBef>
                          <a:spcPts val="0"/>
                        </a:spcBef>
                        <a:spcAft>
                          <a:spcPts val="0"/>
                        </a:spcAft>
                        <a:buClr>
                          <a:schemeClr val="dk1"/>
                        </a:buClr>
                        <a:buSzPts val="1000"/>
                        <a:buFont typeface="Proxima Nova"/>
                        <a:buChar char="●"/>
                      </a:pPr>
                      <a:r>
                        <a:rPr i="1" lang="en" sz="1000">
                          <a:solidFill>
                            <a:schemeClr val="dk1"/>
                          </a:solidFill>
                          <a:latin typeface="Proxima Nova"/>
                          <a:ea typeface="Proxima Nova"/>
                          <a:cs typeface="Proxima Nova"/>
                          <a:sym typeface="Proxima Nova"/>
                        </a:rPr>
                        <a:t>Half of Cx were unclear that they could select other promotions on the cart page</a:t>
                      </a:r>
                      <a:endParaRPr i="1" sz="1000">
                        <a:solidFill>
                          <a:schemeClr val="dk1"/>
                        </a:solidFill>
                        <a:latin typeface="Proxima Nova"/>
                        <a:ea typeface="Proxima Nova"/>
                        <a:cs typeface="Proxima Nova"/>
                        <a:sym typeface="Proxima Nova"/>
                      </a:endParaRPr>
                    </a:p>
                  </a:txBody>
                  <a:tcPr marT="91425" marB="91425" marR="91425" marL="91425" anchor="ctr"/>
                </a:tc>
              </a:tr>
            </a:tbl>
          </a:graphicData>
        </a:graphic>
      </p:graphicFrame>
      <p:sp>
        <p:nvSpPr>
          <p:cNvPr id="240" name="Google Shape;240;p33"/>
          <p:cNvSpPr txBox="1"/>
          <p:nvPr/>
        </p:nvSpPr>
        <p:spPr>
          <a:xfrm>
            <a:off x="354075" y="274275"/>
            <a:ext cx="75156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chemeClr val="dk1"/>
                </a:solidFill>
                <a:latin typeface="Proxima Nova"/>
                <a:ea typeface="Proxima Nova"/>
                <a:cs typeface="Proxima Nova"/>
                <a:sym typeface="Proxima Nova"/>
              </a:rPr>
              <a:t>Broader promo ecosystem</a:t>
            </a:r>
            <a:endParaRPr b="1" sz="2000">
              <a:solidFill>
                <a:schemeClr val="dk1"/>
              </a:solidFill>
              <a:latin typeface="Proxima Nova"/>
              <a:ea typeface="Proxima Nova"/>
              <a:cs typeface="Proxima Nova"/>
              <a:sym typeface="Proxima Nov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4"/>
          <p:cNvSpPr txBox="1"/>
          <p:nvPr>
            <p:ph idx="12" type="sldNum"/>
          </p:nvPr>
        </p:nvSpPr>
        <p:spPr>
          <a:xfrm>
            <a:off x="79462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6" name="Google Shape;246;p34"/>
          <p:cNvSpPr txBox="1"/>
          <p:nvPr/>
        </p:nvSpPr>
        <p:spPr>
          <a:xfrm>
            <a:off x="561050" y="1933125"/>
            <a:ext cx="7336500" cy="97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5000">
                <a:solidFill>
                  <a:srgbClr val="FFFFFF"/>
                </a:solidFill>
                <a:latin typeface="Proxima Nova"/>
                <a:ea typeface="Proxima Nova"/>
                <a:cs typeface="Proxima Nova"/>
                <a:sym typeface="Proxima Nova"/>
              </a:rPr>
              <a:t>Thank you</a:t>
            </a:r>
            <a:r>
              <a:rPr lang="en" sz="5000">
                <a:solidFill>
                  <a:srgbClr val="FFFFFF"/>
                </a:solidFill>
                <a:latin typeface="Proxima Nova"/>
                <a:ea typeface="Proxima Nova"/>
                <a:cs typeface="Proxima Nova"/>
                <a:sym typeface="Proxima Nova"/>
              </a:rPr>
              <a:t>!</a:t>
            </a:r>
            <a:endParaRPr sz="5000">
              <a:solidFill>
                <a:srgbClr val="FFFFFF"/>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oorDash">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838A"/>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