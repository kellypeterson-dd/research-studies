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roxima Nova"/>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7DD6B6-2A48-4CFE-80D3-2A57636455FD}">
  <a:tblStyle styleId="{467DD6B6-2A48-4CFE-80D3-2A57636455F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FD649C0-5B0B-4BBF-8559-2DF0A2945588}"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ProximaNova-bold.fntdata"/><Relationship Id="rId10" Type="http://schemas.openxmlformats.org/officeDocument/2006/relationships/slide" Target="slides/slide5.xml"/><Relationship Id="rId21" Type="http://schemas.openxmlformats.org/officeDocument/2006/relationships/font" Target="fonts/ProximaNova-regular.fntdata"/><Relationship Id="rId13" Type="http://schemas.openxmlformats.org/officeDocument/2006/relationships/slide" Target="slides/slide8.xml"/><Relationship Id="rId24" Type="http://schemas.openxmlformats.org/officeDocument/2006/relationships/font" Target="fonts/ProximaNova-boldItalic.fntdata"/><Relationship Id="rId12" Type="http://schemas.openxmlformats.org/officeDocument/2006/relationships/slide" Target="slides/slide7.xml"/><Relationship Id="rId23" Type="http://schemas.openxmlformats.org/officeDocument/2006/relationships/font" Target="fonts/ProximaNova-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g89d59627f6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 name="Google Shape;42;g89d59627f6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44a3c457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44a3c457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 to link to failed session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44a3c457f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44a3c457f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44a3c457fa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44a3c457fa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44a3c457fa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44a3c457f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44a3c457fa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44a3c457fa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44a3c457fa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44a3c457fa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44a3c457fa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44a3c457fa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44a3c457fa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44a3c457fa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44a3c457fa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44a3c457fa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4664a711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4664a711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44a3c457fa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44a3c457fa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44a3c457fa_0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44a3c457fa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44a3c457fa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244a3c457fa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44a3c457fa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44a3c457fa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type="title">
  <p:cSld name="TITLE">
    <p:spTree>
      <p:nvGrpSpPr>
        <p:cNvPr id="6" name="Shape 6"/>
        <p:cNvGrpSpPr/>
        <p:nvPr/>
      </p:nvGrpSpPr>
      <p:grpSpPr>
        <a:xfrm>
          <a:off x="0" y="0"/>
          <a:ext cx="0" cy="0"/>
          <a:chOff x="0" y="0"/>
          <a:chExt cx="0" cy="0"/>
        </a:xfrm>
      </p:grpSpPr>
      <p:sp>
        <p:nvSpPr>
          <p:cNvPr id="7" name="Google Shape;7;p2"/>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8" name="Google Shape;8;p2"/>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9" name="Google Shape;9;p2"/>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without header">
  <p:cSld name="TITLE_2">
    <p:spTree>
      <p:nvGrpSpPr>
        <p:cNvPr id="10" name="Shape 10"/>
        <p:cNvGrpSpPr/>
        <p:nvPr/>
      </p:nvGrpSpPr>
      <p:grpSpPr>
        <a:xfrm>
          <a:off x="0" y="0"/>
          <a:ext cx="0" cy="0"/>
          <a:chOff x="0" y="0"/>
          <a:chExt cx="0" cy="0"/>
        </a:xfrm>
      </p:grpSpPr>
      <p:sp>
        <p:nvSpPr>
          <p:cNvPr id="11" name="Google Shape;11;p3"/>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2" name="Google Shape;12;p3"/>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Master">
  <p:cSld name="TITLE_1">
    <p:bg>
      <p:bgPr>
        <a:solidFill>
          <a:srgbClr val="F3F3F3"/>
        </a:solidFill>
      </p:bgPr>
    </p:bg>
    <p:spTree>
      <p:nvGrpSpPr>
        <p:cNvPr id="13" name="Shape 13"/>
        <p:cNvGrpSpPr/>
        <p:nvPr/>
      </p:nvGrpSpPr>
      <p:grpSpPr>
        <a:xfrm>
          <a:off x="0" y="0"/>
          <a:ext cx="0" cy="0"/>
          <a:chOff x="0" y="0"/>
          <a:chExt cx="0" cy="0"/>
        </a:xfrm>
      </p:grpSpPr>
      <p:sp>
        <p:nvSpPr>
          <p:cNvPr id="14" name="Google Shape;14;p4"/>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5" name="Google Shape;15;p4"/>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16" name="Google Shape;16;p4"/>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type="secHead">
  <p:cSld name="SECTION_HEADER">
    <p:bg>
      <p:bgPr>
        <a:solidFill>
          <a:srgbClr val="E23208"/>
        </a:solidFill>
      </p:bgPr>
    </p:bg>
    <p:spTree>
      <p:nvGrpSpPr>
        <p:cNvPr id="17" name="Shape 17"/>
        <p:cNvGrpSpPr/>
        <p:nvPr/>
      </p:nvGrpSpPr>
      <p:grpSpPr>
        <a:xfrm>
          <a:off x="0" y="0"/>
          <a:ext cx="0" cy="0"/>
          <a:chOff x="0" y="0"/>
          <a:chExt cx="0" cy="0"/>
        </a:xfrm>
      </p:grpSpPr>
      <p:sp>
        <p:nvSpPr>
          <p:cNvPr id="18" name="Google Shape;18;p5"/>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5"/>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cean">
  <p:cSld name="SECTION_HEADER_2">
    <p:bg>
      <p:bgPr>
        <a:solidFill>
          <a:srgbClr val="518C8F"/>
        </a:solidFill>
      </p:bgPr>
    </p:bg>
    <p:spTree>
      <p:nvGrpSpPr>
        <p:cNvPr id="20" name="Shape 20"/>
        <p:cNvGrpSpPr/>
        <p:nvPr/>
      </p:nvGrpSpPr>
      <p:grpSpPr>
        <a:xfrm>
          <a:off x="0" y="0"/>
          <a:ext cx="0" cy="0"/>
          <a:chOff x="0" y="0"/>
          <a:chExt cx="0" cy="0"/>
        </a:xfrm>
      </p:grpSpPr>
      <p:sp>
        <p:nvSpPr>
          <p:cNvPr id="21" name="Google Shape;21;p6"/>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6"/>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ush">
  <p:cSld name="SECTION_HEADER_1">
    <p:bg>
      <p:bgPr>
        <a:solidFill>
          <a:srgbClr val="E5BBB7"/>
        </a:solidFill>
      </p:bgPr>
    </p:bg>
    <p:spTree>
      <p:nvGrpSpPr>
        <p:cNvPr id="23" name="Shape 23"/>
        <p:cNvGrpSpPr/>
        <p:nvPr/>
      </p:nvGrpSpPr>
      <p:grpSpPr>
        <a:xfrm>
          <a:off x="0" y="0"/>
          <a:ext cx="0" cy="0"/>
          <a:chOff x="0" y="0"/>
          <a:chExt cx="0" cy="0"/>
        </a:xfrm>
      </p:grpSpPr>
      <p:sp>
        <p:nvSpPr>
          <p:cNvPr id="24" name="Google Shape;24;p7"/>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7"/>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y">
  <p:cSld name="SECTION_HEADER_1_1">
    <p:bg>
      <p:bgPr>
        <a:solidFill>
          <a:srgbClr val="BEDFE9"/>
        </a:solidFill>
      </p:bgPr>
    </p:bg>
    <p:spTree>
      <p:nvGrpSpPr>
        <p:cNvPr id="26" name="Shape 26"/>
        <p:cNvGrpSpPr/>
        <p:nvPr/>
      </p:nvGrpSpPr>
      <p:grpSpPr>
        <a:xfrm>
          <a:off x="0" y="0"/>
          <a:ext cx="0" cy="0"/>
          <a:chOff x="0" y="0"/>
          <a:chExt cx="0" cy="0"/>
        </a:xfrm>
      </p:grpSpPr>
      <p:sp>
        <p:nvSpPr>
          <p:cNvPr id="27" name="Google Shape;27;p8"/>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8" name="Google Shape;28;p8"/>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mon">
  <p:cSld name="SECTION_HEADER_1_1_2">
    <p:bg>
      <p:bgPr>
        <a:solidFill>
          <a:srgbClr val="F8E500"/>
        </a:solidFill>
      </p:bgPr>
    </p:bg>
    <p:spTree>
      <p:nvGrpSpPr>
        <p:cNvPr id="29" name="Shape 29"/>
        <p:cNvGrpSpPr/>
        <p:nvPr/>
      </p:nvGrpSpPr>
      <p:grpSpPr>
        <a:xfrm>
          <a:off x="0" y="0"/>
          <a:ext cx="0" cy="0"/>
          <a:chOff x="0" y="0"/>
          <a:chExt cx="0" cy="0"/>
        </a:xfrm>
      </p:grpSpPr>
      <p:sp>
        <p:nvSpPr>
          <p:cNvPr id="30" name="Google Shape;30;p9"/>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FFFFF"/>
                </a:solidFill>
                <a:latin typeface="Proxima Nova"/>
                <a:ea typeface="Proxima Nova"/>
                <a:cs typeface="Proxima Nova"/>
                <a:sym typeface="Proxima Nova"/>
              </a:defRPr>
            </a:lvl1pPr>
            <a:lvl2pPr lvl="1" rtl="0" algn="r">
              <a:buNone/>
              <a:defRPr sz="1000">
                <a:solidFill>
                  <a:srgbClr val="FFFFFF"/>
                </a:solidFill>
                <a:latin typeface="Proxima Nova"/>
                <a:ea typeface="Proxima Nova"/>
                <a:cs typeface="Proxima Nova"/>
                <a:sym typeface="Proxima Nova"/>
              </a:defRPr>
            </a:lvl2pPr>
            <a:lvl3pPr lvl="2" rtl="0" algn="r">
              <a:buNone/>
              <a:defRPr sz="1000">
                <a:solidFill>
                  <a:srgbClr val="FFFFFF"/>
                </a:solidFill>
                <a:latin typeface="Proxima Nova"/>
                <a:ea typeface="Proxima Nova"/>
                <a:cs typeface="Proxima Nova"/>
                <a:sym typeface="Proxima Nova"/>
              </a:defRPr>
            </a:lvl3pPr>
            <a:lvl4pPr lvl="3" rtl="0" algn="r">
              <a:buNone/>
              <a:defRPr sz="1000">
                <a:solidFill>
                  <a:srgbClr val="FFFFFF"/>
                </a:solidFill>
                <a:latin typeface="Proxima Nova"/>
                <a:ea typeface="Proxima Nova"/>
                <a:cs typeface="Proxima Nova"/>
                <a:sym typeface="Proxima Nova"/>
              </a:defRPr>
            </a:lvl4pPr>
            <a:lvl5pPr lvl="4" rtl="0" algn="r">
              <a:buNone/>
              <a:defRPr sz="1000">
                <a:solidFill>
                  <a:srgbClr val="FFFFFF"/>
                </a:solidFill>
                <a:latin typeface="Proxima Nova"/>
                <a:ea typeface="Proxima Nova"/>
                <a:cs typeface="Proxima Nova"/>
                <a:sym typeface="Proxima Nova"/>
              </a:defRPr>
            </a:lvl5pPr>
            <a:lvl6pPr lvl="5" rtl="0" algn="r">
              <a:buNone/>
              <a:defRPr sz="1000">
                <a:solidFill>
                  <a:srgbClr val="FFFFFF"/>
                </a:solidFill>
                <a:latin typeface="Proxima Nova"/>
                <a:ea typeface="Proxima Nova"/>
                <a:cs typeface="Proxima Nova"/>
                <a:sym typeface="Proxima Nova"/>
              </a:defRPr>
            </a:lvl6pPr>
            <a:lvl7pPr lvl="6" rtl="0" algn="r">
              <a:buNone/>
              <a:defRPr sz="1000">
                <a:solidFill>
                  <a:srgbClr val="FFFFFF"/>
                </a:solidFill>
                <a:latin typeface="Proxima Nova"/>
                <a:ea typeface="Proxima Nova"/>
                <a:cs typeface="Proxima Nova"/>
                <a:sym typeface="Proxima Nova"/>
              </a:defRPr>
            </a:lvl7pPr>
            <a:lvl8pPr lvl="7" rtl="0" algn="r">
              <a:buNone/>
              <a:defRPr sz="1000">
                <a:solidFill>
                  <a:srgbClr val="FFFFFF"/>
                </a:solidFill>
                <a:latin typeface="Proxima Nova"/>
                <a:ea typeface="Proxima Nova"/>
                <a:cs typeface="Proxima Nova"/>
                <a:sym typeface="Proxima Nova"/>
              </a:defRPr>
            </a:lvl8pPr>
            <a:lvl9pPr lvl="8" rtl="0" algn="r">
              <a:buNone/>
              <a:defRPr sz="1000">
                <a:solidFill>
                  <a:srgbClr val="FFFFFF"/>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9"/>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est">
  <p:cSld name="SECTION_HEADER_1_1_1">
    <p:bg>
      <p:bgPr>
        <a:solidFill>
          <a:srgbClr val="3A5648"/>
        </a:solidFill>
      </p:bgPr>
    </p:bg>
    <p:spTree>
      <p:nvGrpSpPr>
        <p:cNvPr id="32" name="Shape 32"/>
        <p:cNvGrpSpPr/>
        <p:nvPr/>
      </p:nvGrpSpPr>
      <p:grpSpPr>
        <a:xfrm>
          <a:off x="0" y="0"/>
          <a:ext cx="0" cy="0"/>
          <a:chOff x="0" y="0"/>
          <a:chExt cx="0" cy="0"/>
        </a:xfrm>
      </p:grpSpPr>
      <p:sp>
        <p:nvSpPr>
          <p:cNvPr id="33" name="Google Shape;33;p10"/>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4" name="Google Shape;34;p10"/>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SECTION_HEADER_1_1_1_1">
    <p:bg>
      <p:bgPr>
        <a:solidFill>
          <a:srgbClr val="FFFFFF"/>
        </a:solidFill>
      </p:bgPr>
    </p:bg>
    <p:spTree>
      <p:nvGrpSpPr>
        <p:cNvPr id="35" name="Shape 35"/>
        <p:cNvGrpSpPr/>
        <p:nvPr/>
      </p:nvGrpSpPr>
      <p:grpSpPr>
        <a:xfrm>
          <a:off x="0" y="0"/>
          <a:ext cx="0" cy="0"/>
          <a:chOff x="0" y="0"/>
          <a:chExt cx="0" cy="0"/>
        </a:xfrm>
      </p:grpSpPr>
      <p:sp>
        <p:nvSpPr>
          <p:cNvPr id="36" name="Google Shape;36;p11"/>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4">
  <p:cSld name="TITLE_5">
    <p:spTree>
      <p:nvGrpSpPr>
        <p:cNvPr id="37" name="Shape 37"/>
        <p:cNvGrpSpPr/>
        <p:nvPr/>
      </p:nvGrpSpPr>
      <p:grpSpPr>
        <a:xfrm>
          <a:off x="0" y="0"/>
          <a:ext cx="0" cy="0"/>
          <a:chOff x="0" y="0"/>
          <a:chExt cx="0" cy="0"/>
        </a:xfrm>
      </p:grpSpPr>
      <p:sp>
        <p:nvSpPr>
          <p:cNvPr id="38" name="Google Shape;38;p12"/>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9" name="Google Shape;39;p12"/>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hyperlink" Target="https://docs.google.com/document/d/1Z3RU8zUHkm1A6Zp289GAo8_4aL5YmPNlZwtrb_9zxdk/edit?usp=sharing" TargetMode="External"/><Relationship Id="rId5" Type="http://schemas.openxmlformats.org/officeDocument/2006/relationships/hyperlink" Target="https://docs.google.com/spreadsheets/d/1J6LgeBEQgam8uOQRvPIPYxo0sa_IpmrXiPBoomvKIJs/edit?usp=sharing" TargetMode="External"/><Relationship Id="rId6" Type="http://schemas.openxmlformats.org/officeDocument/2006/relationships/hyperlink" Target="https://docs.google.com/presentation/d/1RPP16sik392O4vvqo3KqgEBHHO7YwDWOy5b4g9o4CRs/edit?usp=sharing" TargetMode="External"/><Relationship Id="rId7" Type="http://schemas.openxmlformats.org/officeDocument/2006/relationships/image" Target="../media/image6.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25.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image12.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 name="Shape 43"/>
        <p:cNvGrpSpPr/>
        <p:nvPr/>
      </p:nvGrpSpPr>
      <p:grpSpPr>
        <a:xfrm>
          <a:off x="0" y="0"/>
          <a:ext cx="0" cy="0"/>
          <a:chOff x="0" y="0"/>
          <a:chExt cx="0" cy="0"/>
        </a:xfrm>
      </p:grpSpPr>
      <p:sp>
        <p:nvSpPr>
          <p:cNvPr id="44" name="Google Shape;44;p1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 name="Google Shape;45;p13"/>
          <p:cNvSpPr txBox="1"/>
          <p:nvPr/>
        </p:nvSpPr>
        <p:spPr>
          <a:xfrm>
            <a:off x="686000" y="3441325"/>
            <a:ext cx="2980200" cy="39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2"/>
                </a:solidFill>
                <a:latin typeface="Proxima Nova"/>
                <a:ea typeface="Proxima Nova"/>
                <a:cs typeface="Proxima Nova"/>
                <a:sym typeface="Proxima Nova"/>
              </a:rPr>
              <a:t>Kelly Peterson </a:t>
            </a:r>
            <a:endParaRPr b="1" sz="800">
              <a:solidFill>
                <a:schemeClr val="dk2"/>
              </a:solidFill>
              <a:latin typeface="Proxima Nova"/>
              <a:ea typeface="Proxima Nova"/>
              <a:cs typeface="Proxima Nova"/>
              <a:sym typeface="Proxima Nova"/>
            </a:endParaRPr>
          </a:p>
        </p:txBody>
      </p:sp>
      <p:sp>
        <p:nvSpPr>
          <p:cNvPr id="46" name="Google Shape;46;p13"/>
          <p:cNvSpPr txBox="1"/>
          <p:nvPr/>
        </p:nvSpPr>
        <p:spPr>
          <a:xfrm>
            <a:off x="686000" y="3799625"/>
            <a:ext cx="2980200" cy="542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000">
                <a:solidFill>
                  <a:schemeClr val="dk2"/>
                </a:solidFill>
                <a:latin typeface="Proxima Nova"/>
                <a:ea typeface="Proxima Nova"/>
                <a:cs typeface="Proxima Nova"/>
                <a:sym typeface="Proxima Nova"/>
              </a:rPr>
              <a:t>Date: May 16, 2023</a:t>
            </a:r>
            <a:endParaRPr sz="1000">
              <a:solidFill>
                <a:schemeClr val="dk2"/>
              </a:solidFill>
              <a:latin typeface="Proxima Nova"/>
              <a:ea typeface="Proxima Nova"/>
              <a:cs typeface="Proxima Nova"/>
              <a:sym typeface="Proxima Nova"/>
            </a:endParaRPr>
          </a:p>
        </p:txBody>
      </p:sp>
      <p:sp>
        <p:nvSpPr>
          <p:cNvPr id="47" name="Google Shape;47;p13"/>
          <p:cNvSpPr txBox="1"/>
          <p:nvPr/>
        </p:nvSpPr>
        <p:spPr>
          <a:xfrm>
            <a:off x="609750" y="1529300"/>
            <a:ext cx="61353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100">
                <a:solidFill>
                  <a:schemeClr val="dk2"/>
                </a:solidFill>
                <a:latin typeface="Proxima Nova"/>
                <a:ea typeface="Proxima Nova"/>
                <a:cs typeface="Proxima Nova"/>
                <a:sym typeface="Proxima Nova"/>
              </a:rPr>
              <a:t>Star and Save </a:t>
            </a:r>
            <a:endParaRPr b="1" sz="4100">
              <a:solidFill>
                <a:schemeClr val="dk2"/>
              </a:solidFill>
              <a:latin typeface="Proxima Nova"/>
              <a:ea typeface="Proxima Nova"/>
              <a:cs typeface="Proxima Nova"/>
              <a:sym typeface="Proxima Nova"/>
            </a:endParaRPr>
          </a:p>
          <a:p>
            <a:pPr indent="0" lvl="0" marL="0" rtl="0" algn="l">
              <a:spcBef>
                <a:spcPts val="0"/>
              </a:spcBef>
              <a:spcAft>
                <a:spcPts val="0"/>
              </a:spcAft>
              <a:buNone/>
            </a:pPr>
            <a:r>
              <a:rPr b="1" lang="en" sz="1800">
                <a:solidFill>
                  <a:schemeClr val="dk2"/>
                </a:solidFill>
                <a:latin typeface="Proxima Nova"/>
                <a:ea typeface="Proxima Nova"/>
                <a:cs typeface="Proxima Nova"/>
                <a:sym typeface="Proxima Nova"/>
              </a:rPr>
              <a:t>Convert vs. Non-Convert Survey Results</a:t>
            </a:r>
            <a:endParaRPr b="1" sz="1800">
              <a:solidFill>
                <a:schemeClr val="dk2"/>
              </a:solidFill>
              <a:latin typeface="Proxima Nova"/>
              <a:ea typeface="Proxima Nova"/>
              <a:cs typeface="Proxima Nova"/>
              <a:sym typeface="Proxima Nova"/>
            </a:endParaRPr>
          </a:p>
        </p:txBody>
      </p:sp>
      <p:pic>
        <p:nvPicPr>
          <p:cNvPr id="48" name="Google Shape;48;p13"/>
          <p:cNvPicPr preferRelativeResize="0"/>
          <p:nvPr/>
        </p:nvPicPr>
        <p:blipFill>
          <a:blip r:embed="rId3">
            <a:alphaModFix/>
          </a:blip>
          <a:stretch>
            <a:fillRect/>
          </a:stretch>
        </p:blipFill>
        <p:spPr>
          <a:xfrm>
            <a:off x="723399" y="1284763"/>
            <a:ext cx="1408775" cy="162575"/>
          </a:xfrm>
          <a:prstGeom prst="rect">
            <a:avLst/>
          </a:prstGeom>
          <a:noFill/>
          <a:ln>
            <a:noFill/>
          </a:ln>
        </p:spPr>
      </p:pic>
      <p:pic>
        <p:nvPicPr>
          <p:cNvPr id="49" name="Google Shape;49;p13"/>
          <p:cNvPicPr preferRelativeResize="0"/>
          <p:nvPr/>
        </p:nvPicPr>
        <p:blipFill rotWithShape="1">
          <a:blip r:embed="rId4">
            <a:alphaModFix/>
          </a:blip>
          <a:srcRect b="0" l="19067" r="29536" t="0"/>
          <a:stretch/>
        </p:blipFill>
        <p:spPr>
          <a:xfrm>
            <a:off x="5177952" y="0"/>
            <a:ext cx="3966049"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4"/>
          <p:cNvSpPr/>
          <p:nvPr/>
        </p:nvSpPr>
        <p:spPr>
          <a:xfrm>
            <a:off x="5851200" y="0"/>
            <a:ext cx="32928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6" name="Google Shape;56;p14"/>
          <p:cNvPicPr preferRelativeResize="0"/>
          <p:nvPr/>
        </p:nvPicPr>
        <p:blipFill>
          <a:blip r:embed="rId3">
            <a:alphaModFix/>
          </a:blip>
          <a:stretch>
            <a:fillRect/>
          </a:stretch>
        </p:blipFill>
        <p:spPr>
          <a:xfrm>
            <a:off x="8197738" y="269687"/>
            <a:ext cx="297201" cy="168825"/>
          </a:xfrm>
          <a:prstGeom prst="rect">
            <a:avLst/>
          </a:prstGeom>
          <a:noFill/>
          <a:ln>
            <a:noFill/>
          </a:ln>
        </p:spPr>
      </p:pic>
      <p:sp>
        <p:nvSpPr>
          <p:cNvPr id="57" name="Google Shape;57;p14"/>
          <p:cNvSpPr txBox="1"/>
          <p:nvPr/>
        </p:nvSpPr>
        <p:spPr>
          <a:xfrm>
            <a:off x="6617725" y="557725"/>
            <a:ext cx="2528700" cy="39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000">
                <a:solidFill>
                  <a:srgbClr val="E23208"/>
                </a:solidFill>
                <a:latin typeface="Proxima Nova"/>
                <a:ea typeface="Proxima Nova"/>
                <a:cs typeface="Proxima Nova"/>
                <a:sym typeface="Proxima Nova"/>
              </a:rPr>
              <a:t>RESEARCH PARTICIPANTS</a:t>
            </a:r>
            <a:endParaRPr b="1" sz="1000">
              <a:solidFill>
                <a:srgbClr val="E23208"/>
              </a:solidFill>
              <a:latin typeface="Proxima Nova"/>
              <a:ea typeface="Proxima Nova"/>
              <a:cs typeface="Proxima Nova"/>
              <a:sym typeface="Proxima Nova"/>
            </a:endParaRPr>
          </a:p>
          <a:p>
            <a:pPr indent="0" lvl="0" marL="0" rtl="0" algn="l">
              <a:spcBef>
                <a:spcPts val="800"/>
              </a:spcBef>
              <a:spcAft>
                <a:spcPts val="0"/>
              </a:spcAft>
              <a:buClr>
                <a:schemeClr val="dk1"/>
              </a:buClr>
              <a:buSzPts val="1100"/>
              <a:buFont typeface="Arial"/>
              <a:buNone/>
            </a:pPr>
            <a:r>
              <a:t/>
            </a:r>
            <a:endParaRPr b="1" i="1" sz="1000" u="sng">
              <a:solidFill>
                <a:schemeClr val="dk1"/>
              </a:solidFill>
              <a:latin typeface="Proxima Nova"/>
              <a:ea typeface="Proxima Nova"/>
              <a:cs typeface="Proxima Nova"/>
              <a:sym typeface="Proxima Nova"/>
            </a:endParaRPr>
          </a:p>
        </p:txBody>
      </p:sp>
      <p:sp>
        <p:nvSpPr>
          <p:cNvPr id="58" name="Google Shape;58;p14"/>
          <p:cNvSpPr txBox="1"/>
          <p:nvPr/>
        </p:nvSpPr>
        <p:spPr>
          <a:xfrm>
            <a:off x="362900" y="265450"/>
            <a:ext cx="49023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rgbClr val="666666"/>
                </a:solidFill>
                <a:latin typeface="Proxima Nova"/>
                <a:ea typeface="Proxima Nova"/>
                <a:cs typeface="Proxima Nova"/>
                <a:sym typeface="Proxima Nova"/>
              </a:rPr>
              <a:t>Research Approach</a:t>
            </a:r>
            <a:endParaRPr b="1" sz="2300">
              <a:solidFill>
                <a:srgbClr val="666666"/>
              </a:solidFill>
              <a:latin typeface="Proxima Nova"/>
              <a:ea typeface="Proxima Nova"/>
              <a:cs typeface="Proxima Nova"/>
              <a:sym typeface="Proxima Nova"/>
            </a:endParaRPr>
          </a:p>
        </p:txBody>
      </p:sp>
      <p:grpSp>
        <p:nvGrpSpPr>
          <p:cNvPr id="59" name="Google Shape;59;p14"/>
          <p:cNvGrpSpPr/>
          <p:nvPr/>
        </p:nvGrpSpPr>
        <p:grpSpPr>
          <a:xfrm>
            <a:off x="6191923" y="557736"/>
            <a:ext cx="349608" cy="315560"/>
            <a:chOff x="3592942" y="1644650"/>
            <a:chExt cx="611524" cy="551967"/>
          </a:xfrm>
        </p:grpSpPr>
        <p:sp>
          <p:nvSpPr>
            <p:cNvPr id="60" name="Google Shape;60;p14"/>
            <p:cNvSpPr/>
            <p:nvPr/>
          </p:nvSpPr>
          <p:spPr>
            <a:xfrm>
              <a:off x="3689101" y="2082220"/>
              <a:ext cx="156922" cy="114389"/>
            </a:xfrm>
            <a:custGeom>
              <a:rect b="b" l="l" r="r" t="t"/>
              <a:pathLst>
                <a:path extrusionOk="0" h="114389" w="156922">
                  <a:moveTo>
                    <a:pt x="9595" y="114338"/>
                  </a:moveTo>
                  <a:cubicBezTo>
                    <a:pt x="4882" y="114395"/>
                    <a:pt x="835" y="110998"/>
                    <a:pt x="82" y="106344"/>
                  </a:cubicBezTo>
                  <a:cubicBezTo>
                    <a:pt x="-772" y="101157"/>
                    <a:pt x="2740" y="96266"/>
                    <a:pt x="7924" y="95409"/>
                  </a:cubicBezTo>
                  <a:cubicBezTo>
                    <a:pt x="7941" y="95409"/>
                    <a:pt x="7959" y="95400"/>
                    <a:pt x="7978" y="95400"/>
                  </a:cubicBezTo>
                  <a:cubicBezTo>
                    <a:pt x="54115" y="87692"/>
                    <a:pt x="124321" y="71704"/>
                    <a:pt x="135926" y="59998"/>
                  </a:cubicBezTo>
                  <a:cubicBezTo>
                    <a:pt x="138685" y="55811"/>
                    <a:pt x="137544" y="32591"/>
                    <a:pt x="133358" y="11559"/>
                  </a:cubicBezTo>
                  <a:cubicBezTo>
                    <a:pt x="132307" y="6303"/>
                    <a:pt x="135714" y="1191"/>
                    <a:pt x="140968" y="139"/>
                  </a:cubicBezTo>
                  <a:cubicBezTo>
                    <a:pt x="146222" y="-912"/>
                    <a:pt x="151333" y="2497"/>
                    <a:pt x="152384" y="7753"/>
                  </a:cubicBezTo>
                  <a:cubicBezTo>
                    <a:pt x="156284" y="27452"/>
                    <a:pt x="161231" y="62092"/>
                    <a:pt x="149815" y="73512"/>
                  </a:cubicBezTo>
                  <a:cubicBezTo>
                    <a:pt x="129648" y="93687"/>
                    <a:pt x="30999" y="110912"/>
                    <a:pt x="11402" y="114243"/>
                  </a:cubicBezTo>
                  <a:close/>
                </a:path>
              </a:pathLst>
            </a:custGeom>
            <a:solidFill>
              <a:srgbClr val="FF300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61" name="Google Shape;61;p14"/>
            <p:cNvSpPr/>
            <p:nvPr/>
          </p:nvSpPr>
          <p:spPr>
            <a:xfrm>
              <a:off x="3951288" y="2082315"/>
              <a:ext cx="156922" cy="114302"/>
            </a:xfrm>
            <a:custGeom>
              <a:rect b="b" l="l" r="r" t="t"/>
              <a:pathLst>
                <a:path extrusionOk="0" h="114302" w="156922">
                  <a:moveTo>
                    <a:pt x="146951" y="114243"/>
                  </a:moveTo>
                  <a:lnTo>
                    <a:pt x="145428" y="114243"/>
                  </a:lnTo>
                  <a:cubicBezTo>
                    <a:pt x="125832" y="110912"/>
                    <a:pt x="27183" y="93687"/>
                    <a:pt x="7015" y="73512"/>
                  </a:cubicBezTo>
                  <a:cubicBezTo>
                    <a:pt x="-4400" y="62092"/>
                    <a:pt x="547" y="27452"/>
                    <a:pt x="4447" y="7753"/>
                  </a:cubicBezTo>
                  <a:cubicBezTo>
                    <a:pt x="5498" y="2497"/>
                    <a:pt x="10608" y="-912"/>
                    <a:pt x="15862" y="139"/>
                  </a:cubicBezTo>
                  <a:cubicBezTo>
                    <a:pt x="21116" y="1191"/>
                    <a:pt x="24523" y="6303"/>
                    <a:pt x="23473" y="11559"/>
                  </a:cubicBezTo>
                  <a:cubicBezTo>
                    <a:pt x="19287" y="32591"/>
                    <a:pt x="18145" y="55811"/>
                    <a:pt x="21094" y="60284"/>
                  </a:cubicBezTo>
                  <a:cubicBezTo>
                    <a:pt x="32510" y="71704"/>
                    <a:pt x="102715" y="87692"/>
                    <a:pt x="148853" y="95400"/>
                  </a:cubicBezTo>
                  <a:cubicBezTo>
                    <a:pt x="154042" y="96228"/>
                    <a:pt x="157576" y="101100"/>
                    <a:pt x="156758" y="106287"/>
                  </a:cubicBezTo>
                  <a:cubicBezTo>
                    <a:pt x="156758" y="106306"/>
                    <a:pt x="156749" y="106325"/>
                    <a:pt x="156749" y="106344"/>
                  </a:cubicBezTo>
                  <a:cubicBezTo>
                    <a:pt x="155938" y="111074"/>
                    <a:pt x="151739" y="114452"/>
                    <a:pt x="146951" y="114243"/>
                  </a:cubicBezTo>
                  <a:close/>
                </a:path>
              </a:pathLst>
            </a:custGeom>
            <a:solidFill>
              <a:srgbClr val="FF300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62" name="Google Shape;62;p14"/>
            <p:cNvSpPr/>
            <p:nvPr/>
          </p:nvSpPr>
          <p:spPr>
            <a:xfrm>
              <a:off x="3758789" y="1758848"/>
              <a:ext cx="279351" cy="352112"/>
            </a:xfrm>
            <a:custGeom>
              <a:rect b="b" l="l" r="r" t="t"/>
              <a:pathLst>
                <a:path extrusionOk="0" h="352112" w="279351">
                  <a:moveTo>
                    <a:pt x="177729" y="352061"/>
                  </a:moveTo>
                  <a:cubicBezTo>
                    <a:pt x="173017" y="352118"/>
                    <a:pt x="168970" y="348721"/>
                    <a:pt x="168217" y="344067"/>
                  </a:cubicBezTo>
                  <a:cubicBezTo>
                    <a:pt x="167320" y="338888"/>
                    <a:pt x="170790" y="333963"/>
                    <a:pt x="175967" y="333067"/>
                  </a:cubicBezTo>
                  <a:cubicBezTo>
                    <a:pt x="176047" y="333052"/>
                    <a:pt x="176127" y="333039"/>
                    <a:pt x="176207" y="333028"/>
                  </a:cubicBezTo>
                  <a:cubicBezTo>
                    <a:pt x="226150" y="324748"/>
                    <a:pt x="244415" y="246047"/>
                    <a:pt x="244510" y="245190"/>
                  </a:cubicBezTo>
                  <a:cubicBezTo>
                    <a:pt x="250439" y="218315"/>
                    <a:pt x="255011" y="191159"/>
                    <a:pt x="258209" y="163824"/>
                  </a:cubicBezTo>
                  <a:cubicBezTo>
                    <a:pt x="260863" y="144883"/>
                    <a:pt x="260863" y="125665"/>
                    <a:pt x="258209" y="106725"/>
                  </a:cubicBezTo>
                  <a:cubicBezTo>
                    <a:pt x="251455" y="55811"/>
                    <a:pt x="201607" y="18982"/>
                    <a:pt x="139678" y="18982"/>
                  </a:cubicBezTo>
                  <a:cubicBezTo>
                    <a:pt x="77749" y="18982"/>
                    <a:pt x="27901" y="55811"/>
                    <a:pt x="21052" y="106439"/>
                  </a:cubicBezTo>
                  <a:cubicBezTo>
                    <a:pt x="18397" y="125380"/>
                    <a:pt x="18397" y="144597"/>
                    <a:pt x="21052" y="163538"/>
                  </a:cubicBezTo>
                  <a:cubicBezTo>
                    <a:pt x="23620" y="186092"/>
                    <a:pt x="29423" y="222636"/>
                    <a:pt x="34655" y="244809"/>
                  </a:cubicBezTo>
                  <a:cubicBezTo>
                    <a:pt x="34655" y="245761"/>
                    <a:pt x="53110" y="324463"/>
                    <a:pt x="103053" y="332742"/>
                  </a:cubicBezTo>
                  <a:cubicBezTo>
                    <a:pt x="108307" y="333583"/>
                    <a:pt x="111885" y="338525"/>
                    <a:pt x="111044" y="343781"/>
                  </a:cubicBezTo>
                  <a:cubicBezTo>
                    <a:pt x="110203" y="349037"/>
                    <a:pt x="105263" y="352613"/>
                    <a:pt x="100009" y="351775"/>
                  </a:cubicBezTo>
                  <a:cubicBezTo>
                    <a:pt x="37319" y="341307"/>
                    <a:pt x="16961" y="252994"/>
                    <a:pt x="16105" y="249282"/>
                  </a:cubicBezTo>
                  <a:cubicBezTo>
                    <a:pt x="10778" y="226538"/>
                    <a:pt x="4784" y="189043"/>
                    <a:pt x="2121" y="165917"/>
                  </a:cubicBezTo>
                  <a:cubicBezTo>
                    <a:pt x="-768" y="145272"/>
                    <a:pt x="-768" y="124324"/>
                    <a:pt x="2121" y="103679"/>
                  </a:cubicBezTo>
                  <a:cubicBezTo>
                    <a:pt x="10302" y="43630"/>
                    <a:pt x="68141" y="-51"/>
                    <a:pt x="139678" y="-51"/>
                  </a:cubicBezTo>
                  <a:cubicBezTo>
                    <a:pt x="211215" y="-51"/>
                    <a:pt x="269054" y="43630"/>
                    <a:pt x="277140" y="103870"/>
                  </a:cubicBezTo>
                  <a:cubicBezTo>
                    <a:pt x="280028" y="124515"/>
                    <a:pt x="280028" y="145463"/>
                    <a:pt x="277140" y="166108"/>
                  </a:cubicBezTo>
                  <a:cubicBezTo>
                    <a:pt x="274476" y="189233"/>
                    <a:pt x="268483" y="226728"/>
                    <a:pt x="263060" y="249568"/>
                  </a:cubicBezTo>
                  <a:cubicBezTo>
                    <a:pt x="262299" y="253184"/>
                    <a:pt x="241942" y="341497"/>
                    <a:pt x="179252" y="351966"/>
                  </a:cubicBezTo>
                  <a:close/>
                </a:path>
              </a:pathLst>
            </a:custGeom>
            <a:solidFill>
              <a:srgbClr val="FF300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63" name="Google Shape;63;p14"/>
            <p:cNvSpPr/>
            <p:nvPr/>
          </p:nvSpPr>
          <p:spPr>
            <a:xfrm>
              <a:off x="3592942" y="1644650"/>
              <a:ext cx="257847" cy="352175"/>
            </a:xfrm>
            <a:custGeom>
              <a:rect b="b" l="l" r="r" t="t"/>
              <a:pathLst>
                <a:path extrusionOk="0" h="352175" w="257847">
                  <a:moveTo>
                    <a:pt x="10624" y="352061"/>
                  </a:moveTo>
                  <a:cubicBezTo>
                    <a:pt x="5371" y="352665"/>
                    <a:pt x="622" y="348895"/>
                    <a:pt x="18" y="343639"/>
                  </a:cubicBezTo>
                  <a:cubicBezTo>
                    <a:pt x="-586" y="338383"/>
                    <a:pt x="3183" y="333632"/>
                    <a:pt x="8437" y="333028"/>
                  </a:cubicBezTo>
                  <a:cubicBezTo>
                    <a:pt x="30982" y="327794"/>
                    <a:pt x="70366" y="315232"/>
                    <a:pt x="80259" y="303717"/>
                  </a:cubicBezTo>
                  <a:cubicBezTo>
                    <a:pt x="82733" y="300386"/>
                    <a:pt x="82162" y="284684"/>
                    <a:pt x="79022" y="268981"/>
                  </a:cubicBezTo>
                  <a:cubicBezTo>
                    <a:pt x="58189" y="255373"/>
                    <a:pt x="45061" y="218829"/>
                    <a:pt x="40590" y="199796"/>
                  </a:cubicBezTo>
                  <a:cubicBezTo>
                    <a:pt x="36620" y="179880"/>
                    <a:pt x="33667" y="159774"/>
                    <a:pt x="31743" y="139557"/>
                  </a:cubicBezTo>
                  <a:lnTo>
                    <a:pt x="30982" y="132895"/>
                  </a:lnTo>
                  <a:cubicBezTo>
                    <a:pt x="28718" y="116541"/>
                    <a:pt x="28718" y="99953"/>
                    <a:pt x="30982" y="83599"/>
                  </a:cubicBezTo>
                  <a:cubicBezTo>
                    <a:pt x="37451" y="35826"/>
                    <a:pt x="85872" y="-51"/>
                    <a:pt x="143805" y="-51"/>
                  </a:cubicBezTo>
                  <a:cubicBezTo>
                    <a:pt x="201739" y="-51"/>
                    <a:pt x="250160" y="35826"/>
                    <a:pt x="256629" y="83409"/>
                  </a:cubicBezTo>
                  <a:cubicBezTo>
                    <a:pt x="256629" y="87216"/>
                    <a:pt x="257485" y="90737"/>
                    <a:pt x="257770" y="94353"/>
                  </a:cubicBezTo>
                  <a:cubicBezTo>
                    <a:pt x="258191" y="99609"/>
                    <a:pt x="254272" y="104210"/>
                    <a:pt x="249018" y="104631"/>
                  </a:cubicBezTo>
                  <a:cubicBezTo>
                    <a:pt x="243764" y="105052"/>
                    <a:pt x="239165" y="101132"/>
                    <a:pt x="238745" y="95876"/>
                  </a:cubicBezTo>
                  <a:cubicBezTo>
                    <a:pt x="238745" y="92640"/>
                    <a:pt x="238079" y="89404"/>
                    <a:pt x="237603" y="86359"/>
                  </a:cubicBezTo>
                  <a:cubicBezTo>
                    <a:pt x="232466" y="48293"/>
                    <a:pt x="192131" y="19743"/>
                    <a:pt x="143710" y="19743"/>
                  </a:cubicBezTo>
                  <a:cubicBezTo>
                    <a:pt x="95290" y="19743"/>
                    <a:pt x="54955" y="48293"/>
                    <a:pt x="49818" y="86359"/>
                  </a:cubicBezTo>
                  <a:cubicBezTo>
                    <a:pt x="47651" y="101157"/>
                    <a:pt x="47651" y="116193"/>
                    <a:pt x="49818" y="130992"/>
                  </a:cubicBezTo>
                  <a:lnTo>
                    <a:pt x="50579" y="137748"/>
                  </a:lnTo>
                  <a:cubicBezTo>
                    <a:pt x="52672" y="155830"/>
                    <a:pt x="55430" y="180668"/>
                    <a:pt x="59045" y="195704"/>
                  </a:cubicBezTo>
                  <a:cubicBezTo>
                    <a:pt x="63802" y="216069"/>
                    <a:pt x="77120" y="247950"/>
                    <a:pt x="91579" y="255182"/>
                  </a:cubicBezTo>
                  <a:cubicBezTo>
                    <a:pt x="94129" y="256446"/>
                    <a:pt x="95978" y="258785"/>
                    <a:pt x="96621" y="261558"/>
                  </a:cubicBezTo>
                  <a:cubicBezTo>
                    <a:pt x="99570" y="274025"/>
                    <a:pt x="105278" y="304478"/>
                    <a:pt x="94529" y="316945"/>
                  </a:cubicBezTo>
                  <a:cubicBezTo>
                    <a:pt x="77215" y="336358"/>
                    <a:pt x="19376" y="350253"/>
                    <a:pt x="12812" y="352061"/>
                  </a:cubicBezTo>
                  <a:close/>
                </a:path>
              </a:pathLst>
            </a:custGeom>
            <a:solidFill>
              <a:srgbClr val="FF300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sp>
          <p:nvSpPr>
            <p:cNvPr id="64" name="Google Shape;64;p14"/>
            <p:cNvSpPr/>
            <p:nvPr/>
          </p:nvSpPr>
          <p:spPr>
            <a:xfrm>
              <a:off x="3946618" y="1644650"/>
              <a:ext cx="257848" cy="352460"/>
            </a:xfrm>
            <a:custGeom>
              <a:rect b="b" l="l" r="r" t="t"/>
              <a:pathLst>
                <a:path extrusionOk="0" h="352460" w="257848">
                  <a:moveTo>
                    <a:pt x="246750" y="352061"/>
                  </a:moveTo>
                  <a:lnTo>
                    <a:pt x="244562" y="352061"/>
                  </a:lnTo>
                  <a:cubicBezTo>
                    <a:pt x="237998" y="350538"/>
                    <a:pt x="179779" y="336644"/>
                    <a:pt x="162751" y="316754"/>
                  </a:cubicBezTo>
                  <a:cubicBezTo>
                    <a:pt x="151621" y="304478"/>
                    <a:pt x="157709" y="273549"/>
                    <a:pt x="161134" y="261083"/>
                  </a:cubicBezTo>
                  <a:cubicBezTo>
                    <a:pt x="161781" y="258310"/>
                    <a:pt x="163626" y="255970"/>
                    <a:pt x="166176" y="254707"/>
                  </a:cubicBezTo>
                  <a:cubicBezTo>
                    <a:pt x="180635" y="247474"/>
                    <a:pt x="193954" y="215594"/>
                    <a:pt x="198710" y="195228"/>
                  </a:cubicBezTo>
                  <a:cubicBezTo>
                    <a:pt x="202325" y="180192"/>
                    <a:pt x="205084" y="155354"/>
                    <a:pt x="207176" y="137273"/>
                  </a:cubicBezTo>
                  <a:lnTo>
                    <a:pt x="207938" y="130611"/>
                  </a:lnTo>
                  <a:cubicBezTo>
                    <a:pt x="210107" y="115780"/>
                    <a:pt x="210107" y="100714"/>
                    <a:pt x="207938" y="85883"/>
                  </a:cubicBezTo>
                  <a:cubicBezTo>
                    <a:pt x="202801" y="47817"/>
                    <a:pt x="162466" y="19268"/>
                    <a:pt x="114045" y="19268"/>
                  </a:cubicBezTo>
                  <a:cubicBezTo>
                    <a:pt x="65624" y="19268"/>
                    <a:pt x="25289" y="47817"/>
                    <a:pt x="20152" y="85883"/>
                  </a:cubicBezTo>
                  <a:cubicBezTo>
                    <a:pt x="20152" y="89404"/>
                    <a:pt x="19296" y="92640"/>
                    <a:pt x="19011" y="95400"/>
                  </a:cubicBezTo>
                  <a:cubicBezTo>
                    <a:pt x="18590" y="100656"/>
                    <a:pt x="13991" y="104576"/>
                    <a:pt x="8737" y="104155"/>
                  </a:cubicBezTo>
                  <a:cubicBezTo>
                    <a:pt x="3483" y="103734"/>
                    <a:pt x="-436" y="99133"/>
                    <a:pt x="-15" y="93877"/>
                  </a:cubicBezTo>
                  <a:cubicBezTo>
                    <a:pt x="-15" y="90261"/>
                    <a:pt x="651" y="86740"/>
                    <a:pt x="1126" y="82933"/>
                  </a:cubicBezTo>
                  <a:cubicBezTo>
                    <a:pt x="7215" y="35826"/>
                    <a:pt x="55636" y="-51"/>
                    <a:pt x="113569" y="-51"/>
                  </a:cubicBezTo>
                  <a:cubicBezTo>
                    <a:pt x="171503" y="-51"/>
                    <a:pt x="219924" y="35826"/>
                    <a:pt x="226393" y="83409"/>
                  </a:cubicBezTo>
                  <a:cubicBezTo>
                    <a:pt x="228647" y="99796"/>
                    <a:pt x="228647" y="116413"/>
                    <a:pt x="226393" y="132800"/>
                  </a:cubicBezTo>
                  <a:lnTo>
                    <a:pt x="225632" y="139366"/>
                  </a:lnTo>
                  <a:cubicBezTo>
                    <a:pt x="223710" y="159583"/>
                    <a:pt x="220751" y="179690"/>
                    <a:pt x="216785" y="199606"/>
                  </a:cubicBezTo>
                  <a:cubicBezTo>
                    <a:pt x="212313" y="218639"/>
                    <a:pt x="198805" y="255373"/>
                    <a:pt x="178733" y="269267"/>
                  </a:cubicBezTo>
                  <a:cubicBezTo>
                    <a:pt x="175594" y="284493"/>
                    <a:pt x="175023" y="300671"/>
                    <a:pt x="177591" y="304097"/>
                  </a:cubicBezTo>
                  <a:cubicBezTo>
                    <a:pt x="187104" y="315517"/>
                    <a:pt x="226773" y="328079"/>
                    <a:pt x="249319" y="333313"/>
                  </a:cubicBezTo>
                  <a:cubicBezTo>
                    <a:pt x="254570" y="333917"/>
                    <a:pt x="258347" y="338668"/>
                    <a:pt x="257738" y="343924"/>
                  </a:cubicBezTo>
                  <a:cubicBezTo>
                    <a:pt x="257129" y="349180"/>
                    <a:pt x="252382" y="352951"/>
                    <a:pt x="247131" y="352346"/>
                  </a:cubicBezTo>
                  <a:close/>
                </a:path>
              </a:pathLst>
            </a:custGeom>
            <a:solidFill>
              <a:srgbClr val="FF3008"/>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000000"/>
                </a:solidFill>
                <a:latin typeface="Calibri"/>
                <a:ea typeface="Calibri"/>
                <a:cs typeface="Calibri"/>
                <a:sym typeface="Calibri"/>
              </a:endParaRPr>
            </a:p>
          </p:txBody>
        </p:sp>
      </p:grpSp>
      <p:sp>
        <p:nvSpPr>
          <p:cNvPr id="65" name="Google Shape;65;p14"/>
          <p:cNvSpPr txBox="1"/>
          <p:nvPr/>
        </p:nvSpPr>
        <p:spPr>
          <a:xfrm>
            <a:off x="153350" y="4485275"/>
            <a:ext cx="532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Proxima Nova"/>
                <a:ea typeface="Proxima Nova"/>
                <a:cs typeface="Proxima Nova"/>
                <a:sym typeface="Proxima Nova"/>
              </a:rPr>
              <a:t>The research brief can be found </a:t>
            </a:r>
            <a:r>
              <a:rPr lang="en" sz="800" u="sng">
                <a:solidFill>
                  <a:schemeClr val="hlink"/>
                </a:solidFill>
                <a:latin typeface="Proxima Nova"/>
                <a:ea typeface="Proxima Nova"/>
                <a:cs typeface="Proxima Nova"/>
                <a:sym typeface="Proxima Nova"/>
                <a:hlinkClick r:id="rId4"/>
              </a:rPr>
              <a:t>here</a:t>
            </a:r>
            <a:r>
              <a:rPr lang="en" sz="800">
                <a:solidFill>
                  <a:schemeClr val="dk2"/>
                </a:solidFill>
                <a:latin typeface="Proxima Nova"/>
                <a:ea typeface="Proxima Nova"/>
                <a:cs typeface="Proxima Nova"/>
                <a:sym typeface="Proxima Nova"/>
              </a:rPr>
              <a:t>.  The data tables can be found </a:t>
            </a:r>
            <a:r>
              <a:rPr lang="en" sz="800" u="sng">
                <a:solidFill>
                  <a:schemeClr val="hlink"/>
                </a:solidFill>
                <a:latin typeface="Proxima Nova"/>
                <a:ea typeface="Proxima Nova"/>
                <a:cs typeface="Proxima Nova"/>
                <a:sym typeface="Proxima Nova"/>
                <a:hlinkClick r:id="rId5"/>
              </a:rPr>
              <a:t>here</a:t>
            </a:r>
            <a:r>
              <a:rPr lang="en" sz="800">
                <a:solidFill>
                  <a:schemeClr val="dk2"/>
                </a:solidFill>
                <a:latin typeface="Proxima Nova"/>
                <a:ea typeface="Proxima Nova"/>
                <a:cs typeface="Proxima Nova"/>
                <a:sym typeface="Proxima Nova"/>
              </a:rPr>
              <a:t>. You can also see results from </a:t>
            </a:r>
            <a:r>
              <a:rPr lang="en" sz="800">
                <a:solidFill>
                  <a:schemeClr val="dk2"/>
                </a:solidFill>
                <a:latin typeface="Proxima Nova"/>
                <a:ea typeface="Proxima Nova"/>
                <a:cs typeface="Proxima Nova"/>
                <a:sym typeface="Proxima Nova"/>
              </a:rPr>
              <a:t>initial</a:t>
            </a:r>
            <a:r>
              <a:rPr lang="en" sz="800">
                <a:solidFill>
                  <a:schemeClr val="dk2"/>
                </a:solidFill>
                <a:latin typeface="Proxima Nova"/>
                <a:ea typeface="Proxima Nova"/>
                <a:cs typeface="Proxima Nova"/>
                <a:sym typeface="Proxima Nova"/>
              </a:rPr>
              <a:t> pulse check interviews </a:t>
            </a:r>
            <a:r>
              <a:rPr lang="en" sz="800" u="sng">
                <a:solidFill>
                  <a:schemeClr val="hlink"/>
                </a:solidFill>
                <a:latin typeface="Proxima Nova"/>
                <a:ea typeface="Proxima Nova"/>
                <a:cs typeface="Proxima Nova"/>
                <a:sym typeface="Proxima Nova"/>
                <a:hlinkClick r:id="rId6"/>
              </a:rPr>
              <a:t>here.</a:t>
            </a:r>
            <a:endParaRPr sz="800">
              <a:solidFill>
                <a:schemeClr val="dk2"/>
              </a:solidFill>
              <a:latin typeface="Proxima Nova"/>
              <a:ea typeface="Proxima Nova"/>
              <a:cs typeface="Proxima Nova"/>
              <a:sym typeface="Proxima Nova"/>
            </a:endParaRPr>
          </a:p>
        </p:txBody>
      </p:sp>
      <p:sp>
        <p:nvSpPr>
          <p:cNvPr id="66" name="Google Shape;66;p14"/>
          <p:cNvSpPr txBox="1"/>
          <p:nvPr/>
        </p:nvSpPr>
        <p:spPr>
          <a:xfrm>
            <a:off x="5997600" y="980600"/>
            <a:ext cx="3000000" cy="404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Proxima Nova"/>
                <a:ea typeface="Proxima Nova"/>
                <a:cs typeface="Proxima Nova"/>
                <a:sym typeface="Proxima Nova"/>
              </a:rPr>
              <a:t>For this study we </a:t>
            </a:r>
            <a:r>
              <a:rPr lang="en" sz="1200">
                <a:solidFill>
                  <a:schemeClr val="dk2"/>
                </a:solidFill>
                <a:latin typeface="Proxima Nova"/>
                <a:ea typeface="Proxima Nova"/>
                <a:cs typeface="Proxima Nova"/>
                <a:sym typeface="Proxima Nova"/>
              </a:rPr>
              <a:t>received</a:t>
            </a:r>
            <a:r>
              <a:rPr lang="en" sz="1200">
                <a:solidFill>
                  <a:schemeClr val="dk2"/>
                </a:solidFill>
                <a:latin typeface="Proxima Nova"/>
                <a:ea typeface="Proxima Nova"/>
                <a:cs typeface="Proxima Nova"/>
                <a:sym typeface="Proxima Nova"/>
              </a:rPr>
              <a:t> a limited amount of completes due to the following reasons:</a:t>
            </a:r>
            <a:endParaRPr sz="12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100">
              <a:solidFill>
                <a:schemeClr val="dk2"/>
              </a:solidFill>
              <a:latin typeface="Proxima Nova"/>
              <a:ea typeface="Proxima Nova"/>
              <a:cs typeface="Proxima Nova"/>
              <a:sym typeface="Proxima Nova"/>
            </a:endParaRPr>
          </a:p>
          <a:p>
            <a:pPr indent="-298450" lvl="0" marL="457200" rtl="0" algn="l">
              <a:spcBef>
                <a:spcPts val="0"/>
              </a:spcBef>
              <a:spcAft>
                <a:spcPts val="0"/>
              </a:spcAft>
              <a:buClr>
                <a:schemeClr val="dk2"/>
              </a:buClr>
              <a:buSzPts val="1100"/>
              <a:buFont typeface="Proxima Nova"/>
              <a:buChar char="●"/>
            </a:pPr>
            <a:r>
              <a:rPr lang="en" sz="1100">
                <a:solidFill>
                  <a:schemeClr val="dk2"/>
                </a:solidFill>
                <a:latin typeface="Proxima Nova"/>
                <a:ea typeface="Proxima Nova"/>
                <a:cs typeface="Proxima Nova"/>
                <a:sym typeface="Proxima Nova"/>
              </a:rPr>
              <a:t>High list suppression/many </a:t>
            </a:r>
            <a:r>
              <a:rPr lang="en" sz="1100">
                <a:solidFill>
                  <a:schemeClr val="dk2"/>
                </a:solidFill>
                <a:latin typeface="Proxima Nova"/>
                <a:ea typeface="Proxima Nova"/>
                <a:cs typeface="Proxima Nova"/>
                <a:sym typeface="Proxima Nova"/>
              </a:rPr>
              <a:t>communications</a:t>
            </a:r>
            <a:r>
              <a:rPr lang="en" sz="1100">
                <a:solidFill>
                  <a:schemeClr val="dk2"/>
                </a:solidFill>
                <a:latin typeface="Proxima Nova"/>
                <a:ea typeface="Proxima Nova"/>
                <a:cs typeface="Proxima Nova"/>
                <a:sym typeface="Proxima Nova"/>
              </a:rPr>
              <a:t> going to the same Cx</a:t>
            </a:r>
            <a:endParaRPr sz="1100">
              <a:solidFill>
                <a:schemeClr val="dk2"/>
              </a:solidFill>
              <a:latin typeface="Proxima Nova"/>
              <a:ea typeface="Proxima Nova"/>
              <a:cs typeface="Proxima Nova"/>
              <a:sym typeface="Proxima Nova"/>
            </a:endParaRPr>
          </a:p>
          <a:p>
            <a:pPr indent="-298450" lvl="0" marL="457200" rtl="0" algn="l">
              <a:spcBef>
                <a:spcPts val="1000"/>
              </a:spcBef>
              <a:spcAft>
                <a:spcPts val="0"/>
              </a:spcAft>
              <a:buClr>
                <a:schemeClr val="dk2"/>
              </a:buClr>
              <a:buSzPts val="1100"/>
              <a:buFont typeface="Proxima Nova"/>
              <a:buChar char="●"/>
            </a:pPr>
            <a:r>
              <a:rPr lang="en" sz="1100">
                <a:solidFill>
                  <a:schemeClr val="dk2"/>
                </a:solidFill>
                <a:latin typeface="Proxima Nova"/>
                <a:ea typeface="Proxima Nova"/>
                <a:cs typeface="Proxima Nova"/>
                <a:sym typeface="Proxima Nova"/>
              </a:rPr>
              <a:t>End of </a:t>
            </a:r>
            <a:r>
              <a:rPr lang="en" sz="1100">
                <a:solidFill>
                  <a:schemeClr val="dk2"/>
                </a:solidFill>
                <a:latin typeface="Proxima Nova"/>
                <a:ea typeface="Proxima Nova"/>
                <a:cs typeface="Proxima Nova"/>
                <a:sym typeface="Proxima Nova"/>
              </a:rPr>
              <a:t>experiment</a:t>
            </a:r>
            <a:r>
              <a:rPr lang="en" sz="1100">
                <a:solidFill>
                  <a:schemeClr val="dk2"/>
                </a:solidFill>
                <a:latin typeface="Proxima Nova"/>
                <a:ea typeface="Proxima Nova"/>
                <a:cs typeface="Proxima Nova"/>
                <a:sym typeface="Proxima Nova"/>
              </a:rPr>
              <a:t>/inability to add more sample</a:t>
            </a:r>
            <a:endParaRPr sz="1100">
              <a:solidFill>
                <a:schemeClr val="dk2"/>
              </a:solidFill>
              <a:latin typeface="Proxima Nova"/>
              <a:ea typeface="Proxima Nova"/>
              <a:cs typeface="Proxima Nova"/>
              <a:sym typeface="Proxima Nova"/>
            </a:endParaRPr>
          </a:p>
          <a:p>
            <a:pPr indent="-298450" lvl="0" marL="457200" rtl="0" algn="l">
              <a:spcBef>
                <a:spcPts val="1000"/>
              </a:spcBef>
              <a:spcAft>
                <a:spcPts val="0"/>
              </a:spcAft>
              <a:buClr>
                <a:schemeClr val="dk2"/>
              </a:buClr>
              <a:buSzPts val="1100"/>
              <a:buFont typeface="Proxima Nova"/>
              <a:buChar char="●"/>
            </a:pPr>
            <a:r>
              <a:rPr lang="en" sz="1100">
                <a:solidFill>
                  <a:schemeClr val="dk2"/>
                </a:solidFill>
                <a:latin typeface="Proxima Nova"/>
                <a:ea typeface="Proxima Nova"/>
                <a:cs typeface="Proxima Nova"/>
                <a:sym typeface="Proxima Nova"/>
              </a:rPr>
              <a:t>Low rate of awareness/use of Star and Save among sample</a:t>
            </a:r>
            <a:endParaRPr sz="1100">
              <a:solidFill>
                <a:schemeClr val="dk2"/>
              </a:solidFill>
              <a:latin typeface="Proxima Nova"/>
              <a:ea typeface="Proxima Nova"/>
              <a:cs typeface="Proxima Nova"/>
              <a:sym typeface="Proxima Nova"/>
            </a:endParaRPr>
          </a:p>
          <a:p>
            <a:pPr indent="0" lvl="0" marL="0" rtl="0" algn="l">
              <a:spcBef>
                <a:spcPts val="1000"/>
              </a:spcBef>
              <a:spcAft>
                <a:spcPts val="0"/>
              </a:spcAft>
              <a:buNone/>
            </a:pPr>
            <a:r>
              <a:t/>
            </a:r>
            <a:endParaRPr>
              <a:solidFill>
                <a:schemeClr val="dk2"/>
              </a:solidFill>
              <a:latin typeface="Proxima Nova"/>
              <a:ea typeface="Proxima Nova"/>
              <a:cs typeface="Proxima Nova"/>
              <a:sym typeface="Proxima Nova"/>
            </a:endParaRPr>
          </a:p>
          <a:p>
            <a:pPr indent="0" lvl="0" marL="0" rtl="0" algn="l">
              <a:spcBef>
                <a:spcPts val="0"/>
              </a:spcBef>
              <a:spcAft>
                <a:spcPts val="0"/>
              </a:spcAft>
              <a:buNone/>
            </a:pPr>
            <a:r>
              <a:rPr b="1" lang="en" sz="1100">
                <a:solidFill>
                  <a:schemeClr val="dk2"/>
                </a:solidFill>
                <a:latin typeface="Proxima Nova"/>
                <a:ea typeface="Proxima Nova"/>
                <a:cs typeface="Proxima Nova"/>
                <a:sym typeface="Proxima Nova"/>
              </a:rPr>
              <a:t>For this reason all insights should be considered directional and are not statistically significant</a:t>
            </a:r>
            <a:endParaRPr b="1" sz="11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b="1" sz="1100">
              <a:solidFill>
                <a:schemeClr val="dk2"/>
              </a:solidFill>
              <a:latin typeface="Proxima Nova"/>
              <a:ea typeface="Proxima Nova"/>
              <a:cs typeface="Proxima Nova"/>
              <a:sym typeface="Proxima Nova"/>
            </a:endParaRPr>
          </a:p>
          <a:p>
            <a:pPr indent="0" lvl="0" marL="0" rtl="0" algn="l">
              <a:spcBef>
                <a:spcPts val="0"/>
              </a:spcBef>
              <a:spcAft>
                <a:spcPts val="0"/>
              </a:spcAft>
              <a:buNone/>
            </a:pPr>
            <a:r>
              <a:rPr b="1" lang="en" sz="1100">
                <a:solidFill>
                  <a:schemeClr val="dk2"/>
                </a:solidFill>
                <a:latin typeface="Proxima Nova"/>
                <a:ea typeface="Proxima Nova"/>
                <a:cs typeface="Proxima Nova"/>
                <a:sym typeface="Proxima Nova"/>
              </a:rPr>
              <a:t>Sample sizes are shown on the bottom right side of each slide</a:t>
            </a:r>
            <a:endParaRPr b="1" sz="11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b="1" sz="1100">
              <a:solidFill>
                <a:schemeClr val="dk2"/>
              </a:solidFill>
              <a:latin typeface="Proxima Nova"/>
              <a:ea typeface="Proxima Nova"/>
              <a:cs typeface="Proxima Nova"/>
              <a:sym typeface="Proxima Nova"/>
            </a:endParaRPr>
          </a:p>
          <a:p>
            <a:pPr indent="0" lvl="0" marL="0" rtl="0" algn="l">
              <a:spcBef>
                <a:spcPts val="0"/>
              </a:spcBef>
              <a:spcAft>
                <a:spcPts val="0"/>
              </a:spcAft>
              <a:buNone/>
            </a:pPr>
            <a:r>
              <a:rPr b="1" i="1" lang="en" sz="1100">
                <a:solidFill>
                  <a:srgbClr val="E23208"/>
                </a:solidFill>
                <a:latin typeface="Proxima Nova"/>
                <a:ea typeface="Proxima Nova"/>
                <a:cs typeface="Proxima Nova"/>
                <a:sym typeface="Proxima Nova"/>
              </a:rPr>
              <a:t>UXR Recommends we repeat study when V2 launches</a:t>
            </a:r>
            <a:endParaRPr b="1" i="1" sz="1100">
              <a:solidFill>
                <a:srgbClr val="E23208"/>
              </a:solidFill>
              <a:latin typeface="Proxima Nova"/>
              <a:ea typeface="Proxima Nova"/>
              <a:cs typeface="Proxima Nova"/>
              <a:sym typeface="Proxima Nova"/>
            </a:endParaRPr>
          </a:p>
        </p:txBody>
      </p:sp>
      <p:sp>
        <p:nvSpPr>
          <p:cNvPr id="67" name="Google Shape;67;p14"/>
          <p:cNvSpPr txBox="1"/>
          <p:nvPr/>
        </p:nvSpPr>
        <p:spPr>
          <a:xfrm>
            <a:off x="715750" y="1297825"/>
            <a:ext cx="49023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666666"/>
                </a:solidFill>
                <a:latin typeface="Proxima Nova"/>
                <a:ea typeface="Proxima Nova"/>
                <a:cs typeface="Proxima Nova"/>
                <a:sym typeface="Proxima Nova"/>
              </a:rPr>
              <a:t>We conducted a 10 min survey with Cx who were exposed to the Star and Save treatment</a:t>
            </a:r>
            <a:endParaRPr b="1">
              <a:solidFill>
                <a:srgbClr val="666666"/>
              </a:solidFill>
              <a:latin typeface="Proxima Nova"/>
              <a:ea typeface="Proxima Nova"/>
              <a:cs typeface="Proxima Nova"/>
              <a:sym typeface="Proxima Nova"/>
            </a:endParaRPr>
          </a:p>
          <a:p>
            <a:pPr indent="-304800" lvl="0" marL="457200" rtl="0" algn="l">
              <a:spcBef>
                <a:spcPts val="1000"/>
              </a:spcBef>
              <a:spcAft>
                <a:spcPts val="0"/>
              </a:spcAft>
              <a:buClr>
                <a:srgbClr val="666666"/>
              </a:buClr>
              <a:buSzPts val="1200"/>
              <a:buFont typeface="Proxima Nova"/>
              <a:buChar char="●"/>
            </a:pPr>
            <a:r>
              <a:rPr lang="en" sz="1200">
                <a:solidFill>
                  <a:srgbClr val="666666"/>
                </a:solidFill>
                <a:latin typeface="Proxima Nova"/>
                <a:ea typeface="Proxima Nova"/>
                <a:cs typeface="Proxima Nova"/>
                <a:sym typeface="Proxima Nova"/>
              </a:rPr>
              <a:t>Located in a Star and Save test market</a:t>
            </a:r>
            <a:endParaRPr sz="1200">
              <a:solidFill>
                <a:srgbClr val="666666"/>
              </a:solidFill>
              <a:latin typeface="Proxima Nova"/>
              <a:ea typeface="Proxima Nova"/>
              <a:cs typeface="Proxima Nova"/>
              <a:sym typeface="Proxima Nova"/>
            </a:endParaRPr>
          </a:p>
          <a:p>
            <a:pPr indent="-304800" lvl="0" marL="457200" rtl="0" algn="l">
              <a:spcBef>
                <a:spcPts val="0"/>
              </a:spcBef>
              <a:spcAft>
                <a:spcPts val="0"/>
              </a:spcAft>
              <a:buClr>
                <a:srgbClr val="666666"/>
              </a:buClr>
              <a:buSzPts val="1200"/>
              <a:buFont typeface="Proxima Nova"/>
              <a:buChar char="●"/>
            </a:pPr>
            <a:r>
              <a:rPr lang="en" sz="1200">
                <a:solidFill>
                  <a:srgbClr val="666666"/>
                </a:solidFill>
                <a:latin typeface="Proxima Nova"/>
                <a:ea typeface="Proxima Nova"/>
                <a:cs typeface="Proxima Nova"/>
                <a:sym typeface="Proxima Nova"/>
              </a:rPr>
              <a:t>In the Star and Save treatment group</a:t>
            </a:r>
            <a:endParaRPr sz="1200">
              <a:solidFill>
                <a:srgbClr val="666666"/>
              </a:solidFill>
              <a:latin typeface="Proxima Nova"/>
              <a:ea typeface="Proxima Nova"/>
              <a:cs typeface="Proxima Nova"/>
              <a:sym typeface="Proxima Nova"/>
            </a:endParaRPr>
          </a:p>
          <a:p>
            <a:pPr indent="-304800" lvl="0" marL="457200" rtl="0" algn="l">
              <a:spcBef>
                <a:spcPts val="0"/>
              </a:spcBef>
              <a:spcAft>
                <a:spcPts val="0"/>
              </a:spcAft>
              <a:buClr>
                <a:srgbClr val="666666"/>
              </a:buClr>
              <a:buSzPts val="1200"/>
              <a:buFont typeface="Proxima Nova"/>
              <a:buChar char="●"/>
            </a:pPr>
            <a:r>
              <a:rPr lang="en" sz="1200">
                <a:solidFill>
                  <a:srgbClr val="666666"/>
                </a:solidFill>
                <a:latin typeface="Proxima Nova"/>
                <a:ea typeface="Proxima Nova"/>
                <a:cs typeface="Proxima Nova"/>
                <a:sym typeface="Proxima Nova"/>
              </a:rPr>
              <a:t>Logged into the app during the time of Star and Save</a:t>
            </a:r>
            <a:endParaRPr sz="1200">
              <a:solidFill>
                <a:srgbClr val="666666"/>
              </a:solidFill>
              <a:latin typeface="Proxima Nova"/>
              <a:ea typeface="Proxima Nova"/>
              <a:cs typeface="Proxima Nova"/>
              <a:sym typeface="Proxima Nova"/>
            </a:endParaRPr>
          </a:p>
        </p:txBody>
      </p:sp>
      <p:sp>
        <p:nvSpPr>
          <p:cNvPr id="68" name="Google Shape;68;p14"/>
          <p:cNvSpPr txBox="1"/>
          <p:nvPr/>
        </p:nvSpPr>
        <p:spPr>
          <a:xfrm>
            <a:off x="766575" y="2830950"/>
            <a:ext cx="4625700" cy="5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666666"/>
                </a:solidFill>
                <a:latin typeface="Proxima Nova"/>
                <a:ea typeface="Proxima Nova"/>
                <a:cs typeface="Proxima Nova"/>
                <a:sym typeface="Proxima Nova"/>
              </a:rPr>
              <a:t>The goal of this research was to get a deeper understanding of </a:t>
            </a:r>
            <a:endParaRPr b="1">
              <a:solidFill>
                <a:srgbClr val="666666"/>
              </a:solidFill>
              <a:latin typeface="Proxima Nova"/>
              <a:ea typeface="Proxima Nova"/>
              <a:cs typeface="Proxima Nova"/>
              <a:sym typeface="Proxima Nova"/>
            </a:endParaRPr>
          </a:p>
          <a:p>
            <a:pPr indent="-304800" lvl="0" marL="457200" rtl="0" algn="l">
              <a:spcBef>
                <a:spcPts val="1000"/>
              </a:spcBef>
              <a:spcAft>
                <a:spcPts val="0"/>
              </a:spcAft>
              <a:buClr>
                <a:srgbClr val="666666"/>
              </a:buClr>
              <a:buSzPts val="1200"/>
              <a:buFont typeface="Proxima Nova"/>
              <a:buChar char="●"/>
            </a:pPr>
            <a:r>
              <a:rPr lang="en" sz="1200">
                <a:solidFill>
                  <a:srgbClr val="666666"/>
                </a:solidFill>
                <a:latin typeface="Proxima Nova"/>
                <a:ea typeface="Proxima Nova"/>
                <a:cs typeface="Proxima Nova"/>
                <a:sym typeface="Proxima Nova"/>
              </a:rPr>
              <a:t>Feature awareness</a:t>
            </a:r>
            <a:endParaRPr sz="1200">
              <a:solidFill>
                <a:srgbClr val="666666"/>
              </a:solidFill>
              <a:latin typeface="Proxima Nova"/>
              <a:ea typeface="Proxima Nova"/>
              <a:cs typeface="Proxima Nova"/>
              <a:sym typeface="Proxima Nova"/>
            </a:endParaRPr>
          </a:p>
          <a:p>
            <a:pPr indent="-304800" lvl="0" marL="457200" rtl="0" algn="l">
              <a:spcBef>
                <a:spcPts val="0"/>
              </a:spcBef>
              <a:spcAft>
                <a:spcPts val="0"/>
              </a:spcAft>
              <a:buClr>
                <a:srgbClr val="666666"/>
              </a:buClr>
              <a:buSzPts val="1200"/>
              <a:buFont typeface="Proxima Nova"/>
              <a:buChar char="●"/>
            </a:pPr>
            <a:r>
              <a:rPr lang="en" sz="1200">
                <a:solidFill>
                  <a:srgbClr val="666666"/>
                </a:solidFill>
                <a:latin typeface="Proxima Nova"/>
                <a:ea typeface="Proxima Nova"/>
                <a:cs typeface="Proxima Nova"/>
                <a:sym typeface="Proxima Nova"/>
              </a:rPr>
              <a:t>Feature understanding</a:t>
            </a:r>
            <a:endParaRPr sz="1200">
              <a:solidFill>
                <a:srgbClr val="666666"/>
              </a:solidFill>
              <a:latin typeface="Proxima Nova"/>
              <a:ea typeface="Proxima Nova"/>
              <a:cs typeface="Proxima Nova"/>
              <a:sym typeface="Proxima Nova"/>
            </a:endParaRPr>
          </a:p>
          <a:p>
            <a:pPr indent="-304800" lvl="0" marL="457200" rtl="0" algn="l">
              <a:spcBef>
                <a:spcPts val="0"/>
              </a:spcBef>
              <a:spcAft>
                <a:spcPts val="0"/>
              </a:spcAft>
              <a:buClr>
                <a:srgbClr val="666666"/>
              </a:buClr>
              <a:buSzPts val="1200"/>
              <a:buFont typeface="Proxima Nova"/>
              <a:buChar char="●"/>
            </a:pPr>
            <a:r>
              <a:rPr lang="en" sz="1200">
                <a:solidFill>
                  <a:srgbClr val="666666"/>
                </a:solidFill>
                <a:latin typeface="Proxima Nova"/>
                <a:ea typeface="Proxima Nova"/>
                <a:cs typeface="Proxima Nova"/>
                <a:sym typeface="Proxima Nova"/>
              </a:rPr>
              <a:t>Strengths and barriers to adoption</a:t>
            </a:r>
            <a:endParaRPr sz="1200">
              <a:solidFill>
                <a:srgbClr val="666666"/>
              </a:solidFill>
              <a:latin typeface="Proxima Nova"/>
              <a:ea typeface="Proxima Nova"/>
              <a:cs typeface="Proxima Nova"/>
              <a:sym typeface="Proxima Nova"/>
            </a:endParaRPr>
          </a:p>
          <a:p>
            <a:pPr indent="0" lvl="0" marL="0" rtl="0" algn="l">
              <a:spcBef>
                <a:spcPts val="0"/>
              </a:spcBef>
              <a:spcAft>
                <a:spcPts val="1000"/>
              </a:spcAft>
              <a:buNone/>
            </a:pPr>
            <a:r>
              <a:t/>
            </a:r>
            <a:endParaRPr sz="1200">
              <a:solidFill>
                <a:srgbClr val="666666"/>
              </a:solidFill>
              <a:latin typeface="Proxima Nova"/>
              <a:ea typeface="Proxima Nova"/>
              <a:cs typeface="Proxima Nova"/>
              <a:sym typeface="Proxima Nova"/>
            </a:endParaRPr>
          </a:p>
        </p:txBody>
      </p:sp>
      <p:pic>
        <p:nvPicPr>
          <p:cNvPr id="69" name="Google Shape;69;p14"/>
          <p:cNvPicPr preferRelativeResize="0"/>
          <p:nvPr/>
        </p:nvPicPr>
        <p:blipFill>
          <a:blip r:embed="rId7">
            <a:alphaModFix/>
          </a:blip>
          <a:stretch>
            <a:fillRect/>
          </a:stretch>
        </p:blipFill>
        <p:spPr>
          <a:xfrm>
            <a:off x="110500" y="1297825"/>
            <a:ext cx="548700" cy="548700"/>
          </a:xfrm>
          <a:prstGeom prst="rect">
            <a:avLst/>
          </a:prstGeom>
          <a:noFill/>
          <a:ln>
            <a:noFill/>
          </a:ln>
        </p:spPr>
      </p:pic>
      <p:pic>
        <p:nvPicPr>
          <p:cNvPr id="70" name="Google Shape;70;p14"/>
          <p:cNvPicPr preferRelativeResize="0"/>
          <p:nvPr/>
        </p:nvPicPr>
        <p:blipFill>
          <a:blip r:embed="rId8">
            <a:alphaModFix/>
          </a:blip>
          <a:stretch>
            <a:fillRect/>
          </a:stretch>
        </p:blipFill>
        <p:spPr>
          <a:xfrm>
            <a:off x="110500" y="2730350"/>
            <a:ext cx="548700" cy="54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6" name="Google Shape;76;p15"/>
          <p:cNvPicPr preferRelativeResize="0"/>
          <p:nvPr/>
        </p:nvPicPr>
        <p:blipFill>
          <a:blip r:embed="rId3">
            <a:alphaModFix/>
          </a:blip>
          <a:stretch>
            <a:fillRect/>
          </a:stretch>
        </p:blipFill>
        <p:spPr>
          <a:xfrm>
            <a:off x="1648152" y="514075"/>
            <a:ext cx="5847696" cy="4115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 name="Google Shape;82;p16"/>
          <p:cNvSpPr txBox="1"/>
          <p:nvPr/>
        </p:nvSpPr>
        <p:spPr>
          <a:xfrm>
            <a:off x="362850" y="235175"/>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666666"/>
                </a:solidFill>
                <a:latin typeface="Proxima Nova"/>
                <a:ea typeface="Proxima Nova"/>
                <a:cs typeface="Proxima Nova"/>
                <a:sym typeface="Proxima Nova"/>
              </a:rPr>
              <a:t>Awareness</a:t>
            </a:r>
            <a:r>
              <a:rPr b="1" lang="en" sz="2100">
                <a:solidFill>
                  <a:srgbClr val="666666"/>
                </a:solidFill>
                <a:latin typeface="Proxima Nova"/>
                <a:ea typeface="Proxima Nova"/>
                <a:cs typeface="Proxima Nova"/>
                <a:sym typeface="Proxima Nova"/>
              </a:rPr>
              <a:t> and stated usage is relatively low; however insights align with behavioral data for respondents</a:t>
            </a:r>
            <a:endParaRPr b="1" sz="2100">
              <a:solidFill>
                <a:srgbClr val="666666"/>
              </a:solidFill>
              <a:latin typeface="Proxima Nova"/>
              <a:ea typeface="Proxima Nova"/>
              <a:cs typeface="Proxima Nova"/>
              <a:sym typeface="Proxima Nova"/>
            </a:endParaRPr>
          </a:p>
        </p:txBody>
      </p:sp>
      <p:sp>
        <p:nvSpPr>
          <p:cNvPr id="83" name="Google Shape;83;p16"/>
          <p:cNvSpPr txBox="1"/>
          <p:nvPr/>
        </p:nvSpPr>
        <p:spPr>
          <a:xfrm>
            <a:off x="506250" y="3311550"/>
            <a:ext cx="24618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roxima Nova"/>
                <a:ea typeface="Proxima Nova"/>
                <a:cs typeface="Proxima Nova"/>
                <a:sym typeface="Proxima Nova"/>
              </a:rPr>
              <a:t>of Cx were </a:t>
            </a:r>
            <a:r>
              <a:rPr b="1" lang="en">
                <a:solidFill>
                  <a:srgbClr val="E23208"/>
                </a:solidFill>
                <a:latin typeface="Proxima Nova"/>
                <a:ea typeface="Proxima Nova"/>
                <a:cs typeface="Proxima Nova"/>
                <a:sym typeface="Proxima Nova"/>
              </a:rPr>
              <a:t>aware</a:t>
            </a:r>
            <a:r>
              <a:rPr lang="en">
                <a:solidFill>
                  <a:schemeClr val="dk2"/>
                </a:solidFill>
                <a:latin typeface="Proxima Nova"/>
                <a:ea typeface="Proxima Nova"/>
                <a:cs typeface="Proxima Nova"/>
                <a:sym typeface="Proxima Nova"/>
              </a:rPr>
              <a:t> of the Star and Save feature</a:t>
            </a:r>
            <a:r>
              <a:rPr lang="en" sz="1200">
                <a:solidFill>
                  <a:schemeClr val="dk2"/>
                </a:solidFill>
                <a:latin typeface="Proxima Nova"/>
                <a:ea typeface="Proxima Nova"/>
                <a:cs typeface="Proxima Nova"/>
                <a:sym typeface="Proxima Nova"/>
              </a:rPr>
              <a:t> </a:t>
            </a:r>
            <a:endParaRPr sz="1200">
              <a:solidFill>
                <a:schemeClr val="dk2"/>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dk2"/>
                </a:solidFill>
                <a:latin typeface="Proxima Nova"/>
                <a:ea typeface="Proxima Nova"/>
                <a:cs typeface="Proxima Nova"/>
                <a:sym typeface="Proxima Nova"/>
              </a:rPr>
              <a:t>(aided and unaided recall)</a:t>
            </a:r>
            <a:endParaRPr sz="1200">
              <a:solidFill>
                <a:schemeClr val="dk2"/>
              </a:solidFill>
              <a:latin typeface="Proxima Nova"/>
              <a:ea typeface="Proxima Nova"/>
              <a:cs typeface="Proxima Nova"/>
              <a:sym typeface="Proxima Nova"/>
            </a:endParaRPr>
          </a:p>
        </p:txBody>
      </p:sp>
      <p:sp>
        <p:nvSpPr>
          <p:cNvPr id="84" name="Google Shape;84;p16"/>
          <p:cNvSpPr txBox="1"/>
          <p:nvPr/>
        </p:nvSpPr>
        <p:spPr>
          <a:xfrm>
            <a:off x="6123200" y="3251625"/>
            <a:ext cx="2300400" cy="56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Proxima Nova"/>
                <a:ea typeface="Proxima Nova"/>
                <a:cs typeface="Proxima Nova"/>
                <a:sym typeface="Proxima Nova"/>
              </a:rPr>
              <a:t>of Cx stated they </a:t>
            </a:r>
            <a:r>
              <a:rPr b="1" lang="en">
                <a:solidFill>
                  <a:srgbClr val="674EA7"/>
                </a:solidFill>
                <a:latin typeface="Proxima Nova"/>
                <a:ea typeface="Proxima Nova"/>
                <a:cs typeface="Proxima Nova"/>
                <a:sym typeface="Proxima Nova"/>
              </a:rPr>
              <a:t>have completed a star and save order*</a:t>
            </a:r>
            <a:endParaRPr b="1">
              <a:solidFill>
                <a:srgbClr val="674EA7"/>
              </a:solidFill>
              <a:latin typeface="Proxima Nova"/>
              <a:ea typeface="Proxima Nova"/>
              <a:cs typeface="Proxima Nova"/>
              <a:sym typeface="Proxima Nova"/>
            </a:endParaRPr>
          </a:p>
        </p:txBody>
      </p:sp>
      <p:sp>
        <p:nvSpPr>
          <p:cNvPr id="85" name="Google Shape;85;p16"/>
          <p:cNvSpPr txBox="1"/>
          <p:nvPr/>
        </p:nvSpPr>
        <p:spPr>
          <a:xfrm>
            <a:off x="3271750" y="3201025"/>
            <a:ext cx="2378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2"/>
                </a:solidFill>
                <a:latin typeface="Proxima Nova"/>
                <a:ea typeface="Proxima Nova"/>
                <a:cs typeface="Proxima Nova"/>
                <a:sym typeface="Proxima Nova"/>
              </a:rPr>
              <a:t>of Cx stated that they </a:t>
            </a:r>
            <a:r>
              <a:rPr b="1" lang="en">
                <a:solidFill>
                  <a:srgbClr val="3C78D8"/>
                </a:solidFill>
                <a:latin typeface="Proxima Nova"/>
                <a:ea typeface="Proxima Nova"/>
                <a:cs typeface="Proxima Nova"/>
                <a:sym typeface="Proxima Nova"/>
              </a:rPr>
              <a:t>have “starred” a Rx*</a:t>
            </a:r>
            <a:endParaRPr b="1">
              <a:solidFill>
                <a:srgbClr val="3C78D8"/>
              </a:solidFill>
              <a:latin typeface="Proxima Nova"/>
              <a:ea typeface="Proxima Nova"/>
              <a:cs typeface="Proxima Nova"/>
              <a:sym typeface="Proxima Nova"/>
            </a:endParaRPr>
          </a:p>
        </p:txBody>
      </p:sp>
      <p:sp>
        <p:nvSpPr>
          <p:cNvPr id="86" name="Google Shape;86;p16"/>
          <p:cNvSpPr txBox="1"/>
          <p:nvPr/>
        </p:nvSpPr>
        <p:spPr>
          <a:xfrm>
            <a:off x="6483650" y="4074475"/>
            <a:ext cx="1702200" cy="4311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Proxima Nova"/>
                <a:ea typeface="Proxima Nova"/>
                <a:cs typeface="Proxima Nova"/>
                <a:sym typeface="Proxima Nova"/>
              </a:rPr>
              <a:t>15% of sample converted according to behavioral data</a:t>
            </a:r>
            <a:endParaRPr sz="800">
              <a:latin typeface="Proxima Nova"/>
              <a:ea typeface="Proxima Nova"/>
              <a:cs typeface="Proxima Nova"/>
              <a:sym typeface="Proxima Nova"/>
            </a:endParaRPr>
          </a:p>
        </p:txBody>
      </p:sp>
      <p:grpSp>
        <p:nvGrpSpPr>
          <p:cNvPr id="87" name="Google Shape;87;p16"/>
          <p:cNvGrpSpPr/>
          <p:nvPr/>
        </p:nvGrpSpPr>
        <p:grpSpPr>
          <a:xfrm>
            <a:off x="3795625" y="1735575"/>
            <a:ext cx="1327800" cy="1248000"/>
            <a:chOff x="158700" y="1506975"/>
            <a:chExt cx="1327800" cy="1248000"/>
          </a:xfrm>
        </p:grpSpPr>
        <p:sp>
          <p:nvSpPr>
            <p:cNvPr id="88" name="Google Shape;88;p16"/>
            <p:cNvSpPr/>
            <p:nvPr/>
          </p:nvSpPr>
          <p:spPr>
            <a:xfrm>
              <a:off x="163301" y="1511557"/>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a:off x="158700" y="1506975"/>
              <a:ext cx="1327800" cy="1248000"/>
            </a:xfrm>
            <a:prstGeom prst="arc">
              <a:avLst>
                <a:gd fmla="val 16329822" name="adj1"/>
                <a:gd fmla="val 1702136" name="adj2"/>
              </a:avLst>
            </a:prstGeom>
            <a:noFill/>
            <a:ln cap="flat" cmpd="sng" w="114300">
              <a:solidFill>
                <a:srgbClr val="3C78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txBox="1"/>
            <p:nvPr/>
          </p:nvSpPr>
          <p:spPr>
            <a:xfrm>
              <a:off x="211032" y="1893100"/>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3C78D8"/>
                  </a:solidFill>
                  <a:latin typeface="Proxima Nova"/>
                  <a:ea typeface="Proxima Nova"/>
                  <a:cs typeface="Proxima Nova"/>
                  <a:sym typeface="Proxima Nova"/>
                </a:rPr>
                <a:t>28</a:t>
              </a:r>
              <a:r>
                <a:rPr b="1" lang="en" sz="2300">
                  <a:solidFill>
                    <a:srgbClr val="3C78D8"/>
                  </a:solidFill>
                  <a:latin typeface="Proxima Nova"/>
                  <a:ea typeface="Proxima Nova"/>
                  <a:cs typeface="Proxima Nova"/>
                  <a:sym typeface="Proxima Nova"/>
                </a:rPr>
                <a:t>%</a:t>
              </a:r>
              <a:r>
                <a:rPr b="1" lang="en" sz="1000">
                  <a:solidFill>
                    <a:srgbClr val="3C78D8"/>
                  </a:solidFill>
                  <a:latin typeface="Proxima Nova"/>
                  <a:ea typeface="Proxima Nova"/>
                  <a:cs typeface="Proxima Nova"/>
                  <a:sym typeface="Proxima Nova"/>
                </a:rPr>
                <a:t> </a:t>
              </a:r>
              <a:endParaRPr sz="1300">
                <a:solidFill>
                  <a:srgbClr val="3C78D8"/>
                </a:solidFill>
                <a:latin typeface="Proxima Nova"/>
                <a:ea typeface="Proxima Nova"/>
                <a:cs typeface="Proxima Nova"/>
                <a:sym typeface="Proxima Nova"/>
              </a:endParaRPr>
            </a:p>
          </p:txBody>
        </p:sp>
      </p:grpSp>
      <p:grpSp>
        <p:nvGrpSpPr>
          <p:cNvPr id="91" name="Google Shape;91;p16"/>
          <p:cNvGrpSpPr/>
          <p:nvPr/>
        </p:nvGrpSpPr>
        <p:grpSpPr>
          <a:xfrm>
            <a:off x="6615025" y="1811775"/>
            <a:ext cx="1327800" cy="1248000"/>
            <a:chOff x="158700" y="1506975"/>
            <a:chExt cx="1327800" cy="1248000"/>
          </a:xfrm>
        </p:grpSpPr>
        <p:sp>
          <p:nvSpPr>
            <p:cNvPr id="92" name="Google Shape;92;p16"/>
            <p:cNvSpPr/>
            <p:nvPr/>
          </p:nvSpPr>
          <p:spPr>
            <a:xfrm>
              <a:off x="163301" y="1511557"/>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p:nvPr/>
          </p:nvSpPr>
          <p:spPr>
            <a:xfrm>
              <a:off x="158700" y="1506975"/>
              <a:ext cx="1327800" cy="1248000"/>
            </a:xfrm>
            <a:prstGeom prst="arc">
              <a:avLst>
                <a:gd fmla="val 16329822" name="adj1"/>
                <a:gd fmla="val 20459334" name="adj2"/>
              </a:avLst>
            </a:prstGeom>
            <a:noFill/>
            <a:ln cap="flat" cmpd="sng" w="11430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6"/>
            <p:cNvSpPr txBox="1"/>
            <p:nvPr/>
          </p:nvSpPr>
          <p:spPr>
            <a:xfrm>
              <a:off x="211032" y="1893100"/>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674EA7"/>
                  </a:solidFill>
                  <a:latin typeface="Proxima Nova"/>
                  <a:ea typeface="Proxima Nova"/>
                  <a:cs typeface="Proxima Nova"/>
                  <a:sym typeface="Proxima Nova"/>
                </a:rPr>
                <a:t>22</a:t>
              </a:r>
              <a:r>
                <a:rPr b="1" lang="en" sz="2300">
                  <a:solidFill>
                    <a:srgbClr val="674EA7"/>
                  </a:solidFill>
                  <a:latin typeface="Proxima Nova"/>
                  <a:ea typeface="Proxima Nova"/>
                  <a:cs typeface="Proxima Nova"/>
                  <a:sym typeface="Proxima Nova"/>
                </a:rPr>
                <a:t>%</a:t>
              </a:r>
              <a:r>
                <a:rPr b="1" lang="en" sz="1000">
                  <a:solidFill>
                    <a:srgbClr val="674EA7"/>
                  </a:solidFill>
                  <a:latin typeface="Proxima Nova"/>
                  <a:ea typeface="Proxima Nova"/>
                  <a:cs typeface="Proxima Nova"/>
                  <a:sym typeface="Proxima Nova"/>
                </a:rPr>
                <a:t> </a:t>
              </a:r>
              <a:endParaRPr sz="1300">
                <a:solidFill>
                  <a:srgbClr val="674EA7"/>
                </a:solidFill>
                <a:latin typeface="Proxima Nova"/>
                <a:ea typeface="Proxima Nova"/>
                <a:cs typeface="Proxima Nova"/>
                <a:sym typeface="Proxima Nova"/>
              </a:endParaRPr>
            </a:p>
          </p:txBody>
        </p:sp>
      </p:grpSp>
      <p:grpSp>
        <p:nvGrpSpPr>
          <p:cNvPr id="95" name="Google Shape;95;p16"/>
          <p:cNvGrpSpPr/>
          <p:nvPr/>
        </p:nvGrpSpPr>
        <p:grpSpPr>
          <a:xfrm>
            <a:off x="1052425" y="1735575"/>
            <a:ext cx="1327800" cy="1248000"/>
            <a:chOff x="158700" y="1506975"/>
            <a:chExt cx="1327800" cy="1248000"/>
          </a:xfrm>
        </p:grpSpPr>
        <p:sp>
          <p:nvSpPr>
            <p:cNvPr id="96" name="Google Shape;96;p16"/>
            <p:cNvSpPr/>
            <p:nvPr/>
          </p:nvSpPr>
          <p:spPr>
            <a:xfrm>
              <a:off x="163301" y="1511557"/>
              <a:ext cx="1318500" cy="1238700"/>
            </a:xfrm>
            <a:prstGeom prst="ellipse">
              <a:avLst/>
            </a:prstGeom>
            <a:noFill/>
            <a:ln cap="flat" cmpd="sng" w="3810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158700" y="1506975"/>
              <a:ext cx="1327800" cy="1248000"/>
            </a:xfrm>
            <a:prstGeom prst="arc">
              <a:avLst>
                <a:gd fmla="val 16329822" name="adj1"/>
                <a:gd fmla="val 2549282" name="adj2"/>
              </a:avLst>
            </a:prstGeom>
            <a:noFill/>
            <a:ln cap="flat" cmpd="sng" w="1143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txBox="1"/>
            <p:nvPr/>
          </p:nvSpPr>
          <p:spPr>
            <a:xfrm>
              <a:off x="211032" y="1893100"/>
              <a:ext cx="1172100" cy="47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b="1" lang="en" sz="2300">
                  <a:solidFill>
                    <a:srgbClr val="CC0000"/>
                  </a:solidFill>
                  <a:latin typeface="Proxima Nova"/>
                  <a:ea typeface="Proxima Nova"/>
                  <a:cs typeface="Proxima Nova"/>
                  <a:sym typeface="Proxima Nova"/>
                </a:rPr>
                <a:t>40</a:t>
              </a:r>
              <a:r>
                <a:rPr b="1" lang="en" sz="2300">
                  <a:solidFill>
                    <a:srgbClr val="CC0000"/>
                  </a:solidFill>
                  <a:latin typeface="Proxima Nova"/>
                  <a:ea typeface="Proxima Nova"/>
                  <a:cs typeface="Proxima Nova"/>
                  <a:sym typeface="Proxima Nova"/>
                </a:rPr>
                <a:t>%</a:t>
              </a:r>
              <a:r>
                <a:rPr b="1" lang="en" sz="1000">
                  <a:solidFill>
                    <a:srgbClr val="CC0000"/>
                  </a:solidFill>
                  <a:latin typeface="Proxima Nova"/>
                  <a:ea typeface="Proxima Nova"/>
                  <a:cs typeface="Proxima Nova"/>
                  <a:sym typeface="Proxima Nova"/>
                </a:rPr>
                <a:t> </a:t>
              </a:r>
              <a:endParaRPr sz="1300">
                <a:solidFill>
                  <a:srgbClr val="CC0000"/>
                </a:solidFill>
                <a:latin typeface="Proxima Nova"/>
                <a:ea typeface="Proxima Nova"/>
                <a:cs typeface="Proxima Nova"/>
                <a:sym typeface="Proxima Nova"/>
              </a:endParaRPr>
            </a:p>
          </p:txBody>
        </p:sp>
      </p:grpSp>
      <p:sp>
        <p:nvSpPr>
          <p:cNvPr id="99" name="Google Shape;99;p16"/>
          <p:cNvSpPr txBox="1"/>
          <p:nvPr/>
        </p:nvSpPr>
        <p:spPr>
          <a:xfrm>
            <a:off x="3720900" y="4074475"/>
            <a:ext cx="1702200" cy="431100"/>
          </a:xfrm>
          <a:prstGeom prst="rect">
            <a:avLst/>
          </a:prstGeom>
          <a:solidFill>
            <a:schemeClr val="lt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800">
                <a:latin typeface="Proxima Nova"/>
                <a:ea typeface="Proxima Nova"/>
                <a:cs typeface="Proxima Nova"/>
                <a:sym typeface="Proxima Nova"/>
              </a:rPr>
              <a:t>35</a:t>
            </a:r>
            <a:r>
              <a:rPr lang="en" sz="800">
                <a:latin typeface="Proxima Nova"/>
                <a:ea typeface="Proxima Nova"/>
                <a:cs typeface="Proxima Nova"/>
                <a:sym typeface="Proxima Nova"/>
              </a:rPr>
              <a:t>% of sample starred a Rx according to behavioral data</a:t>
            </a:r>
            <a:endParaRPr sz="800">
              <a:latin typeface="Proxima Nova"/>
              <a:ea typeface="Proxima Nova"/>
              <a:cs typeface="Proxima Nova"/>
              <a:sym typeface="Proxima Nova"/>
            </a:endParaRPr>
          </a:p>
        </p:txBody>
      </p:sp>
      <p:sp>
        <p:nvSpPr>
          <p:cNvPr id="100" name="Google Shape;100;p16"/>
          <p:cNvSpPr txBox="1"/>
          <p:nvPr/>
        </p:nvSpPr>
        <p:spPr>
          <a:xfrm>
            <a:off x="102300" y="4659925"/>
            <a:ext cx="420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latin typeface="Proxima Nova"/>
                <a:ea typeface="Proxima Nova"/>
                <a:cs typeface="Proxima Nova"/>
                <a:sym typeface="Proxima Nova"/>
              </a:rPr>
              <a:t>N=88 Cx </a:t>
            </a:r>
            <a:r>
              <a:rPr lang="en" sz="700">
                <a:latin typeface="Proxima Nova"/>
                <a:ea typeface="Proxima Nova"/>
                <a:cs typeface="Proxima Nova"/>
                <a:sym typeface="Proxima Nova"/>
              </a:rPr>
              <a:t>exposed</a:t>
            </a:r>
            <a:r>
              <a:rPr lang="en" sz="700">
                <a:latin typeface="Proxima Nova"/>
                <a:ea typeface="Proxima Nova"/>
                <a:cs typeface="Proxima Nova"/>
                <a:sym typeface="Proxima Nova"/>
              </a:rPr>
              <a:t> to Star and Save Treatment</a:t>
            </a:r>
            <a:endParaRPr sz="700">
              <a:latin typeface="Proxima Nova"/>
              <a:ea typeface="Proxima Nova"/>
              <a:cs typeface="Proxima Nova"/>
              <a:sym typeface="Proxima Nova"/>
            </a:endParaRPr>
          </a:p>
          <a:p>
            <a:pPr indent="0" lvl="0" marL="0" rtl="0" algn="l">
              <a:spcBef>
                <a:spcPts val="0"/>
              </a:spcBef>
              <a:spcAft>
                <a:spcPts val="0"/>
              </a:spcAft>
              <a:buNone/>
            </a:pPr>
            <a:r>
              <a:rPr lang="en" sz="700">
                <a:latin typeface="Proxima Nova"/>
                <a:ea typeface="Proxima Nova"/>
                <a:cs typeface="Proxima Nova"/>
                <a:sym typeface="Proxima Nova"/>
              </a:rPr>
              <a:t>*N=32 Cx aware of Star and Save</a:t>
            </a:r>
            <a:endParaRPr sz="700">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p:nvPr/>
        </p:nvSpPr>
        <p:spPr>
          <a:xfrm>
            <a:off x="6110825" y="1199850"/>
            <a:ext cx="2920500" cy="371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17"/>
          <p:cNvSpPr txBox="1"/>
          <p:nvPr/>
        </p:nvSpPr>
        <p:spPr>
          <a:xfrm>
            <a:off x="362900" y="171575"/>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666666"/>
                </a:solidFill>
                <a:latin typeface="Proxima Nova"/>
                <a:ea typeface="Proxima Nova"/>
                <a:cs typeface="Proxima Nova"/>
                <a:sym typeface="Proxima Nova"/>
              </a:rPr>
              <a:t>Cx understand Star and Save with the exception of number </a:t>
            </a:r>
            <a:r>
              <a:rPr b="1" lang="en" sz="2100">
                <a:solidFill>
                  <a:srgbClr val="666666"/>
                </a:solidFill>
                <a:latin typeface="Proxima Nova"/>
                <a:ea typeface="Proxima Nova"/>
                <a:cs typeface="Proxima Nova"/>
                <a:sym typeface="Proxima Nova"/>
              </a:rPr>
              <a:t>limitations and how it works beyond your first order</a:t>
            </a:r>
            <a:endParaRPr b="1" sz="2100">
              <a:solidFill>
                <a:srgbClr val="666666"/>
              </a:solidFill>
              <a:latin typeface="Proxima Nova"/>
              <a:ea typeface="Proxima Nova"/>
              <a:cs typeface="Proxima Nova"/>
              <a:sym typeface="Proxima Nova"/>
            </a:endParaRPr>
          </a:p>
        </p:txBody>
      </p:sp>
      <p:sp>
        <p:nvSpPr>
          <p:cNvPr id="108" name="Google Shape;108;p17"/>
          <p:cNvSpPr txBox="1"/>
          <p:nvPr/>
        </p:nvSpPr>
        <p:spPr>
          <a:xfrm>
            <a:off x="1060325" y="1111650"/>
            <a:ext cx="51249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Of the Cx that indicated they were aware of Star and Save, 87% were able to accurately describe it (with just a few missing details).</a:t>
            </a:r>
            <a:endParaRPr b="1">
              <a:solidFill>
                <a:schemeClr val="dk2"/>
              </a:solidFill>
              <a:latin typeface="Proxima Nova"/>
              <a:ea typeface="Proxima Nova"/>
              <a:cs typeface="Proxima Nova"/>
              <a:sym typeface="Proxima Nova"/>
            </a:endParaRPr>
          </a:p>
        </p:txBody>
      </p:sp>
      <p:sp>
        <p:nvSpPr>
          <p:cNvPr id="109" name="Google Shape;109;p17"/>
          <p:cNvSpPr txBox="1"/>
          <p:nvPr/>
        </p:nvSpPr>
        <p:spPr>
          <a:xfrm>
            <a:off x="6185225" y="1895675"/>
            <a:ext cx="27903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Proxima Nova"/>
                <a:ea typeface="Proxima Nova"/>
                <a:cs typeface="Proxima Nova"/>
                <a:sym typeface="Proxima Nova"/>
              </a:rPr>
              <a:t>Common errors that Cx made in their description:</a:t>
            </a:r>
            <a:endParaRPr b="1">
              <a:solidFill>
                <a:schemeClr val="dk2"/>
              </a:solidFill>
              <a:latin typeface="Proxima Nova"/>
              <a:ea typeface="Proxima Nova"/>
              <a:cs typeface="Proxima Nova"/>
              <a:sym typeface="Proxima Nova"/>
            </a:endParaRPr>
          </a:p>
        </p:txBody>
      </p:sp>
      <p:sp>
        <p:nvSpPr>
          <p:cNvPr id="110" name="Google Shape;110;p17"/>
          <p:cNvSpPr txBox="1"/>
          <p:nvPr/>
        </p:nvSpPr>
        <p:spPr>
          <a:xfrm>
            <a:off x="1517525" y="189817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1F1F1F"/>
                </a:solidFill>
                <a:latin typeface="Proxima Nova"/>
                <a:ea typeface="Proxima Nova"/>
                <a:cs typeface="Proxima Nova"/>
                <a:sym typeface="Proxima Nova"/>
              </a:rPr>
              <a:t>You click the star, you get 3 total. You get free delivery.</a:t>
            </a:r>
            <a:endParaRPr i="1" sz="1100">
              <a:latin typeface="Proxima Nova"/>
              <a:ea typeface="Proxima Nova"/>
              <a:cs typeface="Proxima Nova"/>
              <a:sym typeface="Proxima Nova"/>
            </a:endParaRPr>
          </a:p>
        </p:txBody>
      </p:sp>
      <p:sp>
        <p:nvSpPr>
          <p:cNvPr id="111" name="Google Shape;111;p17"/>
          <p:cNvSpPr txBox="1"/>
          <p:nvPr/>
        </p:nvSpPr>
        <p:spPr>
          <a:xfrm>
            <a:off x="1517525" y="2500131"/>
            <a:ext cx="3729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1F1F1F"/>
                </a:solidFill>
                <a:latin typeface="Proxima Nova"/>
                <a:ea typeface="Proxima Nova"/>
                <a:cs typeface="Proxima Nova"/>
                <a:sym typeface="Proxima Nova"/>
              </a:rPr>
              <a:t>You can star up to 3 of your favorite participating restaurants and save on delivery fee and taxes</a:t>
            </a:r>
            <a:endParaRPr i="1" sz="1100">
              <a:latin typeface="Proxima Nova"/>
              <a:ea typeface="Proxima Nova"/>
              <a:cs typeface="Proxima Nova"/>
              <a:sym typeface="Proxima Nova"/>
            </a:endParaRPr>
          </a:p>
        </p:txBody>
      </p:sp>
      <p:sp>
        <p:nvSpPr>
          <p:cNvPr id="112" name="Google Shape;112;p17"/>
          <p:cNvSpPr txBox="1"/>
          <p:nvPr/>
        </p:nvSpPr>
        <p:spPr>
          <a:xfrm>
            <a:off x="1517525" y="3102088"/>
            <a:ext cx="3962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1F1F1F"/>
                </a:solidFill>
                <a:latin typeface="Proxima Nova"/>
                <a:ea typeface="Proxima Nova"/>
                <a:cs typeface="Proxima Nova"/>
                <a:sym typeface="Proxima Nova"/>
              </a:rPr>
              <a:t>Star a restaurant and you won’t have to pay delivery fees, it’s used for restaurants you order from often.</a:t>
            </a:r>
            <a:endParaRPr i="1" sz="1100">
              <a:latin typeface="Proxima Nova"/>
              <a:ea typeface="Proxima Nova"/>
              <a:cs typeface="Proxima Nova"/>
              <a:sym typeface="Proxima Nova"/>
            </a:endParaRPr>
          </a:p>
        </p:txBody>
      </p:sp>
      <p:sp>
        <p:nvSpPr>
          <p:cNvPr id="113" name="Google Shape;113;p17"/>
          <p:cNvSpPr txBox="1"/>
          <p:nvPr/>
        </p:nvSpPr>
        <p:spPr>
          <a:xfrm>
            <a:off x="1517525" y="3704044"/>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chemeClr val="dk1"/>
                </a:solidFill>
                <a:latin typeface="Proxima Nova"/>
                <a:ea typeface="Proxima Nova"/>
                <a:cs typeface="Proxima Nova"/>
                <a:sym typeface="Proxima Nova"/>
              </a:rPr>
              <a:t>Select 3 favorite restaurants and receive $0 delivery fee</a:t>
            </a:r>
            <a:endParaRPr i="1" sz="1100">
              <a:latin typeface="Proxima Nova"/>
              <a:ea typeface="Proxima Nova"/>
              <a:cs typeface="Proxima Nova"/>
              <a:sym typeface="Proxima Nova"/>
            </a:endParaRPr>
          </a:p>
        </p:txBody>
      </p:sp>
      <p:sp>
        <p:nvSpPr>
          <p:cNvPr id="114" name="Google Shape;114;p17"/>
          <p:cNvSpPr txBox="1"/>
          <p:nvPr/>
        </p:nvSpPr>
        <p:spPr>
          <a:xfrm>
            <a:off x="1517525" y="4306000"/>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chemeClr val="dk1"/>
                </a:solidFill>
                <a:latin typeface="Proxima Nova"/>
                <a:ea typeface="Proxima Nova"/>
                <a:cs typeface="Proxima Nova"/>
                <a:sym typeface="Proxima Nova"/>
              </a:rPr>
              <a:t>If you star or favorite a restaurant, certain fees are waived, specifically the delivery fee.</a:t>
            </a:r>
            <a:endParaRPr i="1" sz="1100">
              <a:latin typeface="Proxima Nova"/>
              <a:ea typeface="Proxima Nova"/>
              <a:cs typeface="Proxima Nova"/>
              <a:sym typeface="Proxima Nova"/>
            </a:endParaRPr>
          </a:p>
        </p:txBody>
      </p:sp>
      <p:pic>
        <p:nvPicPr>
          <p:cNvPr id="115" name="Google Shape;115;p17"/>
          <p:cNvPicPr preferRelativeResize="0"/>
          <p:nvPr/>
        </p:nvPicPr>
        <p:blipFill>
          <a:blip r:embed="rId3">
            <a:alphaModFix/>
          </a:blip>
          <a:stretch>
            <a:fillRect/>
          </a:stretch>
        </p:blipFill>
        <p:spPr>
          <a:xfrm>
            <a:off x="306225" y="1089231"/>
            <a:ext cx="707601" cy="707601"/>
          </a:xfrm>
          <a:prstGeom prst="rect">
            <a:avLst/>
          </a:prstGeom>
          <a:noFill/>
          <a:ln>
            <a:noFill/>
          </a:ln>
        </p:spPr>
      </p:pic>
      <p:pic>
        <p:nvPicPr>
          <p:cNvPr id="116" name="Google Shape;116;p17"/>
          <p:cNvPicPr preferRelativeResize="0"/>
          <p:nvPr/>
        </p:nvPicPr>
        <p:blipFill>
          <a:blip r:embed="rId3">
            <a:alphaModFix/>
          </a:blip>
          <a:stretch>
            <a:fillRect/>
          </a:stretch>
        </p:blipFill>
        <p:spPr>
          <a:xfrm>
            <a:off x="1096400" y="2058704"/>
            <a:ext cx="268725" cy="268725"/>
          </a:xfrm>
          <a:prstGeom prst="rect">
            <a:avLst/>
          </a:prstGeom>
          <a:noFill/>
          <a:ln>
            <a:noFill/>
          </a:ln>
        </p:spPr>
      </p:pic>
      <p:pic>
        <p:nvPicPr>
          <p:cNvPr id="117" name="Google Shape;117;p17"/>
          <p:cNvPicPr preferRelativeResize="0"/>
          <p:nvPr/>
        </p:nvPicPr>
        <p:blipFill>
          <a:blip r:embed="rId3">
            <a:alphaModFix/>
          </a:blip>
          <a:stretch>
            <a:fillRect/>
          </a:stretch>
        </p:blipFill>
        <p:spPr>
          <a:xfrm>
            <a:off x="1096400" y="2651551"/>
            <a:ext cx="268725" cy="268725"/>
          </a:xfrm>
          <a:prstGeom prst="rect">
            <a:avLst/>
          </a:prstGeom>
          <a:noFill/>
          <a:ln>
            <a:noFill/>
          </a:ln>
        </p:spPr>
      </p:pic>
      <p:pic>
        <p:nvPicPr>
          <p:cNvPr id="118" name="Google Shape;118;p17"/>
          <p:cNvPicPr preferRelativeResize="0"/>
          <p:nvPr/>
        </p:nvPicPr>
        <p:blipFill>
          <a:blip r:embed="rId3">
            <a:alphaModFix/>
          </a:blip>
          <a:stretch>
            <a:fillRect/>
          </a:stretch>
        </p:blipFill>
        <p:spPr>
          <a:xfrm>
            <a:off x="1096400" y="3244398"/>
            <a:ext cx="268725" cy="268725"/>
          </a:xfrm>
          <a:prstGeom prst="rect">
            <a:avLst/>
          </a:prstGeom>
          <a:noFill/>
          <a:ln>
            <a:noFill/>
          </a:ln>
        </p:spPr>
      </p:pic>
      <p:pic>
        <p:nvPicPr>
          <p:cNvPr id="119" name="Google Shape;119;p17"/>
          <p:cNvPicPr preferRelativeResize="0"/>
          <p:nvPr/>
        </p:nvPicPr>
        <p:blipFill>
          <a:blip r:embed="rId3">
            <a:alphaModFix/>
          </a:blip>
          <a:stretch>
            <a:fillRect/>
          </a:stretch>
        </p:blipFill>
        <p:spPr>
          <a:xfrm>
            <a:off x="1096400" y="3837245"/>
            <a:ext cx="268725" cy="268725"/>
          </a:xfrm>
          <a:prstGeom prst="rect">
            <a:avLst/>
          </a:prstGeom>
          <a:noFill/>
          <a:ln>
            <a:noFill/>
          </a:ln>
        </p:spPr>
      </p:pic>
      <p:pic>
        <p:nvPicPr>
          <p:cNvPr id="120" name="Google Shape;120;p17"/>
          <p:cNvPicPr preferRelativeResize="0"/>
          <p:nvPr/>
        </p:nvPicPr>
        <p:blipFill>
          <a:blip r:embed="rId3">
            <a:alphaModFix/>
          </a:blip>
          <a:stretch>
            <a:fillRect/>
          </a:stretch>
        </p:blipFill>
        <p:spPr>
          <a:xfrm>
            <a:off x="1096400" y="4430092"/>
            <a:ext cx="268725" cy="268725"/>
          </a:xfrm>
          <a:prstGeom prst="rect">
            <a:avLst/>
          </a:prstGeom>
          <a:noFill/>
          <a:ln>
            <a:noFill/>
          </a:ln>
        </p:spPr>
      </p:pic>
      <p:sp>
        <p:nvSpPr>
          <p:cNvPr id="121" name="Google Shape;121;p17"/>
          <p:cNvSpPr txBox="1"/>
          <p:nvPr/>
        </p:nvSpPr>
        <p:spPr>
          <a:xfrm>
            <a:off x="6185225" y="2551525"/>
            <a:ext cx="2790300" cy="20472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2"/>
              </a:buClr>
              <a:buSzPts val="1200"/>
              <a:buFont typeface="Proxima Nova"/>
              <a:buChar char="●"/>
            </a:pPr>
            <a:r>
              <a:rPr lang="en" sz="1200">
                <a:solidFill>
                  <a:schemeClr val="dk2"/>
                </a:solidFill>
                <a:latin typeface="Proxima Nova"/>
                <a:ea typeface="Proxima Nova"/>
                <a:cs typeface="Proxima Nova"/>
                <a:sym typeface="Proxima Nova"/>
              </a:rPr>
              <a:t>Only </a:t>
            </a:r>
            <a:r>
              <a:rPr lang="en" sz="1200">
                <a:solidFill>
                  <a:schemeClr val="dk2"/>
                </a:solidFill>
                <a:latin typeface="Proxima Nova"/>
                <a:ea typeface="Proxima Nova"/>
                <a:cs typeface="Proxima Nova"/>
                <a:sym typeface="Proxima Nova"/>
              </a:rPr>
              <a:t>frequently ordered Rx can be starred</a:t>
            </a:r>
            <a:endParaRPr sz="1200">
              <a:solidFill>
                <a:schemeClr val="dk2"/>
              </a:solidFill>
              <a:latin typeface="Proxima Nova"/>
              <a:ea typeface="Proxima Nova"/>
              <a:cs typeface="Proxima Nova"/>
              <a:sym typeface="Proxima Nova"/>
            </a:endParaRPr>
          </a:p>
          <a:p>
            <a:pPr indent="-304800" lvl="0" marL="457200" rtl="0" algn="l">
              <a:spcBef>
                <a:spcPts val="1000"/>
              </a:spcBef>
              <a:spcAft>
                <a:spcPts val="0"/>
              </a:spcAft>
              <a:buClr>
                <a:schemeClr val="dk2"/>
              </a:buClr>
              <a:buSzPts val="1200"/>
              <a:buFont typeface="Proxima Nova"/>
              <a:buChar char="●"/>
            </a:pPr>
            <a:r>
              <a:rPr lang="en" sz="1200">
                <a:solidFill>
                  <a:schemeClr val="dk2"/>
                </a:solidFill>
                <a:latin typeface="Proxima Nova"/>
                <a:ea typeface="Proxima Nova"/>
                <a:cs typeface="Proxima Nova"/>
                <a:sym typeface="Proxima Nova"/>
              </a:rPr>
              <a:t>Starred Rx always show at the top of your screen</a:t>
            </a:r>
            <a:endParaRPr sz="1200">
              <a:solidFill>
                <a:schemeClr val="dk2"/>
              </a:solidFill>
              <a:latin typeface="Proxima Nova"/>
              <a:ea typeface="Proxima Nova"/>
              <a:cs typeface="Proxima Nova"/>
              <a:sym typeface="Proxima Nova"/>
            </a:endParaRPr>
          </a:p>
          <a:p>
            <a:pPr indent="-304800" lvl="0" marL="457200" rtl="0" algn="l">
              <a:spcBef>
                <a:spcPts val="1000"/>
              </a:spcBef>
              <a:spcAft>
                <a:spcPts val="0"/>
              </a:spcAft>
              <a:buClr>
                <a:schemeClr val="dk2"/>
              </a:buClr>
              <a:buSzPts val="1200"/>
              <a:buFont typeface="Proxima Nova"/>
              <a:buChar char="●"/>
            </a:pPr>
            <a:r>
              <a:rPr lang="en" sz="1200">
                <a:solidFill>
                  <a:schemeClr val="dk2"/>
                </a:solidFill>
                <a:latin typeface="Proxima Nova"/>
                <a:ea typeface="Proxima Nova"/>
                <a:cs typeface="Proxima Nova"/>
                <a:sym typeface="Proxima Nova"/>
              </a:rPr>
              <a:t>Incorrect number to star or to switch</a:t>
            </a:r>
            <a:endParaRPr sz="1200">
              <a:solidFill>
                <a:schemeClr val="dk2"/>
              </a:solidFill>
              <a:latin typeface="Proxima Nova"/>
              <a:ea typeface="Proxima Nova"/>
              <a:cs typeface="Proxima Nova"/>
              <a:sym typeface="Proxima Nova"/>
            </a:endParaRPr>
          </a:p>
          <a:p>
            <a:pPr indent="-304800" lvl="0" marL="457200" rtl="0" algn="l">
              <a:spcBef>
                <a:spcPts val="1000"/>
              </a:spcBef>
              <a:spcAft>
                <a:spcPts val="1000"/>
              </a:spcAft>
              <a:buClr>
                <a:schemeClr val="dk2"/>
              </a:buClr>
              <a:buSzPts val="1200"/>
              <a:buFont typeface="Proxima Nova"/>
              <a:buChar char="●"/>
            </a:pPr>
            <a:r>
              <a:rPr lang="en" sz="1200">
                <a:solidFill>
                  <a:schemeClr val="dk2"/>
                </a:solidFill>
                <a:latin typeface="Proxima Nova"/>
                <a:ea typeface="Proxima Nova"/>
                <a:cs typeface="Proxima Nova"/>
                <a:sym typeface="Proxima Nova"/>
              </a:rPr>
              <a:t>You save on both fees and taxes</a:t>
            </a:r>
            <a:endParaRPr sz="1200">
              <a:solidFill>
                <a:schemeClr val="dk2"/>
              </a:solidFill>
              <a:latin typeface="Proxima Nova"/>
              <a:ea typeface="Proxima Nova"/>
              <a:cs typeface="Proxima Nova"/>
              <a:sym typeface="Proxima Nova"/>
            </a:endParaRPr>
          </a:p>
        </p:txBody>
      </p:sp>
      <p:pic>
        <p:nvPicPr>
          <p:cNvPr id="122" name="Google Shape;122;p17"/>
          <p:cNvPicPr preferRelativeResize="0"/>
          <p:nvPr/>
        </p:nvPicPr>
        <p:blipFill>
          <a:blip r:embed="rId4">
            <a:alphaModFix/>
          </a:blip>
          <a:stretch>
            <a:fillRect/>
          </a:stretch>
        </p:blipFill>
        <p:spPr>
          <a:xfrm>
            <a:off x="7327200" y="1279075"/>
            <a:ext cx="619101" cy="619101"/>
          </a:xfrm>
          <a:prstGeom prst="rect">
            <a:avLst/>
          </a:prstGeom>
          <a:noFill/>
          <a:ln>
            <a:noFill/>
          </a:ln>
        </p:spPr>
      </p:pic>
      <p:sp>
        <p:nvSpPr>
          <p:cNvPr id="123" name="Google Shape;123;p17"/>
          <p:cNvSpPr txBox="1"/>
          <p:nvPr/>
        </p:nvSpPr>
        <p:spPr>
          <a:xfrm>
            <a:off x="202800" y="4789975"/>
            <a:ext cx="4204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latin typeface="Proxima Nova"/>
                <a:ea typeface="Proxima Nova"/>
                <a:cs typeface="Proxima Nova"/>
                <a:sym typeface="Proxima Nova"/>
              </a:rPr>
              <a:t>N=24 unaided recall</a:t>
            </a:r>
            <a:endParaRPr sz="700">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18"/>
          <p:cNvSpPr txBox="1"/>
          <p:nvPr/>
        </p:nvSpPr>
        <p:spPr>
          <a:xfrm>
            <a:off x="362900" y="265450"/>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666666"/>
                </a:solidFill>
                <a:latin typeface="Proxima Nova"/>
                <a:ea typeface="Proxima Nova"/>
                <a:cs typeface="Proxima Nova"/>
                <a:sym typeface="Proxima Nova"/>
              </a:rPr>
              <a:t>Cx that are aware of Star and Save and generally strong sentiment to it</a:t>
            </a:r>
            <a:endParaRPr b="1" sz="2100">
              <a:solidFill>
                <a:srgbClr val="666666"/>
              </a:solidFill>
              <a:latin typeface="Proxima Nova"/>
              <a:ea typeface="Proxima Nova"/>
              <a:cs typeface="Proxima Nova"/>
              <a:sym typeface="Proxima Nova"/>
            </a:endParaRPr>
          </a:p>
        </p:txBody>
      </p:sp>
      <p:sp>
        <p:nvSpPr>
          <p:cNvPr id="130" name="Google Shape;130;p18"/>
          <p:cNvSpPr txBox="1"/>
          <p:nvPr/>
        </p:nvSpPr>
        <p:spPr>
          <a:xfrm>
            <a:off x="158125" y="4713775"/>
            <a:ext cx="4204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latin typeface="Proxima Nova"/>
                <a:ea typeface="Proxima Nova"/>
                <a:cs typeface="Proxima Nova"/>
                <a:sym typeface="Proxima Nova"/>
              </a:rPr>
              <a:t>N=51 Cx who are in Star and Save treatment group</a:t>
            </a:r>
            <a:endParaRPr sz="700">
              <a:latin typeface="Proxima Nova"/>
              <a:ea typeface="Proxima Nova"/>
              <a:cs typeface="Proxima Nova"/>
              <a:sym typeface="Proxima Nova"/>
            </a:endParaRPr>
          </a:p>
        </p:txBody>
      </p:sp>
      <p:sp>
        <p:nvSpPr>
          <p:cNvPr id="131" name="Google Shape;131;p18"/>
          <p:cNvSpPr txBox="1"/>
          <p:nvPr/>
        </p:nvSpPr>
        <p:spPr>
          <a:xfrm>
            <a:off x="1593725" y="1331300"/>
            <a:ext cx="51249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Proxima Nova"/>
                <a:ea typeface="Proxima Nova"/>
                <a:cs typeface="Proxima Nova"/>
                <a:sym typeface="Proxima Nova"/>
              </a:rPr>
              <a:t>58% </a:t>
            </a:r>
            <a:r>
              <a:rPr lang="en" sz="1500">
                <a:solidFill>
                  <a:schemeClr val="dk2"/>
                </a:solidFill>
                <a:latin typeface="Proxima Nova"/>
                <a:ea typeface="Proxima Nova"/>
                <a:cs typeface="Proxima Nova"/>
                <a:sym typeface="Proxima Nova"/>
              </a:rPr>
              <a:t>of Cx rated “Star and Save” as </a:t>
            </a:r>
            <a:r>
              <a:rPr b="1" lang="en" sz="1500">
                <a:solidFill>
                  <a:srgbClr val="CC0000"/>
                </a:solidFill>
                <a:latin typeface="Proxima Nova"/>
                <a:ea typeface="Proxima Nova"/>
                <a:cs typeface="Proxima Nova"/>
                <a:sym typeface="Proxima Nova"/>
              </a:rPr>
              <a:t>extremely or somewhat useful</a:t>
            </a:r>
            <a:endParaRPr b="1" sz="1500">
              <a:solidFill>
                <a:srgbClr val="CC0000"/>
              </a:solidFill>
              <a:latin typeface="Proxima Nova"/>
              <a:ea typeface="Proxima Nova"/>
              <a:cs typeface="Proxima Nova"/>
              <a:sym typeface="Proxima Nova"/>
            </a:endParaRPr>
          </a:p>
        </p:txBody>
      </p:sp>
      <p:sp>
        <p:nvSpPr>
          <p:cNvPr id="132" name="Google Shape;132;p18"/>
          <p:cNvSpPr txBox="1"/>
          <p:nvPr/>
        </p:nvSpPr>
        <p:spPr>
          <a:xfrm>
            <a:off x="1593725" y="2389125"/>
            <a:ext cx="51249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Proxima Nova"/>
                <a:ea typeface="Proxima Nova"/>
                <a:cs typeface="Proxima Nova"/>
                <a:sym typeface="Proxima Nova"/>
              </a:rPr>
              <a:t>65</a:t>
            </a:r>
            <a:r>
              <a:rPr b="1" lang="en" sz="1500">
                <a:solidFill>
                  <a:schemeClr val="dk2"/>
                </a:solidFill>
                <a:latin typeface="Proxima Nova"/>
                <a:ea typeface="Proxima Nova"/>
                <a:cs typeface="Proxima Nova"/>
                <a:sym typeface="Proxima Nova"/>
              </a:rPr>
              <a:t>% </a:t>
            </a:r>
            <a:r>
              <a:rPr lang="en" sz="1500">
                <a:solidFill>
                  <a:schemeClr val="dk2"/>
                </a:solidFill>
                <a:latin typeface="Proxima Nova"/>
                <a:ea typeface="Proxima Nova"/>
                <a:cs typeface="Proxima Nova"/>
                <a:sym typeface="Proxima Nova"/>
              </a:rPr>
              <a:t>of Cx rated “Star and Save” as </a:t>
            </a:r>
            <a:r>
              <a:rPr b="1" lang="en" sz="1500">
                <a:solidFill>
                  <a:srgbClr val="3C78D8"/>
                </a:solidFill>
                <a:latin typeface="Proxima Nova"/>
                <a:ea typeface="Proxima Nova"/>
                <a:cs typeface="Proxima Nova"/>
                <a:sym typeface="Proxima Nova"/>
              </a:rPr>
              <a:t>extremely or somewhat easy to use</a:t>
            </a:r>
            <a:endParaRPr b="1" sz="1500">
              <a:solidFill>
                <a:srgbClr val="3C78D8"/>
              </a:solidFill>
              <a:latin typeface="Proxima Nova"/>
              <a:ea typeface="Proxima Nova"/>
              <a:cs typeface="Proxima Nova"/>
              <a:sym typeface="Proxima Nova"/>
            </a:endParaRPr>
          </a:p>
        </p:txBody>
      </p:sp>
      <p:sp>
        <p:nvSpPr>
          <p:cNvPr id="133" name="Google Shape;133;p18"/>
          <p:cNvSpPr txBox="1"/>
          <p:nvPr/>
        </p:nvSpPr>
        <p:spPr>
          <a:xfrm>
            <a:off x="1593725" y="3512425"/>
            <a:ext cx="46008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Proxima Nova"/>
                <a:ea typeface="Proxima Nova"/>
                <a:cs typeface="Proxima Nova"/>
                <a:sym typeface="Proxima Nova"/>
              </a:rPr>
              <a:t>41</a:t>
            </a:r>
            <a:r>
              <a:rPr b="1" lang="en" sz="1500">
                <a:solidFill>
                  <a:schemeClr val="dk2"/>
                </a:solidFill>
                <a:latin typeface="Proxima Nova"/>
                <a:ea typeface="Proxima Nova"/>
                <a:cs typeface="Proxima Nova"/>
                <a:sym typeface="Proxima Nova"/>
              </a:rPr>
              <a:t>%</a:t>
            </a:r>
            <a:r>
              <a:rPr lang="en" sz="1500">
                <a:solidFill>
                  <a:schemeClr val="dk2"/>
                </a:solidFill>
                <a:latin typeface="Proxima Nova"/>
                <a:ea typeface="Proxima Nova"/>
                <a:cs typeface="Proxima Nova"/>
                <a:sym typeface="Proxima Nova"/>
              </a:rPr>
              <a:t> of Cx rated were </a:t>
            </a:r>
            <a:r>
              <a:rPr b="1" lang="en" sz="1500">
                <a:solidFill>
                  <a:srgbClr val="674EA7"/>
                </a:solidFill>
                <a:latin typeface="Proxima Nova"/>
                <a:ea typeface="Proxima Nova"/>
                <a:cs typeface="Proxima Nova"/>
                <a:sym typeface="Proxima Nova"/>
              </a:rPr>
              <a:t>extremely or somewhat satisfied </a:t>
            </a:r>
            <a:r>
              <a:rPr lang="en" sz="1500">
                <a:solidFill>
                  <a:schemeClr val="dk2"/>
                </a:solidFill>
                <a:latin typeface="Proxima Nova"/>
                <a:ea typeface="Proxima Nova"/>
                <a:cs typeface="Proxima Nova"/>
                <a:sym typeface="Proxima Nova"/>
              </a:rPr>
              <a:t>with Star and Save as an offering</a:t>
            </a:r>
            <a:endParaRPr sz="1500">
              <a:solidFill>
                <a:schemeClr val="dk2"/>
              </a:solidFill>
              <a:latin typeface="Proxima Nova"/>
              <a:ea typeface="Proxima Nova"/>
              <a:cs typeface="Proxima Nova"/>
              <a:sym typeface="Proxima Nova"/>
            </a:endParaRPr>
          </a:p>
        </p:txBody>
      </p:sp>
      <p:pic>
        <p:nvPicPr>
          <p:cNvPr id="134" name="Google Shape;134;p18"/>
          <p:cNvPicPr preferRelativeResize="0"/>
          <p:nvPr/>
        </p:nvPicPr>
        <p:blipFill>
          <a:blip r:embed="rId3">
            <a:alphaModFix/>
          </a:blip>
          <a:stretch>
            <a:fillRect/>
          </a:stretch>
        </p:blipFill>
        <p:spPr>
          <a:xfrm>
            <a:off x="457040" y="1096400"/>
            <a:ext cx="859371" cy="859401"/>
          </a:xfrm>
          <a:prstGeom prst="rect">
            <a:avLst/>
          </a:prstGeom>
          <a:noFill/>
          <a:ln>
            <a:noFill/>
          </a:ln>
        </p:spPr>
      </p:pic>
      <p:pic>
        <p:nvPicPr>
          <p:cNvPr id="135" name="Google Shape;135;p18"/>
          <p:cNvPicPr preferRelativeResize="0"/>
          <p:nvPr/>
        </p:nvPicPr>
        <p:blipFill>
          <a:blip r:embed="rId4">
            <a:alphaModFix/>
          </a:blip>
          <a:stretch>
            <a:fillRect/>
          </a:stretch>
        </p:blipFill>
        <p:spPr>
          <a:xfrm>
            <a:off x="303875" y="2160663"/>
            <a:ext cx="1165701" cy="1165701"/>
          </a:xfrm>
          <a:prstGeom prst="rect">
            <a:avLst/>
          </a:prstGeom>
          <a:noFill/>
          <a:ln>
            <a:noFill/>
          </a:ln>
        </p:spPr>
      </p:pic>
      <p:pic>
        <p:nvPicPr>
          <p:cNvPr id="136" name="Google Shape;136;p18"/>
          <p:cNvPicPr preferRelativeResize="0"/>
          <p:nvPr/>
        </p:nvPicPr>
        <p:blipFill>
          <a:blip r:embed="rId5">
            <a:alphaModFix/>
          </a:blip>
          <a:stretch>
            <a:fillRect/>
          </a:stretch>
        </p:blipFill>
        <p:spPr>
          <a:xfrm>
            <a:off x="612376" y="3531226"/>
            <a:ext cx="548700" cy="54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p:nvPr/>
        </p:nvSpPr>
        <p:spPr>
          <a:xfrm>
            <a:off x="5329525" y="1404475"/>
            <a:ext cx="3515700" cy="3320400"/>
          </a:xfrm>
          <a:prstGeom prst="rect">
            <a:avLst/>
          </a:prstGeom>
          <a:solidFill>
            <a:srgbClr val="3C78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9"/>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19"/>
          <p:cNvSpPr txBox="1"/>
          <p:nvPr/>
        </p:nvSpPr>
        <p:spPr>
          <a:xfrm>
            <a:off x="362900" y="337725"/>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666666"/>
                </a:solidFill>
                <a:latin typeface="Proxima Nova"/>
                <a:ea typeface="Proxima Nova"/>
                <a:cs typeface="Proxima Nova"/>
                <a:sym typeface="Proxima Nova"/>
              </a:rPr>
              <a:t>Cx are likely to </a:t>
            </a:r>
            <a:r>
              <a:rPr b="1" lang="en" sz="2100">
                <a:solidFill>
                  <a:srgbClr val="666666"/>
                </a:solidFill>
                <a:latin typeface="Proxima Nova"/>
                <a:ea typeface="Proxima Nova"/>
                <a:cs typeface="Proxima Nova"/>
                <a:sym typeface="Proxima Nova"/>
              </a:rPr>
              <a:t>forget</a:t>
            </a:r>
            <a:r>
              <a:rPr b="1" lang="en" sz="2100">
                <a:solidFill>
                  <a:srgbClr val="666666"/>
                </a:solidFill>
                <a:latin typeface="Proxima Nova"/>
                <a:ea typeface="Proxima Nova"/>
                <a:cs typeface="Proxima Nova"/>
                <a:sym typeface="Proxima Nova"/>
              </a:rPr>
              <a:t> to “go back” to finish starring all 3 Rx</a:t>
            </a:r>
            <a:endParaRPr b="1" sz="2100">
              <a:solidFill>
                <a:srgbClr val="666666"/>
              </a:solidFill>
              <a:latin typeface="Proxima Nova"/>
              <a:ea typeface="Proxima Nova"/>
              <a:cs typeface="Proxima Nova"/>
              <a:sym typeface="Proxima Nova"/>
            </a:endParaRPr>
          </a:p>
        </p:txBody>
      </p:sp>
      <p:pic>
        <p:nvPicPr>
          <p:cNvPr id="144" name="Google Shape;144;p19"/>
          <p:cNvPicPr preferRelativeResize="0"/>
          <p:nvPr/>
        </p:nvPicPr>
        <p:blipFill>
          <a:blip r:embed="rId3">
            <a:alphaModFix/>
          </a:blip>
          <a:stretch>
            <a:fillRect/>
          </a:stretch>
        </p:blipFill>
        <p:spPr>
          <a:xfrm>
            <a:off x="362900" y="1550700"/>
            <a:ext cx="4600449" cy="2844600"/>
          </a:xfrm>
          <a:prstGeom prst="rect">
            <a:avLst/>
          </a:prstGeom>
          <a:noFill/>
          <a:ln>
            <a:noFill/>
          </a:ln>
        </p:spPr>
      </p:pic>
      <p:sp>
        <p:nvSpPr>
          <p:cNvPr id="145" name="Google Shape;145;p19"/>
          <p:cNvSpPr txBox="1"/>
          <p:nvPr/>
        </p:nvSpPr>
        <p:spPr>
          <a:xfrm>
            <a:off x="431825" y="1192800"/>
            <a:ext cx="43863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Proxima Nova"/>
                <a:ea typeface="Proxima Nova"/>
                <a:cs typeface="Proxima Nova"/>
                <a:sym typeface="Proxima Nova"/>
              </a:rPr>
              <a:t>Number of items Cx indicated they “starred”:</a:t>
            </a:r>
            <a:endParaRPr b="1" sz="1200">
              <a:solidFill>
                <a:schemeClr val="dk2"/>
              </a:solidFill>
              <a:latin typeface="Proxima Nova"/>
              <a:ea typeface="Proxima Nova"/>
              <a:cs typeface="Proxima Nova"/>
              <a:sym typeface="Proxima Nova"/>
            </a:endParaRPr>
          </a:p>
        </p:txBody>
      </p:sp>
      <p:sp>
        <p:nvSpPr>
          <p:cNvPr id="146" name="Google Shape;146;p19"/>
          <p:cNvSpPr txBox="1"/>
          <p:nvPr/>
        </p:nvSpPr>
        <p:spPr>
          <a:xfrm>
            <a:off x="6027025" y="1608675"/>
            <a:ext cx="28182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Proxima Nova"/>
                <a:ea typeface="Proxima Nova"/>
                <a:cs typeface="Proxima Nova"/>
                <a:sym typeface="Proxima Nova"/>
              </a:rPr>
              <a:t>Of the 5 Cx that only “starred” one store, 2 used the pre selected store.</a:t>
            </a:r>
            <a:endParaRPr b="1" sz="1200">
              <a:solidFill>
                <a:schemeClr val="lt1"/>
              </a:solidFill>
              <a:latin typeface="Proxima Nova"/>
              <a:ea typeface="Proxima Nova"/>
              <a:cs typeface="Proxima Nova"/>
              <a:sym typeface="Proxima Nova"/>
            </a:endParaRPr>
          </a:p>
        </p:txBody>
      </p:sp>
      <p:sp>
        <p:nvSpPr>
          <p:cNvPr id="147" name="Google Shape;147;p19"/>
          <p:cNvSpPr txBox="1"/>
          <p:nvPr/>
        </p:nvSpPr>
        <p:spPr>
          <a:xfrm>
            <a:off x="5505325" y="2148650"/>
            <a:ext cx="31641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lt1"/>
                </a:solidFill>
                <a:latin typeface="Proxima Nova"/>
                <a:ea typeface="Proxima Nova"/>
                <a:cs typeface="Proxima Nova"/>
                <a:sym typeface="Proxima Nova"/>
              </a:rPr>
              <a:t>These Cx indicated that they had not “Starred” more Rx because they haven’t gone back to it yet or couldn’t decide.</a:t>
            </a:r>
            <a:endParaRPr b="1" sz="12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b="1" sz="1200">
              <a:solidFill>
                <a:schemeClr val="lt1"/>
              </a:solidFill>
              <a:latin typeface="Proxima Nova"/>
              <a:ea typeface="Proxima Nova"/>
              <a:cs typeface="Proxima Nova"/>
              <a:sym typeface="Proxima Nova"/>
            </a:endParaRPr>
          </a:p>
          <a:p>
            <a:pPr indent="-304800" lvl="0" marL="457200" rtl="0" algn="l">
              <a:spcBef>
                <a:spcPts val="0"/>
              </a:spcBef>
              <a:spcAft>
                <a:spcPts val="0"/>
              </a:spcAft>
              <a:buClr>
                <a:schemeClr val="lt1"/>
              </a:buClr>
              <a:buSzPts val="1200"/>
              <a:buFont typeface="Proxima Nova"/>
              <a:buChar char="●"/>
            </a:pPr>
            <a:r>
              <a:rPr i="1" lang="en" sz="1200">
                <a:solidFill>
                  <a:schemeClr val="lt1"/>
                </a:solidFill>
                <a:latin typeface="Proxima Nova"/>
                <a:ea typeface="Proxima Nova"/>
                <a:cs typeface="Proxima Nova"/>
                <a:sym typeface="Proxima Nova"/>
              </a:rPr>
              <a:t>“I got distracted and forgot to go back and finish”</a:t>
            </a:r>
            <a:endParaRPr i="1" sz="1200">
              <a:solidFill>
                <a:schemeClr val="lt1"/>
              </a:solidFill>
              <a:latin typeface="Proxima Nova"/>
              <a:ea typeface="Proxima Nova"/>
              <a:cs typeface="Proxima Nova"/>
              <a:sym typeface="Proxima Nova"/>
            </a:endParaRPr>
          </a:p>
          <a:p>
            <a:pPr indent="-304800" lvl="0" marL="457200" rtl="0" algn="l">
              <a:spcBef>
                <a:spcPts val="1000"/>
              </a:spcBef>
              <a:spcAft>
                <a:spcPts val="0"/>
              </a:spcAft>
              <a:buClr>
                <a:schemeClr val="lt1"/>
              </a:buClr>
              <a:buSzPts val="1200"/>
              <a:buFont typeface="Proxima Nova"/>
              <a:buChar char="●"/>
            </a:pPr>
            <a:r>
              <a:rPr i="1" lang="en" sz="1200">
                <a:solidFill>
                  <a:schemeClr val="lt1"/>
                </a:solidFill>
                <a:latin typeface="Proxima Nova"/>
                <a:ea typeface="Proxima Nova"/>
                <a:cs typeface="Proxima Nova"/>
                <a:sym typeface="Proxima Nova"/>
              </a:rPr>
              <a:t>“I haven’t had a chance to add more”</a:t>
            </a:r>
            <a:endParaRPr i="1" sz="1200">
              <a:solidFill>
                <a:schemeClr val="lt1"/>
              </a:solidFill>
              <a:latin typeface="Proxima Nova"/>
              <a:ea typeface="Proxima Nova"/>
              <a:cs typeface="Proxima Nova"/>
              <a:sym typeface="Proxima Nova"/>
            </a:endParaRPr>
          </a:p>
          <a:p>
            <a:pPr indent="-304800" lvl="0" marL="457200" rtl="0" algn="l">
              <a:spcBef>
                <a:spcPts val="1000"/>
              </a:spcBef>
              <a:spcAft>
                <a:spcPts val="0"/>
              </a:spcAft>
              <a:buClr>
                <a:schemeClr val="lt1"/>
              </a:buClr>
              <a:buSzPts val="1200"/>
              <a:buFont typeface="Proxima Nova"/>
              <a:buChar char="●"/>
            </a:pPr>
            <a:r>
              <a:rPr i="1" lang="en" sz="1200">
                <a:solidFill>
                  <a:schemeClr val="lt1"/>
                </a:solidFill>
                <a:latin typeface="Proxima Nova"/>
                <a:ea typeface="Proxima Nova"/>
                <a:cs typeface="Proxima Nova"/>
                <a:sym typeface="Proxima Nova"/>
              </a:rPr>
              <a:t>“I’m not sure what other restaurants I would regularly order from”</a:t>
            </a:r>
            <a:endParaRPr i="1" sz="1200">
              <a:solidFill>
                <a:schemeClr val="lt1"/>
              </a:solidFill>
              <a:latin typeface="Proxima Nova"/>
              <a:ea typeface="Proxima Nova"/>
              <a:cs typeface="Proxima Nova"/>
              <a:sym typeface="Proxima Nova"/>
            </a:endParaRPr>
          </a:p>
          <a:p>
            <a:pPr indent="-304800" lvl="0" marL="457200" rtl="0" algn="l">
              <a:spcBef>
                <a:spcPts val="1000"/>
              </a:spcBef>
              <a:spcAft>
                <a:spcPts val="1000"/>
              </a:spcAft>
              <a:buClr>
                <a:schemeClr val="lt1"/>
              </a:buClr>
              <a:buSzPts val="1200"/>
              <a:buFont typeface="Proxima Nova"/>
              <a:buChar char="●"/>
            </a:pPr>
            <a:r>
              <a:rPr i="1" lang="en" sz="1200">
                <a:solidFill>
                  <a:schemeClr val="lt1"/>
                </a:solidFill>
                <a:latin typeface="Proxima Nova"/>
                <a:ea typeface="Proxima Nova"/>
                <a:cs typeface="Proxima Nova"/>
                <a:sym typeface="Proxima Nova"/>
              </a:rPr>
              <a:t>“I have not </a:t>
            </a:r>
            <a:r>
              <a:rPr i="1" lang="en" sz="1200">
                <a:solidFill>
                  <a:schemeClr val="lt1"/>
                </a:solidFill>
                <a:latin typeface="Proxima Nova"/>
                <a:ea typeface="Proxima Nova"/>
                <a:cs typeface="Proxima Nova"/>
                <a:sym typeface="Proxima Nova"/>
              </a:rPr>
              <a:t>confirmed other restaurants”</a:t>
            </a:r>
            <a:endParaRPr i="1" sz="1200">
              <a:solidFill>
                <a:schemeClr val="lt1"/>
              </a:solidFill>
              <a:latin typeface="Proxima Nova"/>
              <a:ea typeface="Proxima Nova"/>
              <a:cs typeface="Proxima Nova"/>
              <a:sym typeface="Proxima Nova"/>
            </a:endParaRPr>
          </a:p>
        </p:txBody>
      </p:sp>
      <p:pic>
        <p:nvPicPr>
          <p:cNvPr id="148" name="Google Shape;148;p19"/>
          <p:cNvPicPr preferRelativeResize="0"/>
          <p:nvPr/>
        </p:nvPicPr>
        <p:blipFill>
          <a:blip r:embed="rId4">
            <a:alphaModFix/>
          </a:blip>
          <a:stretch>
            <a:fillRect/>
          </a:stretch>
        </p:blipFill>
        <p:spPr>
          <a:xfrm>
            <a:off x="5508550" y="1626900"/>
            <a:ext cx="473850" cy="473850"/>
          </a:xfrm>
          <a:prstGeom prst="rect">
            <a:avLst/>
          </a:prstGeom>
          <a:noFill/>
          <a:ln>
            <a:noFill/>
          </a:ln>
        </p:spPr>
      </p:pic>
      <p:sp>
        <p:nvSpPr>
          <p:cNvPr id="149" name="Google Shape;149;p19"/>
          <p:cNvSpPr txBox="1"/>
          <p:nvPr/>
        </p:nvSpPr>
        <p:spPr>
          <a:xfrm>
            <a:off x="279000" y="4713775"/>
            <a:ext cx="4204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latin typeface="Proxima Nova"/>
                <a:ea typeface="Proxima Nova"/>
                <a:cs typeface="Proxima Nova"/>
                <a:sym typeface="Proxima Nova"/>
              </a:rPr>
              <a:t>N=25 Cx who starred an Rx</a:t>
            </a:r>
            <a:endParaRPr sz="700">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0"/>
          <p:cNvSpPr/>
          <p:nvPr/>
        </p:nvSpPr>
        <p:spPr>
          <a:xfrm>
            <a:off x="368450" y="2002975"/>
            <a:ext cx="2678700" cy="28182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0"/>
          <p:cNvSpPr/>
          <p:nvPr/>
        </p:nvSpPr>
        <p:spPr>
          <a:xfrm>
            <a:off x="3232125" y="2002975"/>
            <a:ext cx="2678700" cy="2818200"/>
          </a:xfrm>
          <a:prstGeom prst="rect">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0"/>
          <p:cNvSpPr/>
          <p:nvPr/>
        </p:nvSpPr>
        <p:spPr>
          <a:xfrm>
            <a:off x="6095800" y="2002975"/>
            <a:ext cx="2678700" cy="2818200"/>
          </a:xfrm>
          <a:prstGeom prst="rect">
            <a:avLst/>
          </a:prstGeom>
          <a:solidFill>
            <a:srgbClr val="D9D2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0"/>
          <p:cNvSpPr txBox="1"/>
          <p:nvPr/>
        </p:nvSpPr>
        <p:spPr>
          <a:xfrm>
            <a:off x="368450" y="1669425"/>
            <a:ext cx="26787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0B5394"/>
                </a:solidFill>
                <a:latin typeface="Proxima Nova"/>
                <a:ea typeface="Proxima Nova"/>
                <a:cs typeface="Proxima Nova"/>
                <a:sym typeface="Proxima Nova"/>
              </a:rPr>
              <a:t>Picking restaurants:</a:t>
            </a:r>
            <a:endParaRPr b="1" sz="1600">
              <a:solidFill>
                <a:srgbClr val="0B5394"/>
              </a:solidFill>
              <a:latin typeface="Proxima Nova"/>
              <a:ea typeface="Proxima Nova"/>
              <a:cs typeface="Proxima Nova"/>
              <a:sym typeface="Proxima Nova"/>
            </a:endParaRPr>
          </a:p>
        </p:txBody>
      </p:sp>
      <p:sp>
        <p:nvSpPr>
          <p:cNvPr id="159" name="Google Shape;159;p20"/>
          <p:cNvSpPr txBox="1"/>
          <p:nvPr/>
        </p:nvSpPr>
        <p:spPr>
          <a:xfrm>
            <a:off x="3199875" y="1669425"/>
            <a:ext cx="26787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BF9000"/>
                </a:solidFill>
                <a:latin typeface="Proxima Nova"/>
                <a:ea typeface="Proxima Nova"/>
                <a:cs typeface="Proxima Nova"/>
                <a:sym typeface="Proxima Nova"/>
              </a:rPr>
              <a:t>Placing an order at a starred Rx:</a:t>
            </a:r>
            <a:endParaRPr b="1" sz="1600">
              <a:solidFill>
                <a:srgbClr val="BF9000"/>
              </a:solidFill>
              <a:latin typeface="Proxima Nova"/>
              <a:ea typeface="Proxima Nova"/>
              <a:cs typeface="Proxima Nova"/>
              <a:sym typeface="Proxima Nova"/>
            </a:endParaRPr>
          </a:p>
        </p:txBody>
      </p:sp>
      <p:sp>
        <p:nvSpPr>
          <p:cNvPr id="160" name="Google Shape;160;p20"/>
          <p:cNvSpPr txBox="1"/>
          <p:nvPr/>
        </p:nvSpPr>
        <p:spPr>
          <a:xfrm>
            <a:off x="6095800" y="1669425"/>
            <a:ext cx="26787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rgbClr val="674EA7"/>
                </a:solidFill>
                <a:latin typeface="Proxima Nova"/>
                <a:ea typeface="Proxima Nova"/>
                <a:cs typeface="Proxima Nova"/>
                <a:sym typeface="Proxima Nova"/>
              </a:rPr>
              <a:t>Savings/Cost:</a:t>
            </a:r>
            <a:endParaRPr b="1" sz="1600">
              <a:solidFill>
                <a:srgbClr val="674EA7"/>
              </a:solidFill>
              <a:latin typeface="Proxima Nova"/>
              <a:ea typeface="Proxima Nova"/>
              <a:cs typeface="Proxima Nova"/>
              <a:sym typeface="Proxima Nova"/>
            </a:endParaRPr>
          </a:p>
        </p:txBody>
      </p:sp>
      <p:sp>
        <p:nvSpPr>
          <p:cNvPr id="161" name="Google Shape;161;p20"/>
          <p:cNvSpPr txBox="1"/>
          <p:nvPr/>
        </p:nvSpPr>
        <p:spPr>
          <a:xfrm>
            <a:off x="418550" y="2391275"/>
            <a:ext cx="2511300" cy="21858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Proxima Nova"/>
              <a:buChar char="●"/>
            </a:pPr>
            <a:r>
              <a:rPr i="1" lang="en" sz="1100">
                <a:solidFill>
                  <a:schemeClr val="dk1"/>
                </a:solidFill>
                <a:latin typeface="Proxima Nova"/>
                <a:ea typeface="Proxima Nova"/>
                <a:cs typeface="Proxima Nova"/>
                <a:sym typeface="Proxima Nova"/>
              </a:rPr>
              <a:t>Do you just start starring your three places, or do you have to opt in to this first?</a:t>
            </a:r>
            <a:endParaRPr i="1" sz="1100">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i="1" sz="1100">
              <a:solidFill>
                <a:schemeClr val="dk1"/>
              </a:solidFill>
              <a:latin typeface="Proxima Nova"/>
              <a:ea typeface="Proxima Nova"/>
              <a:cs typeface="Proxima Nova"/>
              <a:sym typeface="Proxima Nova"/>
            </a:endParaRPr>
          </a:p>
          <a:p>
            <a:pPr indent="-295275" lvl="0" marL="457200" rtl="0" algn="l">
              <a:spcBef>
                <a:spcPts val="0"/>
              </a:spcBef>
              <a:spcAft>
                <a:spcPts val="0"/>
              </a:spcAft>
              <a:buClr>
                <a:schemeClr val="dk1"/>
              </a:buClr>
              <a:buSzPts val="1050"/>
              <a:buFont typeface="Proxima Nova"/>
              <a:buChar char="●"/>
            </a:pPr>
            <a:r>
              <a:rPr i="1" lang="en" sz="1050">
                <a:solidFill>
                  <a:schemeClr val="dk1"/>
                </a:solidFill>
                <a:latin typeface="Proxima Nova"/>
                <a:ea typeface="Proxima Nova"/>
                <a:cs typeface="Proxima Nova"/>
                <a:sym typeface="Proxima Nova"/>
              </a:rPr>
              <a:t>There’s not that many restaurants available with star and save in my area</a:t>
            </a:r>
            <a:endParaRPr i="1" sz="1050">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i="1" sz="1050">
              <a:solidFill>
                <a:schemeClr val="dk1"/>
              </a:solidFill>
              <a:highlight>
                <a:srgbClr val="FFFFFF"/>
              </a:highlight>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i="1" lang="en" sz="1100">
                <a:solidFill>
                  <a:schemeClr val="dk1"/>
                </a:solidFill>
                <a:latin typeface="Proxima Nova"/>
                <a:ea typeface="Proxima Nova"/>
                <a:cs typeface="Proxima Nova"/>
                <a:sym typeface="Proxima Nova"/>
              </a:rPr>
              <a:t>I would like to change the restaurants I did not realize that you couldn’t do that when I selected them.</a:t>
            </a:r>
            <a:endParaRPr i="1" sz="1050">
              <a:solidFill>
                <a:schemeClr val="dk1"/>
              </a:solidFill>
              <a:highlight>
                <a:srgbClr val="FFFFFF"/>
              </a:highlight>
              <a:latin typeface="Proxima Nova"/>
              <a:ea typeface="Proxima Nova"/>
              <a:cs typeface="Proxima Nova"/>
              <a:sym typeface="Proxima Nova"/>
            </a:endParaRPr>
          </a:p>
        </p:txBody>
      </p:sp>
      <p:sp>
        <p:nvSpPr>
          <p:cNvPr id="162" name="Google Shape;162;p20"/>
          <p:cNvSpPr txBox="1"/>
          <p:nvPr/>
        </p:nvSpPr>
        <p:spPr>
          <a:xfrm>
            <a:off x="3232125" y="2391275"/>
            <a:ext cx="2678700" cy="1962600"/>
          </a:xfrm>
          <a:prstGeom prst="rect">
            <a:avLst/>
          </a:prstGeom>
          <a:noFill/>
          <a:ln>
            <a:noFill/>
          </a:ln>
        </p:spPr>
        <p:txBody>
          <a:bodyPr anchorCtr="0" anchor="t" bIns="91425" lIns="91425" spcFirstLastPara="1" rIns="91425" wrap="square" tIns="91425">
            <a:spAutoFit/>
          </a:bodyPr>
          <a:lstStyle/>
          <a:p>
            <a:pPr indent="-295275" lvl="0" marL="457200" rtl="0" algn="l">
              <a:spcBef>
                <a:spcPts val="0"/>
              </a:spcBef>
              <a:spcAft>
                <a:spcPts val="0"/>
              </a:spcAft>
              <a:buClr>
                <a:schemeClr val="dk1"/>
              </a:buClr>
              <a:buSzPts val="1050"/>
              <a:buFont typeface="Proxima Nova"/>
              <a:buChar char="●"/>
            </a:pPr>
            <a:r>
              <a:rPr i="1" lang="en" sz="1050">
                <a:solidFill>
                  <a:schemeClr val="dk1"/>
                </a:solidFill>
                <a:latin typeface="Proxima Nova"/>
                <a:ea typeface="Proxima Nova"/>
                <a:cs typeface="Proxima Nova"/>
                <a:sym typeface="Proxima Nova"/>
              </a:rPr>
              <a:t>It's</a:t>
            </a:r>
            <a:r>
              <a:rPr i="1" lang="en" sz="1050">
                <a:solidFill>
                  <a:schemeClr val="dk1"/>
                </a:solidFill>
                <a:latin typeface="Proxima Nova"/>
                <a:ea typeface="Proxima Nova"/>
                <a:cs typeface="Proxima Nova"/>
                <a:sym typeface="Proxima Nova"/>
              </a:rPr>
              <a:t> confusing because. I picked my star </a:t>
            </a:r>
            <a:r>
              <a:rPr i="1" lang="en" sz="1050">
                <a:solidFill>
                  <a:schemeClr val="dk1"/>
                </a:solidFill>
                <a:latin typeface="Proxima Nova"/>
                <a:ea typeface="Proxima Nova"/>
                <a:cs typeface="Proxima Nova"/>
                <a:sym typeface="Proxima Nova"/>
              </a:rPr>
              <a:t>restaurants</a:t>
            </a:r>
            <a:r>
              <a:rPr i="1" lang="en" sz="1050">
                <a:solidFill>
                  <a:schemeClr val="dk1"/>
                </a:solidFill>
                <a:latin typeface="Proxima Nova"/>
                <a:ea typeface="Proxima Nova"/>
                <a:cs typeface="Proxima Nova"/>
                <a:sym typeface="Proxima Nova"/>
              </a:rPr>
              <a:t> one day. I went back to the app the next day and the </a:t>
            </a:r>
            <a:r>
              <a:rPr i="1" lang="en" sz="1050">
                <a:solidFill>
                  <a:schemeClr val="dk1"/>
                </a:solidFill>
                <a:latin typeface="Proxima Nova"/>
                <a:ea typeface="Proxima Nova"/>
                <a:cs typeface="Proxima Nova"/>
                <a:sym typeface="Proxima Nova"/>
              </a:rPr>
              <a:t>restaurant</a:t>
            </a:r>
            <a:r>
              <a:rPr i="1" lang="en" sz="1050">
                <a:solidFill>
                  <a:schemeClr val="dk1"/>
                </a:solidFill>
                <a:latin typeface="Proxima Nova"/>
                <a:ea typeface="Proxima Nova"/>
                <a:cs typeface="Proxima Nova"/>
                <a:sym typeface="Proxima Nova"/>
              </a:rPr>
              <a:t> I starred was not available for a $0 delivery fee.</a:t>
            </a:r>
            <a:endParaRPr i="1" sz="1050">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i="1" sz="1050">
              <a:solidFill>
                <a:schemeClr val="dk1"/>
              </a:solidFill>
              <a:latin typeface="Proxima Nova"/>
              <a:ea typeface="Proxima Nova"/>
              <a:cs typeface="Proxima Nova"/>
              <a:sym typeface="Proxima Nova"/>
            </a:endParaRPr>
          </a:p>
          <a:p>
            <a:pPr indent="-295275" lvl="0" marL="457200" rtl="0" algn="l">
              <a:spcBef>
                <a:spcPts val="0"/>
              </a:spcBef>
              <a:spcAft>
                <a:spcPts val="0"/>
              </a:spcAft>
              <a:buClr>
                <a:schemeClr val="dk1"/>
              </a:buClr>
              <a:buSzPts val="1050"/>
              <a:buFont typeface="Proxima Nova"/>
              <a:buChar char="●"/>
            </a:pPr>
            <a:r>
              <a:rPr i="1" lang="en" sz="1050">
                <a:solidFill>
                  <a:schemeClr val="dk1"/>
                </a:solidFill>
                <a:latin typeface="Proxima Nova"/>
                <a:ea typeface="Proxima Nova"/>
                <a:cs typeface="Proxima Nova"/>
                <a:sym typeface="Proxima Nova"/>
              </a:rPr>
              <a:t>Doordash </a:t>
            </a:r>
            <a:r>
              <a:rPr i="1" lang="en" sz="1050">
                <a:solidFill>
                  <a:schemeClr val="dk1"/>
                </a:solidFill>
                <a:latin typeface="Proxima Nova"/>
                <a:ea typeface="Proxima Nova"/>
                <a:cs typeface="Proxima Nova"/>
                <a:sym typeface="Proxima Nova"/>
              </a:rPr>
              <a:t>didn't</a:t>
            </a:r>
            <a:r>
              <a:rPr i="1" lang="en" sz="1050">
                <a:solidFill>
                  <a:schemeClr val="dk1"/>
                </a:solidFill>
                <a:latin typeface="Proxima Nova"/>
                <a:ea typeface="Proxima Nova"/>
                <a:cs typeface="Proxima Nova"/>
                <a:sym typeface="Proxima Nova"/>
              </a:rPr>
              <a:t> save my starred </a:t>
            </a:r>
            <a:r>
              <a:rPr i="1" lang="en" sz="1050">
                <a:solidFill>
                  <a:schemeClr val="dk1"/>
                </a:solidFill>
                <a:latin typeface="Proxima Nova"/>
                <a:ea typeface="Proxima Nova"/>
                <a:cs typeface="Proxima Nova"/>
                <a:sym typeface="Proxima Nova"/>
              </a:rPr>
              <a:t>restaurants</a:t>
            </a:r>
            <a:r>
              <a:rPr i="1" lang="en" sz="1050">
                <a:solidFill>
                  <a:schemeClr val="dk1"/>
                </a:solidFill>
                <a:latin typeface="Proxima Nova"/>
                <a:ea typeface="Proxima Nova"/>
                <a:cs typeface="Proxima Nova"/>
                <a:sym typeface="Proxima Nova"/>
              </a:rPr>
              <a:t>. When I went back to order, the app </a:t>
            </a:r>
            <a:r>
              <a:rPr i="1" lang="en" sz="1050">
                <a:solidFill>
                  <a:schemeClr val="dk1"/>
                </a:solidFill>
                <a:latin typeface="Proxima Nova"/>
                <a:ea typeface="Proxima Nova"/>
                <a:cs typeface="Proxima Nova"/>
                <a:sym typeface="Proxima Nova"/>
              </a:rPr>
              <a:t>didn't</a:t>
            </a:r>
            <a:r>
              <a:rPr i="1" lang="en" sz="1050">
                <a:solidFill>
                  <a:schemeClr val="dk1"/>
                </a:solidFill>
                <a:latin typeface="Proxima Nova"/>
                <a:ea typeface="Proxima Nova"/>
                <a:cs typeface="Proxima Nova"/>
                <a:sym typeface="Proxima Nova"/>
              </a:rPr>
              <a:t> offer me a $0 delivery fee for the </a:t>
            </a:r>
            <a:r>
              <a:rPr i="1" lang="en" sz="1050">
                <a:solidFill>
                  <a:schemeClr val="dk1"/>
                </a:solidFill>
                <a:latin typeface="Proxima Nova"/>
                <a:ea typeface="Proxima Nova"/>
                <a:cs typeface="Proxima Nova"/>
                <a:sym typeface="Proxima Nova"/>
              </a:rPr>
              <a:t>restaurant</a:t>
            </a:r>
            <a:r>
              <a:rPr i="1" lang="en" sz="1050">
                <a:solidFill>
                  <a:schemeClr val="dk1"/>
                </a:solidFill>
                <a:latin typeface="Proxima Nova"/>
                <a:ea typeface="Proxima Nova"/>
                <a:cs typeface="Proxima Nova"/>
                <a:sym typeface="Proxima Nova"/>
              </a:rPr>
              <a:t> I had chosen.</a:t>
            </a:r>
            <a:endParaRPr i="1" sz="1050">
              <a:solidFill>
                <a:schemeClr val="dk1"/>
              </a:solidFill>
              <a:latin typeface="Proxima Nova"/>
              <a:ea typeface="Proxima Nova"/>
              <a:cs typeface="Proxima Nova"/>
              <a:sym typeface="Proxima Nova"/>
            </a:endParaRPr>
          </a:p>
        </p:txBody>
      </p:sp>
      <p:sp>
        <p:nvSpPr>
          <p:cNvPr id="163" name="Google Shape;163;p20"/>
          <p:cNvSpPr txBox="1"/>
          <p:nvPr/>
        </p:nvSpPr>
        <p:spPr>
          <a:xfrm>
            <a:off x="6095800" y="2391275"/>
            <a:ext cx="2678700" cy="1316100"/>
          </a:xfrm>
          <a:prstGeom prst="rect">
            <a:avLst/>
          </a:prstGeom>
          <a:noFill/>
          <a:ln>
            <a:noFill/>
          </a:ln>
        </p:spPr>
        <p:txBody>
          <a:bodyPr anchorCtr="0" anchor="t" bIns="91425" lIns="91425" spcFirstLastPara="1" rIns="91425" wrap="square" tIns="91425">
            <a:spAutoFit/>
          </a:bodyPr>
          <a:lstStyle/>
          <a:p>
            <a:pPr indent="-295275" lvl="0" marL="457200" rtl="0" algn="l">
              <a:spcBef>
                <a:spcPts val="0"/>
              </a:spcBef>
              <a:spcAft>
                <a:spcPts val="0"/>
              </a:spcAft>
              <a:buClr>
                <a:schemeClr val="dk1"/>
              </a:buClr>
              <a:buSzPts val="1050"/>
              <a:buFont typeface="Proxima Nova"/>
              <a:buChar char="●"/>
            </a:pPr>
            <a:r>
              <a:rPr i="1" lang="en" sz="1050">
                <a:solidFill>
                  <a:schemeClr val="dk1"/>
                </a:solidFill>
                <a:latin typeface="Proxima Nova"/>
                <a:ea typeface="Proxima Nova"/>
                <a:cs typeface="Proxima Nova"/>
                <a:sym typeface="Proxima Nova"/>
              </a:rPr>
              <a:t>It does alleviate some fees but the markup in the first place on items is high</a:t>
            </a:r>
            <a:endParaRPr i="1" sz="1050">
              <a:solidFill>
                <a:schemeClr val="dk1"/>
              </a:solidFill>
              <a:latin typeface="Proxima Nova"/>
              <a:ea typeface="Proxima Nova"/>
              <a:cs typeface="Proxima Nova"/>
              <a:sym typeface="Proxima Nova"/>
            </a:endParaRPr>
          </a:p>
          <a:p>
            <a:pPr indent="0" lvl="0" marL="457200" rtl="0" algn="l">
              <a:spcBef>
                <a:spcPts val="0"/>
              </a:spcBef>
              <a:spcAft>
                <a:spcPts val="0"/>
              </a:spcAft>
              <a:buNone/>
            </a:pPr>
            <a:r>
              <a:t/>
            </a:r>
            <a:endParaRPr i="1" sz="1050">
              <a:solidFill>
                <a:schemeClr val="dk1"/>
              </a:solidFill>
              <a:latin typeface="Proxima Nova"/>
              <a:ea typeface="Proxima Nova"/>
              <a:cs typeface="Proxima Nova"/>
              <a:sym typeface="Proxima Nova"/>
            </a:endParaRPr>
          </a:p>
          <a:p>
            <a:pPr indent="-295275" lvl="0" marL="457200" rtl="0" algn="l">
              <a:spcBef>
                <a:spcPts val="0"/>
              </a:spcBef>
              <a:spcAft>
                <a:spcPts val="0"/>
              </a:spcAft>
              <a:buClr>
                <a:schemeClr val="dk1"/>
              </a:buClr>
              <a:buSzPts val="1050"/>
              <a:buFont typeface="Proxima Nova"/>
              <a:buChar char="●"/>
            </a:pPr>
            <a:r>
              <a:rPr i="1" lang="en" sz="1050">
                <a:solidFill>
                  <a:schemeClr val="dk1"/>
                </a:solidFill>
                <a:latin typeface="Proxima Nova"/>
                <a:ea typeface="Proxima Nova"/>
                <a:cs typeface="Proxima Nova"/>
                <a:sym typeface="Proxima Nova"/>
              </a:rPr>
              <a:t>Would like to have more savings since prices are up as well as more selection</a:t>
            </a:r>
            <a:endParaRPr i="1" sz="1050">
              <a:solidFill>
                <a:schemeClr val="dk1"/>
              </a:solidFill>
              <a:latin typeface="Proxima Nova"/>
              <a:ea typeface="Proxima Nova"/>
              <a:cs typeface="Proxima Nova"/>
              <a:sym typeface="Proxima Nova"/>
            </a:endParaRPr>
          </a:p>
        </p:txBody>
      </p:sp>
      <p:sp>
        <p:nvSpPr>
          <p:cNvPr id="164" name="Google Shape;164;p20"/>
          <p:cNvSpPr txBox="1"/>
          <p:nvPr/>
        </p:nvSpPr>
        <p:spPr>
          <a:xfrm>
            <a:off x="286700" y="113050"/>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666666"/>
                </a:solidFill>
                <a:latin typeface="Proxima Nova"/>
                <a:ea typeface="Proxima Nova"/>
                <a:cs typeface="Proxima Nova"/>
                <a:sym typeface="Proxima Nova"/>
              </a:rPr>
              <a:t>Difficulty selecting Rx and inconsistent experiences are the greatest stated barriers to star and save adoption</a:t>
            </a:r>
            <a:endParaRPr b="1" sz="2100">
              <a:solidFill>
                <a:srgbClr val="666666"/>
              </a:solidFill>
              <a:latin typeface="Proxima Nova"/>
              <a:ea typeface="Proxima Nova"/>
              <a:cs typeface="Proxima Nova"/>
              <a:sym typeface="Proxima Nova"/>
            </a:endParaRPr>
          </a:p>
        </p:txBody>
      </p:sp>
      <p:pic>
        <p:nvPicPr>
          <p:cNvPr id="165" name="Google Shape;165;p20"/>
          <p:cNvPicPr preferRelativeResize="0"/>
          <p:nvPr/>
        </p:nvPicPr>
        <p:blipFill>
          <a:blip r:embed="rId3">
            <a:alphaModFix/>
          </a:blip>
          <a:stretch>
            <a:fillRect/>
          </a:stretch>
        </p:blipFill>
        <p:spPr>
          <a:xfrm>
            <a:off x="1497650" y="1102350"/>
            <a:ext cx="489387" cy="489387"/>
          </a:xfrm>
          <a:prstGeom prst="rect">
            <a:avLst/>
          </a:prstGeom>
          <a:noFill/>
          <a:ln>
            <a:noFill/>
          </a:ln>
        </p:spPr>
      </p:pic>
      <p:pic>
        <p:nvPicPr>
          <p:cNvPr id="166" name="Google Shape;166;p20"/>
          <p:cNvPicPr preferRelativeResize="0"/>
          <p:nvPr/>
        </p:nvPicPr>
        <p:blipFill>
          <a:blip r:embed="rId4">
            <a:alphaModFix/>
          </a:blip>
          <a:stretch>
            <a:fillRect/>
          </a:stretch>
        </p:blipFill>
        <p:spPr>
          <a:xfrm>
            <a:off x="4297125" y="1072694"/>
            <a:ext cx="548700" cy="548700"/>
          </a:xfrm>
          <a:prstGeom prst="rect">
            <a:avLst/>
          </a:prstGeom>
          <a:noFill/>
          <a:ln>
            <a:noFill/>
          </a:ln>
        </p:spPr>
      </p:pic>
      <p:pic>
        <p:nvPicPr>
          <p:cNvPr id="167" name="Google Shape;167;p20"/>
          <p:cNvPicPr preferRelativeResize="0"/>
          <p:nvPr/>
        </p:nvPicPr>
        <p:blipFill>
          <a:blip r:embed="rId5">
            <a:alphaModFix/>
          </a:blip>
          <a:stretch>
            <a:fillRect/>
          </a:stretch>
        </p:blipFill>
        <p:spPr>
          <a:xfrm>
            <a:off x="7155925" y="1102356"/>
            <a:ext cx="489375" cy="489375"/>
          </a:xfrm>
          <a:prstGeom prst="rect">
            <a:avLst/>
          </a:prstGeom>
          <a:noFill/>
          <a:ln>
            <a:noFill/>
          </a:ln>
        </p:spPr>
      </p:pic>
      <p:sp>
        <p:nvSpPr>
          <p:cNvPr id="168" name="Google Shape;168;p20"/>
          <p:cNvSpPr txBox="1"/>
          <p:nvPr/>
        </p:nvSpPr>
        <p:spPr>
          <a:xfrm>
            <a:off x="158125" y="4789975"/>
            <a:ext cx="4204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latin typeface="Proxima Nova"/>
                <a:ea typeface="Proxima Nova"/>
                <a:cs typeface="Proxima Nova"/>
                <a:sym typeface="Proxima Nova"/>
              </a:rPr>
              <a:t>N=51 Cx who are in Star and Save treatment group</a:t>
            </a:r>
            <a:endParaRPr sz="700">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4" name="Google Shape;174;p21"/>
          <p:cNvSpPr txBox="1"/>
          <p:nvPr/>
        </p:nvSpPr>
        <p:spPr>
          <a:xfrm>
            <a:off x="362900" y="189250"/>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666666"/>
                </a:solidFill>
                <a:latin typeface="Proxima Nova"/>
                <a:ea typeface="Proxima Nova"/>
                <a:cs typeface="Proxima Nova"/>
                <a:sym typeface="Proxima Nova"/>
              </a:rPr>
              <a:t>The majority of Cx education is coming from the home screen</a:t>
            </a:r>
            <a:endParaRPr b="1" sz="2100">
              <a:solidFill>
                <a:srgbClr val="666666"/>
              </a:solidFill>
              <a:latin typeface="Proxima Nova"/>
              <a:ea typeface="Proxima Nova"/>
              <a:cs typeface="Proxima Nova"/>
              <a:sym typeface="Proxima Nova"/>
            </a:endParaRPr>
          </a:p>
        </p:txBody>
      </p:sp>
      <p:pic>
        <p:nvPicPr>
          <p:cNvPr id="175" name="Google Shape;175;p21"/>
          <p:cNvPicPr preferRelativeResize="0"/>
          <p:nvPr/>
        </p:nvPicPr>
        <p:blipFill>
          <a:blip r:embed="rId3">
            <a:alphaModFix/>
          </a:blip>
          <a:stretch>
            <a:fillRect/>
          </a:stretch>
        </p:blipFill>
        <p:spPr>
          <a:xfrm>
            <a:off x="362900" y="1392575"/>
            <a:ext cx="4756146" cy="2940874"/>
          </a:xfrm>
          <a:prstGeom prst="rect">
            <a:avLst/>
          </a:prstGeom>
          <a:noFill/>
          <a:ln>
            <a:noFill/>
          </a:ln>
        </p:spPr>
      </p:pic>
      <p:sp>
        <p:nvSpPr>
          <p:cNvPr id="176" name="Google Shape;176;p21"/>
          <p:cNvSpPr txBox="1"/>
          <p:nvPr/>
        </p:nvSpPr>
        <p:spPr>
          <a:xfrm>
            <a:off x="355625" y="1192800"/>
            <a:ext cx="43863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Proxima Nova"/>
                <a:ea typeface="Proxima Nova"/>
                <a:cs typeface="Proxima Nova"/>
                <a:sym typeface="Proxima Nova"/>
              </a:rPr>
              <a:t>Location where </a:t>
            </a:r>
            <a:r>
              <a:rPr b="1" lang="en" sz="1200" u="sng">
                <a:solidFill>
                  <a:schemeClr val="dk2"/>
                </a:solidFill>
                <a:latin typeface="Proxima Nova"/>
                <a:ea typeface="Proxima Nova"/>
                <a:cs typeface="Proxima Nova"/>
                <a:sym typeface="Proxima Nova"/>
              </a:rPr>
              <a:t>first</a:t>
            </a:r>
            <a:r>
              <a:rPr b="1" lang="en" sz="1200">
                <a:solidFill>
                  <a:schemeClr val="dk2"/>
                </a:solidFill>
                <a:latin typeface="Proxima Nova"/>
                <a:ea typeface="Proxima Nova"/>
                <a:cs typeface="Proxima Nova"/>
                <a:sym typeface="Proxima Nova"/>
              </a:rPr>
              <a:t> learned about Star and Save:</a:t>
            </a:r>
            <a:endParaRPr b="1" sz="1200">
              <a:solidFill>
                <a:schemeClr val="dk2"/>
              </a:solidFill>
              <a:latin typeface="Proxima Nova"/>
              <a:ea typeface="Proxima Nova"/>
              <a:cs typeface="Proxima Nova"/>
              <a:sym typeface="Proxima Nova"/>
            </a:endParaRPr>
          </a:p>
        </p:txBody>
      </p:sp>
      <p:sp>
        <p:nvSpPr>
          <p:cNvPr id="177" name="Google Shape;177;p21"/>
          <p:cNvSpPr txBox="1"/>
          <p:nvPr/>
        </p:nvSpPr>
        <p:spPr>
          <a:xfrm>
            <a:off x="102300" y="4736125"/>
            <a:ext cx="4204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latin typeface="Proxima Nova"/>
                <a:ea typeface="Proxima Nova"/>
                <a:cs typeface="Proxima Nova"/>
                <a:sym typeface="Proxima Nova"/>
              </a:rPr>
              <a:t>N=32 Cx aware of Star and Save</a:t>
            </a:r>
            <a:endParaRPr sz="700">
              <a:latin typeface="Proxima Nova"/>
              <a:ea typeface="Proxima Nova"/>
              <a:cs typeface="Proxima Nova"/>
              <a:sym typeface="Proxima Nova"/>
            </a:endParaRPr>
          </a:p>
        </p:txBody>
      </p:sp>
      <p:sp>
        <p:nvSpPr>
          <p:cNvPr id="178" name="Google Shape;178;p21"/>
          <p:cNvSpPr/>
          <p:nvPr/>
        </p:nvSpPr>
        <p:spPr>
          <a:xfrm>
            <a:off x="5813200" y="1116150"/>
            <a:ext cx="2920500" cy="371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1"/>
          <p:cNvSpPr txBox="1"/>
          <p:nvPr/>
        </p:nvSpPr>
        <p:spPr>
          <a:xfrm>
            <a:off x="5909050" y="1289400"/>
            <a:ext cx="27288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2"/>
                </a:solidFill>
                <a:latin typeface="Proxima Nova"/>
                <a:ea typeface="Proxima Nova"/>
                <a:cs typeface="Proxima Nova"/>
                <a:sym typeface="Proxima Nova"/>
              </a:rPr>
              <a:t>27% of Cx recall seeing marketing about the Star and Save Feature</a:t>
            </a:r>
            <a:endParaRPr b="1" sz="1300">
              <a:solidFill>
                <a:schemeClr val="dk2"/>
              </a:solidFill>
              <a:latin typeface="Proxima Nova"/>
              <a:ea typeface="Proxima Nova"/>
              <a:cs typeface="Proxima Nova"/>
              <a:sym typeface="Proxima Nova"/>
            </a:endParaRPr>
          </a:p>
        </p:txBody>
      </p:sp>
      <p:graphicFrame>
        <p:nvGraphicFramePr>
          <p:cNvPr id="180" name="Google Shape;180;p21"/>
          <p:cNvGraphicFramePr/>
          <p:nvPr/>
        </p:nvGraphicFramePr>
        <p:xfrm>
          <a:off x="6153000" y="2986975"/>
          <a:ext cx="3000000" cy="3000000"/>
        </p:xfrm>
        <a:graphic>
          <a:graphicData uri="http://schemas.openxmlformats.org/drawingml/2006/table">
            <a:tbl>
              <a:tblPr>
                <a:noFill/>
                <a:tableStyleId>{467DD6B6-2A48-4CFE-80D3-2A57636455FD}</a:tableStyleId>
              </a:tblPr>
              <a:tblGrid>
                <a:gridCol w="1543050"/>
                <a:gridCol w="697850"/>
              </a:tblGrid>
              <a:tr h="319000">
                <a:tc>
                  <a:txBody>
                    <a:bodyPr/>
                    <a:lstStyle/>
                    <a:p>
                      <a:pPr indent="0" lvl="0" marL="0" rtl="0" algn="l">
                        <a:spcBef>
                          <a:spcPts val="0"/>
                        </a:spcBef>
                        <a:spcAft>
                          <a:spcPts val="0"/>
                        </a:spcAft>
                        <a:buNone/>
                      </a:pPr>
                      <a:r>
                        <a:t/>
                      </a:r>
                      <a:endParaRPr sz="1000">
                        <a:latin typeface="Proxima Nova"/>
                        <a:ea typeface="Proxima Nova"/>
                        <a:cs typeface="Proxima Nova"/>
                        <a:sym typeface="Proxima Nova"/>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 of Cx</a:t>
                      </a:r>
                      <a:endParaRPr sz="1000">
                        <a:latin typeface="Proxima Nova"/>
                        <a:ea typeface="Proxima Nova"/>
                        <a:cs typeface="Proxima Nova"/>
                        <a:sym typeface="Proxima Nov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19000">
                <a:tc>
                  <a:txBody>
                    <a:bodyPr/>
                    <a:lstStyle/>
                    <a:p>
                      <a:pPr indent="0" lvl="0" marL="0" rtl="0" algn="l">
                        <a:spcBef>
                          <a:spcPts val="0"/>
                        </a:spcBef>
                        <a:spcAft>
                          <a:spcPts val="0"/>
                        </a:spcAft>
                        <a:buNone/>
                      </a:pPr>
                      <a:r>
                        <a:rPr lang="en" sz="1000">
                          <a:latin typeface="Proxima Nova"/>
                          <a:ea typeface="Proxima Nova"/>
                          <a:cs typeface="Proxima Nova"/>
                          <a:sym typeface="Proxima Nova"/>
                        </a:rPr>
                        <a:t>Banner ad on app</a:t>
                      </a:r>
                      <a:endParaRPr sz="1000">
                        <a:latin typeface="Proxima Nova"/>
                        <a:ea typeface="Proxima Nova"/>
                        <a:cs typeface="Proxima Nova"/>
                        <a:sym typeface="Proxima Nov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6</a:t>
                      </a:r>
                      <a:endParaRPr sz="1000">
                        <a:latin typeface="Proxima Nova"/>
                        <a:ea typeface="Proxima Nova"/>
                        <a:cs typeface="Proxima Nova"/>
                        <a:sym typeface="Proxima Nov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19000">
                <a:tc>
                  <a:txBody>
                    <a:bodyPr/>
                    <a:lstStyle/>
                    <a:p>
                      <a:pPr indent="0" lvl="0" marL="0" rtl="0" algn="l">
                        <a:spcBef>
                          <a:spcPts val="0"/>
                        </a:spcBef>
                        <a:spcAft>
                          <a:spcPts val="0"/>
                        </a:spcAft>
                        <a:buNone/>
                      </a:pPr>
                      <a:r>
                        <a:rPr lang="en" sz="1000">
                          <a:latin typeface="Proxima Nova"/>
                          <a:ea typeface="Proxima Nova"/>
                          <a:cs typeface="Proxima Nova"/>
                          <a:sym typeface="Proxima Nova"/>
                        </a:rPr>
                        <a:t>Push notification</a:t>
                      </a:r>
                      <a:endParaRPr sz="1000">
                        <a:latin typeface="Proxima Nova"/>
                        <a:ea typeface="Proxima Nova"/>
                        <a:cs typeface="Proxima Nova"/>
                        <a:sym typeface="Proxima Nov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4</a:t>
                      </a:r>
                      <a:endParaRPr sz="1000">
                        <a:latin typeface="Proxima Nova"/>
                        <a:ea typeface="Proxima Nova"/>
                        <a:cs typeface="Proxima Nova"/>
                        <a:sym typeface="Proxima Nov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19000">
                <a:tc>
                  <a:txBody>
                    <a:bodyPr/>
                    <a:lstStyle/>
                    <a:p>
                      <a:pPr indent="0" lvl="0" marL="0" rtl="0" algn="l">
                        <a:spcBef>
                          <a:spcPts val="0"/>
                        </a:spcBef>
                        <a:spcAft>
                          <a:spcPts val="0"/>
                        </a:spcAft>
                        <a:buNone/>
                      </a:pPr>
                      <a:r>
                        <a:rPr lang="en" sz="1000">
                          <a:latin typeface="Proxima Nova"/>
                          <a:ea typeface="Proxima Nova"/>
                          <a:cs typeface="Proxima Nova"/>
                          <a:sym typeface="Proxima Nova"/>
                        </a:rPr>
                        <a:t>Email</a:t>
                      </a:r>
                      <a:endParaRPr sz="1000">
                        <a:latin typeface="Proxima Nova"/>
                        <a:ea typeface="Proxima Nova"/>
                        <a:cs typeface="Proxima Nova"/>
                        <a:sym typeface="Proxima Nov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3</a:t>
                      </a:r>
                      <a:endParaRPr sz="1000">
                        <a:latin typeface="Proxima Nova"/>
                        <a:ea typeface="Proxima Nova"/>
                        <a:cs typeface="Proxima Nova"/>
                        <a:sym typeface="Proxima Nov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19000">
                <a:tc>
                  <a:txBody>
                    <a:bodyPr/>
                    <a:lstStyle/>
                    <a:p>
                      <a:pPr indent="0" lvl="0" marL="0" rtl="0" algn="l">
                        <a:spcBef>
                          <a:spcPts val="0"/>
                        </a:spcBef>
                        <a:spcAft>
                          <a:spcPts val="0"/>
                        </a:spcAft>
                        <a:buNone/>
                      </a:pPr>
                      <a:r>
                        <a:rPr lang="en" sz="1000">
                          <a:latin typeface="Proxima Nova"/>
                          <a:ea typeface="Proxima Nova"/>
                          <a:cs typeface="Proxima Nova"/>
                          <a:sym typeface="Proxima Nova"/>
                        </a:rPr>
                        <a:t>At checkout</a:t>
                      </a:r>
                      <a:endParaRPr sz="1000">
                        <a:latin typeface="Proxima Nova"/>
                        <a:ea typeface="Proxima Nova"/>
                        <a:cs typeface="Proxima Nova"/>
                        <a:sym typeface="Proxima Nov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roxima Nova"/>
                          <a:ea typeface="Proxima Nova"/>
                          <a:cs typeface="Proxima Nova"/>
                          <a:sym typeface="Proxima Nova"/>
                        </a:rPr>
                        <a:t>1</a:t>
                      </a:r>
                      <a:endParaRPr sz="1000">
                        <a:latin typeface="Proxima Nova"/>
                        <a:ea typeface="Proxima Nova"/>
                        <a:cs typeface="Proxima Nova"/>
                        <a:sym typeface="Proxima Nova"/>
                      </a:endParaRPr>
                    </a:p>
                  </a:txBody>
                  <a:tcPr marT="91425" marB="91425"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181" name="Google Shape;181;p21"/>
          <p:cNvPicPr preferRelativeResize="0"/>
          <p:nvPr/>
        </p:nvPicPr>
        <p:blipFill>
          <a:blip r:embed="rId4">
            <a:alphaModFix/>
          </a:blip>
          <a:stretch>
            <a:fillRect/>
          </a:stretch>
        </p:blipFill>
        <p:spPr>
          <a:xfrm>
            <a:off x="6746553" y="1933175"/>
            <a:ext cx="1053801" cy="10538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nvSpPr>
        <p:spPr>
          <a:xfrm>
            <a:off x="341700" y="619175"/>
            <a:ext cx="8460600" cy="4292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rgbClr val="E23208"/>
              </a:buClr>
              <a:buSzPts val="1400"/>
              <a:buFont typeface="Proxima Nova"/>
              <a:buChar char="●"/>
            </a:pPr>
            <a:r>
              <a:rPr b="1" lang="en">
                <a:solidFill>
                  <a:srgbClr val="E23208"/>
                </a:solidFill>
                <a:latin typeface="Proxima Nova"/>
                <a:ea typeface="Proxima Nova"/>
                <a:cs typeface="Proxima Nova"/>
                <a:sym typeface="Proxima Nova"/>
              </a:rPr>
              <a:t>Cx need a more direct reminder/reinforcer when placing their second star order.</a:t>
            </a:r>
            <a:r>
              <a:rPr lang="en">
                <a:solidFill>
                  <a:srgbClr val="E23208"/>
                </a:solidFill>
                <a:latin typeface="Proxima Nova"/>
                <a:ea typeface="Proxima Nova"/>
                <a:cs typeface="Proxima Nova"/>
                <a:sym typeface="Proxima Nova"/>
              </a:rPr>
              <a:t> </a:t>
            </a:r>
            <a:r>
              <a:rPr lang="en" sz="1300">
                <a:solidFill>
                  <a:schemeClr val="dk2"/>
                </a:solidFill>
                <a:latin typeface="Proxima Nova"/>
                <a:ea typeface="Proxima Nova"/>
                <a:cs typeface="Proxima Nova"/>
                <a:sym typeface="Proxima Nova"/>
              </a:rPr>
              <a:t>Cx </a:t>
            </a:r>
            <a:r>
              <a:rPr lang="en" sz="1300">
                <a:solidFill>
                  <a:schemeClr val="dk2"/>
                </a:solidFill>
                <a:latin typeface="Proxima Nova"/>
                <a:ea typeface="Proxima Nova"/>
                <a:cs typeface="Proxima Nova"/>
                <a:sym typeface="Proxima Nova"/>
              </a:rPr>
              <a:t>expect their starred restaurants to always be at the top of their homepage and therefore may be confusing them with “order again” or “favorite” restaurants.  This is leading to Cx feeling their stars where not applied for a repeat purchase.  </a:t>
            </a:r>
            <a:r>
              <a:rPr b="1" i="1" lang="en" sz="1300">
                <a:solidFill>
                  <a:schemeClr val="dk2"/>
                </a:solidFill>
                <a:latin typeface="Proxima Nova"/>
                <a:ea typeface="Proxima Nova"/>
                <a:cs typeface="Proxima Nova"/>
                <a:sym typeface="Proxima Nova"/>
              </a:rPr>
              <a:t>We may want to explore reminders, similar to the reminders we provide when you have a credit or cart available when logging onto the app.</a:t>
            </a:r>
            <a:endParaRPr b="1" i="1" sz="1300">
              <a:solidFill>
                <a:schemeClr val="dk2"/>
              </a:solidFill>
              <a:latin typeface="Proxima Nova"/>
              <a:ea typeface="Proxima Nova"/>
              <a:cs typeface="Proxima Nova"/>
              <a:sym typeface="Proxima Nova"/>
            </a:endParaRPr>
          </a:p>
          <a:p>
            <a:pPr indent="-317500" lvl="0" marL="457200" rtl="0" algn="l">
              <a:lnSpc>
                <a:spcPct val="115000"/>
              </a:lnSpc>
              <a:spcBef>
                <a:spcPts val="1000"/>
              </a:spcBef>
              <a:spcAft>
                <a:spcPts val="0"/>
              </a:spcAft>
              <a:buClr>
                <a:srgbClr val="E23208"/>
              </a:buClr>
              <a:buSzPts val="1400"/>
              <a:buFont typeface="Proxima Nova"/>
              <a:buChar char="●"/>
            </a:pPr>
            <a:r>
              <a:rPr b="1" lang="en">
                <a:solidFill>
                  <a:srgbClr val="E23208"/>
                </a:solidFill>
                <a:latin typeface="Proxima Nova"/>
                <a:ea typeface="Proxima Nova"/>
                <a:cs typeface="Proxima Nova"/>
                <a:sym typeface="Proxima Nova"/>
              </a:rPr>
              <a:t>We need to make it easier to complete your 3 restaurants.</a:t>
            </a:r>
            <a:r>
              <a:rPr lang="en">
                <a:solidFill>
                  <a:srgbClr val="000000"/>
                </a:solidFill>
                <a:latin typeface="Proxima Nova"/>
                <a:ea typeface="Proxima Nova"/>
                <a:cs typeface="Proxima Nova"/>
                <a:sym typeface="Proxima Nova"/>
              </a:rPr>
              <a:t> </a:t>
            </a:r>
            <a:r>
              <a:rPr lang="en" sz="1300">
                <a:solidFill>
                  <a:srgbClr val="000000"/>
                </a:solidFill>
                <a:latin typeface="Proxima Nova"/>
                <a:ea typeface="Proxima Nova"/>
                <a:cs typeface="Proxima Nova"/>
                <a:sym typeface="Proxima Nova"/>
              </a:rPr>
              <a:t> </a:t>
            </a:r>
            <a:r>
              <a:rPr lang="en" sz="1300">
                <a:solidFill>
                  <a:schemeClr val="dk2"/>
                </a:solidFill>
                <a:latin typeface="Proxima Nova"/>
                <a:ea typeface="Proxima Nova"/>
                <a:cs typeface="Proxima Nova"/>
                <a:sym typeface="Proxima Nova"/>
              </a:rPr>
              <a:t>Cx indicated they often forget to go back and completed their starred restaurants or feel anxiety about which restaurants to select.  </a:t>
            </a:r>
            <a:r>
              <a:rPr b="1" lang="en" sz="1300">
                <a:solidFill>
                  <a:schemeClr val="dk2"/>
                </a:solidFill>
                <a:latin typeface="Proxima Nova"/>
                <a:ea typeface="Proxima Nova"/>
                <a:cs typeface="Proxima Nova"/>
                <a:sym typeface="Proxima Nova"/>
              </a:rPr>
              <a:t>Creating guardrails and gentle reminders should help Cx get over this hurdle.</a:t>
            </a:r>
            <a:endParaRPr b="1" sz="1300">
              <a:solidFill>
                <a:schemeClr val="dk2"/>
              </a:solidFill>
              <a:latin typeface="Proxima Nova"/>
              <a:ea typeface="Proxima Nova"/>
              <a:cs typeface="Proxima Nova"/>
              <a:sym typeface="Proxima Nova"/>
            </a:endParaRPr>
          </a:p>
          <a:p>
            <a:pPr indent="-317500" lvl="0" marL="457200" rtl="0" algn="l">
              <a:lnSpc>
                <a:spcPct val="115000"/>
              </a:lnSpc>
              <a:spcBef>
                <a:spcPts val="1000"/>
              </a:spcBef>
              <a:spcAft>
                <a:spcPts val="0"/>
              </a:spcAft>
              <a:buClr>
                <a:srgbClr val="E23208"/>
              </a:buClr>
              <a:buSzPts val="1400"/>
              <a:buFont typeface="Proxima Nova"/>
              <a:buChar char="●"/>
            </a:pPr>
            <a:r>
              <a:rPr b="1" lang="en">
                <a:solidFill>
                  <a:srgbClr val="E23208"/>
                </a:solidFill>
                <a:latin typeface="Proxima Nova"/>
                <a:ea typeface="Proxima Nova"/>
                <a:cs typeface="Proxima Nova"/>
                <a:sym typeface="Proxima Nova"/>
              </a:rPr>
              <a:t>Cx are getting most of their feature education on the homescreen via the carousel</a:t>
            </a:r>
            <a:r>
              <a:rPr b="1" lang="en">
                <a:solidFill>
                  <a:srgbClr val="E23208"/>
                </a:solidFill>
                <a:latin typeface="Proxima Nova"/>
                <a:ea typeface="Proxima Nova"/>
                <a:cs typeface="Proxima Nova"/>
                <a:sym typeface="Proxima Nova"/>
              </a:rPr>
              <a:t>.</a:t>
            </a:r>
            <a:r>
              <a:rPr lang="en">
                <a:solidFill>
                  <a:srgbClr val="000000"/>
                </a:solidFill>
                <a:latin typeface="Proxima Nova"/>
                <a:ea typeface="Proxima Nova"/>
                <a:cs typeface="Proxima Nova"/>
                <a:sym typeface="Proxima Nova"/>
              </a:rPr>
              <a:t> </a:t>
            </a:r>
            <a:r>
              <a:rPr lang="en" sz="1300">
                <a:solidFill>
                  <a:srgbClr val="000000"/>
                </a:solidFill>
                <a:latin typeface="Proxima Nova"/>
                <a:ea typeface="Proxima Nova"/>
                <a:cs typeface="Proxima Nova"/>
                <a:sym typeface="Proxima Nova"/>
              </a:rPr>
              <a:t> </a:t>
            </a:r>
            <a:r>
              <a:rPr lang="en" sz="1300">
                <a:solidFill>
                  <a:schemeClr val="dk2"/>
                </a:solidFill>
                <a:latin typeface="Proxima Nova"/>
                <a:ea typeface="Proxima Nova"/>
                <a:cs typeface="Proxima Nova"/>
                <a:sym typeface="Proxima Nova"/>
              </a:rPr>
              <a:t>This may be attributing to some areas of confusion as there is limited ability for us to communicate the details of the feature within this space.  </a:t>
            </a:r>
            <a:r>
              <a:rPr b="1" lang="en" sz="1300">
                <a:solidFill>
                  <a:schemeClr val="dk2"/>
                </a:solidFill>
                <a:latin typeface="Proxima Nova"/>
                <a:ea typeface="Proxima Nova"/>
                <a:cs typeface="Proxima Nova"/>
                <a:sym typeface="Proxima Nova"/>
              </a:rPr>
              <a:t>V2 should include more Cx testing to ensure we have the most important details on the home page and </a:t>
            </a:r>
            <a:r>
              <a:rPr b="1" lang="en" sz="1300">
                <a:solidFill>
                  <a:schemeClr val="dk2"/>
                </a:solidFill>
                <a:latin typeface="Proxima Nova"/>
                <a:ea typeface="Proxima Nova"/>
                <a:cs typeface="Proxima Nova"/>
                <a:sym typeface="Proxima Nova"/>
              </a:rPr>
              <a:t>e</a:t>
            </a:r>
            <a:r>
              <a:rPr b="1" lang="en" sz="1300">
                <a:solidFill>
                  <a:schemeClr val="dk2"/>
                </a:solidFill>
                <a:latin typeface="Proxima Nova"/>
                <a:ea typeface="Proxima Nova"/>
                <a:cs typeface="Proxima Nova"/>
                <a:sym typeface="Proxima Nova"/>
              </a:rPr>
              <a:t>mail/push notifications may need to be timed closer to version launch.</a:t>
            </a:r>
            <a:endParaRPr b="1" sz="1300">
              <a:solidFill>
                <a:schemeClr val="dk2"/>
              </a:solidFill>
              <a:latin typeface="Proxima Nova"/>
              <a:ea typeface="Proxima Nova"/>
              <a:cs typeface="Proxima Nova"/>
              <a:sym typeface="Proxima Nova"/>
            </a:endParaRPr>
          </a:p>
          <a:p>
            <a:pPr indent="-317500" lvl="0" marL="457200" rtl="0" algn="l">
              <a:lnSpc>
                <a:spcPct val="115000"/>
              </a:lnSpc>
              <a:spcBef>
                <a:spcPts val="1000"/>
              </a:spcBef>
              <a:spcAft>
                <a:spcPts val="1000"/>
              </a:spcAft>
              <a:buClr>
                <a:srgbClr val="E23208"/>
              </a:buClr>
              <a:buSzPts val="1400"/>
              <a:buFont typeface="Proxima Nova"/>
              <a:buChar char="●"/>
            </a:pPr>
            <a:r>
              <a:rPr b="1" lang="en">
                <a:solidFill>
                  <a:srgbClr val="E23208"/>
                </a:solidFill>
                <a:latin typeface="Proxima Nova"/>
                <a:ea typeface="Proxima Nova"/>
                <a:cs typeface="Proxima Nova"/>
                <a:sym typeface="Proxima Nova"/>
              </a:rPr>
              <a:t>Limitations around Rx selection may help balance discount concerns.</a:t>
            </a:r>
            <a:r>
              <a:rPr lang="en">
                <a:solidFill>
                  <a:srgbClr val="000000"/>
                </a:solidFill>
                <a:latin typeface="Proxima Nova"/>
                <a:ea typeface="Proxima Nova"/>
                <a:cs typeface="Proxima Nova"/>
                <a:sym typeface="Proxima Nova"/>
              </a:rPr>
              <a:t> </a:t>
            </a:r>
            <a:r>
              <a:rPr lang="en" sz="1300">
                <a:solidFill>
                  <a:srgbClr val="000000"/>
                </a:solidFill>
                <a:latin typeface="Proxima Nova"/>
                <a:ea typeface="Proxima Nova"/>
                <a:cs typeface="Proxima Nova"/>
                <a:sym typeface="Proxima Nova"/>
              </a:rPr>
              <a:t> </a:t>
            </a:r>
            <a:r>
              <a:rPr lang="en" sz="1300">
                <a:solidFill>
                  <a:schemeClr val="dk2"/>
                </a:solidFill>
                <a:latin typeface="Proxima Nova"/>
                <a:ea typeface="Proxima Nova"/>
                <a:cs typeface="Proxima Nova"/>
                <a:sym typeface="Proxima Nova"/>
              </a:rPr>
              <a:t>Some Cx are looking for a bigger discount because their starred Rx includes one with price markups.  </a:t>
            </a:r>
            <a:r>
              <a:rPr b="1" lang="en" sz="1300">
                <a:solidFill>
                  <a:schemeClr val="dk2"/>
                </a:solidFill>
                <a:latin typeface="Proxima Nova"/>
                <a:ea typeface="Proxima Nova"/>
                <a:cs typeface="Proxima Nova"/>
                <a:sym typeface="Proxima Nova"/>
              </a:rPr>
              <a:t>If we explore a guarded selection in V2 we should ensure selection includes Rx that have not added high levels of menu item inflation</a:t>
            </a:r>
            <a:endParaRPr b="1" sz="1300">
              <a:solidFill>
                <a:schemeClr val="dk2"/>
              </a:solidFill>
              <a:latin typeface="Proxima Nova"/>
              <a:ea typeface="Proxima Nova"/>
              <a:cs typeface="Proxima Nova"/>
              <a:sym typeface="Proxima Nova"/>
            </a:endParaRPr>
          </a:p>
        </p:txBody>
      </p:sp>
      <p:sp>
        <p:nvSpPr>
          <p:cNvPr id="187" name="Google Shape;187;p2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8" name="Google Shape;188;p22"/>
          <p:cNvSpPr txBox="1"/>
          <p:nvPr/>
        </p:nvSpPr>
        <p:spPr>
          <a:xfrm>
            <a:off x="251275" y="110925"/>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rgbClr val="666666"/>
                </a:solidFill>
                <a:latin typeface="Proxima Nova"/>
                <a:ea typeface="Proxima Nova"/>
                <a:cs typeface="Proxima Nova"/>
                <a:sym typeface="Proxima Nova"/>
              </a:rPr>
              <a:t>Insights &amp; V2 Considerations</a:t>
            </a:r>
            <a:endParaRPr b="1" sz="2100">
              <a:solidFill>
                <a:srgbClr val="666666"/>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94" name="Google Shape;194;p23"/>
          <p:cNvPicPr preferRelativeResize="0"/>
          <p:nvPr/>
        </p:nvPicPr>
        <p:blipFill>
          <a:blip r:embed="rId3">
            <a:alphaModFix/>
          </a:blip>
          <a:stretch>
            <a:fillRect/>
          </a:stretch>
        </p:blipFill>
        <p:spPr>
          <a:xfrm>
            <a:off x="3069912" y="1739300"/>
            <a:ext cx="3004175" cy="2250225"/>
          </a:xfrm>
          <a:prstGeom prst="rect">
            <a:avLst/>
          </a:prstGeom>
          <a:noFill/>
          <a:ln>
            <a:noFill/>
          </a:ln>
        </p:spPr>
      </p:pic>
      <p:sp>
        <p:nvSpPr>
          <p:cNvPr id="195" name="Google Shape;195;p23"/>
          <p:cNvSpPr txBox="1"/>
          <p:nvPr/>
        </p:nvSpPr>
        <p:spPr>
          <a:xfrm>
            <a:off x="251275" y="455075"/>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chemeClr val="lt1"/>
                </a:solidFill>
                <a:latin typeface="Proxima Nova"/>
                <a:ea typeface="Proxima Nova"/>
                <a:cs typeface="Proxima Nova"/>
                <a:sym typeface="Proxima Nova"/>
              </a:rPr>
              <a:t>Questions?  Ideas?  Thoughts for V2?</a:t>
            </a:r>
            <a:endParaRPr b="1" sz="2600">
              <a:solidFill>
                <a:schemeClr val="lt1"/>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9" name="Shape 199"/>
        <p:cNvGrpSpPr/>
        <p:nvPr/>
      </p:nvGrpSpPr>
      <p:grpSpPr>
        <a:xfrm>
          <a:off x="0" y="0"/>
          <a:ext cx="0" cy="0"/>
          <a:chOff x="0" y="0"/>
          <a:chExt cx="0" cy="0"/>
        </a:xfrm>
      </p:grpSpPr>
      <p:sp>
        <p:nvSpPr>
          <p:cNvPr id="200" name="Google Shape;200;p2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24"/>
          <p:cNvSpPr txBox="1"/>
          <p:nvPr/>
        </p:nvSpPr>
        <p:spPr>
          <a:xfrm>
            <a:off x="321450" y="5983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Appendix</a:t>
            </a:r>
            <a:endParaRPr sz="5000">
              <a:solidFill>
                <a:srgbClr val="FFFFFF"/>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5" name="Shape 205"/>
        <p:cNvGrpSpPr/>
        <p:nvPr/>
      </p:nvGrpSpPr>
      <p:grpSpPr>
        <a:xfrm>
          <a:off x="0" y="0"/>
          <a:ext cx="0" cy="0"/>
          <a:chOff x="0" y="0"/>
          <a:chExt cx="0" cy="0"/>
        </a:xfrm>
      </p:grpSpPr>
      <p:sp>
        <p:nvSpPr>
          <p:cNvPr id="206" name="Google Shape;206;p2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25"/>
          <p:cNvSpPr txBox="1"/>
          <p:nvPr/>
        </p:nvSpPr>
        <p:spPr>
          <a:xfrm>
            <a:off x="362900" y="417850"/>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rgbClr val="666666"/>
                </a:solidFill>
                <a:latin typeface="Proxima Nova"/>
                <a:ea typeface="Proxima Nova"/>
                <a:cs typeface="Proxima Nova"/>
                <a:sym typeface="Proxima Nova"/>
              </a:rPr>
              <a:t>Reactions to star and save</a:t>
            </a:r>
            <a:endParaRPr b="1" sz="2300">
              <a:solidFill>
                <a:srgbClr val="666666"/>
              </a:solidFill>
              <a:latin typeface="Proxima Nova"/>
              <a:ea typeface="Proxima Nova"/>
              <a:cs typeface="Proxima Nova"/>
              <a:sym typeface="Proxima Nova"/>
            </a:endParaRPr>
          </a:p>
        </p:txBody>
      </p:sp>
      <p:pic>
        <p:nvPicPr>
          <p:cNvPr id="208" name="Google Shape;208;p25"/>
          <p:cNvPicPr preferRelativeResize="0"/>
          <p:nvPr/>
        </p:nvPicPr>
        <p:blipFill>
          <a:blip r:embed="rId3">
            <a:alphaModFix/>
          </a:blip>
          <a:stretch>
            <a:fillRect/>
          </a:stretch>
        </p:blipFill>
        <p:spPr>
          <a:xfrm>
            <a:off x="362900" y="1440875"/>
            <a:ext cx="2577201" cy="3026664"/>
          </a:xfrm>
          <a:prstGeom prst="rect">
            <a:avLst/>
          </a:prstGeom>
          <a:noFill/>
          <a:ln>
            <a:noFill/>
          </a:ln>
        </p:spPr>
      </p:pic>
      <p:pic>
        <p:nvPicPr>
          <p:cNvPr id="209" name="Google Shape;209;p25"/>
          <p:cNvPicPr preferRelativeResize="0"/>
          <p:nvPr/>
        </p:nvPicPr>
        <p:blipFill>
          <a:blip r:embed="rId4">
            <a:alphaModFix/>
          </a:blip>
          <a:stretch>
            <a:fillRect/>
          </a:stretch>
        </p:blipFill>
        <p:spPr>
          <a:xfrm>
            <a:off x="3237614" y="1440875"/>
            <a:ext cx="2577201" cy="3026955"/>
          </a:xfrm>
          <a:prstGeom prst="rect">
            <a:avLst/>
          </a:prstGeom>
          <a:noFill/>
          <a:ln>
            <a:noFill/>
          </a:ln>
        </p:spPr>
      </p:pic>
      <p:pic>
        <p:nvPicPr>
          <p:cNvPr id="210" name="Google Shape;210;p25"/>
          <p:cNvPicPr preferRelativeResize="0"/>
          <p:nvPr/>
        </p:nvPicPr>
        <p:blipFill>
          <a:blip r:embed="rId5">
            <a:alphaModFix/>
          </a:blip>
          <a:stretch>
            <a:fillRect/>
          </a:stretch>
        </p:blipFill>
        <p:spPr>
          <a:xfrm>
            <a:off x="6112328" y="1440875"/>
            <a:ext cx="2578609" cy="3026664"/>
          </a:xfrm>
          <a:prstGeom prst="rect">
            <a:avLst/>
          </a:prstGeom>
          <a:noFill/>
          <a:ln>
            <a:noFill/>
          </a:ln>
        </p:spPr>
      </p:pic>
      <p:sp>
        <p:nvSpPr>
          <p:cNvPr id="211" name="Google Shape;211;p25"/>
          <p:cNvSpPr txBox="1"/>
          <p:nvPr/>
        </p:nvSpPr>
        <p:spPr>
          <a:xfrm>
            <a:off x="158125" y="4713775"/>
            <a:ext cx="42042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latin typeface="Proxima Nova"/>
                <a:ea typeface="Proxima Nova"/>
                <a:cs typeface="Proxima Nova"/>
                <a:sym typeface="Proxima Nova"/>
              </a:rPr>
              <a:t>N=51 Cx who are in Star and Save treatment group</a:t>
            </a:r>
            <a:endParaRPr sz="700">
              <a:latin typeface="Proxima Nova"/>
              <a:ea typeface="Proxima Nova"/>
              <a:cs typeface="Proxima Nova"/>
              <a:sym typeface="Proxima Nov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5" name="Shape 215"/>
        <p:cNvGrpSpPr/>
        <p:nvPr/>
      </p:nvGrpSpPr>
      <p:grpSpPr>
        <a:xfrm>
          <a:off x="0" y="0"/>
          <a:ext cx="0" cy="0"/>
          <a:chOff x="0" y="0"/>
          <a:chExt cx="0" cy="0"/>
        </a:xfrm>
      </p:grpSpPr>
      <p:sp>
        <p:nvSpPr>
          <p:cNvPr id="216" name="Google Shape;216;p2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26"/>
          <p:cNvSpPr txBox="1"/>
          <p:nvPr/>
        </p:nvSpPr>
        <p:spPr>
          <a:xfrm>
            <a:off x="321450" y="5983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More insights </a:t>
            </a:r>
            <a:endParaRPr sz="5000">
              <a:solidFill>
                <a:srgbClr val="FFFFFF"/>
              </a:solidFill>
              <a:latin typeface="Proxima Nova"/>
              <a:ea typeface="Proxima Nova"/>
              <a:cs typeface="Proxima Nova"/>
              <a:sym typeface="Proxima Nova"/>
            </a:endParaRPr>
          </a:p>
        </p:txBody>
      </p:sp>
      <p:pic>
        <p:nvPicPr>
          <p:cNvPr id="218" name="Google Shape;218;p26"/>
          <p:cNvPicPr preferRelativeResize="0"/>
          <p:nvPr/>
        </p:nvPicPr>
        <p:blipFill>
          <a:blip r:embed="rId3">
            <a:alphaModFix/>
          </a:blip>
          <a:stretch>
            <a:fillRect/>
          </a:stretch>
        </p:blipFill>
        <p:spPr>
          <a:xfrm>
            <a:off x="2459050" y="1730000"/>
            <a:ext cx="3862325" cy="2572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2" name="Shape 222"/>
        <p:cNvGrpSpPr/>
        <p:nvPr/>
      </p:nvGrpSpPr>
      <p:grpSpPr>
        <a:xfrm>
          <a:off x="0" y="0"/>
          <a:ext cx="0" cy="0"/>
          <a:chOff x="0" y="0"/>
          <a:chExt cx="0" cy="0"/>
        </a:xfrm>
      </p:grpSpPr>
      <p:sp>
        <p:nvSpPr>
          <p:cNvPr id="223" name="Google Shape;223;p2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24" name="Google Shape;224;p27"/>
          <p:cNvGraphicFramePr/>
          <p:nvPr/>
        </p:nvGraphicFramePr>
        <p:xfrm>
          <a:off x="496525" y="1068525"/>
          <a:ext cx="3000000" cy="3000000"/>
        </p:xfrm>
        <a:graphic>
          <a:graphicData uri="http://schemas.openxmlformats.org/drawingml/2006/table">
            <a:tbl>
              <a:tblPr>
                <a:noFill/>
                <a:tableStyleId>{DFD649C0-5B0B-4BBF-8559-2DF0A2945588}</a:tableStyleId>
              </a:tblPr>
              <a:tblGrid>
                <a:gridCol w="2228075"/>
                <a:gridCol w="825225"/>
                <a:gridCol w="5010225"/>
              </a:tblGrid>
              <a:tr h="304275">
                <a:tc>
                  <a:txBody>
                    <a:bodyPr/>
                    <a:lstStyle/>
                    <a:p>
                      <a:pPr indent="0" lvl="0" marL="0" rtl="0" algn="ctr">
                        <a:spcBef>
                          <a:spcPts val="0"/>
                        </a:spcBef>
                        <a:spcAft>
                          <a:spcPts val="0"/>
                        </a:spcAft>
                        <a:buNone/>
                      </a:pPr>
                      <a:r>
                        <a:rPr b="1" lang="en" sz="1100">
                          <a:solidFill>
                            <a:schemeClr val="lt1"/>
                          </a:solidFill>
                          <a:latin typeface="Proxima Nova"/>
                          <a:ea typeface="Proxima Nova"/>
                          <a:cs typeface="Proxima Nova"/>
                          <a:sym typeface="Proxima Nova"/>
                        </a:rPr>
                        <a:t>Category</a:t>
                      </a:r>
                      <a:endParaRPr b="1" sz="1100">
                        <a:solidFill>
                          <a:schemeClr val="lt1"/>
                        </a:solidFill>
                        <a:latin typeface="Proxima Nova"/>
                        <a:ea typeface="Proxima Nova"/>
                        <a:cs typeface="Proxima Nova"/>
                        <a:sym typeface="Proxima Nova"/>
                      </a:endParaRPr>
                    </a:p>
                  </a:txBody>
                  <a:tcPr marT="63500" marB="63500" marR="63500" marL="63500">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12700">
                      <a:solidFill>
                        <a:srgbClr val="000000">
                          <a:alpha val="0"/>
                        </a:srgbClr>
                      </a:solidFill>
                      <a:prstDash val="solid"/>
                      <a:round/>
                      <a:headEnd len="sm" w="sm" type="none"/>
                      <a:tailEnd len="sm" w="sm" type="none"/>
                    </a:lnT>
                    <a:lnB cap="flat" cmpd="sng" w="12700">
                      <a:solidFill>
                        <a:srgbClr val="F3F3F3">
                          <a:alpha val="0"/>
                        </a:srgbClr>
                      </a:solidFill>
                      <a:prstDash val="solid"/>
                      <a:round/>
                      <a:headEnd len="sm" w="sm" type="none"/>
                      <a:tailEnd len="sm" w="sm" type="none"/>
                    </a:lnB>
                    <a:solidFill>
                      <a:srgbClr val="134F5C"/>
                    </a:solidFill>
                  </a:tcPr>
                </a:tc>
                <a:tc>
                  <a:txBody>
                    <a:bodyPr/>
                    <a:lstStyle/>
                    <a:p>
                      <a:pPr indent="0" lvl="0" marL="0" rtl="0" algn="ctr">
                        <a:spcBef>
                          <a:spcPts val="0"/>
                        </a:spcBef>
                        <a:spcAft>
                          <a:spcPts val="0"/>
                        </a:spcAft>
                        <a:buNone/>
                      </a:pPr>
                      <a:r>
                        <a:rPr b="1" lang="en" sz="1100">
                          <a:solidFill>
                            <a:schemeClr val="lt1"/>
                          </a:solidFill>
                          <a:latin typeface="Proxima Nova"/>
                          <a:ea typeface="Proxima Nova"/>
                          <a:cs typeface="Proxima Nova"/>
                          <a:sym typeface="Proxima Nova"/>
                        </a:rPr>
                        <a:t>Priority</a:t>
                      </a:r>
                      <a:endParaRPr b="1" sz="1100">
                        <a:solidFill>
                          <a:schemeClr val="lt1"/>
                        </a:solidFill>
                        <a:latin typeface="Proxima Nova"/>
                        <a:ea typeface="Proxima Nova"/>
                        <a:cs typeface="Proxima Nova"/>
                        <a:sym typeface="Proxima Nova"/>
                      </a:endParaRPr>
                    </a:p>
                  </a:txBody>
                  <a:tcPr marT="63500" marB="63500" marR="63500" marL="63500">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12700">
                      <a:solidFill>
                        <a:srgbClr val="000000">
                          <a:alpha val="0"/>
                        </a:srgbClr>
                      </a:solidFill>
                      <a:prstDash val="solid"/>
                      <a:round/>
                      <a:headEnd len="sm" w="sm" type="none"/>
                      <a:tailEnd len="sm" w="sm" type="none"/>
                    </a:lnT>
                    <a:lnB cap="flat" cmpd="sng" w="12700">
                      <a:solidFill>
                        <a:srgbClr val="F3F3F3">
                          <a:alpha val="0"/>
                        </a:srgbClr>
                      </a:solidFill>
                      <a:prstDash val="solid"/>
                      <a:round/>
                      <a:headEnd len="sm" w="sm" type="none"/>
                      <a:tailEnd len="sm" w="sm" type="none"/>
                    </a:lnB>
                    <a:solidFill>
                      <a:srgbClr val="134F5C"/>
                    </a:solidFill>
                  </a:tcPr>
                </a:tc>
                <a:tc>
                  <a:txBody>
                    <a:bodyPr/>
                    <a:lstStyle/>
                    <a:p>
                      <a:pPr indent="0" lvl="0" marL="0" rtl="0" algn="ctr">
                        <a:spcBef>
                          <a:spcPts val="0"/>
                        </a:spcBef>
                        <a:spcAft>
                          <a:spcPts val="0"/>
                        </a:spcAft>
                        <a:buNone/>
                      </a:pPr>
                      <a:r>
                        <a:rPr b="1" lang="en" sz="1100">
                          <a:solidFill>
                            <a:schemeClr val="lt1"/>
                          </a:solidFill>
                          <a:latin typeface="Proxima Nova"/>
                          <a:ea typeface="Proxima Nova"/>
                          <a:cs typeface="Proxima Nova"/>
                          <a:sym typeface="Proxima Nova"/>
                        </a:rPr>
                        <a:t>Questions</a:t>
                      </a:r>
                      <a:endParaRPr b="1" sz="1100">
                        <a:solidFill>
                          <a:schemeClr val="lt1"/>
                        </a:solidFill>
                        <a:latin typeface="Proxima Nova"/>
                        <a:ea typeface="Proxima Nova"/>
                        <a:cs typeface="Proxima Nova"/>
                        <a:sym typeface="Proxima Nova"/>
                      </a:endParaRPr>
                    </a:p>
                  </a:txBody>
                  <a:tcPr marT="63500" marB="63500" marR="63500" marL="63500">
                    <a:lnL cap="flat" cmpd="sng" w="12700">
                      <a:solidFill>
                        <a:srgbClr val="000000">
                          <a:alpha val="0"/>
                        </a:srgbClr>
                      </a:solidFill>
                      <a:prstDash val="solid"/>
                      <a:round/>
                      <a:headEnd len="sm" w="sm" type="none"/>
                      <a:tailEnd len="sm" w="sm" type="none"/>
                    </a:lnL>
                    <a:lnR cap="flat" cmpd="sng" w="12700">
                      <a:solidFill>
                        <a:srgbClr val="000000">
                          <a:alpha val="0"/>
                        </a:srgbClr>
                      </a:solidFill>
                      <a:prstDash val="solid"/>
                      <a:round/>
                      <a:headEnd len="sm" w="sm" type="none"/>
                      <a:tailEnd len="sm" w="sm" type="none"/>
                    </a:lnR>
                    <a:lnT cap="flat" cmpd="sng" w="12700">
                      <a:solidFill>
                        <a:srgbClr val="000000">
                          <a:alpha val="0"/>
                        </a:srgbClr>
                      </a:solidFill>
                      <a:prstDash val="solid"/>
                      <a:round/>
                      <a:headEnd len="sm" w="sm" type="none"/>
                      <a:tailEnd len="sm" w="sm" type="none"/>
                    </a:lnT>
                    <a:lnB cap="flat" cmpd="sng" w="12700">
                      <a:solidFill>
                        <a:srgbClr val="F3F3F3">
                          <a:alpha val="0"/>
                        </a:srgbClr>
                      </a:solidFill>
                      <a:prstDash val="solid"/>
                      <a:round/>
                      <a:headEnd len="sm" w="sm" type="none"/>
                      <a:tailEnd len="sm" w="sm" type="none"/>
                    </a:lnB>
                    <a:solidFill>
                      <a:srgbClr val="134F5C"/>
                    </a:solidFill>
                  </a:tcPr>
                </a:tc>
              </a:tr>
              <a:tr h="1061725">
                <a:tc>
                  <a:txBody>
                    <a:bodyPr/>
                    <a:lstStyle/>
                    <a:p>
                      <a:pPr indent="0" lvl="0" marL="0" rtl="0" algn="l">
                        <a:spcBef>
                          <a:spcPts val="0"/>
                        </a:spcBef>
                        <a:spcAft>
                          <a:spcPts val="0"/>
                        </a:spcAft>
                        <a:buNone/>
                      </a:pPr>
                      <a:r>
                        <a:rPr b="1" lang="en" sz="1100">
                          <a:solidFill>
                            <a:schemeClr val="dk2"/>
                          </a:solidFill>
                          <a:latin typeface="Proxima Nova"/>
                          <a:ea typeface="Proxima Nova"/>
                          <a:cs typeface="Proxima Nova"/>
                          <a:sym typeface="Proxima Nova"/>
                        </a:rPr>
                        <a:t>Rotation</a:t>
                      </a:r>
                      <a:endParaRPr b="1" sz="1100">
                        <a:solidFill>
                          <a:schemeClr val="dk2"/>
                        </a:solidFill>
                        <a:latin typeface="Proxima Nova"/>
                        <a:ea typeface="Proxima Nova"/>
                        <a:cs typeface="Proxima Nova"/>
                        <a:sym typeface="Proxima Nova"/>
                      </a:endParaRPr>
                    </a:p>
                  </a:txBody>
                  <a:tcPr marT="63500" marB="63500" marR="63500" marL="635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12700">
                      <a:solidFill>
                        <a:srgbClr val="F3F3F3">
                          <a:alpha val="0"/>
                        </a:srgbClr>
                      </a:solidFill>
                      <a:prstDash val="solid"/>
                      <a:round/>
                      <a:headEnd len="sm" w="sm" type="none"/>
                      <a:tailEnd len="sm" w="sm" type="none"/>
                    </a:lnT>
                    <a:lnB cap="flat" cmpd="sng" w="12700">
                      <a:solidFill>
                        <a:srgbClr val="F3F3F3"/>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2"/>
                          </a:solidFill>
                          <a:latin typeface="Proxima Nova"/>
                          <a:ea typeface="Proxima Nova"/>
                          <a:cs typeface="Proxima Nova"/>
                          <a:sym typeface="Proxima Nova"/>
                        </a:rPr>
                        <a:t>P0</a:t>
                      </a:r>
                      <a:endParaRPr sz="1100">
                        <a:solidFill>
                          <a:schemeClr val="dk2"/>
                        </a:solidFill>
                        <a:latin typeface="Proxima Nova"/>
                        <a:ea typeface="Proxima Nova"/>
                        <a:cs typeface="Proxima Nova"/>
                        <a:sym typeface="Proxima Nova"/>
                      </a:endParaRPr>
                    </a:p>
                  </a:txBody>
                  <a:tcPr marT="63500" marB="63500" marR="63500" marL="635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12700">
                      <a:solidFill>
                        <a:srgbClr val="F3F3F3">
                          <a:alpha val="0"/>
                        </a:srgbClr>
                      </a:solidFill>
                      <a:prstDash val="solid"/>
                      <a:round/>
                      <a:headEnd len="sm" w="sm" type="none"/>
                      <a:tailEnd len="sm" w="sm" type="none"/>
                    </a:lnT>
                    <a:lnB cap="flat" cmpd="sng" w="12700">
                      <a:solidFill>
                        <a:srgbClr val="F3F3F3"/>
                      </a:solidFill>
                      <a:prstDash val="solid"/>
                      <a:round/>
                      <a:headEnd len="sm" w="sm" type="none"/>
                      <a:tailEnd len="sm" w="sm" type="none"/>
                    </a:lnB>
                  </a:tcPr>
                </a:tc>
                <a:tc>
                  <a:txBody>
                    <a:bodyPr/>
                    <a:lstStyle/>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How do Cx </a:t>
                      </a:r>
                      <a:r>
                        <a:rPr b="1" lang="en" sz="1000">
                          <a:solidFill>
                            <a:schemeClr val="dk2"/>
                          </a:solidFill>
                          <a:latin typeface="Proxima Nova"/>
                          <a:ea typeface="Proxima Nova"/>
                          <a:cs typeface="Proxima Nova"/>
                          <a:sym typeface="Proxima Nova"/>
                        </a:rPr>
                        <a:t>feel about the rotation</a:t>
                      </a:r>
                      <a:r>
                        <a:rPr lang="en" sz="1000">
                          <a:solidFill>
                            <a:schemeClr val="dk2"/>
                          </a:solidFill>
                          <a:latin typeface="Proxima Nova"/>
                          <a:ea typeface="Proxima Nova"/>
                          <a:cs typeface="Proxima Nova"/>
                          <a:sym typeface="Proxima Nova"/>
                        </a:rPr>
                        <a:t> of restaurants?</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b="1" lang="en" sz="1000">
                          <a:solidFill>
                            <a:schemeClr val="dk2"/>
                          </a:solidFill>
                          <a:latin typeface="Proxima Nova"/>
                          <a:ea typeface="Proxima Nova"/>
                          <a:cs typeface="Proxima Nova"/>
                          <a:sym typeface="Proxima Nova"/>
                        </a:rPr>
                        <a:t>How long</a:t>
                      </a:r>
                      <a:r>
                        <a:rPr lang="en" sz="1000">
                          <a:solidFill>
                            <a:schemeClr val="dk2"/>
                          </a:solidFill>
                          <a:latin typeface="Proxima Nova"/>
                          <a:ea typeface="Proxima Nova"/>
                          <a:cs typeface="Proxima Nova"/>
                          <a:sym typeface="Proxima Nova"/>
                        </a:rPr>
                        <a:t> should an Rx be in the rotation?  What feels fair?</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What</a:t>
                      </a:r>
                      <a:r>
                        <a:rPr b="1" lang="en" sz="1000">
                          <a:solidFill>
                            <a:schemeClr val="dk2"/>
                          </a:solidFill>
                          <a:latin typeface="Proxima Nova"/>
                          <a:ea typeface="Proxima Nova"/>
                          <a:cs typeface="Proxima Nova"/>
                          <a:sym typeface="Proxima Nova"/>
                        </a:rPr>
                        <a:t> format</a:t>
                      </a:r>
                      <a:r>
                        <a:rPr lang="en" sz="1000">
                          <a:solidFill>
                            <a:schemeClr val="dk2"/>
                          </a:solidFill>
                          <a:latin typeface="Proxima Nova"/>
                          <a:ea typeface="Proxima Nova"/>
                          <a:cs typeface="Proxima Nova"/>
                          <a:sym typeface="Proxima Nova"/>
                        </a:rPr>
                        <a:t> should be used for the rotation?  How important is new vs. what is going away?</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What do they think they would</a:t>
                      </a:r>
                      <a:r>
                        <a:rPr b="1" lang="en" sz="1000">
                          <a:solidFill>
                            <a:schemeClr val="dk2"/>
                          </a:solidFill>
                          <a:latin typeface="Proxima Nova"/>
                          <a:ea typeface="Proxima Nova"/>
                          <a:cs typeface="Proxima Nova"/>
                          <a:sym typeface="Proxima Nova"/>
                        </a:rPr>
                        <a:t> do if a preferred Rx rotates out</a:t>
                      </a:r>
                      <a:r>
                        <a:rPr lang="en" sz="1000">
                          <a:solidFill>
                            <a:schemeClr val="dk2"/>
                          </a:solidFill>
                          <a:latin typeface="Proxima Nova"/>
                          <a:ea typeface="Proxima Nova"/>
                          <a:cs typeface="Proxima Nova"/>
                          <a:sym typeface="Proxima Nova"/>
                        </a:rPr>
                        <a:t>?</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What </a:t>
                      </a:r>
                      <a:r>
                        <a:rPr b="1" lang="en" sz="1000">
                          <a:solidFill>
                            <a:schemeClr val="dk2"/>
                          </a:solidFill>
                          <a:latin typeface="Proxima Nova"/>
                          <a:ea typeface="Proxima Nova"/>
                          <a:cs typeface="Proxima Nova"/>
                          <a:sym typeface="Proxima Nova"/>
                        </a:rPr>
                        <a:t>categorization of Rx</a:t>
                      </a:r>
                      <a:r>
                        <a:rPr lang="en" sz="1000">
                          <a:solidFill>
                            <a:schemeClr val="dk2"/>
                          </a:solidFill>
                          <a:latin typeface="Proxima Nova"/>
                          <a:ea typeface="Proxima Nova"/>
                          <a:cs typeface="Proxima Nova"/>
                          <a:sym typeface="Proxima Nova"/>
                        </a:rPr>
                        <a:t> would they want to see in the rotation?</a:t>
                      </a:r>
                      <a:endParaRPr sz="1000">
                        <a:solidFill>
                          <a:schemeClr val="dk2"/>
                        </a:solidFill>
                        <a:latin typeface="Proxima Nova"/>
                        <a:ea typeface="Proxima Nova"/>
                        <a:cs typeface="Proxima Nova"/>
                        <a:sym typeface="Proxima Nova"/>
                      </a:endParaRPr>
                    </a:p>
                  </a:txBody>
                  <a:tcPr marT="63500" marB="63500" marR="63500" marL="635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12700">
                      <a:solidFill>
                        <a:srgbClr val="F3F3F3">
                          <a:alpha val="0"/>
                        </a:srgbClr>
                      </a:solidFill>
                      <a:prstDash val="solid"/>
                      <a:round/>
                      <a:headEnd len="sm" w="sm" type="none"/>
                      <a:tailEnd len="sm" w="sm" type="none"/>
                    </a:lnT>
                    <a:lnB cap="flat" cmpd="sng" w="12700">
                      <a:solidFill>
                        <a:srgbClr val="F3F3F3"/>
                      </a:solidFill>
                      <a:prstDash val="solid"/>
                      <a:round/>
                      <a:headEnd len="sm" w="sm" type="none"/>
                      <a:tailEnd len="sm" w="sm" type="none"/>
                    </a:lnB>
                  </a:tcPr>
                </a:tc>
              </a:tr>
              <a:tr h="1217100">
                <a:tc>
                  <a:txBody>
                    <a:bodyPr/>
                    <a:lstStyle/>
                    <a:p>
                      <a:pPr indent="0" lvl="0" marL="0" rtl="0" algn="l">
                        <a:spcBef>
                          <a:spcPts val="0"/>
                        </a:spcBef>
                        <a:spcAft>
                          <a:spcPts val="0"/>
                        </a:spcAft>
                        <a:buNone/>
                      </a:pPr>
                      <a:r>
                        <a:rPr b="1" lang="en" sz="1100">
                          <a:solidFill>
                            <a:schemeClr val="dk2"/>
                          </a:solidFill>
                          <a:latin typeface="Proxima Nova"/>
                          <a:ea typeface="Proxima Nova"/>
                          <a:cs typeface="Proxima Nova"/>
                          <a:sym typeface="Proxima Nova"/>
                        </a:rPr>
                        <a:t>Interest &amp; Clarity</a:t>
                      </a:r>
                      <a:endParaRPr b="1" sz="1100">
                        <a:solidFill>
                          <a:schemeClr val="dk2"/>
                        </a:solidFill>
                        <a:latin typeface="Proxima Nova"/>
                        <a:ea typeface="Proxima Nova"/>
                        <a:cs typeface="Proxima Nova"/>
                        <a:sym typeface="Proxima Nova"/>
                      </a:endParaRPr>
                    </a:p>
                  </a:txBody>
                  <a:tcPr marT="63500" marB="63500" marR="63500" marL="635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12700">
                      <a:solidFill>
                        <a:srgbClr val="F3F3F3"/>
                      </a:solidFill>
                      <a:prstDash val="solid"/>
                      <a:round/>
                      <a:headEnd len="sm" w="sm" type="none"/>
                      <a:tailEnd len="sm" w="sm" type="none"/>
                    </a:lnT>
                    <a:lnB cap="flat" cmpd="sng" w="12700">
                      <a:solidFill>
                        <a:srgbClr val="F3F3F3"/>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2"/>
                          </a:solidFill>
                          <a:latin typeface="Proxima Nova"/>
                          <a:ea typeface="Proxima Nova"/>
                          <a:cs typeface="Proxima Nova"/>
                          <a:sym typeface="Proxima Nova"/>
                        </a:rPr>
                        <a:t>P0</a:t>
                      </a:r>
                      <a:endParaRPr sz="1100">
                        <a:solidFill>
                          <a:schemeClr val="dk2"/>
                        </a:solidFill>
                        <a:latin typeface="Proxima Nova"/>
                        <a:ea typeface="Proxima Nova"/>
                        <a:cs typeface="Proxima Nova"/>
                        <a:sym typeface="Proxima Nova"/>
                      </a:endParaRPr>
                    </a:p>
                  </a:txBody>
                  <a:tcPr marT="63500" marB="63500" marR="63500" marL="635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12700">
                      <a:solidFill>
                        <a:srgbClr val="F3F3F3"/>
                      </a:solidFill>
                      <a:prstDash val="solid"/>
                      <a:round/>
                      <a:headEnd len="sm" w="sm" type="none"/>
                      <a:tailEnd len="sm" w="sm" type="none"/>
                    </a:lnT>
                    <a:lnB cap="flat" cmpd="sng" w="12700">
                      <a:solidFill>
                        <a:srgbClr val="F3F3F3"/>
                      </a:solidFill>
                      <a:prstDash val="solid"/>
                      <a:round/>
                      <a:headEnd len="sm" w="sm" type="none"/>
                      <a:tailEnd len="sm" w="sm" type="none"/>
                    </a:lnB>
                  </a:tcPr>
                </a:tc>
                <a:tc>
                  <a:txBody>
                    <a:bodyPr/>
                    <a:lstStyle/>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Do Cx </a:t>
                      </a:r>
                      <a:r>
                        <a:rPr b="1" lang="en" sz="1000">
                          <a:solidFill>
                            <a:schemeClr val="dk2"/>
                          </a:solidFill>
                          <a:latin typeface="Proxima Nova"/>
                          <a:ea typeface="Proxima Nova"/>
                          <a:cs typeface="Proxima Nova"/>
                          <a:sym typeface="Proxima Nova"/>
                        </a:rPr>
                        <a:t>care</a:t>
                      </a:r>
                      <a:r>
                        <a:rPr lang="en" sz="1000">
                          <a:solidFill>
                            <a:schemeClr val="dk2"/>
                          </a:solidFill>
                          <a:latin typeface="Proxima Nova"/>
                          <a:ea typeface="Proxima Nova"/>
                          <a:cs typeface="Proxima Nova"/>
                          <a:sym typeface="Proxima Nova"/>
                        </a:rPr>
                        <a:t> about the Taste of DashPass offering?  Is it </a:t>
                      </a:r>
                      <a:r>
                        <a:rPr b="1" lang="en" sz="1000">
                          <a:solidFill>
                            <a:schemeClr val="dk2"/>
                          </a:solidFill>
                          <a:latin typeface="Proxima Nova"/>
                          <a:ea typeface="Proxima Nova"/>
                          <a:cs typeface="Proxima Nova"/>
                          <a:sym typeface="Proxima Nova"/>
                        </a:rPr>
                        <a:t>exciting</a:t>
                      </a:r>
                      <a:r>
                        <a:rPr lang="en" sz="1000">
                          <a:solidFill>
                            <a:schemeClr val="dk2"/>
                          </a:solidFill>
                          <a:latin typeface="Proxima Nova"/>
                          <a:ea typeface="Proxima Nova"/>
                          <a:cs typeface="Proxima Nova"/>
                          <a:sym typeface="Proxima Nova"/>
                        </a:rPr>
                        <a:t>?</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Do Cx</a:t>
                      </a:r>
                      <a:r>
                        <a:rPr b="1" lang="en" sz="1000">
                          <a:solidFill>
                            <a:schemeClr val="dk2"/>
                          </a:solidFill>
                          <a:latin typeface="Proxima Nova"/>
                          <a:ea typeface="Proxima Nova"/>
                          <a:cs typeface="Proxima Nova"/>
                          <a:sym typeface="Proxima Nova"/>
                        </a:rPr>
                        <a:t> understand</a:t>
                      </a:r>
                      <a:r>
                        <a:rPr lang="en" sz="1000">
                          <a:solidFill>
                            <a:schemeClr val="dk2"/>
                          </a:solidFill>
                          <a:latin typeface="Proxima Nova"/>
                          <a:ea typeface="Proxima Nova"/>
                          <a:cs typeface="Proxima Nova"/>
                          <a:sym typeface="Proxima Nova"/>
                        </a:rPr>
                        <a:t> the Taste of DashPass offering?</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Do they</a:t>
                      </a:r>
                      <a:r>
                        <a:rPr b="1" lang="en" sz="1000">
                          <a:solidFill>
                            <a:schemeClr val="dk2"/>
                          </a:solidFill>
                          <a:latin typeface="Proxima Nova"/>
                          <a:ea typeface="Proxima Nova"/>
                          <a:cs typeface="Proxima Nova"/>
                          <a:sym typeface="Proxima Nova"/>
                        </a:rPr>
                        <a:t> understand all of the step</a:t>
                      </a:r>
                      <a:r>
                        <a:rPr lang="en" sz="1000">
                          <a:solidFill>
                            <a:schemeClr val="dk2"/>
                          </a:solidFill>
                          <a:latin typeface="Proxima Nova"/>
                          <a:ea typeface="Proxima Nova"/>
                          <a:cs typeface="Proxima Nova"/>
                          <a:sym typeface="Proxima Nova"/>
                        </a:rPr>
                        <a:t>s?  To what level </a:t>
                      </a:r>
                      <a:r>
                        <a:rPr b="1" lang="en" sz="1000">
                          <a:solidFill>
                            <a:schemeClr val="dk2"/>
                          </a:solidFill>
                          <a:latin typeface="Proxima Nova"/>
                          <a:ea typeface="Proxima Nova"/>
                          <a:cs typeface="Proxima Nova"/>
                          <a:sym typeface="Proxima Nova"/>
                        </a:rPr>
                        <a:t>should they be broken out</a:t>
                      </a:r>
                      <a:r>
                        <a:rPr lang="en" sz="1000">
                          <a:solidFill>
                            <a:schemeClr val="dk2"/>
                          </a:solidFill>
                          <a:latin typeface="Proxima Nova"/>
                          <a:ea typeface="Proxima Nova"/>
                          <a:cs typeface="Proxima Nova"/>
                          <a:sym typeface="Proxima Nova"/>
                        </a:rPr>
                        <a:t>/not broken out?</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What</a:t>
                      </a:r>
                      <a:r>
                        <a:rPr b="1" lang="en" sz="1000">
                          <a:solidFill>
                            <a:schemeClr val="dk2"/>
                          </a:solidFill>
                          <a:latin typeface="Proxima Nova"/>
                          <a:ea typeface="Proxima Nova"/>
                          <a:cs typeface="Proxima Nova"/>
                          <a:sym typeface="Proxima Nova"/>
                        </a:rPr>
                        <a:t> limitations</a:t>
                      </a:r>
                      <a:r>
                        <a:rPr lang="en" sz="1000">
                          <a:solidFill>
                            <a:schemeClr val="dk2"/>
                          </a:solidFill>
                          <a:latin typeface="Proxima Nova"/>
                          <a:ea typeface="Proxima Nova"/>
                          <a:cs typeface="Proxima Nova"/>
                          <a:sym typeface="Proxima Nova"/>
                        </a:rPr>
                        <a:t> do Cx feel exist?</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Where might there be </a:t>
                      </a:r>
                      <a:r>
                        <a:rPr b="1" lang="en" sz="1000">
                          <a:solidFill>
                            <a:schemeClr val="dk2"/>
                          </a:solidFill>
                          <a:latin typeface="Proxima Nova"/>
                          <a:ea typeface="Proxima Nova"/>
                          <a:cs typeface="Proxima Nova"/>
                          <a:sym typeface="Proxima Nova"/>
                        </a:rPr>
                        <a:t>areas of confusion</a:t>
                      </a:r>
                      <a:r>
                        <a:rPr lang="en" sz="1000">
                          <a:solidFill>
                            <a:schemeClr val="dk2"/>
                          </a:solidFill>
                          <a:latin typeface="Proxima Nova"/>
                          <a:ea typeface="Proxima Nova"/>
                          <a:cs typeface="Proxima Nova"/>
                          <a:sym typeface="Proxima Nova"/>
                        </a:rPr>
                        <a:t>?  Where would Cx go to try to find more information?</a:t>
                      </a:r>
                      <a:endParaRPr sz="1000">
                        <a:solidFill>
                          <a:schemeClr val="dk2"/>
                        </a:solidFill>
                        <a:latin typeface="Proxima Nova"/>
                        <a:ea typeface="Proxima Nova"/>
                        <a:cs typeface="Proxima Nova"/>
                        <a:sym typeface="Proxima Nova"/>
                      </a:endParaRPr>
                    </a:p>
                  </a:txBody>
                  <a:tcPr marT="63500" marB="63500" marR="63500" marL="635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12700">
                      <a:solidFill>
                        <a:srgbClr val="F3F3F3"/>
                      </a:solidFill>
                      <a:prstDash val="solid"/>
                      <a:round/>
                      <a:headEnd len="sm" w="sm" type="none"/>
                      <a:tailEnd len="sm" w="sm" type="none"/>
                    </a:lnT>
                    <a:lnB cap="flat" cmpd="sng" w="12700">
                      <a:solidFill>
                        <a:srgbClr val="F3F3F3"/>
                      </a:solidFill>
                      <a:prstDash val="solid"/>
                      <a:round/>
                      <a:headEnd len="sm" w="sm" type="none"/>
                      <a:tailEnd len="sm" w="sm" type="none"/>
                    </a:lnB>
                  </a:tcPr>
                </a:tc>
              </a:tr>
              <a:tr h="1061725">
                <a:tc>
                  <a:txBody>
                    <a:bodyPr/>
                    <a:lstStyle/>
                    <a:p>
                      <a:pPr indent="0" lvl="0" marL="0" rtl="0" algn="l">
                        <a:spcBef>
                          <a:spcPts val="0"/>
                        </a:spcBef>
                        <a:spcAft>
                          <a:spcPts val="0"/>
                        </a:spcAft>
                        <a:buNone/>
                      </a:pPr>
                      <a:r>
                        <a:rPr b="1" lang="en" sz="1100">
                          <a:solidFill>
                            <a:schemeClr val="dk2"/>
                          </a:solidFill>
                          <a:latin typeface="Proxima Nova"/>
                          <a:ea typeface="Proxima Nova"/>
                          <a:cs typeface="Proxima Nova"/>
                          <a:sym typeface="Proxima Nova"/>
                        </a:rPr>
                        <a:t>DashPass</a:t>
                      </a:r>
                      <a:endParaRPr b="1" sz="1100">
                        <a:solidFill>
                          <a:schemeClr val="dk2"/>
                        </a:solidFill>
                        <a:latin typeface="Proxima Nova"/>
                        <a:ea typeface="Proxima Nova"/>
                        <a:cs typeface="Proxima Nova"/>
                        <a:sym typeface="Proxima Nova"/>
                      </a:endParaRPr>
                    </a:p>
                  </a:txBody>
                  <a:tcPr marT="63500" marB="63500" marR="63500" marL="635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12700">
                      <a:solidFill>
                        <a:srgbClr val="F3F3F3"/>
                      </a:solidFill>
                      <a:prstDash val="solid"/>
                      <a:round/>
                      <a:headEnd len="sm" w="sm" type="none"/>
                      <a:tailEnd len="sm" w="sm" type="none"/>
                    </a:lnT>
                    <a:lnB cap="flat" cmpd="sng" w="12700">
                      <a:solidFill>
                        <a:srgbClr val="F3F3F3"/>
                      </a:solidFill>
                      <a:prstDash val="solid"/>
                      <a:round/>
                      <a:headEnd len="sm" w="sm" type="none"/>
                      <a:tailEnd len="sm" w="sm" type="none"/>
                    </a:lnB>
                  </a:tcPr>
                </a:tc>
                <a:tc>
                  <a:txBody>
                    <a:bodyPr/>
                    <a:lstStyle/>
                    <a:p>
                      <a:pPr indent="0" lvl="0" marL="0" rtl="0" algn="ctr">
                        <a:spcBef>
                          <a:spcPts val="0"/>
                        </a:spcBef>
                        <a:spcAft>
                          <a:spcPts val="0"/>
                        </a:spcAft>
                        <a:buNone/>
                      </a:pPr>
                      <a:r>
                        <a:rPr lang="en" sz="1100">
                          <a:solidFill>
                            <a:schemeClr val="dk2"/>
                          </a:solidFill>
                          <a:latin typeface="Proxima Nova"/>
                          <a:ea typeface="Proxima Nova"/>
                          <a:cs typeface="Proxima Nova"/>
                          <a:sym typeface="Proxima Nova"/>
                        </a:rPr>
                        <a:t>P1</a:t>
                      </a:r>
                      <a:endParaRPr sz="1100">
                        <a:solidFill>
                          <a:schemeClr val="dk2"/>
                        </a:solidFill>
                        <a:latin typeface="Proxima Nova"/>
                        <a:ea typeface="Proxima Nova"/>
                        <a:cs typeface="Proxima Nova"/>
                        <a:sym typeface="Proxima Nova"/>
                      </a:endParaRPr>
                    </a:p>
                  </a:txBody>
                  <a:tcPr marT="63500" marB="63500" marR="63500" marL="635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12700">
                      <a:solidFill>
                        <a:srgbClr val="F3F3F3"/>
                      </a:solidFill>
                      <a:prstDash val="solid"/>
                      <a:round/>
                      <a:headEnd len="sm" w="sm" type="none"/>
                      <a:tailEnd len="sm" w="sm" type="none"/>
                    </a:lnT>
                    <a:lnB cap="flat" cmpd="sng" w="12700">
                      <a:solidFill>
                        <a:srgbClr val="F3F3F3"/>
                      </a:solidFill>
                      <a:prstDash val="solid"/>
                      <a:round/>
                      <a:headEnd len="sm" w="sm" type="none"/>
                      <a:tailEnd len="sm" w="sm" type="none"/>
                    </a:lnB>
                  </a:tcPr>
                </a:tc>
                <a:tc>
                  <a:txBody>
                    <a:bodyPr/>
                    <a:lstStyle/>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Does the</a:t>
                      </a:r>
                      <a:r>
                        <a:rPr b="1" lang="en" sz="1000">
                          <a:solidFill>
                            <a:schemeClr val="dk2"/>
                          </a:solidFill>
                          <a:latin typeface="Proxima Nova"/>
                          <a:ea typeface="Proxima Nova"/>
                          <a:cs typeface="Proxima Nova"/>
                          <a:sym typeface="Proxima Nova"/>
                        </a:rPr>
                        <a:t> connection to DashPass</a:t>
                      </a:r>
                      <a:r>
                        <a:rPr lang="en" sz="1000">
                          <a:solidFill>
                            <a:schemeClr val="dk2"/>
                          </a:solidFill>
                          <a:latin typeface="Proxima Nova"/>
                          <a:ea typeface="Proxima Nova"/>
                          <a:cs typeface="Proxima Nova"/>
                          <a:sym typeface="Proxima Nova"/>
                        </a:rPr>
                        <a:t> make sense?  Does it feel </a:t>
                      </a:r>
                      <a:r>
                        <a:rPr b="1" lang="en" sz="1000">
                          <a:solidFill>
                            <a:schemeClr val="dk2"/>
                          </a:solidFill>
                          <a:latin typeface="Proxima Nova"/>
                          <a:ea typeface="Proxima Nova"/>
                          <a:cs typeface="Proxima Nova"/>
                          <a:sym typeface="Proxima Nova"/>
                        </a:rPr>
                        <a:t>differentiated from DashPass</a:t>
                      </a:r>
                      <a:r>
                        <a:rPr lang="en" sz="1000">
                          <a:solidFill>
                            <a:schemeClr val="dk2"/>
                          </a:solidFill>
                          <a:latin typeface="Proxima Nova"/>
                          <a:ea typeface="Proxima Nova"/>
                          <a:cs typeface="Proxima Nova"/>
                          <a:sym typeface="Proxima Nova"/>
                        </a:rPr>
                        <a:t> content they see today (trial, upsell)?</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Do Cx understand that Taste of DashPass is </a:t>
                      </a:r>
                      <a:r>
                        <a:rPr b="1" lang="en" sz="1000">
                          <a:solidFill>
                            <a:schemeClr val="dk2"/>
                          </a:solidFill>
                          <a:latin typeface="Proxima Nova"/>
                          <a:ea typeface="Proxima Nova"/>
                          <a:cs typeface="Proxima Nova"/>
                          <a:sym typeface="Proxima Nova"/>
                        </a:rPr>
                        <a:t>free</a:t>
                      </a:r>
                      <a:r>
                        <a:rPr lang="en" sz="1000">
                          <a:solidFill>
                            <a:schemeClr val="dk2"/>
                          </a:solidFill>
                          <a:latin typeface="Proxima Nova"/>
                          <a:ea typeface="Proxima Nova"/>
                          <a:cs typeface="Proxima Nova"/>
                          <a:sym typeface="Proxima Nova"/>
                        </a:rPr>
                        <a:t>, and they sign up as a </a:t>
                      </a:r>
                      <a:r>
                        <a:rPr b="1" lang="en" sz="1000">
                          <a:solidFill>
                            <a:schemeClr val="dk2"/>
                          </a:solidFill>
                          <a:latin typeface="Proxima Nova"/>
                          <a:ea typeface="Proxima Nova"/>
                          <a:cs typeface="Proxima Nova"/>
                          <a:sym typeface="Proxima Nova"/>
                        </a:rPr>
                        <a:t>preview</a:t>
                      </a:r>
                      <a:r>
                        <a:rPr lang="en" sz="1000">
                          <a:solidFill>
                            <a:schemeClr val="dk2"/>
                          </a:solidFill>
                          <a:latin typeface="Proxima Nova"/>
                          <a:ea typeface="Proxima Nova"/>
                          <a:cs typeface="Proxima Nova"/>
                          <a:sym typeface="Proxima Nova"/>
                        </a:rPr>
                        <a:t>?</a:t>
                      </a:r>
                      <a:endParaRPr sz="1000">
                        <a:solidFill>
                          <a:schemeClr val="dk2"/>
                        </a:solidFill>
                        <a:latin typeface="Proxima Nova"/>
                        <a:ea typeface="Proxima Nova"/>
                        <a:cs typeface="Proxima Nova"/>
                        <a:sym typeface="Proxima Nova"/>
                      </a:endParaRPr>
                    </a:p>
                    <a:p>
                      <a:pPr indent="-292100" lvl="0" marL="457200" rtl="0" algn="l">
                        <a:spcBef>
                          <a:spcPts val="0"/>
                        </a:spcBef>
                        <a:spcAft>
                          <a:spcPts val="0"/>
                        </a:spcAft>
                        <a:buClr>
                          <a:schemeClr val="dk2"/>
                        </a:buClr>
                        <a:buSzPts val="1000"/>
                        <a:buFont typeface="Proxima Nova"/>
                        <a:buChar char="●"/>
                      </a:pPr>
                      <a:r>
                        <a:rPr lang="en" sz="1000">
                          <a:solidFill>
                            <a:schemeClr val="dk2"/>
                          </a:solidFill>
                          <a:latin typeface="Proxima Nova"/>
                          <a:ea typeface="Proxima Nova"/>
                          <a:cs typeface="Proxima Nova"/>
                          <a:sym typeface="Proxima Nova"/>
                        </a:rPr>
                        <a:t>How might Taste of DashPass </a:t>
                      </a:r>
                      <a:r>
                        <a:rPr b="1" lang="en" sz="1000">
                          <a:solidFill>
                            <a:schemeClr val="dk2"/>
                          </a:solidFill>
                          <a:latin typeface="Proxima Nova"/>
                          <a:ea typeface="Proxima Nova"/>
                          <a:cs typeface="Proxima Nova"/>
                          <a:sym typeface="Proxima Nova"/>
                        </a:rPr>
                        <a:t>change their view of DashPass</a:t>
                      </a:r>
                      <a:r>
                        <a:rPr lang="en" sz="1000">
                          <a:solidFill>
                            <a:schemeClr val="dk2"/>
                          </a:solidFill>
                          <a:latin typeface="Proxima Nova"/>
                          <a:ea typeface="Proxima Nova"/>
                          <a:cs typeface="Proxima Nova"/>
                          <a:sym typeface="Proxima Nova"/>
                        </a:rPr>
                        <a:t>?  How might understanding of the </a:t>
                      </a:r>
                      <a:r>
                        <a:rPr b="1" lang="en" sz="1000">
                          <a:solidFill>
                            <a:schemeClr val="dk2"/>
                          </a:solidFill>
                          <a:latin typeface="Proxima Nova"/>
                          <a:ea typeface="Proxima Nova"/>
                          <a:cs typeface="Proxima Nova"/>
                          <a:sym typeface="Proxima Nova"/>
                        </a:rPr>
                        <a:t>rotation impact DashPass sign ups</a:t>
                      </a:r>
                      <a:r>
                        <a:rPr lang="en" sz="1000">
                          <a:solidFill>
                            <a:schemeClr val="dk2"/>
                          </a:solidFill>
                          <a:latin typeface="Proxima Nova"/>
                          <a:ea typeface="Proxima Nova"/>
                          <a:cs typeface="Proxima Nova"/>
                          <a:sym typeface="Proxima Nova"/>
                        </a:rPr>
                        <a:t>?</a:t>
                      </a:r>
                      <a:endParaRPr sz="1000">
                        <a:solidFill>
                          <a:schemeClr val="dk2"/>
                        </a:solidFill>
                        <a:latin typeface="Proxima Nova"/>
                        <a:ea typeface="Proxima Nova"/>
                        <a:cs typeface="Proxima Nova"/>
                        <a:sym typeface="Proxima Nova"/>
                      </a:endParaRPr>
                    </a:p>
                  </a:txBody>
                  <a:tcPr marT="63500" marB="63500" marR="63500" marL="63500" anchor="ctr">
                    <a:lnL cap="flat" cmpd="sng" w="12700">
                      <a:solidFill>
                        <a:srgbClr val="F3F3F3"/>
                      </a:solidFill>
                      <a:prstDash val="solid"/>
                      <a:round/>
                      <a:headEnd len="sm" w="sm" type="none"/>
                      <a:tailEnd len="sm" w="sm" type="none"/>
                    </a:lnL>
                    <a:lnR cap="flat" cmpd="sng" w="12700">
                      <a:solidFill>
                        <a:srgbClr val="F3F3F3"/>
                      </a:solidFill>
                      <a:prstDash val="solid"/>
                      <a:round/>
                      <a:headEnd len="sm" w="sm" type="none"/>
                      <a:tailEnd len="sm" w="sm" type="none"/>
                    </a:lnR>
                    <a:lnT cap="flat" cmpd="sng" w="12700">
                      <a:solidFill>
                        <a:srgbClr val="F3F3F3"/>
                      </a:solidFill>
                      <a:prstDash val="solid"/>
                      <a:round/>
                      <a:headEnd len="sm" w="sm" type="none"/>
                      <a:tailEnd len="sm" w="sm" type="none"/>
                    </a:lnT>
                    <a:lnB cap="flat" cmpd="sng" w="12700">
                      <a:solidFill>
                        <a:srgbClr val="F3F3F3"/>
                      </a:solidFill>
                      <a:prstDash val="solid"/>
                      <a:round/>
                      <a:headEnd len="sm" w="sm" type="none"/>
                      <a:tailEnd len="sm" w="sm" type="none"/>
                    </a:lnB>
                  </a:tcPr>
                </a:tc>
              </a:tr>
            </a:tbl>
          </a:graphicData>
        </a:graphic>
      </p:graphicFrame>
      <p:sp>
        <p:nvSpPr>
          <p:cNvPr id="225" name="Google Shape;225;p27"/>
          <p:cNvSpPr txBox="1"/>
          <p:nvPr/>
        </p:nvSpPr>
        <p:spPr>
          <a:xfrm>
            <a:off x="558225" y="194625"/>
            <a:ext cx="75834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rgbClr val="666666"/>
                </a:solidFill>
                <a:latin typeface="Proxima Nova"/>
                <a:ea typeface="Proxima Nova"/>
                <a:cs typeface="Proxima Nova"/>
                <a:sym typeface="Proxima Nova"/>
              </a:rPr>
              <a:t>Taste of DashPass Concept Test</a:t>
            </a:r>
            <a:endParaRPr b="1" sz="2300">
              <a:solidFill>
                <a:srgbClr val="666666"/>
              </a:solidFill>
              <a:latin typeface="Proxima Nova"/>
              <a:ea typeface="Proxima Nova"/>
              <a:cs typeface="Proxima Nova"/>
              <a:sym typeface="Proxima Nova"/>
            </a:endParaRPr>
          </a:p>
        </p:txBody>
      </p:sp>
      <p:sp>
        <p:nvSpPr>
          <p:cNvPr id="226" name="Google Shape;226;p27"/>
          <p:cNvSpPr txBox="1"/>
          <p:nvPr/>
        </p:nvSpPr>
        <p:spPr>
          <a:xfrm>
            <a:off x="496525" y="710625"/>
            <a:ext cx="4386300" cy="35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2"/>
                </a:solidFill>
                <a:latin typeface="Proxima Nova"/>
                <a:ea typeface="Proxima Nova"/>
                <a:cs typeface="Proxima Nova"/>
                <a:sym typeface="Proxima Nova"/>
              </a:rPr>
              <a:t>Research questions covered</a:t>
            </a:r>
            <a:r>
              <a:rPr b="1" lang="en" sz="1200">
                <a:solidFill>
                  <a:schemeClr val="dk2"/>
                </a:solidFill>
                <a:latin typeface="Proxima Nova"/>
                <a:ea typeface="Proxima Nova"/>
                <a:cs typeface="Proxima Nova"/>
                <a:sym typeface="Proxima Nova"/>
              </a:rPr>
              <a:t>:</a:t>
            </a:r>
            <a:endParaRPr b="1" sz="1200">
              <a:solidFill>
                <a:schemeClr val="dk2"/>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oorDash">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838A"/>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