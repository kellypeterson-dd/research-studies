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roximaNova-bold.fntdata"/><Relationship Id="rId10" Type="http://schemas.openxmlformats.org/officeDocument/2006/relationships/slide" Target="slides/slide6.xml"/><Relationship Id="rId21" Type="http://schemas.openxmlformats.org/officeDocument/2006/relationships/font" Target="fonts/ProximaNova-regular.fntdata"/><Relationship Id="rId13" Type="http://schemas.openxmlformats.org/officeDocument/2006/relationships/slide" Target="slides/slide9.xml"/><Relationship Id="rId24" Type="http://schemas.openxmlformats.org/officeDocument/2006/relationships/font" Target="fonts/ProximaNova-boldItalic.fntdata"/><Relationship Id="rId12" Type="http://schemas.openxmlformats.org/officeDocument/2006/relationships/slide" Target="slides/slide8.xml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89d59627f6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89d59627f6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50f35a6d7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50f35a6d7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50f35a6d7d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50f35a6d7d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7521f3e37d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7521f3e37d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7521f3e37d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7521f3e37d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7521f3e37d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7521f3e37d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7521f3e37d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7521f3e37d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7521f3e37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7521f3e37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521f3e37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521f3e37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7521f3e37d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7521f3e37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7521f3e37d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7521f3e37d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7521f3e37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7521f3e37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27521f3e37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27521f3e37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7521f3e37d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7521f3e37d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7521f3e37d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7521f3e37d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James to link to failed session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7521f3e37d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27521f3e37d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 type="title">
  <p:cSld name="TITL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" name="Google Shape;8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without header">
  <p:cSld name="TITLE_2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ey Master">
  <p:cSld name="TITLE_1">
    <p:bg>
      <p:bgPr>
        <a:solidFill>
          <a:srgbClr val="F3F3F3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4"/>
          <p:cNvSpPr txBox="1"/>
          <p:nvPr/>
        </p:nvSpPr>
        <p:spPr>
          <a:xfrm>
            <a:off x="649063" y="154275"/>
            <a:ext cx="1497600" cy="3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rPr>
              <a:t>Presentation Subject</a:t>
            </a:r>
            <a:endParaRPr sz="900">
              <a:solidFill>
                <a:srgbClr val="CCCCCC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d" type="secHead">
  <p:cSld name="SECTION_HEADER">
    <p:bg>
      <p:bgPr>
        <a:solidFill>
          <a:srgbClr val="E23208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" name="Google Shape;1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cean">
  <p:cSld name="SECTION_HEADER_2">
    <p:bg>
      <p:bgPr>
        <a:solidFill>
          <a:srgbClr val="518C8F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lush">
  <p:cSld name="SECTION_HEADER_1">
    <p:bg>
      <p:bgPr>
        <a:solidFill>
          <a:srgbClr val="E5BBB7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" name="Google Shape;25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ky">
  <p:cSld name="SECTION_HEADER_1_1">
    <p:bg>
      <p:bgPr>
        <a:solidFill>
          <a:srgbClr val="BEDFE9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3F3F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" name="Google Shape;28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mon">
  <p:cSld name="SECTION_HEADER_1_1_2">
    <p:bg>
      <p:bgPr>
        <a:solidFill>
          <a:srgbClr val="F8E500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rest">
  <p:cSld name="SECTION_HEADER_1_1_1">
    <p:bg>
      <p:bgPr>
        <a:solidFill>
          <a:srgbClr val="3A5648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" name="Google Shape;3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SECTION_HEADER_1_1_1_1"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5 1">
  <p:cSld name="TITLE_6_1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 4">
  <p:cSld name="TITLE_5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rgbClr val="CCCCCC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2" name="Google Shape;42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hyperlink" Target="https://docs.google.com/document/u/0/d/1uey0YTc4ZOm83yu0aUrvE_18KgnR7UQ1f8-mFoxKcUQ/edi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drive.google.com/file/d/1tce4LH_Evq84x8o8NDdt1yUUjWYTDHdQ/view" TargetMode="External"/><Relationship Id="rId4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drive.google.com/file/d/1HQubBaK3xlZOs4jswoW5YaV8LPZCr6bJ/view" TargetMode="External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drive.google.com/file/d/1ILGnPq4QaD02cu1-Ht9niofCnIicFeGq/view" TargetMode="External"/><Relationship Id="rId4" Type="http://schemas.openxmlformats.org/officeDocument/2006/relationships/image" Target="../media/image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hyperlink" Target="http://drive.google.com/file/d/1gJYi957XmEIJoBqsWJrfDqtAHdHm8pP0/view" TargetMode="External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16.jpg"/><Relationship Id="rId5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" name="Google Shape;48;p14"/>
          <p:cNvSpPr txBox="1"/>
          <p:nvPr/>
        </p:nvSpPr>
        <p:spPr>
          <a:xfrm>
            <a:off x="686000" y="34413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Kelly Peterson </a:t>
            </a:r>
            <a:endParaRPr b="1"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9" name="Google Shape;49;p14"/>
          <p:cNvSpPr txBox="1"/>
          <p:nvPr/>
        </p:nvSpPr>
        <p:spPr>
          <a:xfrm>
            <a:off x="686000" y="3799625"/>
            <a:ext cx="29802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Date: Aug 18 2023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4"/>
          <p:cNvSpPr txBox="1"/>
          <p:nvPr/>
        </p:nvSpPr>
        <p:spPr>
          <a:xfrm>
            <a:off x="609750" y="1529300"/>
            <a:ext cx="4741500" cy="13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ToDP Rotation: Urgency vs. New</a:t>
            </a:r>
            <a:endParaRPr b="1" sz="41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1" name="Google Shape;5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99" y="1284763"/>
            <a:ext cx="1408775" cy="1625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4"/>
          <p:cNvSpPr txBox="1"/>
          <p:nvPr/>
        </p:nvSpPr>
        <p:spPr>
          <a:xfrm>
            <a:off x="686000" y="3068425"/>
            <a:ext cx="2980200" cy="3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&amp; Reactions to Current ToDP Experiment</a:t>
            </a:r>
            <a:endParaRPr b="1" sz="8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53" name="Google Shape;5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2525" y="1110853"/>
            <a:ext cx="2726175" cy="27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>
            <a:off x="5851200" y="0"/>
            <a:ext cx="32661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 txBox="1"/>
          <p:nvPr/>
        </p:nvSpPr>
        <p:spPr>
          <a:xfrm>
            <a:off x="6617725" y="938725"/>
            <a:ext cx="2528700" cy="2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E23208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PARTICIPANTS</a:t>
            </a:r>
            <a:endParaRPr b="1" sz="10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E23208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Occasional Cx (once a month or less often)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Do not have a current DashPass subscription 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Proxima Nova"/>
              <a:buChar char="●"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Are not located in ToDP test markets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2" name="Google Shape;62;p15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Research Objectives &amp; Approach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63" name="Google Shape;63;p15"/>
          <p:cNvGrpSpPr/>
          <p:nvPr/>
        </p:nvGrpSpPr>
        <p:grpSpPr>
          <a:xfrm>
            <a:off x="6191923" y="938736"/>
            <a:ext cx="349608" cy="315560"/>
            <a:chOff x="3592942" y="1644650"/>
            <a:chExt cx="611524" cy="551967"/>
          </a:xfrm>
        </p:grpSpPr>
        <p:sp>
          <p:nvSpPr>
            <p:cNvPr id="64" name="Google Shape;64;p15"/>
            <p:cNvSpPr/>
            <p:nvPr/>
          </p:nvSpPr>
          <p:spPr>
            <a:xfrm>
              <a:off x="3689101" y="2082220"/>
              <a:ext cx="156922" cy="114389"/>
            </a:xfrm>
            <a:custGeom>
              <a:rect b="b" l="l" r="r" t="t"/>
              <a:pathLst>
                <a:path extrusionOk="0" h="114389" w="156922">
                  <a:moveTo>
                    <a:pt x="9595" y="114338"/>
                  </a:moveTo>
                  <a:cubicBezTo>
                    <a:pt x="4882" y="114395"/>
                    <a:pt x="835" y="110998"/>
                    <a:pt x="82" y="106344"/>
                  </a:cubicBezTo>
                  <a:cubicBezTo>
                    <a:pt x="-772" y="101157"/>
                    <a:pt x="2740" y="96266"/>
                    <a:pt x="7924" y="95409"/>
                  </a:cubicBezTo>
                  <a:cubicBezTo>
                    <a:pt x="7941" y="95409"/>
                    <a:pt x="7959" y="95400"/>
                    <a:pt x="7978" y="95400"/>
                  </a:cubicBezTo>
                  <a:cubicBezTo>
                    <a:pt x="54115" y="87692"/>
                    <a:pt x="124321" y="71704"/>
                    <a:pt x="135926" y="59998"/>
                  </a:cubicBezTo>
                  <a:cubicBezTo>
                    <a:pt x="138685" y="55811"/>
                    <a:pt x="137544" y="32591"/>
                    <a:pt x="133358" y="11559"/>
                  </a:cubicBezTo>
                  <a:cubicBezTo>
                    <a:pt x="132307" y="6303"/>
                    <a:pt x="135714" y="1191"/>
                    <a:pt x="140968" y="139"/>
                  </a:cubicBezTo>
                  <a:cubicBezTo>
                    <a:pt x="146222" y="-912"/>
                    <a:pt x="151333" y="2497"/>
                    <a:pt x="152384" y="7753"/>
                  </a:cubicBezTo>
                  <a:cubicBezTo>
                    <a:pt x="156284" y="27452"/>
                    <a:pt x="161231" y="62092"/>
                    <a:pt x="149815" y="73512"/>
                  </a:cubicBezTo>
                  <a:cubicBezTo>
                    <a:pt x="129648" y="93687"/>
                    <a:pt x="30999" y="110912"/>
                    <a:pt x="11402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3951288" y="2082315"/>
              <a:ext cx="156922" cy="114302"/>
            </a:xfrm>
            <a:custGeom>
              <a:rect b="b" l="l" r="r" t="t"/>
              <a:pathLst>
                <a:path extrusionOk="0" h="114302" w="156922">
                  <a:moveTo>
                    <a:pt x="146951" y="114243"/>
                  </a:moveTo>
                  <a:lnTo>
                    <a:pt x="145428" y="114243"/>
                  </a:lnTo>
                  <a:cubicBezTo>
                    <a:pt x="125832" y="110912"/>
                    <a:pt x="27183" y="93687"/>
                    <a:pt x="7015" y="73512"/>
                  </a:cubicBezTo>
                  <a:cubicBezTo>
                    <a:pt x="-4400" y="62092"/>
                    <a:pt x="547" y="27452"/>
                    <a:pt x="4447" y="7753"/>
                  </a:cubicBezTo>
                  <a:cubicBezTo>
                    <a:pt x="5498" y="2497"/>
                    <a:pt x="10608" y="-912"/>
                    <a:pt x="15862" y="139"/>
                  </a:cubicBezTo>
                  <a:cubicBezTo>
                    <a:pt x="21116" y="1191"/>
                    <a:pt x="24523" y="6303"/>
                    <a:pt x="23473" y="11559"/>
                  </a:cubicBezTo>
                  <a:cubicBezTo>
                    <a:pt x="19287" y="32591"/>
                    <a:pt x="18145" y="55811"/>
                    <a:pt x="21094" y="60284"/>
                  </a:cubicBezTo>
                  <a:cubicBezTo>
                    <a:pt x="32510" y="71704"/>
                    <a:pt x="102715" y="87692"/>
                    <a:pt x="148853" y="95400"/>
                  </a:cubicBezTo>
                  <a:cubicBezTo>
                    <a:pt x="154042" y="96228"/>
                    <a:pt x="157576" y="101100"/>
                    <a:pt x="156758" y="106287"/>
                  </a:cubicBezTo>
                  <a:cubicBezTo>
                    <a:pt x="156758" y="106306"/>
                    <a:pt x="156749" y="106325"/>
                    <a:pt x="156749" y="106344"/>
                  </a:cubicBezTo>
                  <a:cubicBezTo>
                    <a:pt x="155938" y="111074"/>
                    <a:pt x="151739" y="114452"/>
                    <a:pt x="146951" y="114243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758789" y="1758848"/>
              <a:ext cx="279351" cy="352112"/>
            </a:xfrm>
            <a:custGeom>
              <a:rect b="b" l="l" r="r" t="t"/>
              <a:pathLst>
                <a:path extrusionOk="0" h="352112" w="279351">
                  <a:moveTo>
                    <a:pt x="177729" y="352061"/>
                  </a:moveTo>
                  <a:cubicBezTo>
                    <a:pt x="173017" y="352118"/>
                    <a:pt x="168970" y="348721"/>
                    <a:pt x="168217" y="344067"/>
                  </a:cubicBezTo>
                  <a:cubicBezTo>
                    <a:pt x="167320" y="338888"/>
                    <a:pt x="170790" y="333963"/>
                    <a:pt x="175967" y="333067"/>
                  </a:cubicBezTo>
                  <a:cubicBezTo>
                    <a:pt x="176047" y="333052"/>
                    <a:pt x="176127" y="333039"/>
                    <a:pt x="176207" y="333028"/>
                  </a:cubicBezTo>
                  <a:cubicBezTo>
                    <a:pt x="226150" y="324748"/>
                    <a:pt x="244415" y="246047"/>
                    <a:pt x="244510" y="245190"/>
                  </a:cubicBezTo>
                  <a:cubicBezTo>
                    <a:pt x="250439" y="218315"/>
                    <a:pt x="255011" y="191159"/>
                    <a:pt x="258209" y="163824"/>
                  </a:cubicBezTo>
                  <a:cubicBezTo>
                    <a:pt x="260863" y="144883"/>
                    <a:pt x="260863" y="125665"/>
                    <a:pt x="258209" y="106725"/>
                  </a:cubicBezTo>
                  <a:cubicBezTo>
                    <a:pt x="251455" y="55811"/>
                    <a:pt x="201607" y="18982"/>
                    <a:pt x="139678" y="18982"/>
                  </a:cubicBezTo>
                  <a:cubicBezTo>
                    <a:pt x="77749" y="18982"/>
                    <a:pt x="27901" y="55811"/>
                    <a:pt x="21052" y="106439"/>
                  </a:cubicBezTo>
                  <a:cubicBezTo>
                    <a:pt x="18397" y="125380"/>
                    <a:pt x="18397" y="144597"/>
                    <a:pt x="21052" y="163538"/>
                  </a:cubicBezTo>
                  <a:cubicBezTo>
                    <a:pt x="23620" y="186092"/>
                    <a:pt x="29423" y="222636"/>
                    <a:pt x="34655" y="244809"/>
                  </a:cubicBezTo>
                  <a:cubicBezTo>
                    <a:pt x="34655" y="245761"/>
                    <a:pt x="53110" y="324463"/>
                    <a:pt x="103053" y="332742"/>
                  </a:cubicBezTo>
                  <a:cubicBezTo>
                    <a:pt x="108307" y="333583"/>
                    <a:pt x="111885" y="338525"/>
                    <a:pt x="111044" y="343781"/>
                  </a:cubicBezTo>
                  <a:cubicBezTo>
                    <a:pt x="110203" y="349037"/>
                    <a:pt x="105263" y="352613"/>
                    <a:pt x="100009" y="351775"/>
                  </a:cubicBezTo>
                  <a:cubicBezTo>
                    <a:pt x="37319" y="341307"/>
                    <a:pt x="16961" y="252994"/>
                    <a:pt x="16105" y="249282"/>
                  </a:cubicBezTo>
                  <a:cubicBezTo>
                    <a:pt x="10778" y="226538"/>
                    <a:pt x="4784" y="189043"/>
                    <a:pt x="2121" y="165917"/>
                  </a:cubicBezTo>
                  <a:cubicBezTo>
                    <a:pt x="-768" y="145272"/>
                    <a:pt x="-768" y="124324"/>
                    <a:pt x="2121" y="103679"/>
                  </a:cubicBezTo>
                  <a:cubicBezTo>
                    <a:pt x="10302" y="43630"/>
                    <a:pt x="68141" y="-51"/>
                    <a:pt x="139678" y="-51"/>
                  </a:cubicBezTo>
                  <a:cubicBezTo>
                    <a:pt x="211215" y="-51"/>
                    <a:pt x="269054" y="43630"/>
                    <a:pt x="277140" y="103870"/>
                  </a:cubicBezTo>
                  <a:cubicBezTo>
                    <a:pt x="280028" y="124515"/>
                    <a:pt x="280028" y="145463"/>
                    <a:pt x="277140" y="166108"/>
                  </a:cubicBezTo>
                  <a:cubicBezTo>
                    <a:pt x="274476" y="189233"/>
                    <a:pt x="268483" y="226728"/>
                    <a:pt x="263060" y="249568"/>
                  </a:cubicBezTo>
                  <a:cubicBezTo>
                    <a:pt x="262299" y="253184"/>
                    <a:pt x="241942" y="341497"/>
                    <a:pt x="179252" y="35196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3592942" y="1644650"/>
              <a:ext cx="257847" cy="352175"/>
            </a:xfrm>
            <a:custGeom>
              <a:rect b="b" l="l" r="r" t="t"/>
              <a:pathLst>
                <a:path extrusionOk="0" h="352175" w="257847">
                  <a:moveTo>
                    <a:pt x="10624" y="352061"/>
                  </a:moveTo>
                  <a:cubicBezTo>
                    <a:pt x="5371" y="352665"/>
                    <a:pt x="622" y="348895"/>
                    <a:pt x="18" y="343639"/>
                  </a:cubicBezTo>
                  <a:cubicBezTo>
                    <a:pt x="-586" y="338383"/>
                    <a:pt x="3183" y="333632"/>
                    <a:pt x="8437" y="333028"/>
                  </a:cubicBezTo>
                  <a:cubicBezTo>
                    <a:pt x="30982" y="327794"/>
                    <a:pt x="70366" y="315232"/>
                    <a:pt x="80259" y="303717"/>
                  </a:cubicBezTo>
                  <a:cubicBezTo>
                    <a:pt x="82733" y="300386"/>
                    <a:pt x="82162" y="284684"/>
                    <a:pt x="79022" y="268981"/>
                  </a:cubicBezTo>
                  <a:cubicBezTo>
                    <a:pt x="58189" y="255373"/>
                    <a:pt x="45061" y="218829"/>
                    <a:pt x="40590" y="199796"/>
                  </a:cubicBezTo>
                  <a:cubicBezTo>
                    <a:pt x="36620" y="179880"/>
                    <a:pt x="33667" y="159774"/>
                    <a:pt x="31743" y="139557"/>
                  </a:cubicBezTo>
                  <a:lnTo>
                    <a:pt x="30982" y="132895"/>
                  </a:lnTo>
                  <a:cubicBezTo>
                    <a:pt x="28718" y="116541"/>
                    <a:pt x="28718" y="99953"/>
                    <a:pt x="30982" y="83599"/>
                  </a:cubicBezTo>
                  <a:cubicBezTo>
                    <a:pt x="37451" y="35826"/>
                    <a:pt x="85872" y="-51"/>
                    <a:pt x="143805" y="-51"/>
                  </a:cubicBezTo>
                  <a:cubicBezTo>
                    <a:pt x="201739" y="-51"/>
                    <a:pt x="250160" y="35826"/>
                    <a:pt x="256629" y="83409"/>
                  </a:cubicBezTo>
                  <a:cubicBezTo>
                    <a:pt x="256629" y="87216"/>
                    <a:pt x="257485" y="90737"/>
                    <a:pt x="257770" y="94353"/>
                  </a:cubicBezTo>
                  <a:cubicBezTo>
                    <a:pt x="258191" y="99609"/>
                    <a:pt x="254272" y="104210"/>
                    <a:pt x="249018" y="104631"/>
                  </a:cubicBezTo>
                  <a:cubicBezTo>
                    <a:pt x="243764" y="105052"/>
                    <a:pt x="239165" y="101132"/>
                    <a:pt x="238745" y="95876"/>
                  </a:cubicBezTo>
                  <a:cubicBezTo>
                    <a:pt x="238745" y="92640"/>
                    <a:pt x="238079" y="89404"/>
                    <a:pt x="237603" y="86359"/>
                  </a:cubicBezTo>
                  <a:cubicBezTo>
                    <a:pt x="232466" y="48293"/>
                    <a:pt x="192131" y="19743"/>
                    <a:pt x="143710" y="19743"/>
                  </a:cubicBezTo>
                  <a:cubicBezTo>
                    <a:pt x="95290" y="19743"/>
                    <a:pt x="54955" y="48293"/>
                    <a:pt x="49818" y="86359"/>
                  </a:cubicBezTo>
                  <a:cubicBezTo>
                    <a:pt x="47651" y="101157"/>
                    <a:pt x="47651" y="116193"/>
                    <a:pt x="49818" y="130992"/>
                  </a:cubicBezTo>
                  <a:lnTo>
                    <a:pt x="50579" y="137748"/>
                  </a:lnTo>
                  <a:cubicBezTo>
                    <a:pt x="52672" y="155830"/>
                    <a:pt x="55430" y="180668"/>
                    <a:pt x="59045" y="195704"/>
                  </a:cubicBezTo>
                  <a:cubicBezTo>
                    <a:pt x="63802" y="216069"/>
                    <a:pt x="77120" y="247950"/>
                    <a:pt x="91579" y="255182"/>
                  </a:cubicBezTo>
                  <a:cubicBezTo>
                    <a:pt x="94129" y="256446"/>
                    <a:pt x="95978" y="258785"/>
                    <a:pt x="96621" y="261558"/>
                  </a:cubicBezTo>
                  <a:cubicBezTo>
                    <a:pt x="99570" y="274025"/>
                    <a:pt x="105278" y="304478"/>
                    <a:pt x="94529" y="316945"/>
                  </a:cubicBezTo>
                  <a:cubicBezTo>
                    <a:pt x="77215" y="336358"/>
                    <a:pt x="19376" y="350253"/>
                    <a:pt x="12812" y="352061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946618" y="1644650"/>
              <a:ext cx="257848" cy="352460"/>
            </a:xfrm>
            <a:custGeom>
              <a:rect b="b" l="l" r="r" t="t"/>
              <a:pathLst>
                <a:path extrusionOk="0" h="352460" w="257848">
                  <a:moveTo>
                    <a:pt x="246750" y="352061"/>
                  </a:moveTo>
                  <a:lnTo>
                    <a:pt x="244562" y="352061"/>
                  </a:lnTo>
                  <a:cubicBezTo>
                    <a:pt x="237998" y="350538"/>
                    <a:pt x="179779" y="336644"/>
                    <a:pt x="162751" y="316754"/>
                  </a:cubicBezTo>
                  <a:cubicBezTo>
                    <a:pt x="151621" y="304478"/>
                    <a:pt x="157709" y="273549"/>
                    <a:pt x="161134" y="261083"/>
                  </a:cubicBezTo>
                  <a:cubicBezTo>
                    <a:pt x="161781" y="258310"/>
                    <a:pt x="163626" y="255970"/>
                    <a:pt x="166176" y="254707"/>
                  </a:cubicBezTo>
                  <a:cubicBezTo>
                    <a:pt x="180635" y="247474"/>
                    <a:pt x="193954" y="215594"/>
                    <a:pt x="198710" y="195228"/>
                  </a:cubicBezTo>
                  <a:cubicBezTo>
                    <a:pt x="202325" y="180192"/>
                    <a:pt x="205084" y="155354"/>
                    <a:pt x="207176" y="137273"/>
                  </a:cubicBezTo>
                  <a:lnTo>
                    <a:pt x="207938" y="130611"/>
                  </a:lnTo>
                  <a:cubicBezTo>
                    <a:pt x="210107" y="115780"/>
                    <a:pt x="210107" y="100714"/>
                    <a:pt x="207938" y="85883"/>
                  </a:cubicBezTo>
                  <a:cubicBezTo>
                    <a:pt x="202801" y="47817"/>
                    <a:pt x="162466" y="19268"/>
                    <a:pt x="114045" y="19268"/>
                  </a:cubicBezTo>
                  <a:cubicBezTo>
                    <a:pt x="65624" y="19268"/>
                    <a:pt x="25289" y="47817"/>
                    <a:pt x="20152" y="85883"/>
                  </a:cubicBezTo>
                  <a:cubicBezTo>
                    <a:pt x="20152" y="89404"/>
                    <a:pt x="19296" y="92640"/>
                    <a:pt x="19011" y="95400"/>
                  </a:cubicBezTo>
                  <a:cubicBezTo>
                    <a:pt x="18590" y="100656"/>
                    <a:pt x="13991" y="104576"/>
                    <a:pt x="8737" y="104155"/>
                  </a:cubicBezTo>
                  <a:cubicBezTo>
                    <a:pt x="3483" y="103734"/>
                    <a:pt x="-436" y="99133"/>
                    <a:pt x="-15" y="93877"/>
                  </a:cubicBezTo>
                  <a:cubicBezTo>
                    <a:pt x="-15" y="90261"/>
                    <a:pt x="651" y="86740"/>
                    <a:pt x="1126" y="82933"/>
                  </a:cubicBezTo>
                  <a:cubicBezTo>
                    <a:pt x="7215" y="35826"/>
                    <a:pt x="55636" y="-51"/>
                    <a:pt x="113569" y="-51"/>
                  </a:cubicBezTo>
                  <a:cubicBezTo>
                    <a:pt x="171503" y="-51"/>
                    <a:pt x="219924" y="35826"/>
                    <a:pt x="226393" y="83409"/>
                  </a:cubicBezTo>
                  <a:cubicBezTo>
                    <a:pt x="228647" y="99796"/>
                    <a:pt x="228647" y="116413"/>
                    <a:pt x="226393" y="132800"/>
                  </a:cubicBezTo>
                  <a:lnTo>
                    <a:pt x="225632" y="139366"/>
                  </a:lnTo>
                  <a:cubicBezTo>
                    <a:pt x="223710" y="159583"/>
                    <a:pt x="220751" y="179690"/>
                    <a:pt x="216785" y="199606"/>
                  </a:cubicBezTo>
                  <a:cubicBezTo>
                    <a:pt x="212313" y="218639"/>
                    <a:pt x="198805" y="255373"/>
                    <a:pt x="178733" y="269267"/>
                  </a:cubicBezTo>
                  <a:cubicBezTo>
                    <a:pt x="175594" y="284493"/>
                    <a:pt x="175023" y="300671"/>
                    <a:pt x="177591" y="304097"/>
                  </a:cubicBezTo>
                  <a:cubicBezTo>
                    <a:pt x="187104" y="315517"/>
                    <a:pt x="226773" y="328079"/>
                    <a:pt x="249319" y="333313"/>
                  </a:cubicBezTo>
                  <a:cubicBezTo>
                    <a:pt x="254570" y="333917"/>
                    <a:pt x="258347" y="338668"/>
                    <a:pt x="257738" y="343924"/>
                  </a:cubicBezTo>
                  <a:cubicBezTo>
                    <a:pt x="257129" y="349180"/>
                    <a:pt x="252382" y="352951"/>
                    <a:pt x="247131" y="352346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" name="Google Shape;69;p15"/>
          <p:cNvSpPr txBox="1"/>
          <p:nvPr/>
        </p:nvSpPr>
        <p:spPr>
          <a:xfrm>
            <a:off x="129850" y="4603675"/>
            <a:ext cx="308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The full research brief can be found </a:t>
            </a:r>
            <a:r>
              <a:rPr lang="en" sz="10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here. </a:t>
            </a:r>
            <a:endParaRPr sz="10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3528750" y="2694675"/>
            <a:ext cx="1738500" cy="11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r>
              <a:rPr b="1"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20 min 1:1 Interviews </a:t>
            </a:r>
            <a:endParaRPr b="1"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were exposed to two different ToDP approaches on the homepage as well as the ordering flow.</a:t>
            </a:r>
            <a:endParaRPr sz="10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3359688" y="1081763"/>
            <a:ext cx="211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FF3008"/>
                </a:solidFill>
                <a:latin typeface="Proxima Nova"/>
                <a:ea typeface="Proxima Nova"/>
                <a:cs typeface="Proxima Nova"/>
                <a:sym typeface="Proxima Nova"/>
              </a:rPr>
              <a:t>ROTATION</a:t>
            </a:r>
            <a:endParaRPr/>
          </a:p>
        </p:txBody>
      </p:sp>
      <p:grpSp>
        <p:nvGrpSpPr>
          <p:cNvPr id="72" name="Google Shape;72;p15"/>
          <p:cNvGrpSpPr/>
          <p:nvPr/>
        </p:nvGrpSpPr>
        <p:grpSpPr>
          <a:xfrm>
            <a:off x="3867260" y="1512778"/>
            <a:ext cx="913901" cy="1046689"/>
            <a:chOff x="4690369" y="4595822"/>
            <a:chExt cx="621575" cy="621143"/>
          </a:xfrm>
        </p:grpSpPr>
        <p:sp>
          <p:nvSpPr>
            <p:cNvPr id="73" name="Google Shape;73;p15"/>
            <p:cNvSpPr/>
            <p:nvPr/>
          </p:nvSpPr>
          <p:spPr>
            <a:xfrm>
              <a:off x="4982036" y="4595822"/>
              <a:ext cx="329908" cy="310629"/>
            </a:xfrm>
            <a:custGeom>
              <a:rect b="b" l="l" r="r" t="t"/>
              <a:pathLst>
                <a:path extrusionOk="0" h="310629" w="329908">
                  <a:moveTo>
                    <a:pt x="96035" y="310569"/>
                  </a:moveTo>
                  <a:cubicBezTo>
                    <a:pt x="94655" y="310559"/>
                    <a:pt x="93295" y="310264"/>
                    <a:pt x="92039" y="309712"/>
                  </a:cubicBezTo>
                  <a:cubicBezTo>
                    <a:pt x="88529" y="308180"/>
                    <a:pt x="86284" y="304697"/>
                    <a:pt x="86331" y="300862"/>
                  </a:cubicBezTo>
                  <a:lnTo>
                    <a:pt x="86331" y="232914"/>
                  </a:lnTo>
                  <a:lnTo>
                    <a:pt x="76818" y="232914"/>
                  </a:lnTo>
                  <a:cubicBezTo>
                    <a:pt x="71567" y="232914"/>
                    <a:pt x="67306" y="228650"/>
                    <a:pt x="67306" y="223397"/>
                  </a:cubicBezTo>
                  <a:cubicBezTo>
                    <a:pt x="67306" y="218144"/>
                    <a:pt x="71567" y="213881"/>
                    <a:pt x="76818" y="213881"/>
                  </a:cubicBezTo>
                  <a:lnTo>
                    <a:pt x="95844" y="213881"/>
                  </a:lnTo>
                  <a:cubicBezTo>
                    <a:pt x="101095" y="213881"/>
                    <a:pt x="105357" y="218144"/>
                    <a:pt x="105357" y="223397"/>
                  </a:cubicBezTo>
                  <a:lnTo>
                    <a:pt x="105357" y="279450"/>
                  </a:lnTo>
                  <a:lnTo>
                    <a:pt x="176514" y="216165"/>
                  </a:lnTo>
                  <a:cubicBezTo>
                    <a:pt x="178283" y="214557"/>
                    <a:pt x="180595" y="213671"/>
                    <a:pt x="182983" y="213691"/>
                  </a:cubicBezTo>
                  <a:lnTo>
                    <a:pt x="299421" y="213691"/>
                  </a:lnTo>
                  <a:cubicBezTo>
                    <a:pt x="304672" y="213691"/>
                    <a:pt x="308934" y="209427"/>
                    <a:pt x="308934" y="204174"/>
                  </a:cubicBezTo>
                  <a:lnTo>
                    <a:pt x="308934" y="29070"/>
                  </a:lnTo>
                  <a:cubicBezTo>
                    <a:pt x="308934" y="23817"/>
                    <a:pt x="304672" y="19553"/>
                    <a:pt x="299421" y="19553"/>
                  </a:cubicBezTo>
                  <a:lnTo>
                    <a:pt x="28493" y="19553"/>
                  </a:lnTo>
                  <a:cubicBezTo>
                    <a:pt x="23242" y="19553"/>
                    <a:pt x="18980" y="23817"/>
                    <a:pt x="18980" y="29070"/>
                  </a:cubicBezTo>
                  <a:lnTo>
                    <a:pt x="18980" y="174673"/>
                  </a:lnTo>
                  <a:cubicBezTo>
                    <a:pt x="18980" y="179926"/>
                    <a:pt x="14718" y="184189"/>
                    <a:pt x="9467" y="184189"/>
                  </a:cubicBezTo>
                  <a:cubicBezTo>
                    <a:pt x="4216" y="184189"/>
                    <a:pt x="-46" y="179926"/>
                    <a:pt x="-46" y="174673"/>
                  </a:cubicBezTo>
                  <a:lnTo>
                    <a:pt x="-46" y="29070"/>
                  </a:lnTo>
                  <a:cubicBezTo>
                    <a:pt x="2" y="13006"/>
                    <a:pt x="13006" y="6"/>
                    <a:pt x="29064" y="-51"/>
                  </a:cubicBezTo>
                  <a:lnTo>
                    <a:pt x="300753" y="-51"/>
                  </a:lnTo>
                  <a:cubicBezTo>
                    <a:pt x="316830" y="-51"/>
                    <a:pt x="329862" y="12987"/>
                    <a:pt x="329862" y="29070"/>
                  </a:cubicBezTo>
                  <a:lnTo>
                    <a:pt x="329862" y="203793"/>
                  </a:lnTo>
                  <a:cubicBezTo>
                    <a:pt x="329862" y="219876"/>
                    <a:pt x="316830" y="232914"/>
                    <a:pt x="300753" y="232914"/>
                  </a:cubicBezTo>
                  <a:lnTo>
                    <a:pt x="187454" y="232914"/>
                  </a:lnTo>
                  <a:lnTo>
                    <a:pt x="102884" y="308094"/>
                  </a:lnTo>
                  <a:cubicBezTo>
                    <a:pt x="101019" y="309798"/>
                    <a:pt x="98556" y="310683"/>
                    <a:pt x="96035" y="310569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5263048" y="4877511"/>
              <a:ext cx="19027" cy="242386"/>
            </a:xfrm>
            <a:custGeom>
              <a:rect b="b" l="l" r="r" t="t"/>
              <a:pathLst>
                <a:path extrusionOk="0" h="242386" w="19027">
                  <a:moveTo>
                    <a:pt x="9467" y="242335"/>
                  </a:moveTo>
                  <a:cubicBezTo>
                    <a:pt x="4216" y="242335"/>
                    <a:pt x="-46" y="238072"/>
                    <a:pt x="-46" y="232819"/>
                  </a:cubicBezTo>
                  <a:lnTo>
                    <a:pt x="-46" y="9466"/>
                  </a:lnTo>
                  <a:cubicBezTo>
                    <a:pt x="-46" y="4212"/>
                    <a:pt x="4216" y="-51"/>
                    <a:pt x="9467" y="-51"/>
                  </a:cubicBezTo>
                  <a:cubicBezTo>
                    <a:pt x="14718" y="-51"/>
                    <a:pt x="18980" y="4212"/>
                    <a:pt x="18980" y="9466"/>
                  </a:cubicBezTo>
                  <a:lnTo>
                    <a:pt x="18980" y="232628"/>
                  </a:lnTo>
                  <a:cubicBezTo>
                    <a:pt x="19085" y="237882"/>
                    <a:pt x="14908" y="242231"/>
                    <a:pt x="9657" y="242335"/>
                  </a:cubicBezTo>
                  <a:cubicBezTo>
                    <a:pt x="9591" y="242335"/>
                    <a:pt x="9534" y="242335"/>
                    <a:pt x="9467" y="242335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719764" y="4731718"/>
              <a:ext cx="281107" cy="388182"/>
            </a:xfrm>
            <a:custGeom>
              <a:rect b="b" l="l" r="r" t="t"/>
              <a:pathLst>
                <a:path extrusionOk="0" h="388182" w="281107">
                  <a:moveTo>
                    <a:pt x="9467" y="388128"/>
                  </a:moveTo>
                  <a:cubicBezTo>
                    <a:pt x="4216" y="388128"/>
                    <a:pt x="-46" y="383865"/>
                    <a:pt x="-46" y="378612"/>
                  </a:cubicBezTo>
                  <a:lnTo>
                    <a:pt x="-46" y="48483"/>
                  </a:lnTo>
                  <a:cubicBezTo>
                    <a:pt x="-46" y="21675"/>
                    <a:pt x="21672" y="-51"/>
                    <a:pt x="48470" y="-51"/>
                  </a:cubicBezTo>
                  <a:lnTo>
                    <a:pt x="271548" y="-51"/>
                  </a:lnTo>
                  <a:cubicBezTo>
                    <a:pt x="276799" y="-51"/>
                    <a:pt x="281061" y="4212"/>
                    <a:pt x="281061" y="9466"/>
                  </a:cubicBezTo>
                  <a:cubicBezTo>
                    <a:pt x="281061" y="14718"/>
                    <a:pt x="276799" y="18982"/>
                    <a:pt x="271548" y="18982"/>
                  </a:cubicBezTo>
                  <a:lnTo>
                    <a:pt x="48280" y="18982"/>
                  </a:lnTo>
                  <a:cubicBezTo>
                    <a:pt x="32203" y="18982"/>
                    <a:pt x="19170" y="32020"/>
                    <a:pt x="19170" y="48103"/>
                  </a:cubicBezTo>
                  <a:lnTo>
                    <a:pt x="19170" y="378041"/>
                  </a:lnTo>
                  <a:cubicBezTo>
                    <a:pt x="19484" y="383284"/>
                    <a:pt x="15489" y="387795"/>
                    <a:pt x="10247" y="388109"/>
                  </a:cubicBezTo>
                  <a:cubicBezTo>
                    <a:pt x="9990" y="388128"/>
                    <a:pt x="9724" y="388138"/>
                    <a:pt x="9467" y="388128"/>
                  </a:cubicBez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4690369" y="5139501"/>
              <a:ext cx="620813" cy="77464"/>
            </a:xfrm>
            <a:custGeom>
              <a:rect b="b" l="l" r="r" t="t"/>
              <a:pathLst>
                <a:path extrusionOk="0" h="77464" w="620813">
                  <a:moveTo>
                    <a:pt x="553036" y="77414"/>
                  </a:moveTo>
                  <a:lnTo>
                    <a:pt x="67876" y="77414"/>
                  </a:lnTo>
                  <a:cubicBezTo>
                    <a:pt x="30367" y="77414"/>
                    <a:pt x="-46" y="46990"/>
                    <a:pt x="-46" y="9466"/>
                  </a:cubicBezTo>
                  <a:cubicBezTo>
                    <a:pt x="-46" y="4213"/>
                    <a:pt x="4216" y="-51"/>
                    <a:pt x="9467" y="-51"/>
                  </a:cubicBezTo>
                  <a:lnTo>
                    <a:pt x="242248" y="-51"/>
                  </a:lnTo>
                  <a:cubicBezTo>
                    <a:pt x="244826" y="-70"/>
                    <a:pt x="247300" y="967"/>
                    <a:pt x="249097" y="2804"/>
                  </a:cubicBezTo>
                  <a:cubicBezTo>
                    <a:pt x="250934" y="4603"/>
                    <a:pt x="251970" y="7077"/>
                    <a:pt x="251951" y="9656"/>
                  </a:cubicBezTo>
                  <a:lnTo>
                    <a:pt x="251951" y="19173"/>
                  </a:lnTo>
                  <a:lnTo>
                    <a:pt x="368675" y="19173"/>
                  </a:lnTo>
                  <a:lnTo>
                    <a:pt x="368675" y="9656"/>
                  </a:lnTo>
                  <a:cubicBezTo>
                    <a:pt x="368675" y="4403"/>
                    <a:pt x="372937" y="140"/>
                    <a:pt x="378188" y="140"/>
                  </a:cubicBezTo>
                  <a:lnTo>
                    <a:pt x="611255" y="140"/>
                  </a:lnTo>
                  <a:cubicBezTo>
                    <a:pt x="616506" y="140"/>
                    <a:pt x="620768" y="4403"/>
                    <a:pt x="620768" y="9656"/>
                  </a:cubicBezTo>
                  <a:cubicBezTo>
                    <a:pt x="620663" y="47037"/>
                    <a:pt x="590402" y="77309"/>
                    <a:pt x="553036" y="77414"/>
                  </a:cubicBezTo>
                  <a:close/>
                  <a:moveTo>
                    <a:pt x="20312" y="19173"/>
                  </a:moveTo>
                  <a:cubicBezTo>
                    <a:pt x="24925" y="41784"/>
                    <a:pt x="44807" y="58010"/>
                    <a:pt x="67876" y="58000"/>
                  </a:cubicBezTo>
                  <a:lnTo>
                    <a:pt x="553036" y="58000"/>
                  </a:lnTo>
                  <a:cubicBezTo>
                    <a:pt x="576085" y="57981"/>
                    <a:pt x="595958" y="41765"/>
                    <a:pt x="600600" y="19173"/>
                  </a:cubicBezTo>
                  <a:lnTo>
                    <a:pt x="387701" y="19173"/>
                  </a:lnTo>
                  <a:lnTo>
                    <a:pt x="387701" y="28689"/>
                  </a:lnTo>
                  <a:cubicBezTo>
                    <a:pt x="387682" y="31287"/>
                    <a:pt x="386654" y="33771"/>
                    <a:pt x="384847" y="35636"/>
                  </a:cubicBezTo>
                  <a:cubicBezTo>
                    <a:pt x="383030" y="37444"/>
                    <a:pt x="380557" y="38434"/>
                    <a:pt x="377998" y="38396"/>
                  </a:cubicBezTo>
                  <a:lnTo>
                    <a:pt x="242534" y="38396"/>
                  </a:lnTo>
                  <a:cubicBezTo>
                    <a:pt x="239918" y="38510"/>
                    <a:pt x="237378" y="37549"/>
                    <a:pt x="235494" y="35732"/>
                  </a:cubicBezTo>
                  <a:cubicBezTo>
                    <a:pt x="233687" y="33866"/>
                    <a:pt x="232659" y="31382"/>
                    <a:pt x="232640" y="28784"/>
                  </a:cubicBezTo>
                  <a:lnTo>
                    <a:pt x="232640" y="19268"/>
                  </a:lnTo>
                  <a:close/>
                </a:path>
              </a:pathLst>
            </a:custGeom>
            <a:solidFill>
              <a:srgbClr val="FF3008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" name="Google Shape;77;p15"/>
            <p:cNvGrpSpPr/>
            <p:nvPr/>
          </p:nvGrpSpPr>
          <p:grpSpPr>
            <a:xfrm>
              <a:off x="4778254" y="4819075"/>
              <a:ext cx="329851" cy="291115"/>
              <a:chOff x="4778254" y="4819075"/>
              <a:chExt cx="329851" cy="291115"/>
            </a:xfrm>
          </p:grpSpPr>
          <p:sp>
            <p:nvSpPr>
              <p:cNvPr id="78" name="Google Shape;78;p15"/>
              <p:cNvSpPr/>
              <p:nvPr/>
            </p:nvSpPr>
            <p:spPr>
              <a:xfrm>
                <a:off x="4778254" y="4993446"/>
                <a:ext cx="329851" cy="116744"/>
              </a:xfrm>
              <a:custGeom>
                <a:rect b="b" l="l" r="r" t="t"/>
                <a:pathLst>
                  <a:path extrusionOk="0" h="116744" w="329851">
                    <a:moveTo>
                      <a:pt x="319603" y="116693"/>
                    </a:moveTo>
                    <a:cubicBezTo>
                      <a:pt x="314352" y="116693"/>
                      <a:pt x="310090" y="112430"/>
                      <a:pt x="310090" y="107177"/>
                    </a:cubicBezTo>
                    <a:cubicBezTo>
                      <a:pt x="310090" y="106701"/>
                      <a:pt x="307331" y="63020"/>
                      <a:pt x="276890" y="47508"/>
                    </a:cubicBezTo>
                    <a:lnTo>
                      <a:pt x="213058" y="20195"/>
                    </a:lnTo>
                    <a:cubicBezTo>
                      <a:pt x="181789" y="31996"/>
                      <a:pt x="147295" y="31996"/>
                      <a:pt x="116026" y="20195"/>
                    </a:cubicBezTo>
                    <a:lnTo>
                      <a:pt x="52289" y="47508"/>
                    </a:lnTo>
                    <a:cubicBezTo>
                      <a:pt x="21753" y="63020"/>
                      <a:pt x="19089" y="106701"/>
                      <a:pt x="18994" y="107177"/>
                    </a:cubicBezTo>
                    <a:cubicBezTo>
                      <a:pt x="18709" y="112430"/>
                      <a:pt x="14209" y="116455"/>
                      <a:pt x="8958" y="116170"/>
                    </a:cubicBezTo>
                    <a:cubicBezTo>
                      <a:pt x="3707" y="115884"/>
                      <a:pt x="-317" y="111383"/>
                      <a:pt x="-32" y="106130"/>
                    </a:cubicBezTo>
                    <a:cubicBezTo>
                      <a:pt x="-32" y="103941"/>
                      <a:pt x="3203" y="50458"/>
                      <a:pt x="44108" y="29997"/>
                    </a:cubicBezTo>
                    <a:lnTo>
                      <a:pt x="44584" y="29997"/>
                    </a:lnTo>
                    <a:lnTo>
                      <a:pt x="112506" y="877"/>
                    </a:lnTo>
                    <a:cubicBezTo>
                      <a:pt x="115094" y="-360"/>
                      <a:pt x="118100" y="-360"/>
                      <a:pt x="120687" y="877"/>
                    </a:cubicBezTo>
                    <a:cubicBezTo>
                      <a:pt x="148988" y="12544"/>
                      <a:pt x="180762" y="12544"/>
                      <a:pt x="209063" y="877"/>
                    </a:cubicBezTo>
                    <a:cubicBezTo>
                      <a:pt x="211622" y="-322"/>
                      <a:pt x="214590" y="-322"/>
                      <a:pt x="217148" y="877"/>
                    </a:cubicBezTo>
                    <a:lnTo>
                      <a:pt x="285071" y="29997"/>
                    </a:lnTo>
                    <a:lnTo>
                      <a:pt x="285642" y="29997"/>
                    </a:lnTo>
                    <a:cubicBezTo>
                      <a:pt x="326547" y="50458"/>
                      <a:pt x="329686" y="103941"/>
                      <a:pt x="329781" y="106130"/>
                    </a:cubicBezTo>
                    <a:cubicBezTo>
                      <a:pt x="330153" y="111374"/>
                      <a:pt x="326195" y="115922"/>
                      <a:pt x="320954" y="116294"/>
                    </a:cubicBezTo>
                    <a:cubicBezTo>
                      <a:pt x="320725" y="116303"/>
                      <a:pt x="320497" y="116312"/>
                      <a:pt x="320269" y="116312"/>
                    </a:cubicBezTo>
                    <a:close/>
                  </a:path>
                </a:pathLst>
              </a:custGeom>
              <a:solidFill>
                <a:srgbClr val="FF300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5"/>
              <p:cNvSpPr/>
              <p:nvPr/>
            </p:nvSpPr>
            <p:spPr>
              <a:xfrm>
                <a:off x="4870307" y="4819075"/>
                <a:ext cx="144662" cy="155340"/>
              </a:xfrm>
              <a:custGeom>
                <a:rect b="b" l="l" r="r" t="t"/>
                <a:pathLst>
                  <a:path extrusionOk="0" h="155340" w="144662">
                    <a:moveTo>
                      <a:pt x="101408" y="155264"/>
                    </a:moveTo>
                    <a:cubicBezTo>
                      <a:pt x="96167" y="155644"/>
                      <a:pt x="91620" y="151695"/>
                      <a:pt x="91239" y="146451"/>
                    </a:cubicBezTo>
                    <a:cubicBezTo>
                      <a:pt x="90973" y="142768"/>
                      <a:pt x="92866" y="139267"/>
                      <a:pt x="96081" y="137468"/>
                    </a:cubicBezTo>
                    <a:cubicBezTo>
                      <a:pt x="119483" y="121861"/>
                      <a:pt x="120434" y="113772"/>
                      <a:pt x="123288" y="89885"/>
                    </a:cubicBezTo>
                    <a:cubicBezTo>
                      <a:pt x="123288" y="88172"/>
                      <a:pt x="123288" y="86364"/>
                      <a:pt x="123954" y="84366"/>
                    </a:cubicBezTo>
                    <a:cubicBezTo>
                      <a:pt x="126599" y="70976"/>
                      <a:pt x="125248" y="57110"/>
                      <a:pt x="120054" y="44491"/>
                    </a:cubicBezTo>
                    <a:cubicBezTo>
                      <a:pt x="114127" y="34071"/>
                      <a:pt x="104414" y="26334"/>
                      <a:pt x="92942" y="22889"/>
                    </a:cubicBezTo>
                    <a:cubicBezTo>
                      <a:pt x="79557" y="18530"/>
                      <a:pt x="65136" y="18530"/>
                      <a:pt x="51751" y="22889"/>
                    </a:cubicBezTo>
                    <a:cubicBezTo>
                      <a:pt x="40278" y="26334"/>
                      <a:pt x="30566" y="34071"/>
                      <a:pt x="24639" y="44491"/>
                    </a:cubicBezTo>
                    <a:cubicBezTo>
                      <a:pt x="19407" y="57101"/>
                      <a:pt x="18047" y="70985"/>
                      <a:pt x="20739" y="84366"/>
                    </a:cubicBezTo>
                    <a:cubicBezTo>
                      <a:pt x="20739" y="86364"/>
                      <a:pt x="20739" y="88172"/>
                      <a:pt x="21405" y="89885"/>
                    </a:cubicBezTo>
                    <a:cubicBezTo>
                      <a:pt x="24259" y="113962"/>
                      <a:pt x="25210" y="122051"/>
                      <a:pt x="48612" y="137468"/>
                    </a:cubicBezTo>
                    <a:cubicBezTo>
                      <a:pt x="53073" y="140437"/>
                      <a:pt x="54291" y="146470"/>
                      <a:pt x="51323" y="150934"/>
                    </a:cubicBezTo>
                    <a:cubicBezTo>
                      <a:pt x="48355" y="155397"/>
                      <a:pt x="42323" y="156615"/>
                      <a:pt x="37862" y="153646"/>
                    </a:cubicBezTo>
                    <a:cubicBezTo>
                      <a:pt x="6945" y="132995"/>
                      <a:pt x="5137" y="117578"/>
                      <a:pt x="2093" y="91979"/>
                    </a:cubicBezTo>
                    <a:lnTo>
                      <a:pt x="1523" y="86554"/>
                    </a:lnTo>
                    <a:cubicBezTo>
                      <a:pt x="-1836" y="69253"/>
                      <a:pt x="229" y="51343"/>
                      <a:pt x="7421" y="35260"/>
                    </a:cubicBezTo>
                    <a:cubicBezTo>
                      <a:pt x="15668" y="20443"/>
                      <a:pt x="29291" y="9375"/>
                      <a:pt x="45472" y="4331"/>
                    </a:cubicBezTo>
                    <a:cubicBezTo>
                      <a:pt x="62852" y="-1512"/>
                      <a:pt x="81650" y="-1512"/>
                      <a:pt x="99030" y="4331"/>
                    </a:cubicBezTo>
                    <a:cubicBezTo>
                      <a:pt x="115221" y="9356"/>
                      <a:pt x="128853" y="20433"/>
                      <a:pt x="137082" y="35260"/>
                    </a:cubicBezTo>
                    <a:cubicBezTo>
                      <a:pt x="144312" y="51334"/>
                      <a:pt x="146405" y="69244"/>
                      <a:pt x="143075" y="86554"/>
                    </a:cubicBezTo>
                    <a:cubicBezTo>
                      <a:pt x="143075" y="88458"/>
                      <a:pt x="142599" y="90266"/>
                      <a:pt x="142409" y="91979"/>
                    </a:cubicBezTo>
                    <a:cubicBezTo>
                      <a:pt x="139460" y="117578"/>
                      <a:pt x="137653" y="132995"/>
                      <a:pt x="106736" y="153646"/>
                    </a:cubicBezTo>
                    <a:cubicBezTo>
                      <a:pt x="105147" y="154674"/>
                      <a:pt x="103301" y="155235"/>
                      <a:pt x="101408" y="155264"/>
                    </a:cubicBezTo>
                    <a:close/>
                  </a:path>
                </a:pathLst>
              </a:custGeom>
              <a:solidFill>
                <a:srgbClr val="FF3008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0" name="Google Shape;80;p15"/>
          <p:cNvSpPr txBox="1"/>
          <p:nvPr/>
        </p:nvSpPr>
        <p:spPr>
          <a:xfrm>
            <a:off x="209075" y="1800675"/>
            <a:ext cx="26721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the ToDP offer to reach its full potential, Cx need to understand the concept of rotation.  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This research aims to understand which approach will be the most clear for Cx while also exciting Cx and motivating them to place an order.</a:t>
            </a:r>
            <a:endParaRPr sz="1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556825" y="981500"/>
            <a:ext cx="706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Rotation Reactions</a:t>
            </a:r>
            <a:endParaRPr b="1" sz="4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2" name="Google Shape;9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7"/>
          <p:cNvSpPr txBox="1"/>
          <p:nvPr/>
        </p:nvSpPr>
        <p:spPr>
          <a:xfrm>
            <a:off x="362900" y="265450"/>
            <a:ext cx="490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50/50 split on timer vs. new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4" name="Google Shape;94;p17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28325" y="918625"/>
            <a:ext cx="6487359" cy="40113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6470850" y="1621225"/>
            <a:ext cx="21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5"/>
                </a:solidFill>
              </a:rPr>
              <a:t>New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96" name="Google Shape;96;p17"/>
          <p:cNvSpPr txBox="1"/>
          <p:nvPr/>
        </p:nvSpPr>
        <p:spPr>
          <a:xfrm>
            <a:off x="405650" y="1621225"/>
            <a:ext cx="21045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4A86E8"/>
                </a:solidFill>
              </a:rPr>
              <a:t>Timer</a:t>
            </a:r>
            <a:endParaRPr b="1">
              <a:solidFill>
                <a:srgbClr val="4A86E8"/>
              </a:solidFill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6601850" y="2380775"/>
            <a:ext cx="24189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Interpreted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as “new way to save” 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The new was clear, but not necessarily exciting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Preferred among Cx who felt the timer had too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much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time/was not going to impact them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8" name="Google Shape;98;p17"/>
          <p:cNvSpPr txBox="1"/>
          <p:nvPr/>
        </p:nvSpPr>
        <p:spPr>
          <a:xfrm>
            <a:off x="169875" y="2353025"/>
            <a:ext cx="24189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Time catches their eye first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want to make sure they recognize savings in the time before it goes away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Feel motivated to look into the Rx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available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for that offer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99" name="Google Shape;9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2950" y="1179600"/>
            <a:ext cx="454200" cy="45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6000" y="1156975"/>
            <a:ext cx="454200" cy="45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Opportunity to provide more clarity on the home page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 rotWithShape="1">
          <a:blip r:embed="rId4">
            <a:alphaModFix/>
          </a:blip>
          <a:srcRect b="0" l="0" r="1854" t="0"/>
          <a:stretch/>
        </p:blipFill>
        <p:spPr>
          <a:xfrm>
            <a:off x="3244400" y="901150"/>
            <a:ext cx="1864176" cy="401134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9" name="Google Shape;109;p18"/>
          <p:cNvSpPr/>
          <p:nvPr/>
        </p:nvSpPr>
        <p:spPr>
          <a:xfrm>
            <a:off x="4680675" y="1772725"/>
            <a:ext cx="427800" cy="279600"/>
          </a:xfrm>
          <a:prstGeom prst="ellipse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8"/>
          <p:cNvSpPr/>
          <p:nvPr/>
        </p:nvSpPr>
        <p:spPr>
          <a:xfrm>
            <a:off x="3287400" y="2187100"/>
            <a:ext cx="1052700" cy="279600"/>
          </a:xfrm>
          <a:prstGeom prst="ellipse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8"/>
          <p:cNvSpPr/>
          <p:nvPr/>
        </p:nvSpPr>
        <p:spPr>
          <a:xfrm>
            <a:off x="4045650" y="3387400"/>
            <a:ext cx="1052700" cy="332700"/>
          </a:xfrm>
          <a:prstGeom prst="ellipse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8"/>
          <p:cNvSpPr/>
          <p:nvPr/>
        </p:nvSpPr>
        <p:spPr>
          <a:xfrm>
            <a:off x="3796350" y="1941025"/>
            <a:ext cx="884400" cy="246000"/>
          </a:xfrm>
          <a:prstGeom prst="ellipse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8"/>
          <p:cNvSpPr/>
          <p:nvPr/>
        </p:nvSpPr>
        <p:spPr>
          <a:xfrm>
            <a:off x="3555800" y="1656800"/>
            <a:ext cx="884400" cy="246000"/>
          </a:xfrm>
          <a:prstGeom prst="ellipse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5615075" y="1643497"/>
            <a:ext cx="2418900" cy="494400"/>
          </a:xfrm>
          <a:prstGeom prst="rect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wanted to click “see all” to see Rx and know how it all works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5" name="Google Shape;115;p18"/>
          <p:cNvSpPr txBox="1"/>
          <p:nvPr/>
        </p:nvSpPr>
        <p:spPr>
          <a:xfrm>
            <a:off x="260725" y="1348775"/>
            <a:ext cx="2777400" cy="703500"/>
          </a:xfrm>
          <a:prstGeom prst="rect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though the savings were only available on Fridays (especially in timer version)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5527350" y="2324550"/>
            <a:ext cx="2856000" cy="494400"/>
          </a:xfrm>
          <a:prstGeom prst="rect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Some Cx thought you had to have DashPass or that it was a trial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260725" y="2286025"/>
            <a:ext cx="2856000" cy="770400"/>
          </a:xfrm>
          <a:prstGeom prst="rect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did not know that Last Change to Save was connected to $0 delivery fee and 10% off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8" name="Google Shape;118;p18"/>
          <p:cNvSpPr txBox="1"/>
          <p:nvPr/>
        </p:nvSpPr>
        <p:spPr>
          <a:xfrm>
            <a:off x="5242250" y="3387400"/>
            <a:ext cx="2856000" cy="332700"/>
          </a:xfrm>
          <a:prstGeom prst="rect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thought the coupon was going away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934400" y="1056650"/>
            <a:ext cx="5030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" name="Google Shape;120;p18"/>
          <p:cNvCxnSpPr>
            <a:stCxn id="115" idx="3"/>
            <a:endCxn id="113" idx="2"/>
          </p:cNvCxnSpPr>
          <p:nvPr/>
        </p:nvCxnSpPr>
        <p:spPr>
          <a:xfrm>
            <a:off x="3038125" y="1700525"/>
            <a:ext cx="517800" cy="79200"/>
          </a:xfrm>
          <a:prstGeom prst="straightConnector1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8"/>
          <p:cNvCxnSpPr>
            <a:endCxn id="110" idx="2"/>
          </p:cNvCxnSpPr>
          <p:nvPr/>
        </p:nvCxnSpPr>
        <p:spPr>
          <a:xfrm flipH="1" rot="10800000">
            <a:off x="3116700" y="2326900"/>
            <a:ext cx="170700" cy="139800"/>
          </a:xfrm>
          <a:prstGeom prst="straightConnector1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8"/>
          <p:cNvCxnSpPr/>
          <p:nvPr/>
        </p:nvCxnSpPr>
        <p:spPr>
          <a:xfrm>
            <a:off x="5033075" y="1825950"/>
            <a:ext cx="582000" cy="130200"/>
          </a:xfrm>
          <a:prstGeom prst="straightConnector1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8"/>
          <p:cNvCxnSpPr/>
          <p:nvPr/>
        </p:nvCxnSpPr>
        <p:spPr>
          <a:xfrm>
            <a:off x="4603575" y="2137900"/>
            <a:ext cx="941700" cy="219900"/>
          </a:xfrm>
          <a:prstGeom prst="straightConnector1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8"/>
          <p:cNvCxnSpPr/>
          <p:nvPr/>
        </p:nvCxnSpPr>
        <p:spPr>
          <a:xfrm flipH="1" rot="10800000">
            <a:off x="5098350" y="3414350"/>
            <a:ext cx="158700" cy="150900"/>
          </a:xfrm>
          <a:prstGeom prst="straightConnector1">
            <a:avLst/>
          </a:prstGeom>
          <a:noFill/>
          <a:ln cap="flat" cmpd="sng" w="9525">
            <a:solidFill>
              <a:srgbClr val="FF3008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19"/>
          <p:cNvSpPr txBox="1"/>
          <p:nvPr/>
        </p:nvSpPr>
        <p:spPr>
          <a:xfrm>
            <a:off x="161725" y="100850"/>
            <a:ext cx="7540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Last Chance to Save Confusion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1" name="Google Shape;131;p19" title="Reel__2 (2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0875" y="827350"/>
            <a:ext cx="5178575" cy="388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0"/>
          <p:cNvSpPr txBox="1"/>
          <p:nvPr/>
        </p:nvSpPr>
        <p:spPr>
          <a:xfrm>
            <a:off x="134300" y="109975"/>
            <a:ext cx="7540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DashPass Confusion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38" name="Google Shape;138;p20" title="Reel__1 (3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4650" y="735875"/>
            <a:ext cx="5023075" cy="37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 txBox="1"/>
          <p:nvPr/>
        </p:nvSpPr>
        <p:spPr>
          <a:xfrm>
            <a:off x="1170138" y="4567175"/>
            <a:ext cx="65721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Cx who thought it was a DashPass promotion were also more likely to think it was a one-time offer</a:t>
            </a:r>
            <a:endParaRPr b="1" sz="1200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5" name="Google Shape;14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1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Timer store page provides more clarity than new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47" name="Google Shape;14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9700" y="1120150"/>
            <a:ext cx="1512325" cy="318150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48" name="Google Shape;14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6125" y="1118325"/>
            <a:ext cx="1512324" cy="3185147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9" name="Google Shape;149;p21"/>
          <p:cNvSpPr/>
          <p:nvPr/>
        </p:nvSpPr>
        <p:spPr>
          <a:xfrm>
            <a:off x="4719588" y="2279738"/>
            <a:ext cx="2165400" cy="6444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1"/>
          <p:cNvSpPr/>
          <p:nvPr/>
        </p:nvSpPr>
        <p:spPr>
          <a:xfrm>
            <a:off x="1993163" y="2504663"/>
            <a:ext cx="2165400" cy="485400"/>
          </a:xfrm>
          <a:prstGeom prst="ellipse">
            <a:avLst/>
          </a:prstGeom>
          <a:noFill/>
          <a:ln cap="flat" cmpd="sng" w="19050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1"/>
          <p:cNvSpPr txBox="1"/>
          <p:nvPr/>
        </p:nvSpPr>
        <p:spPr>
          <a:xfrm>
            <a:off x="2275775" y="4376525"/>
            <a:ext cx="1600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Connection</a:t>
            </a:r>
            <a:r>
              <a:rPr b="1" lang="en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 to timer clarifies savings</a:t>
            </a:r>
            <a:endParaRPr b="1" sz="1200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4577250" y="4376525"/>
            <a:ext cx="25788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Lack of visual differentiation get’s lost &amp; continues DP confusion until “no sign up” is viewed</a:t>
            </a:r>
            <a:endParaRPr b="1" sz="1200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0" y="1260925"/>
            <a:ext cx="2117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4A86E8"/>
                </a:solidFill>
                <a:latin typeface="Proxima Nova"/>
                <a:ea typeface="Proxima Nova"/>
                <a:cs typeface="Proxima Nova"/>
                <a:sym typeface="Proxima Nova"/>
              </a:rPr>
              <a:t>Overall the words “no sign up” have the greatest impact</a:t>
            </a:r>
            <a:endParaRPr b="1" sz="1200">
              <a:solidFill>
                <a:srgbClr val="4A86E8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2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161725" y="100850"/>
            <a:ext cx="75402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Store Page Timer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" name="Google Shape;160;p22" title="Reel__3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60025" y="754200"/>
            <a:ext cx="5333951" cy="40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3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are happy with summary at checkout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8" name="Google Shape;168;p23"/>
          <p:cNvPicPr preferRelativeResize="0"/>
          <p:nvPr/>
        </p:nvPicPr>
        <p:blipFill rotWithShape="1">
          <a:blip r:embed="rId4">
            <a:alphaModFix/>
          </a:blip>
          <a:srcRect b="0" l="2505" r="0" t="0"/>
          <a:stretch/>
        </p:blipFill>
        <p:spPr>
          <a:xfrm>
            <a:off x="819275" y="916975"/>
            <a:ext cx="1885600" cy="401135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23"/>
          <p:cNvSpPr txBox="1"/>
          <p:nvPr/>
        </p:nvSpPr>
        <p:spPr>
          <a:xfrm>
            <a:off x="2903925" y="1182600"/>
            <a:ext cx="3661500" cy="19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Cx love seeing the strikethrough of the overall title coupled with the savings below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Most Cx felt it was really clear to see where the savings are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Font typeface="Proxima Nova"/>
              <a:buChar char="●"/>
            </a:pP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One price sensitive Cx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mentioned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that the fees/taxes number seems high and that would 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dissuade</a:t>
            </a:r>
            <a:r>
              <a:rPr lang="en" sz="1200">
                <a:latin typeface="Proxima Nova"/>
                <a:ea typeface="Proxima Nova"/>
                <a:cs typeface="Proxima Nova"/>
                <a:sym typeface="Proxima Nova"/>
              </a:rPr>
              <a:t> them from placing an order if the 10% discount wasn’t there</a:t>
            </a:r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5" name="Google Shape;17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are not sure if they will order more, but think they may visit the app more frequently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7" name="Google Shape;177;p24" title="Reel__4.mp4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7675" y="1383275"/>
            <a:ext cx="4070200" cy="3052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4"/>
          <p:cNvSpPr txBox="1"/>
          <p:nvPr/>
        </p:nvSpPr>
        <p:spPr>
          <a:xfrm>
            <a:off x="5160975" y="1781450"/>
            <a:ext cx="2951700" cy="2654400"/>
          </a:xfrm>
          <a:prstGeom prst="rect">
            <a:avLst/>
          </a:prstGeom>
          <a:solidFill>
            <a:schemeClr val="lt2"/>
          </a:solidFill>
          <a:ln cap="flat" cmpd="sng" w="28575">
            <a:solidFill>
              <a:srgbClr val="FF30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 theory:  With a 1/3rd conversion rate; In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creased visitation= increased OR. 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How can we ensure that DoorDash, and Taste of DashPass, r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emain top of mind for occasional Cx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What is 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the right hook, to make OCCx think 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about DoorDash </a:t>
            </a: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more frequently</a:t>
            </a: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5"/>
          <p:cNvSpPr txBox="1"/>
          <p:nvPr/>
        </p:nvSpPr>
        <p:spPr>
          <a:xfrm>
            <a:off x="556825" y="981500"/>
            <a:ext cx="70689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ToDP Pulse (non-converts)</a:t>
            </a:r>
            <a:endParaRPr b="1" sz="4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6"/>
          <p:cNvSpPr txBox="1"/>
          <p:nvPr/>
        </p:nvSpPr>
        <p:spPr>
          <a:xfrm>
            <a:off x="430100" y="1035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Lack of Awareness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26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26"/>
          <p:cNvSpPr txBox="1"/>
          <p:nvPr/>
        </p:nvSpPr>
        <p:spPr>
          <a:xfrm>
            <a:off x="425275" y="32291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1 Cx just did not see the savings offer, they went directly to their Rx of interest when visiting the app</a:t>
            </a:r>
            <a:endParaRPr sz="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latin typeface="Proxima Nova"/>
                <a:ea typeface="Proxima Nova"/>
                <a:cs typeface="Proxima Nova"/>
                <a:sym typeface="Proxima Nova"/>
              </a:rPr>
              <a:t>1 Cx opened their phone to look for it and missed it because they were on their boyfriends address which was outside of market</a:t>
            </a:r>
            <a:endParaRPr sz="800">
              <a:solidFill>
                <a:srgbClr val="1D1C1D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6"/>
          <p:cNvSpPr txBox="1"/>
          <p:nvPr/>
        </p:nvSpPr>
        <p:spPr>
          <a:xfrm>
            <a:off x="3118950" y="32291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2 Cx mentioned some sort of “savings only for DashPass” experience</a:t>
            </a:r>
            <a:endParaRPr sz="800">
              <a:solidFill>
                <a:srgbClr val="1D1C1D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One Cx though she does not get offers because she canceled DashPass </a:t>
            </a:r>
            <a:endParaRPr sz="800">
              <a:solidFill>
                <a:srgbClr val="1D1C1D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One Cx actually placed a ToDP order but didn’t see the 10% savings and thought that she didn't get it because she didn’t have DashPass</a:t>
            </a:r>
            <a:endParaRPr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3" name="Google Shape;193;p26"/>
          <p:cNvSpPr txBox="1"/>
          <p:nvPr/>
        </p:nvSpPr>
        <p:spPr>
          <a:xfrm>
            <a:off x="3118950" y="1035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DashPass Confusion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4" name="Google Shape;194;p26"/>
          <p:cNvSpPr txBox="1"/>
          <p:nvPr/>
        </p:nvSpPr>
        <p:spPr>
          <a:xfrm>
            <a:off x="5807800" y="3229100"/>
            <a:ext cx="2448900" cy="6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Two Cx mentioned that they wanted to order from Wingstop but they did not currently have drivers on Dashpass</a:t>
            </a:r>
            <a:endParaRPr sz="800">
              <a:solidFill>
                <a:srgbClr val="1D1C1D"/>
              </a:solidFill>
              <a:highlight>
                <a:srgbClr val="FFFFFF"/>
              </a:highlight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9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D1C1D"/>
              </a:buClr>
              <a:buSzPts val="800"/>
              <a:buFont typeface="Proxima Nova"/>
              <a:buChar char="●"/>
            </a:pPr>
            <a:r>
              <a:rPr lang="en" sz="800">
                <a:solidFill>
                  <a:srgbClr val="1D1C1D"/>
                </a:solidFill>
                <a:highlight>
                  <a:srgbClr val="FFFFFF"/>
                </a:highlight>
                <a:latin typeface="Proxima Nova"/>
                <a:ea typeface="Proxima Nova"/>
                <a:cs typeface="Proxima Nova"/>
                <a:sym typeface="Proxima Nova"/>
              </a:rPr>
              <a:t>One of these Cx did notice the ToDP offer but did not place an order because they wanted Wingstop</a:t>
            </a:r>
            <a:endParaRPr sz="8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5807800" y="1035100"/>
            <a:ext cx="24489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Selection</a:t>
            </a:r>
            <a:endParaRPr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 rotWithShape="1">
          <a:blip r:embed="rId3">
            <a:alphaModFix/>
          </a:blip>
          <a:srcRect b="0" l="9961" r="9961" t="0"/>
          <a:stretch/>
        </p:blipFill>
        <p:spPr>
          <a:xfrm>
            <a:off x="83177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7" name="Google Shape;197;p26"/>
          <p:cNvPicPr preferRelativeResize="0"/>
          <p:nvPr/>
        </p:nvPicPr>
        <p:blipFill rotWithShape="1">
          <a:blip r:embed="rId4">
            <a:alphaModFix/>
          </a:blip>
          <a:srcRect b="0" l="21906" r="21906" t="0"/>
          <a:stretch/>
        </p:blipFill>
        <p:spPr>
          <a:xfrm>
            <a:off x="3523038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 rotWithShape="1">
          <a:blip r:embed="rId5">
            <a:alphaModFix/>
          </a:blip>
          <a:srcRect b="0" l="16729" r="16723" t="0"/>
          <a:stretch/>
        </p:blipFill>
        <p:spPr>
          <a:xfrm>
            <a:off x="6219125" y="1478975"/>
            <a:ext cx="1635900" cy="16359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99" name="Google Shape;199;p26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Cx input aligns with team concerns for not converting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27"/>
          <p:cNvSpPr txBox="1"/>
          <p:nvPr/>
        </p:nvSpPr>
        <p:spPr>
          <a:xfrm>
            <a:off x="556825" y="981500"/>
            <a:ext cx="706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  <a:endParaRPr b="1" sz="4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" name="Google Shape;21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7738" y="269687"/>
            <a:ext cx="297201" cy="168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8"/>
          <p:cNvSpPr txBox="1"/>
          <p:nvPr/>
        </p:nvSpPr>
        <p:spPr>
          <a:xfrm>
            <a:off x="362900" y="265450"/>
            <a:ext cx="76623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V2 and beyond</a:t>
            </a:r>
            <a:endParaRPr b="1"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362900" y="883675"/>
            <a:ext cx="5841600" cy="4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DashPass brand connections should be gentler and later in the flow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Prioritize timer over “new” badges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Consider in how we use color etc to avoid future timer blindness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Consider testing visitation lift for “every week” vs. “every Friday” as a way to hook Cx to increase order rate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Remove white box around top 2 carousels to connect Mx to savings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●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Keep &amp; prioritize see all button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roxima Nova"/>
              <a:buChar char="○"/>
            </a:pP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Develop landing page with brief description of ToDP when “see all” is 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clicked</a:t>
            </a:r>
            <a:r>
              <a:rPr lang="en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on</a:t>
            </a:r>
            <a:endParaRPr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14" name="Google Shape;21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8750" y="1557275"/>
            <a:ext cx="2376000" cy="237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9"/>
          <p:cNvSpPr txBox="1"/>
          <p:nvPr>
            <p:ph idx="12" type="sldNum"/>
          </p:nvPr>
        </p:nvSpPr>
        <p:spPr>
          <a:xfrm>
            <a:off x="79462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" name="Google Shape;220;p29"/>
          <p:cNvSpPr txBox="1"/>
          <p:nvPr/>
        </p:nvSpPr>
        <p:spPr>
          <a:xfrm>
            <a:off x="556825" y="981500"/>
            <a:ext cx="70689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Thank you!</a:t>
            </a:r>
            <a:endParaRPr b="1" sz="48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oorDash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838A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