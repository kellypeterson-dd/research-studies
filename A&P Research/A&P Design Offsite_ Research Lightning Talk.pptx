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Lora Medium"/>
      <p:regular r:id="rId35"/>
      <p:bold r:id="rId36"/>
      <p:italic r:id="rId37"/>
      <p:boldItalic r:id="rId38"/>
    </p:embeddedFont>
    <p:embeddedFont>
      <p:font typeface="Lora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-bold.fntdata"/><Relationship Id="rId20" Type="http://schemas.openxmlformats.org/officeDocument/2006/relationships/slide" Target="slides/slide15.xml"/><Relationship Id="rId42" Type="http://schemas.openxmlformats.org/officeDocument/2006/relationships/font" Target="fonts/Lora-boldItalic.fntdata"/><Relationship Id="rId41" Type="http://schemas.openxmlformats.org/officeDocument/2006/relationships/font" Target="fonts/Lora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oraMedium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oraMedium-italic.fntdata"/><Relationship Id="rId14" Type="http://schemas.openxmlformats.org/officeDocument/2006/relationships/slide" Target="slides/slide9.xml"/><Relationship Id="rId36" Type="http://schemas.openxmlformats.org/officeDocument/2006/relationships/font" Target="fonts/LoraMedium-bold.fntdata"/><Relationship Id="rId17" Type="http://schemas.openxmlformats.org/officeDocument/2006/relationships/slide" Target="slides/slide12.xml"/><Relationship Id="rId39" Type="http://schemas.openxmlformats.org/officeDocument/2006/relationships/font" Target="fonts/Lora-regular.fntdata"/><Relationship Id="rId16" Type="http://schemas.openxmlformats.org/officeDocument/2006/relationships/slide" Target="slides/slide11.xml"/><Relationship Id="rId38" Type="http://schemas.openxmlformats.org/officeDocument/2006/relationships/font" Target="fonts/Lora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925fc54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925fc54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925fc54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925fc54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925fc54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925fc54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925fc54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925fc54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266d948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266d948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925fc54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925fc54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66d9489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266d9489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925fc54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3925fc54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66d9489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266d9489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3925fc54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3925fc54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66d9489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266d9489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925fc54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3925fc54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266d94896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266d94896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266d94896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266d94896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266d94896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266d9489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3925fc5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3925fc5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266d94896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266d9489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3925fc54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3925fc54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266d94896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266d94896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3925fc5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3925fc5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266d94896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266d9489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3925fc54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3925fc54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266d94896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266d94896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3925fc5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3925fc5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266d94896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266d94896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925fc5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3925fc5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266d94896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266d94896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3925fc54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3925fc54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kYbwc638_go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3HW9gdDGAKkQTKYkxS7OP-_8XNnIsR8xm2T_x9ldvPc/edit?slide=id.g20edde91812_0_0#slide=id.g20edde91812_0_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9SE-9cntVmbBl2hjL-Vrorgc2eoB7sO8yHz4EuXuD7g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app.fullstory.com/ui/o-22ZRE7-na1/metrics/details/3c1W6Z0yK7aJ/686253932?fromDashboard=6534910557657854&amp;fromCard=860372189&amp;completeSessions=false&amp;segment=e4rtOvaRG9v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app.fullstory.com/ui/o-22ZRE7-na1/metrics/details/3c1W6Z0yK7aJ/686253932?fromDashboard=6534910557657854&amp;fromCard=860372189&amp;completeSessions=false&amp;segment=e4rtOvaRG9v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VvmroYDBsVSTQuoDKrGEC0mdjC5CzEH4PhCrGVAR0po/edit?gid=0#gid=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f7Rd5W1OgAGX9QS8e5YM-NmUXTdwWJ1xBhCCuleP6YQ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hyperlink" Target="https://doordash.atlassian.net/wiki/spaces/APW/pages/2263318685/Promotions+Overview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document/d/1jS1x8VbTrZPKl_P7ROQYO-X7npqYQDZJMbvLDVMP1Hc/edit?usp=shari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v6lqtqsO83hGZg1XLdRQHfBpUgFped1MPuSUI76q_qk/edit?usp=shari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dvawPuiGJA68392qzB5WVvqSmm-bQ6vngq2stGuLqrM/edit?usp=shar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9P5BvFzYkqlirjCHpq9tMB2juQstjB818dIH4htFe_8/edit?gid=1483267505#gid=1483267505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presentation/d/15iIWilkTALvjlSbFLU1WrEz2vX22cJ93Qt282rZTtzI/edit?usp=shari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vetail.com/auth/workspaces" TargetMode="External"/><Relationship Id="rId4" Type="http://schemas.openxmlformats.org/officeDocument/2006/relationships/hyperlink" Target="https://doordash.app.lumapps.com/home/ls/content/1270421925254689/departments/Product-Design/research/research-review-support" TargetMode="Externa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100" y="152400"/>
            <a:ext cx="5158004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073550" y="2244100"/>
            <a:ext cx="5269200" cy="718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“Dashionaire”</a:t>
            </a:r>
            <a:endParaRPr b="1" sz="3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23200" y="1412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First….some “rules”</a:t>
            </a:r>
            <a:endParaRPr b="1"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032300" y="1122050"/>
            <a:ext cx="7019700" cy="3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25900" y="24553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We unfortunately do not have a million dollars to give out, but every correct question will get candy!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One person per question (and everyone will get a question!)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We will ask for a 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volunteer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each question BEFORE you read it, you don’t know what you’re gonna get!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There are 2 lifelines, where you can 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ask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another designer in the room, you pick the designer, you cannot ask who knows it</a:t>
            </a:r>
            <a:endParaRPr sz="16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Millionaire tribute to Regis Philbin 1931 to 2020 😥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912" y="340900"/>
            <a:ext cx="7692175" cy="4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032300" y="1122050"/>
            <a:ext cx="7019700" cy="3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538" y="1175141"/>
            <a:ext cx="4774925" cy="29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the accurate order of highest to lowest NPS scores for Q2 2025?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Cx, Dx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Cx, Dx, Mx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Dx,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Dx, Mx,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the accurate order of highest to lowest NPS scores for Q2 2025?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Cx, Dx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Cx, Dx, Mx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x, Dx,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x, Mx,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amount do Cx most frequently quote as a “low value deal” that is not worth a purchase? </a:t>
            </a: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$3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$5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$10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$20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amount do Cx most frequently quote as a “low value deal” that is not worth a purchase? 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$3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Under $5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$10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$20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CPG-only Ads Manager brands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CPG-only Ads Manger brands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1480375" y="4119250"/>
            <a:ext cx="2586900" cy="4899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Rx-only Ads Manager users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Rx-only Ads Manager users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CPG brand currently spends the most on DoorDash marketing?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Coca-Cola - Mediacom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Unilever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P&amp;G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Pepsi + Frito Lay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CPG brand currently spends the most on DoorDash marketing?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Coca-Cola - Mediacom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Unilever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P&amp;G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Pepsi + Frito Lay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DO NOT have a cuisine in mind when opening the DoorDash app</a:t>
            </a: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16%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21%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DO NOT have a cuisine in mind when opening the DoorDash app?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16%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21%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How many promotion types do we offer Mx?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Three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Six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Ten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Twelve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How many promotion types do we offer Mx?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Three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Six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Ten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Twelve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did Cx who abandoned the DoorDash app indicate as the top reason why they were visiting the app in the first place?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check out deals/promos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look for ideas/inspiration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order food immediately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plan for the week ahead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did Cx who abandoned the DoorDash app indicate as the top reason why they were visiting the app in the first place?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check out deals/promos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look for ideas/inspiration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order food immediately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plan for the week ahead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3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1525601" y="21994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reported that they “sometimes” or “always” compare their DoorDash order to the same order on a different DoorDash account? </a:t>
            </a:r>
            <a:endParaRPr b="1" sz="1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12%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31%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43%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4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1525601" y="21994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reported that they “sometimes” or “always” compare their DoorDash order to the same order on a different DoorDash account? </a:t>
            </a:r>
            <a:endParaRPr b="1" sz="1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12%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31%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43%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Deal Seekers typically order weekly on DoorDash?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Thrill Seekers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Deal Hunters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Price Comparers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Budget Minders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6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Deal Seekers typically order weekly on DoorDash?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Thrill Seekers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Deal Hunters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Price Comparers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Budget Minders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advanced bidding?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pay extra to ensure competitive bid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schedule different prices across different campaigns based on estimated bid-rates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see bid estimates for a campaign to then adjust their price to be competitive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an advertiser to decide on a specific bid amount for different targets including placements and keywords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advanced bidding?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pay extra to ensure competitive bid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schedule different prices across different campaigns based on estimated bid-rates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see bid estimates for a campaign to then adjust their price to be competitive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5546450" y="4043050"/>
            <a:ext cx="2550900" cy="660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Allows an advertiser to decide on a specific bid amount for different targets including placements and keywords</a:t>
            </a:r>
            <a:endParaRPr b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NOT a barrier for Cx to add coke to their cart?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“food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“Pepsi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Concerns about speed/quality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Already stocked up on Coke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NOT a barrier for Cx to add coke to their cart?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“food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Being a “Pepsi only” person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Concerns about speed/quality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Already stocked up on Coke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idx="1" type="subTitle"/>
          </p:nvPr>
        </p:nvSpPr>
        <p:spPr>
          <a:xfrm>
            <a:off x="123200" y="1412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Hope you had fun!</a:t>
            </a:r>
            <a:endParaRPr b="1"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1" name="Google Shape;331;p41"/>
          <p:cNvSpPr txBox="1"/>
          <p:nvPr>
            <p:ph idx="1" type="subTitle"/>
          </p:nvPr>
        </p:nvSpPr>
        <p:spPr>
          <a:xfrm>
            <a:off x="2948600" y="2127350"/>
            <a:ext cx="60711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Look at </a:t>
            </a:r>
            <a:r>
              <a:rPr lang="en" sz="1840" u="sng">
                <a:solidFill>
                  <a:schemeClr val="hlink"/>
                </a:solidFill>
                <a:latin typeface="Lora Medium"/>
                <a:ea typeface="Lora Medium"/>
                <a:cs typeface="Lora Medium"/>
                <a:sym typeface="Lora Medium"/>
                <a:hlinkClick r:id="rId3"/>
              </a:rPr>
              <a:t>dovetail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existing research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Join #research-insights, #adspromo-research-insights channels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Reach out to your designated partner Armando for Mx, Kelly for Cx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Utilize </a:t>
            </a:r>
            <a:r>
              <a:rPr lang="en" sz="1840" u="sng">
                <a:solidFill>
                  <a:schemeClr val="hlink"/>
                </a:solidFill>
                <a:latin typeface="Lora Medium"/>
                <a:ea typeface="Lora Medium"/>
                <a:cs typeface="Lora Medium"/>
                <a:sym typeface="Lora Medium"/>
                <a:hlinkClick r:id="rId4"/>
              </a:rPr>
              <a:t>research review and support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self serve research and Mx Turbo Qual</a:t>
            </a:r>
            <a:endParaRPr sz="16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332" name="Google Shape;33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38" y="1926050"/>
            <a:ext cx="28670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/>
          <p:nvPr/>
        </p:nvSpPr>
        <p:spPr>
          <a:xfrm>
            <a:off x="123200" y="856425"/>
            <a:ext cx="8126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If you want to partner with research more…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