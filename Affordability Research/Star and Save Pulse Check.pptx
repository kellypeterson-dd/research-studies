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Kelly Peterso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B5BD14-BE5A-42E9-BA39-597365D3C2EC}">
  <a:tblStyle styleId="{68B5BD14-BE5A-42E9-BA39-597365D3C2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4-17T17:47:55.798">
    <p:pos x="230" y="540"/>
    <p:text>Can we tie to new cx preferences experimentation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89d59627f6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89d59627f6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2df42d5924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2df42d5924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df42d592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df42d592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2df42d592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2df42d592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df42d592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2df42d592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df42d592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2df42d592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df42d592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df42d592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2df42d592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2df42d592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df42d592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2df42d592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df42d592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2df42d592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53ba846a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d53ba846a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df42d5924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df42d5924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2df42d5924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2df42d5924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53ba846a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d53ba846a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df42d592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2df42d592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53ba846a_0_1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53ba846a_0_1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without header">
  <p:cSld name="TITLE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Master">
  <p:cSld name="TITLE_1">
    <p:bg>
      <p:bgPr>
        <a:solidFill>
          <a:srgbClr val="F3F3F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" type="secHead">
  <p:cSld name="SECTION_HEADER">
    <p:bg>
      <p:bgPr>
        <a:solidFill>
          <a:srgbClr val="E2320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cean">
  <p:cSld name="SECTION_HEADER_2">
    <p:bg>
      <p:bgPr>
        <a:solidFill>
          <a:srgbClr val="518C8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ush">
  <p:cSld name="SECTION_HEADER_1">
    <p:bg>
      <p:bgPr>
        <a:solidFill>
          <a:srgbClr val="E5BBB7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ky">
  <p:cSld name="SECTION_HEADER_1_1">
    <p:bg>
      <p:bgPr>
        <a:solidFill>
          <a:srgbClr val="BEDFE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mon">
  <p:cSld name="SECTION_HEADER_1_1_2">
    <p:bg>
      <p:bgPr>
        <a:solidFill>
          <a:srgbClr val="F8E5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est">
  <p:cSld name="SECTION_HEADER_1_1_1">
    <p:bg>
      <p:bgPr>
        <a:solidFill>
          <a:srgbClr val="3A564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SECTION_HEADER_1_1_1_1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2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hyperlink" Target="https://docs.google.com/document/d/1Y_snq0dbahuE-5yCa1ZtgnsQ2gO7BwLeioVvMQG847M/edit?usp=sharing" TargetMode="External"/><Relationship Id="rId5" Type="http://schemas.openxmlformats.org/officeDocument/2006/relationships/hyperlink" Target="https://docs.google.com/spreadsheets/d/1ayCl3DLsfyd3POSKxpBOUcEAfj5tTRGk5soT49xU0Zs/edit?usp=sharing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9.jp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2"/>
          <p:cNvSpPr txBox="1"/>
          <p:nvPr/>
        </p:nvSpPr>
        <p:spPr>
          <a:xfrm>
            <a:off x="686000" y="3441325"/>
            <a:ext cx="298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Kelly Peterson</a:t>
            </a:r>
            <a:endParaRPr b="1" sz="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" name="Google Shape;43;p12"/>
          <p:cNvSpPr txBox="1"/>
          <p:nvPr/>
        </p:nvSpPr>
        <p:spPr>
          <a:xfrm>
            <a:off x="686000" y="3799625"/>
            <a:ext cx="2980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Date: April 14 2023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" name="Google Shape;44;p12"/>
          <p:cNvSpPr txBox="1"/>
          <p:nvPr/>
        </p:nvSpPr>
        <p:spPr>
          <a:xfrm>
            <a:off x="609750" y="1529300"/>
            <a:ext cx="61353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Star &amp; Save</a:t>
            </a:r>
            <a:endParaRPr b="1" sz="41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5" name="Google Shape;4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99" y="1284763"/>
            <a:ext cx="1408775" cy="16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9375" y="2613837"/>
            <a:ext cx="2558372" cy="1673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3425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2"/>
          <p:cNvSpPr txBox="1"/>
          <p:nvPr/>
        </p:nvSpPr>
        <p:spPr>
          <a:xfrm>
            <a:off x="686000" y="3068425"/>
            <a:ext cx="298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</a:t>
            </a:r>
            <a:r>
              <a:rPr b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 Pulse Check</a:t>
            </a:r>
            <a:endParaRPr b="1" sz="8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5851200" y="0"/>
            <a:ext cx="3292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617725" y="557725"/>
            <a:ext cx="25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PARTICIPANTS</a:t>
            </a:r>
            <a:endParaRPr b="1" sz="10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000" u="sng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2900" y="265450"/>
            <a:ext cx="490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Approach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6191923" y="557736"/>
            <a:ext cx="349608" cy="315560"/>
            <a:chOff x="3592942" y="1644650"/>
            <a:chExt cx="611524" cy="551967"/>
          </a:xfrm>
        </p:grpSpPr>
        <p:sp>
          <p:nvSpPr>
            <p:cNvPr id="59" name="Google Shape;59;p13"/>
            <p:cNvSpPr/>
            <p:nvPr/>
          </p:nvSpPr>
          <p:spPr>
            <a:xfrm>
              <a:off x="3689101" y="2082220"/>
              <a:ext cx="156922" cy="114389"/>
            </a:xfrm>
            <a:custGeom>
              <a:rect b="b" l="l" r="r" t="t"/>
              <a:pathLst>
                <a:path extrusionOk="0" h="114389" w="156922">
                  <a:moveTo>
                    <a:pt x="9595" y="114338"/>
                  </a:moveTo>
                  <a:cubicBezTo>
                    <a:pt x="4882" y="114395"/>
                    <a:pt x="835" y="110998"/>
                    <a:pt x="82" y="106344"/>
                  </a:cubicBezTo>
                  <a:cubicBezTo>
                    <a:pt x="-772" y="101157"/>
                    <a:pt x="2740" y="96266"/>
                    <a:pt x="7924" y="95409"/>
                  </a:cubicBezTo>
                  <a:cubicBezTo>
                    <a:pt x="7941" y="95409"/>
                    <a:pt x="7959" y="95400"/>
                    <a:pt x="7978" y="95400"/>
                  </a:cubicBezTo>
                  <a:cubicBezTo>
                    <a:pt x="54115" y="87692"/>
                    <a:pt x="124321" y="71704"/>
                    <a:pt x="135926" y="59998"/>
                  </a:cubicBezTo>
                  <a:cubicBezTo>
                    <a:pt x="138685" y="55811"/>
                    <a:pt x="137544" y="32591"/>
                    <a:pt x="133358" y="11559"/>
                  </a:cubicBezTo>
                  <a:cubicBezTo>
                    <a:pt x="132307" y="6303"/>
                    <a:pt x="135714" y="1191"/>
                    <a:pt x="140968" y="139"/>
                  </a:cubicBezTo>
                  <a:cubicBezTo>
                    <a:pt x="146222" y="-912"/>
                    <a:pt x="151333" y="2497"/>
                    <a:pt x="152384" y="7753"/>
                  </a:cubicBezTo>
                  <a:cubicBezTo>
                    <a:pt x="156284" y="27452"/>
                    <a:pt x="161231" y="62092"/>
                    <a:pt x="149815" y="73512"/>
                  </a:cubicBezTo>
                  <a:cubicBezTo>
                    <a:pt x="129648" y="93687"/>
                    <a:pt x="30999" y="110912"/>
                    <a:pt x="11402" y="114243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951288" y="2082315"/>
              <a:ext cx="156922" cy="114302"/>
            </a:xfrm>
            <a:custGeom>
              <a:rect b="b" l="l" r="r" t="t"/>
              <a:pathLst>
                <a:path extrusionOk="0" h="114302" w="156922">
                  <a:moveTo>
                    <a:pt x="146951" y="114243"/>
                  </a:moveTo>
                  <a:lnTo>
                    <a:pt x="145428" y="114243"/>
                  </a:lnTo>
                  <a:cubicBezTo>
                    <a:pt x="125832" y="110912"/>
                    <a:pt x="27183" y="93687"/>
                    <a:pt x="7015" y="73512"/>
                  </a:cubicBezTo>
                  <a:cubicBezTo>
                    <a:pt x="-4400" y="62092"/>
                    <a:pt x="547" y="27452"/>
                    <a:pt x="4447" y="7753"/>
                  </a:cubicBezTo>
                  <a:cubicBezTo>
                    <a:pt x="5498" y="2497"/>
                    <a:pt x="10608" y="-912"/>
                    <a:pt x="15862" y="139"/>
                  </a:cubicBezTo>
                  <a:cubicBezTo>
                    <a:pt x="21116" y="1191"/>
                    <a:pt x="24523" y="6303"/>
                    <a:pt x="23473" y="11559"/>
                  </a:cubicBezTo>
                  <a:cubicBezTo>
                    <a:pt x="19287" y="32591"/>
                    <a:pt x="18145" y="55811"/>
                    <a:pt x="21094" y="60284"/>
                  </a:cubicBezTo>
                  <a:cubicBezTo>
                    <a:pt x="32510" y="71704"/>
                    <a:pt x="102715" y="87692"/>
                    <a:pt x="148853" y="95400"/>
                  </a:cubicBezTo>
                  <a:cubicBezTo>
                    <a:pt x="154042" y="96228"/>
                    <a:pt x="157576" y="101100"/>
                    <a:pt x="156758" y="106287"/>
                  </a:cubicBezTo>
                  <a:cubicBezTo>
                    <a:pt x="156758" y="106306"/>
                    <a:pt x="156749" y="106325"/>
                    <a:pt x="156749" y="106344"/>
                  </a:cubicBezTo>
                  <a:cubicBezTo>
                    <a:pt x="155938" y="111074"/>
                    <a:pt x="151739" y="114452"/>
                    <a:pt x="146951" y="114243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758789" y="1758848"/>
              <a:ext cx="279351" cy="352112"/>
            </a:xfrm>
            <a:custGeom>
              <a:rect b="b" l="l" r="r" t="t"/>
              <a:pathLst>
                <a:path extrusionOk="0" h="352112" w="279351">
                  <a:moveTo>
                    <a:pt x="177729" y="352061"/>
                  </a:moveTo>
                  <a:cubicBezTo>
                    <a:pt x="173017" y="352118"/>
                    <a:pt x="168970" y="348721"/>
                    <a:pt x="168217" y="344067"/>
                  </a:cubicBezTo>
                  <a:cubicBezTo>
                    <a:pt x="167320" y="338888"/>
                    <a:pt x="170790" y="333963"/>
                    <a:pt x="175967" y="333067"/>
                  </a:cubicBezTo>
                  <a:cubicBezTo>
                    <a:pt x="176047" y="333052"/>
                    <a:pt x="176127" y="333039"/>
                    <a:pt x="176207" y="333028"/>
                  </a:cubicBezTo>
                  <a:cubicBezTo>
                    <a:pt x="226150" y="324748"/>
                    <a:pt x="244415" y="246047"/>
                    <a:pt x="244510" y="245190"/>
                  </a:cubicBezTo>
                  <a:cubicBezTo>
                    <a:pt x="250439" y="218315"/>
                    <a:pt x="255011" y="191159"/>
                    <a:pt x="258209" y="163824"/>
                  </a:cubicBezTo>
                  <a:cubicBezTo>
                    <a:pt x="260863" y="144883"/>
                    <a:pt x="260863" y="125665"/>
                    <a:pt x="258209" y="106725"/>
                  </a:cubicBezTo>
                  <a:cubicBezTo>
                    <a:pt x="251455" y="55811"/>
                    <a:pt x="201607" y="18982"/>
                    <a:pt x="139678" y="18982"/>
                  </a:cubicBezTo>
                  <a:cubicBezTo>
                    <a:pt x="77749" y="18982"/>
                    <a:pt x="27901" y="55811"/>
                    <a:pt x="21052" y="106439"/>
                  </a:cubicBezTo>
                  <a:cubicBezTo>
                    <a:pt x="18397" y="125380"/>
                    <a:pt x="18397" y="144597"/>
                    <a:pt x="21052" y="163538"/>
                  </a:cubicBezTo>
                  <a:cubicBezTo>
                    <a:pt x="23620" y="186092"/>
                    <a:pt x="29423" y="222636"/>
                    <a:pt x="34655" y="244809"/>
                  </a:cubicBezTo>
                  <a:cubicBezTo>
                    <a:pt x="34655" y="245761"/>
                    <a:pt x="53110" y="324463"/>
                    <a:pt x="103053" y="332742"/>
                  </a:cubicBezTo>
                  <a:cubicBezTo>
                    <a:pt x="108307" y="333583"/>
                    <a:pt x="111885" y="338525"/>
                    <a:pt x="111044" y="343781"/>
                  </a:cubicBezTo>
                  <a:cubicBezTo>
                    <a:pt x="110203" y="349037"/>
                    <a:pt x="105263" y="352613"/>
                    <a:pt x="100009" y="351775"/>
                  </a:cubicBezTo>
                  <a:cubicBezTo>
                    <a:pt x="37319" y="341307"/>
                    <a:pt x="16961" y="252994"/>
                    <a:pt x="16105" y="249282"/>
                  </a:cubicBezTo>
                  <a:cubicBezTo>
                    <a:pt x="10778" y="226538"/>
                    <a:pt x="4784" y="189043"/>
                    <a:pt x="2121" y="165917"/>
                  </a:cubicBezTo>
                  <a:cubicBezTo>
                    <a:pt x="-768" y="145272"/>
                    <a:pt x="-768" y="124324"/>
                    <a:pt x="2121" y="103679"/>
                  </a:cubicBezTo>
                  <a:cubicBezTo>
                    <a:pt x="10302" y="43630"/>
                    <a:pt x="68141" y="-51"/>
                    <a:pt x="139678" y="-51"/>
                  </a:cubicBezTo>
                  <a:cubicBezTo>
                    <a:pt x="211215" y="-51"/>
                    <a:pt x="269054" y="43630"/>
                    <a:pt x="277140" y="103870"/>
                  </a:cubicBezTo>
                  <a:cubicBezTo>
                    <a:pt x="280028" y="124515"/>
                    <a:pt x="280028" y="145463"/>
                    <a:pt x="277140" y="166108"/>
                  </a:cubicBezTo>
                  <a:cubicBezTo>
                    <a:pt x="274476" y="189233"/>
                    <a:pt x="268483" y="226728"/>
                    <a:pt x="263060" y="249568"/>
                  </a:cubicBezTo>
                  <a:cubicBezTo>
                    <a:pt x="262299" y="253184"/>
                    <a:pt x="241942" y="341497"/>
                    <a:pt x="179252" y="351966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592942" y="1644650"/>
              <a:ext cx="257847" cy="352175"/>
            </a:xfrm>
            <a:custGeom>
              <a:rect b="b" l="l" r="r" t="t"/>
              <a:pathLst>
                <a:path extrusionOk="0" h="352175" w="257847">
                  <a:moveTo>
                    <a:pt x="10624" y="352061"/>
                  </a:moveTo>
                  <a:cubicBezTo>
                    <a:pt x="5371" y="352665"/>
                    <a:pt x="622" y="348895"/>
                    <a:pt x="18" y="343639"/>
                  </a:cubicBezTo>
                  <a:cubicBezTo>
                    <a:pt x="-586" y="338383"/>
                    <a:pt x="3183" y="333632"/>
                    <a:pt x="8437" y="333028"/>
                  </a:cubicBezTo>
                  <a:cubicBezTo>
                    <a:pt x="30982" y="327794"/>
                    <a:pt x="70366" y="315232"/>
                    <a:pt x="80259" y="303717"/>
                  </a:cubicBezTo>
                  <a:cubicBezTo>
                    <a:pt x="82733" y="300386"/>
                    <a:pt x="82162" y="284684"/>
                    <a:pt x="79022" y="268981"/>
                  </a:cubicBezTo>
                  <a:cubicBezTo>
                    <a:pt x="58189" y="255373"/>
                    <a:pt x="45061" y="218829"/>
                    <a:pt x="40590" y="199796"/>
                  </a:cubicBezTo>
                  <a:cubicBezTo>
                    <a:pt x="36620" y="179880"/>
                    <a:pt x="33667" y="159774"/>
                    <a:pt x="31743" y="139557"/>
                  </a:cubicBezTo>
                  <a:lnTo>
                    <a:pt x="30982" y="132895"/>
                  </a:lnTo>
                  <a:cubicBezTo>
                    <a:pt x="28718" y="116541"/>
                    <a:pt x="28718" y="99953"/>
                    <a:pt x="30982" y="83599"/>
                  </a:cubicBezTo>
                  <a:cubicBezTo>
                    <a:pt x="37451" y="35826"/>
                    <a:pt x="85872" y="-51"/>
                    <a:pt x="143805" y="-51"/>
                  </a:cubicBezTo>
                  <a:cubicBezTo>
                    <a:pt x="201739" y="-51"/>
                    <a:pt x="250160" y="35826"/>
                    <a:pt x="256629" y="83409"/>
                  </a:cubicBezTo>
                  <a:cubicBezTo>
                    <a:pt x="256629" y="87216"/>
                    <a:pt x="257485" y="90737"/>
                    <a:pt x="257770" y="94353"/>
                  </a:cubicBezTo>
                  <a:cubicBezTo>
                    <a:pt x="258191" y="99609"/>
                    <a:pt x="254272" y="104210"/>
                    <a:pt x="249018" y="104631"/>
                  </a:cubicBezTo>
                  <a:cubicBezTo>
                    <a:pt x="243764" y="105052"/>
                    <a:pt x="239165" y="101132"/>
                    <a:pt x="238745" y="95876"/>
                  </a:cubicBezTo>
                  <a:cubicBezTo>
                    <a:pt x="238745" y="92640"/>
                    <a:pt x="238079" y="89404"/>
                    <a:pt x="237603" y="86359"/>
                  </a:cubicBezTo>
                  <a:cubicBezTo>
                    <a:pt x="232466" y="48293"/>
                    <a:pt x="192131" y="19743"/>
                    <a:pt x="143710" y="19743"/>
                  </a:cubicBezTo>
                  <a:cubicBezTo>
                    <a:pt x="95290" y="19743"/>
                    <a:pt x="54955" y="48293"/>
                    <a:pt x="49818" y="86359"/>
                  </a:cubicBezTo>
                  <a:cubicBezTo>
                    <a:pt x="47651" y="101157"/>
                    <a:pt x="47651" y="116193"/>
                    <a:pt x="49818" y="130992"/>
                  </a:cubicBezTo>
                  <a:lnTo>
                    <a:pt x="50579" y="137748"/>
                  </a:lnTo>
                  <a:cubicBezTo>
                    <a:pt x="52672" y="155830"/>
                    <a:pt x="55430" y="180668"/>
                    <a:pt x="59045" y="195704"/>
                  </a:cubicBezTo>
                  <a:cubicBezTo>
                    <a:pt x="63802" y="216069"/>
                    <a:pt x="77120" y="247950"/>
                    <a:pt x="91579" y="255182"/>
                  </a:cubicBezTo>
                  <a:cubicBezTo>
                    <a:pt x="94129" y="256446"/>
                    <a:pt x="95978" y="258785"/>
                    <a:pt x="96621" y="261558"/>
                  </a:cubicBezTo>
                  <a:cubicBezTo>
                    <a:pt x="99570" y="274025"/>
                    <a:pt x="105278" y="304478"/>
                    <a:pt x="94529" y="316945"/>
                  </a:cubicBezTo>
                  <a:cubicBezTo>
                    <a:pt x="77215" y="336358"/>
                    <a:pt x="19376" y="350253"/>
                    <a:pt x="12812" y="352061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946618" y="1644650"/>
              <a:ext cx="257848" cy="352460"/>
            </a:xfrm>
            <a:custGeom>
              <a:rect b="b" l="l" r="r" t="t"/>
              <a:pathLst>
                <a:path extrusionOk="0" h="352460" w="257848">
                  <a:moveTo>
                    <a:pt x="246750" y="352061"/>
                  </a:moveTo>
                  <a:lnTo>
                    <a:pt x="244562" y="352061"/>
                  </a:lnTo>
                  <a:cubicBezTo>
                    <a:pt x="237998" y="350538"/>
                    <a:pt x="179779" y="336644"/>
                    <a:pt x="162751" y="316754"/>
                  </a:cubicBezTo>
                  <a:cubicBezTo>
                    <a:pt x="151621" y="304478"/>
                    <a:pt x="157709" y="273549"/>
                    <a:pt x="161134" y="261083"/>
                  </a:cubicBezTo>
                  <a:cubicBezTo>
                    <a:pt x="161781" y="258310"/>
                    <a:pt x="163626" y="255970"/>
                    <a:pt x="166176" y="254707"/>
                  </a:cubicBezTo>
                  <a:cubicBezTo>
                    <a:pt x="180635" y="247474"/>
                    <a:pt x="193954" y="215594"/>
                    <a:pt x="198710" y="195228"/>
                  </a:cubicBezTo>
                  <a:cubicBezTo>
                    <a:pt x="202325" y="180192"/>
                    <a:pt x="205084" y="155354"/>
                    <a:pt x="207176" y="137273"/>
                  </a:cubicBezTo>
                  <a:lnTo>
                    <a:pt x="207938" y="130611"/>
                  </a:lnTo>
                  <a:cubicBezTo>
                    <a:pt x="210107" y="115780"/>
                    <a:pt x="210107" y="100714"/>
                    <a:pt x="207938" y="85883"/>
                  </a:cubicBezTo>
                  <a:cubicBezTo>
                    <a:pt x="202801" y="47817"/>
                    <a:pt x="162466" y="19268"/>
                    <a:pt x="114045" y="19268"/>
                  </a:cubicBezTo>
                  <a:cubicBezTo>
                    <a:pt x="65624" y="19268"/>
                    <a:pt x="25289" y="47817"/>
                    <a:pt x="20152" y="85883"/>
                  </a:cubicBezTo>
                  <a:cubicBezTo>
                    <a:pt x="20152" y="89404"/>
                    <a:pt x="19296" y="92640"/>
                    <a:pt x="19011" y="95400"/>
                  </a:cubicBezTo>
                  <a:cubicBezTo>
                    <a:pt x="18590" y="100656"/>
                    <a:pt x="13991" y="104576"/>
                    <a:pt x="8737" y="104155"/>
                  </a:cubicBezTo>
                  <a:cubicBezTo>
                    <a:pt x="3483" y="103734"/>
                    <a:pt x="-436" y="99133"/>
                    <a:pt x="-15" y="93877"/>
                  </a:cubicBezTo>
                  <a:cubicBezTo>
                    <a:pt x="-15" y="90261"/>
                    <a:pt x="651" y="86740"/>
                    <a:pt x="1126" y="82933"/>
                  </a:cubicBezTo>
                  <a:cubicBezTo>
                    <a:pt x="7215" y="35826"/>
                    <a:pt x="55636" y="-51"/>
                    <a:pt x="113569" y="-51"/>
                  </a:cubicBezTo>
                  <a:cubicBezTo>
                    <a:pt x="171503" y="-51"/>
                    <a:pt x="219924" y="35826"/>
                    <a:pt x="226393" y="83409"/>
                  </a:cubicBezTo>
                  <a:cubicBezTo>
                    <a:pt x="228647" y="99796"/>
                    <a:pt x="228647" y="116413"/>
                    <a:pt x="226393" y="132800"/>
                  </a:cubicBezTo>
                  <a:lnTo>
                    <a:pt x="225632" y="139366"/>
                  </a:lnTo>
                  <a:cubicBezTo>
                    <a:pt x="223710" y="159583"/>
                    <a:pt x="220751" y="179690"/>
                    <a:pt x="216785" y="199606"/>
                  </a:cubicBezTo>
                  <a:cubicBezTo>
                    <a:pt x="212313" y="218639"/>
                    <a:pt x="198805" y="255373"/>
                    <a:pt x="178733" y="269267"/>
                  </a:cubicBezTo>
                  <a:cubicBezTo>
                    <a:pt x="175594" y="284493"/>
                    <a:pt x="175023" y="300671"/>
                    <a:pt x="177591" y="304097"/>
                  </a:cubicBezTo>
                  <a:cubicBezTo>
                    <a:pt x="187104" y="315517"/>
                    <a:pt x="226773" y="328079"/>
                    <a:pt x="249319" y="333313"/>
                  </a:cubicBezTo>
                  <a:cubicBezTo>
                    <a:pt x="254570" y="333917"/>
                    <a:pt x="258347" y="338668"/>
                    <a:pt x="257738" y="343924"/>
                  </a:cubicBezTo>
                  <a:cubicBezTo>
                    <a:pt x="257129" y="349180"/>
                    <a:pt x="252382" y="352951"/>
                    <a:pt x="247131" y="352346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3"/>
          <p:cNvSpPr txBox="1"/>
          <p:nvPr/>
        </p:nvSpPr>
        <p:spPr>
          <a:xfrm>
            <a:off x="203375" y="4485275"/>
            <a:ext cx="532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 research brief can be found </a:t>
            </a:r>
            <a:r>
              <a:rPr lang="en" sz="8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here</a:t>
            </a:r>
            <a:r>
              <a:rPr lang="en" sz="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  This </a:t>
            </a:r>
            <a:r>
              <a:rPr lang="en" sz="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brief is a static document and will update as we continue to have weekly calls with Star and Save Cx.  You can watch the interview videos</a:t>
            </a:r>
            <a:r>
              <a:rPr lang="en" sz="8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 here</a:t>
            </a:r>
            <a:r>
              <a:rPr lang="en" sz="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6041700" y="10680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We allowed for natural fallout of the sample which led to the following breakdowns in DoorDash experience:</a:t>
            </a:r>
            <a:endParaRPr/>
          </a:p>
        </p:txBody>
      </p:sp>
      <p:graphicFrame>
        <p:nvGraphicFramePr>
          <p:cNvPr id="66" name="Google Shape;66;p13"/>
          <p:cNvGraphicFramePr/>
          <p:nvPr/>
        </p:nvGraphicFramePr>
        <p:xfrm>
          <a:off x="6181913" y="1756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{68B5BD14-BE5A-42E9-BA39-597365D3C2EC}</a:tableStyleId>
              </a:tblPr>
              <a:tblGrid>
                <a:gridCol w="1594925"/>
                <a:gridCol w="1036450"/>
              </a:tblGrid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Time on DoorDash</a:t>
                      </a:r>
                      <a:endParaRPr b="1"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of respondents</a:t>
                      </a:r>
                      <a:endParaRPr b="1"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Less than 1 month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 month - less than one year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1-3 years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28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4+ years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7" name="Google Shape;67;p13"/>
          <p:cNvGraphicFramePr/>
          <p:nvPr/>
        </p:nvGraphicFramePr>
        <p:xfrm>
          <a:off x="6181913" y="3424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{68B5BD14-BE5A-42E9-BA39-597365D3C2EC}</a:tableStyleId>
              </a:tblPr>
              <a:tblGrid>
                <a:gridCol w="1594925"/>
                <a:gridCol w="1036450"/>
              </a:tblGrid>
              <a:tr h="18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Frequency of ordering</a:t>
                      </a:r>
                      <a:endParaRPr b="1"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of respondents</a:t>
                      </a:r>
                      <a:endParaRPr b="1"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198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Less than once a month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13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1-2 times per month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13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3-4 times per month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13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Multiple times per week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7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" name="Google Shape;68;p13"/>
          <p:cNvSpPr txBox="1"/>
          <p:nvPr/>
        </p:nvSpPr>
        <p:spPr>
          <a:xfrm>
            <a:off x="715750" y="1297825"/>
            <a:ext cx="4902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On April 13th we completed 6, 15 min Cx interviews.  All Cx recruited were…</a:t>
            </a:r>
            <a:endParaRPr b="1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Located in a Star and Save test market</a:t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In the Star and Save treatment group</a:t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Logged into the app during the time of Star and Save</a:t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766575" y="2830950"/>
            <a:ext cx="4625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The goal of these calls were to…</a:t>
            </a:r>
            <a:endParaRPr b="1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Collect initial reactions to Star and Save</a:t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Scope awareness/recall of the offering</a:t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Identify areas of confusion or misunderstanding with the process</a:t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Understand reasons why used or did not use Star and Save</a:t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500" y="129782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500" y="273035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658700" y="259665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Recalled Star and Save with </a:t>
            </a:r>
            <a:r>
              <a:rPr b="1"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limited prompting (unaided)</a:t>
            </a:r>
            <a:endParaRPr b="1"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“ Have you noticed anything new in the app that helps you save on the cost of DoorDash?”</a:t>
            </a:r>
            <a:endParaRPr i="1" sz="10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63825" y="237875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Product recall is fairly strong with at least some form of recognition among Cx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347550" y="259665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Recalled Star and Save </a:t>
            </a:r>
            <a:r>
              <a:rPr b="1"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after prompting </a:t>
            </a: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with an image (aided)</a:t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6036400" y="259665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Completed </a:t>
            </a:r>
            <a:r>
              <a:rPr b="1"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at least one</a:t>
            </a:r>
            <a:r>
              <a:rPr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 Star &amp; Save </a:t>
            </a:r>
            <a:r>
              <a:rPr b="1" lang="en" sz="12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purchase</a:t>
            </a:r>
            <a:endParaRPr b="1"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Note: One Cx thought she had completed a purchase but after diving deeper into her experience it appears she completed a purchase for a Happy Hour or Mx Funded $0 delivery offer</a:t>
            </a:r>
            <a:endParaRPr sz="10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1177700" y="1618525"/>
            <a:ext cx="1186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 sz="3500">
              <a:solidFill>
                <a:srgbClr val="E23208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920900" y="1618525"/>
            <a:ext cx="1186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 sz="3500">
              <a:solidFill>
                <a:srgbClr val="E23208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511700" y="1618525"/>
            <a:ext cx="1186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1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 sz="3500">
              <a:solidFill>
                <a:srgbClr val="E23208"/>
              </a:solidFill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362" y="3338625"/>
            <a:ext cx="655275" cy="13812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590825" y="1271550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Of the 6 Cx interviewed…</a:t>
            </a:r>
            <a:endParaRPr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1060375" y="1478975"/>
            <a:ext cx="1635900" cy="16359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3754050" y="1478975"/>
            <a:ext cx="1635900" cy="16359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442900" y="1478975"/>
            <a:ext cx="1635900" cy="16359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12502" r="12495" t="0"/>
          <a:stretch/>
        </p:blipFill>
        <p:spPr>
          <a:xfrm>
            <a:off x="1060375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 rotWithShape="1">
          <a:blip r:embed="rId4">
            <a:alphaModFix/>
          </a:blip>
          <a:srcRect b="0" l="12502" r="12495" t="0"/>
          <a:stretch/>
        </p:blipFill>
        <p:spPr>
          <a:xfrm>
            <a:off x="3751638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 rotWithShape="1">
          <a:blip r:embed="rId5">
            <a:alphaModFix/>
          </a:blip>
          <a:srcRect b="26278" l="0" r="0" t="26278"/>
          <a:stretch/>
        </p:blipFill>
        <p:spPr>
          <a:xfrm>
            <a:off x="6447725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1060400" y="3511050"/>
            <a:ext cx="1635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Cx that converted were already established, regular DoorDash users</a:t>
            </a:r>
            <a:endParaRPr b="1" sz="10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3754050" y="3511050"/>
            <a:ext cx="1633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Cx found out about Star and Save when searching for one of their regularly used restaurant</a:t>
            </a:r>
            <a:endParaRPr b="1" sz="10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450125" y="3511050"/>
            <a:ext cx="1633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Cx recalled seeing Star and Save on the homepage, they went back to learn how it worked.  </a:t>
            </a:r>
            <a:endParaRPr b="1" sz="10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658650" y="254825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Converted Cx were intercepted while searching and took the time to learn more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268850" y="204975"/>
            <a:ext cx="82725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Pre-selected stores appear to play a large role in conversion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7" name="Google Shape;107;p16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501" y="1515950"/>
            <a:ext cx="3414999" cy="21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/>
          <p:nvPr/>
        </p:nvSpPr>
        <p:spPr>
          <a:xfrm>
            <a:off x="5618075" y="2101450"/>
            <a:ext cx="7203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 rot="10798568">
            <a:off x="2830445" y="2025121"/>
            <a:ext cx="7200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355750" y="1455300"/>
            <a:ext cx="2186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 Cx indicated we had pre-selected a store that was one of their favorites.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These are the same Cx that converted</a:t>
            </a:r>
            <a:endParaRPr b="1"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Both Cx were</a:t>
            </a: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habitual users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(once a week or more often)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144125" y="900338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Did we </a:t>
            </a: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have</a:t>
            </a: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the right store in the preselected spot?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2966050" y="1739125"/>
            <a:ext cx="65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Yes</a:t>
            </a:r>
            <a:endParaRPr b="1" sz="900">
              <a:solidFill>
                <a:srgbClr val="38761D"/>
              </a:solidFill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550400" y="1823725"/>
            <a:ext cx="65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No</a:t>
            </a:r>
            <a:endParaRPr b="1" sz="900">
              <a:solidFill>
                <a:srgbClr val="E23208"/>
              </a:solidFill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549850" y="1455300"/>
            <a:ext cx="2364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Cx indicated we had not pre-selected a store that was one of their favorites.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These are the same Cx that did not convert.</a:t>
            </a:r>
            <a:endParaRPr b="1"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Two of these Cx are new users/new account creators while the other two are occasional Cx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Most Cx indicated McDonalds was in this spot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55750" y="3925725"/>
            <a:ext cx="6018300" cy="9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Questions for further discussion</a:t>
            </a: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At what point do we have enough data on a Cx to select the right Rx? 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Should we pre-select if we do not have the right data threshold? 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Should new Cx have a different experience?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268850" y="204975"/>
            <a:ext cx="82725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Top reasons did not convert </a:t>
            </a:r>
            <a:r>
              <a:rPr b="1" lang="en" sz="15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(in no particular order)</a:t>
            </a:r>
            <a:endParaRPr b="1" sz="15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22" name="Google Shape;122;p17"/>
          <p:cNvGraphicFramePr/>
          <p:nvPr/>
        </p:nvGraphicFramePr>
        <p:xfrm>
          <a:off x="1163575" y="84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{68B5BD14-BE5A-42E9-BA39-597365D3C2EC}</a:tableStyleId>
              </a:tblPr>
              <a:tblGrid>
                <a:gridCol w="2405650"/>
                <a:gridCol w="5523950"/>
              </a:tblGrid>
              <a:tr h="101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Does not apply to NV</a:t>
                      </a:r>
                      <a:endParaRPr b="1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“Seems like it’s limited to restaurants and fast food only, It didn’t allow me to add Target.  Since Target was unsuccessful I forgot about it”</a:t>
                      </a:r>
                      <a:endParaRPr i="1" sz="10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“I didn’t really pay attention to that because it didn’t apply to my orders [at grocery stores]”</a:t>
                      </a:r>
                      <a:endParaRPr i="1"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Rx does not apply</a:t>
                      </a:r>
                      <a:endParaRPr b="1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“</a:t>
                      </a: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 just started  new account for work, and I noticed that you can pick 3 restaurants and there were be some savings associated.  I was using it for work, I was doing a specific group order for a predetermined place so I didn’t think it applied and I haven’t really thought about it since”</a:t>
                      </a:r>
                      <a:endParaRPr i="1" sz="10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Incorrect understanding</a:t>
                      </a:r>
                      <a:endParaRPr b="1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“It’s a rating system and once you rate the restaurant you get $0 delivery fee.  I didn’t write a review but I would do the stars.  When you click on the restaurant it has a </a:t>
                      </a: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section</a:t>
                      </a: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that says what are people saying and you can click to see what people are saying”</a:t>
                      </a:r>
                      <a:endParaRPr i="1" sz="10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0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“I assume there is a promotion code that will show up at checkout and that I can use it up to three times in a month”</a:t>
                      </a:r>
                      <a:endParaRPr i="1" sz="1000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Did not like Rx selected</a:t>
                      </a:r>
                      <a:endParaRPr b="1">
                        <a:solidFill>
                          <a:schemeClr val="dk2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solidFill>
                            <a:schemeClr val="dk2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“I remember that McDonalds was filled in for me and I don’t know why…I would never order McDonalds on DoorDash so it wasn’t helpful”</a:t>
                      </a:r>
                      <a:endParaRPr i="1"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3" name="Google Shape;123;p17"/>
          <p:cNvCxnSpPr/>
          <p:nvPr/>
        </p:nvCxnSpPr>
        <p:spPr>
          <a:xfrm flipH="1" rot="10800000">
            <a:off x="1237150" y="1931475"/>
            <a:ext cx="7643100" cy="9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7"/>
          <p:cNvCxnSpPr/>
          <p:nvPr/>
        </p:nvCxnSpPr>
        <p:spPr>
          <a:xfrm flipH="1" rot="10800000">
            <a:off x="1237150" y="2845875"/>
            <a:ext cx="7643100" cy="9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7"/>
          <p:cNvCxnSpPr/>
          <p:nvPr/>
        </p:nvCxnSpPr>
        <p:spPr>
          <a:xfrm flipH="1" rot="10800000">
            <a:off x="1237150" y="4141275"/>
            <a:ext cx="7643100" cy="9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" name="Google Shape;12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50" y="1154275"/>
            <a:ext cx="451425" cy="4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546" y="3266525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672" y="4383825"/>
            <a:ext cx="335349" cy="33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725" y="2149250"/>
            <a:ext cx="451425" cy="4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533825" y="864350"/>
            <a:ext cx="82725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How do I star something?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What 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restaurants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or stores are included? How do I find included restaurants?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Is there a limit on the number of orders?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Is there a promo code?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How permanent are the restaurants? Do I have to keep my preselected restaurant?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75475" y="245825"/>
            <a:ext cx="82725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Top areas of confusion </a:t>
            </a:r>
            <a:r>
              <a:rPr b="1" lang="en" sz="15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(in no particular order)</a:t>
            </a:r>
            <a:endParaRPr b="1" sz="15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1514675" y="2880775"/>
            <a:ext cx="6857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Confusion appears to be mostly driven by how Cx typically experience discounts: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 selection of restaurants are shown within the carousel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There is a promo code that shows up on the Rx page or checkout page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There is a limited amount of times that they can use an offer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667300" y="4230300"/>
            <a:ext cx="7584000" cy="73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Questions for further discussion: 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Should we communicate Star and Save outside of a carousel? 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What can we do to better explain how to star?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300" y="3035550"/>
            <a:ext cx="798651" cy="79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311175" y="205025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Saving stores &amp; testing limits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366450" y="976713"/>
            <a:ext cx="8128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Most Cx assumed that the three restaurants we’re all you 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could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use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○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Some thought there was a limit on how many times you could order from that Rx in a month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○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Because of this there was some hesitancy to load Rx upfront; Cx who used it prefer to select</a:t>
            </a:r>
            <a:b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5 out of 6 Cx did not realize that they could change their preselected store, to them it felt like they could select up to 2 additional stores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One Cx learned that you could swap out your 3 and has used that functionality.  However, they see how that might not be reasonable and think limitations are fair.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○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All Cx, including this one felt that it was fair to have a limit on how frequently you could swap your restaurants (1-2 times a month was most frequently mentioned time frame)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00" y="3611725"/>
            <a:ext cx="677424" cy="6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616275" y="3439525"/>
            <a:ext cx="338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723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23208"/>
              </a:buClr>
              <a:buSzPts val="1000"/>
              <a:buFont typeface="Proxima Nova"/>
              <a:buNone/>
            </a:pPr>
            <a:r>
              <a:rPr i="1" lang="en" sz="1000">
                <a:solidFill>
                  <a:srgbClr val="E23208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“I would think that it’s limited to these three restaurants. I think it would make me use it less if I can’t choose the three restaurants I like.”“I would expect to swap out every 2-3 weeks or every month.”</a:t>
            </a:r>
            <a:endParaRPr i="1" sz="1000">
              <a:solidFill>
                <a:srgbClr val="E23208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5073550" y="3493325"/>
            <a:ext cx="31713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“</a:t>
            </a:r>
            <a:r>
              <a:rPr i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It feels like thank you for being a loyal DoorDash user, here’s a little bit of cost saving… I guess it doesn’t make sense for me to be able to switch out breakfast lunch and dinner, </a:t>
            </a:r>
            <a:r>
              <a:rPr i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that's</a:t>
            </a:r>
            <a:r>
              <a:rPr i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 not practical”</a:t>
            </a:r>
            <a:endParaRPr i="1">
              <a:solidFill>
                <a:srgbClr val="E23208"/>
              </a:solidFill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288" y="3509925"/>
            <a:ext cx="677424" cy="67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4787725" y="2080200"/>
            <a:ext cx="3965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Already use DoorDash at a very high frequency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Deliberate in their focus on cooking at home more often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Frequency would shift based on restaurants available (misunderstanding of program)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7" name="Google Shape;157;p20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00" y="1382450"/>
            <a:ext cx="2338851" cy="144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234975" y="205025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Clarification on limits may help increase future ordering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610125" y="28893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Half of Cx interviewed 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indicated that they felt </a:t>
            </a: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Star and Save would increase their order frequency</a:t>
            </a:r>
            <a:endParaRPr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81400" y="3720625"/>
            <a:ext cx="333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Would want to hit max orders possible to get a discount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Removed the friction point of it being cheaper to just go to the store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728175" y="1279225"/>
            <a:ext cx="396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Cx that felt it would not increase their order frequency felt so because…</a:t>
            </a:r>
            <a:endParaRPr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3974125" y="3812875"/>
            <a:ext cx="4821600" cy="9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Questions for further discussion: 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Should we put limits in place to act as goals? 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Can we support Cx who are ordering less for personal/health reasons?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150225" y="306650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What about DashPass?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291650" y="831950"/>
            <a:ext cx="80184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 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Cx talked about DashPass unprompted, for these Cx we probed on DashPass vs. Star and Save: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One Cx did not expect to sign up for DashPass because they </a:t>
            </a:r>
            <a:r>
              <a:rPr b="1" lang="en" sz="13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did not want to increase their order frequency further</a:t>
            </a:r>
            <a:r>
              <a:rPr lang="en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(they are already a high frequency orderer), they </a:t>
            </a:r>
            <a:r>
              <a:rPr b="1" lang="en" sz="13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view Star and Save as </a:t>
            </a:r>
            <a:r>
              <a:rPr b="1" lang="en" sz="13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separate thank you for being a loyal DoorDash Cx</a:t>
            </a:r>
            <a:endParaRPr b="1" sz="1300">
              <a:solidFill>
                <a:srgbClr val="00838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Proxima Nova"/>
              <a:buChar char="●"/>
            </a:pPr>
            <a:r>
              <a:rPr lang="en"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One Cx is brand new to DoorDash and does not know what to make of either.  </a:t>
            </a:r>
            <a:r>
              <a:rPr b="1" lang="en" sz="13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He would need to calculate his potential savings, and if he saves more with DashPass, he would sign up</a:t>
            </a:r>
            <a:endParaRPr b="1" sz="1300">
              <a:solidFill>
                <a:srgbClr val="00838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474525" y="4136150"/>
            <a:ext cx="8287200" cy="73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Questions for further discussion: 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Star and Save is likely to have similar challenges 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with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DashPass adoption to Nearby, how can we get in front of those challenges?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1926" y="2729875"/>
            <a:ext cx="2181200" cy="12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38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CCCCCC"/>
                </a:solidFill>
              </a:rPr>
              <a:t>‹#›</a:t>
            </a:fld>
            <a:endParaRPr>
              <a:solidFill>
                <a:srgbClr val="CCCCCC"/>
              </a:solidFill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609800" y="1537775"/>
            <a:ext cx="76812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What can we do?</a:t>
            </a:r>
            <a:endParaRPr sz="5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(Let’s brainstorm for a few mins!)</a:t>
            </a:r>
            <a:endParaRPr sz="23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234975" y="205025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What if we….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366450" y="858088"/>
            <a:ext cx="8128500" cy="3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Create an onboarding flow that requires Cx to confirm or replace their first select Rx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Find a “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certainty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” threshold for Rx prediction, leave the spot blank if we do not have enough info on a 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Cx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Experiment with limitations to see how it impacts behavior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○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# of orders per month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○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Time constraints on swapping your 3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Add text that says “add any store for unlimited orders” in the current blank slots on the homepage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Include 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more</a:t>
            </a: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detail on “How to Star” a restaurant including the ability to click to an image that highlights the process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Included more locations where you can click to learn more (maybe with a landing page that feels branded)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Shut off all other $0 delivery offers in test markets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Promote Star and Save in a banner rather than a carousel format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roxima Nova"/>
              <a:buChar char="●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Excluded new Cx from Star and Save for their first 30 days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200"/>
              <a:buFont typeface="Proxima Nova"/>
              <a:buChar char="○"/>
            </a:pPr>
            <a:r>
              <a:rPr lang="en" sz="12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Additional analytics needed to understand the right timing</a:t>
            </a:r>
            <a:endParaRPr sz="1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4"/>
          <p:cNvSpPr txBox="1"/>
          <p:nvPr/>
        </p:nvSpPr>
        <p:spPr>
          <a:xfrm>
            <a:off x="234975" y="205025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Next steps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874500" y="1103363"/>
            <a:ext cx="8128500" cy="3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3008"/>
              </a:buClr>
              <a:buSzPts val="1400"/>
              <a:buFont typeface="Proxima Nova"/>
              <a:buChar char="●"/>
            </a:pPr>
            <a:r>
              <a:rPr b="1" lang="en">
                <a:solidFill>
                  <a:srgbClr val="FF3008"/>
                </a:solidFill>
                <a:latin typeface="Proxima Nova"/>
                <a:ea typeface="Proxima Nova"/>
                <a:cs typeface="Proxima Nova"/>
                <a:sym typeface="Proxima Nova"/>
              </a:rPr>
              <a:t>DEBRIEF:</a:t>
            </a: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KP to schedule debrief with Star and Save core team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Ensure consistent understanding of insights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Review ideas from research and brainstorm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3008"/>
              </a:buClr>
              <a:buSzPts val="1400"/>
              <a:buFont typeface="Proxima Nova"/>
              <a:buChar char="●"/>
            </a:pPr>
            <a:r>
              <a:rPr b="1" lang="en">
                <a:solidFill>
                  <a:srgbClr val="FF3008"/>
                </a:solidFill>
                <a:latin typeface="Proxima Nova"/>
                <a:ea typeface="Proxima Nova"/>
                <a:cs typeface="Proxima Nova"/>
                <a:sym typeface="Proxima Nova"/>
              </a:rPr>
              <a:t>KEEP DIGGING:</a:t>
            </a: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KP to conduct next round of Star and Save 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interviews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on Wed 4/19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Audience and goals to be confirmed with core team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30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3008"/>
              </a:buClr>
              <a:buSzPts val="1400"/>
              <a:buFont typeface="Proxima Nova"/>
              <a:buChar char="●"/>
            </a:pPr>
            <a:r>
              <a:rPr b="1" lang="en">
                <a:solidFill>
                  <a:srgbClr val="FF3008"/>
                </a:solidFill>
                <a:latin typeface="Proxima Nova"/>
                <a:ea typeface="Proxima Nova"/>
                <a:cs typeface="Proxima Nova"/>
                <a:sym typeface="Proxima Nova"/>
              </a:rPr>
              <a:t>QUANTIFY:</a:t>
            </a: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KP to create research brief for Star and Save convert vs. non-convert survey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Timing to be confirmed with core team and aligned with comms to avoid extensive list </a:t>
            </a: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suppression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100" y="123170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525" y="2568025"/>
            <a:ext cx="485850" cy="4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513" y="3426025"/>
            <a:ext cx="671874" cy="67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CCCCCC"/>
                </a:solidFill>
              </a:rPr>
              <a:t>‹#›</a:t>
            </a:fld>
            <a:endParaRPr>
              <a:solidFill>
                <a:srgbClr val="CCCCCC"/>
              </a:solidFill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609800" y="1537775"/>
            <a:ext cx="76812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Status of ongoing &amp; upcoming research</a:t>
            </a:r>
            <a:endParaRPr sz="5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/>
        </p:nvSpPr>
        <p:spPr>
          <a:xfrm>
            <a:off x="658700" y="191085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DashPass Via Nearby</a:t>
            </a:r>
            <a:endParaRPr b="1" sz="10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6"/>
          <p:cNvSpPr txBox="1"/>
          <p:nvPr/>
        </p:nvSpPr>
        <p:spPr>
          <a:xfrm>
            <a:off x="658700" y="238200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Ongoing/upcoming research</a:t>
            </a:r>
            <a:endParaRPr b="1" sz="23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653875" y="2276050"/>
            <a:ext cx="24489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8 Interviews completed this week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Memo to be shared by EOD Monday 4/17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3347550" y="2276050"/>
            <a:ext cx="24489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Delayed to better align with experiment scale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Survey going out mid-week next week with interviews the following week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Insights to be shared at next bi-weekly call on 4/28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3347550" y="191085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Batching/ETA Padding</a:t>
            </a:r>
            <a:endParaRPr b="1" sz="10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11" name="Google Shape;211;p26"/>
          <p:cNvCxnSpPr/>
          <p:nvPr/>
        </p:nvCxnSpPr>
        <p:spPr>
          <a:xfrm>
            <a:off x="768075" y="1704650"/>
            <a:ext cx="526200" cy="0"/>
          </a:xfrm>
          <a:prstGeom prst="straightConnector1">
            <a:avLst/>
          </a:prstGeom>
          <a:noFill/>
          <a:ln cap="flat" cmpd="sng" w="19050">
            <a:solidFill>
              <a:srgbClr val="FF30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6"/>
          <p:cNvCxnSpPr/>
          <p:nvPr/>
        </p:nvCxnSpPr>
        <p:spPr>
          <a:xfrm>
            <a:off x="3429825" y="1704650"/>
            <a:ext cx="526200" cy="0"/>
          </a:xfrm>
          <a:prstGeom prst="straightConnector1">
            <a:avLst/>
          </a:prstGeom>
          <a:noFill/>
          <a:ln cap="flat" cmpd="sng" w="19050">
            <a:solidFill>
              <a:srgbClr val="FF300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6"/>
          <p:cNvSpPr txBox="1"/>
          <p:nvPr/>
        </p:nvSpPr>
        <p:spPr>
          <a:xfrm>
            <a:off x="6036400" y="2276050"/>
            <a:ext cx="2448900" cy="7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Review the brief/survey here!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rPr>
              <a:t>Fielding next week</a:t>
            </a:r>
            <a:endParaRPr sz="1000">
              <a:solidFill>
                <a:srgbClr val="88888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6036400" y="191085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Comparing Across Apps</a:t>
            </a:r>
            <a:endParaRPr b="1" sz="10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15" name="Google Shape;215;p26"/>
          <p:cNvCxnSpPr/>
          <p:nvPr/>
        </p:nvCxnSpPr>
        <p:spPr>
          <a:xfrm>
            <a:off x="6118675" y="1704650"/>
            <a:ext cx="526200" cy="0"/>
          </a:xfrm>
          <a:prstGeom prst="straightConnector1">
            <a:avLst/>
          </a:prstGeom>
          <a:noFill/>
          <a:ln cap="flat" cmpd="sng" w="19050">
            <a:solidFill>
              <a:srgbClr val="FF300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6"/>
          <p:cNvSpPr txBox="1"/>
          <p:nvPr/>
        </p:nvSpPr>
        <p:spPr>
          <a:xfrm>
            <a:off x="726350" y="4062975"/>
            <a:ext cx="76287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PAD Research Planning now at a monthly cadence, have questions for May?  Lets talk!</a:t>
            </a:r>
            <a:endParaRPr b="1" sz="1600">
              <a:solidFill>
                <a:srgbClr val="66666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27"/>
          <p:cNvSpPr txBox="1"/>
          <p:nvPr/>
        </p:nvSpPr>
        <p:spPr>
          <a:xfrm>
            <a:off x="609800" y="2006250"/>
            <a:ext cx="73365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sz="50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oorDash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838A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