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Proxima Nova"/>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Shrey Agarwal"/>
  <p:cmAuthor clrIdx="1" id="1" initials="" lastIdx="1" name="Jaydev Ajit Kumar"/>
  <p:cmAuthor clrIdx="2" id="2" initials="" lastIdx="3" name="Kelly Peterson"/>
  <p:cmAuthor clrIdx="3" id="3" initials="" lastIdx="2" name="Camp McCurry"/>
  <p:cmAuthor clrIdx="4" id="4" initials="" lastIdx="1" name="Trevor Hyman"/>
  <p:cmAuthor clrIdx="5" id="5" initials="" lastIdx="6" name="Prithvi Guru"/>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roximaNova-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roximaNova-italic.fntdata"/><Relationship Id="rId25" Type="http://schemas.openxmlformats.org/officeDocument/2006/relationships/font" Target="fonts/ProximaNova-bold.fntdata"/><Relationship Id="rId27" Type="http://schemas.openxmlformats.org/officeDocument/2006/relationships/font" Target="fonts/ProximaNova-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3-01-31T20:51:16.510">
    <p:pos x="2195" y="875"/>
    <p:text>@jaydev@doordash.com , @lambie@doordash.com - Another data point that speed matters a lot during Lunch
_Reassigned to Jaydev Ajit Kumar_</p:text>
  </p:cm>
  <p:cm authorId="1" idx="1" dt="2023-01-31T20:44:37.457">
    <p:pos x="2195" y="875"/>
    <p:text>Yes, Even proximity and not caring about specific food items indicates they want something fast</p:text>
  </p:cm>
  <p:cm authorId="2" idx="1" dt="2023-01-31T20:51:16.510">
    <p:pos x="2195" y="875"/>
    <p:text>Agree- but also to equate with the fact they know what they want/they typically order from places they order before.  I will get what I know, because I need it and I need it fast.</p:text>
  </p:cm>
  <p:cm authorId="3" idx="1" dt="2023-11-17T18:21:29.471">
    <p:pos x="2195" y="975"/>
    <p:text>what do we mean by "quality" here? 
healthy dishes? something else? 
cc @trevor.hyman@doordash.com</p:text>
  </p:cm>
  <p:cm authorId="4" idx="1" dt="2023-11-16T16:11:52.837">
    <p:pos x="2195" y="975"/>
    <p:text>i think on time delivery? @kelly.peterson@doordash.com could you clarify?</p:text>
  </p:cm>
  <p:cm authorId="2" idx="2" dt="2023-11-16T16:56:48.220">
    <p:pos x="2195" y="975"/>
    <p:text>Quality of the food- it's a tasty meal</p:text>
  </p:cm>
  <p:cm authorId="3" idx="2" dt="2023-11-17T18:21:29.471">
    <p:pos x="2195" y="975"/>
    <p:text>thank you</p:text>
  </p:cm>
  <p:cm authorId="5" idx="1" dt="2023-11-13T23:19:03.414">
    <p:pos x="598" y="2035"/>
    <p:text>this number is huge - this is not 45% of doordash lunch right? just what people are doing for lunch out in the world?</p:text>
  </p:cm>
  <p:cm authorId="2" idx="3" dt="2023-11-13T21:23:21.328">
    <p:pos x="598" y="2035"/>
    <p:text>Yeah lunch ordering overall, not just DoorDash.</p:text>
  </p:cm>
  <p:cm authorId="5" idx="2" dt="2023-11-13T23:19:03.414">
    <p:pos x="598" y="2035"/>
    <p:text>thanks</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5" idx="3" dt="2023-11-13T20:53:37.806">
    <p:pos x="110" y="110"/>
    <p:text>@camp.mccurry@doordash.com @sukriti.chadha@doordash.com this is a great start in terms of our user personas. one strategy could be picking a group to go deep on and really making the experience amazing for them. then move on to solving for another segment.
_Assigned to Camp McCurry_</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5" idx="4" dt="2023-11-13T20:54:58.323">
    <p:pos x="163" y="707"/>
    <p:text>@trevor.hyman@doordash.com do we know which are top competing 1st party apps for lunch? sweetgreen is certainly one but would love to study the top 3-5 others
_Assigned to Trevor Hyman_</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5" idx="5" dt="2023-11-13T20:56:21.814">
    <p:pos x="167" y="758"/>
    <p:text>really like these ideas. i would also include here a timely push or email right when people get hungry to remind them about lunch can be super powerful</p:text>
  </p:cm>
  <p:cm authorId="5" idx="6" dt="2023-11-13T20:56:21.814">
    <p:pos x="167" y="758"/>
    <p:text>cc @sukriti.chadha@doordash.com for vis on some cool ideas to include in your vision</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g20194b82528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 name="Google Shape;42;g20194b82528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0194b82528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0194b82528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0194b82528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0194b82528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James to link to failed session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d53ba846a_0_1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d53ba846a_0_1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0194b82528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0194b82528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0194b82528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0194b82528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dc047c6978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dc047c6978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dc047c6978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dc047c6978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dc047c6978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dc047c6978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dc047c6978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dc047c6978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dc047c6978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dc047c6978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0290a08c7c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0290a08c7c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dc047c6978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dc047c6978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0341b5ef8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0341b5ef8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d53ba846a_0_1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d53ba846a_0_1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dc047c697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dc047c697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dc047c6978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dc047c6978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dc047c697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1dc047c697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type="title">
  <p:cSld name="TITLE">
    <p:spTree>
      <p:nvGrpSpPr>
        <p:cNvPr id="6" name="Shape 6"/>
        <p:cNvGrpSpPr/>
        <p:nvPr/>
      </p:nvGrpSpPr>
      <p:grpSpPr>
        <a:xfrm>
          <a:off x="0" y="0"/>
          <a:ext cx="0" cy="0"/>
          <a:chOff x="0" y="0"/>
          <a:chExt cx="0" cy="0"/>
        </a:xfrm>
      </p:grpSpPr>
      <p:sp>
        <p:nvSpPr>
          <p:cNvPr id="7" name="Google Shape;7;p2"/>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8" name="Google Shape;8;p2"/>
          <p:cNvPicPr preferRelativeResize="0"/>
          <p:nvPr/>
        </p:nvPicPr>
        <p:blipFill>
          <a:blip r:embed="rId2">
            <a:alphaModFix/>
          </a:blip>
          <a:stretch>
            <a:fillRect/>
          </a:stretch>
        </p:blipFill>
        <p:spPr>
          <a:xfrm>
            <a:off x="8197738" y="269687"/>
            <a:ext cx="297201" cy="168825"/>
          </a:xfrm>
          <a:prstGeom prst="rect">
            <a:avLst/>
          </a:prstGeom>
          <a:noFill/>
          <a:ln>
            <a:noFill/>
          </a:ln>
        </p:spPr>
      </p:pic>
      <p:sp>
        <p:nvSpPr>
          <p:cNvPr id="9" name="Google Shape;9;p2"/>
          <p:cNvSpPr txBox="1"/>
          <p:nvPr/>
        </p:nvSpPr>
        <p:spPr>
          <a:xfrm>
            <a:off x="649063" y="154275"/>
            <a:ext cx="1497600" cy="3213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900">
                <a:solidFill>
                  <a:srgbClr val="CCCCCC"/>
                </a:solidFill>
                <a:latin typeface="Proxima Nova"/>
                <a:ea typeface="Proxima Nova"/>
                <a:cs typeface="Proxima Nova"/>
                <a:sym typeface="Proxima Nova"/>
              </a:rPr>
              <a:t>Presentation Subject</a:t>
            </a:r>
            <a:endParaRPr sz="900">
              <a:solidFill>
                <a:srgbClr val="CCCCCC"/>
              </a:solidFill>
              <a:latin typeface="Proxima Nova"/>
              <a:ea typeface="Proxima Nova"/>
              <a:cs typeface="Proxima Nova"/>
              <a:sym typeface="Proxima Nov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without header">
  <p:cSld name="TITLE_2">
    <p:spTree>
      <p:nvGrpSpPr>
        <p:cNvPr id="10" name="Shape 10"/>
        <p:cNvGrpSpPr/>
        <p:nvPr/>
      </p:nvGrpSpPr>
      <p:grpSpPr>
        <a:xfrm>
          <a:off x="0" y="0"/>
          <a:ext cx="0" cy="0"/>
          <a:chOff x="0" y="0"/>
          <a:chExt cx="0" cy="0"/>
        </a:xfrm>
      </p:grpSpPr>
      <p:sp>
        <p:nvSpPr>
          <p:cNvPr id="11" name="Google Shape;11;p3"/>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12" name="Google Shape;12;p3"/>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Master">
  <p:cSld name="TITLE_1">
    <p:bg>
      <p:bgPr>
        <a:solidFill>
          <a:srgbClr val="F3F3F3"/>
        </a:solidFill>
      </p:bgPr>
    </p:bg>
    <p:spTree>
      <p:nvGrpSpPr>
        <p:cNvPr id="13" name="Shape 13"/>
        <p:cNvGrpSpPr/>
        <p:nvPr/>
      </p:nvGrpSpPr>
      <p:grpSpPr>
        <a:xfrm>
          <a:off x="0" y="0"/>
          <a:ext cx="0" cy="0"/>
          <a:chOff x="0" y="0"/>
          <a:chExt cx="0" cy="0"/>
        </a:xfrm>
      </p:grpSpPr>
      <p:sp>
        <p:nvSpPr>
          <p:cNvPr id="14" name="Google Shape;14;p4"/>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15" name="Google Shape;15;p4"/>
          <p:cNvPicPr preferRelativeResize="0"/>
          <p:nvPr/>
        </p:nvPicPr>
        <p:blipFill>
          <a:blip r:embed="rId2">
            <a:alphaModFix/>
          </a:blip>
          <a:stretch>
            <a:fillRect/>
          </a:stretch>
        </p:blipFill>
        <p:spPr>
          <a:xfrm>
            <a:off x="8197738" y="269687"/>
            <a:ext cx="297201" cy="168825"/>
          </a:xfrm>
          <a:prstGeom prst="rect">
            <a:avLst/>
          </a:prstGeom>
          <a:noFill/>
          <a:ln>
            <a:noFill/>
          </a:ln>
        </p:spPr>
      </p:pic>
      <p:sp>
        <p:nvSpPr>
          <p:cNvPr id="16" name="Google Shape;16;p4"/>
          <p:cNvSpPr txBox="1"/>
          <p:nvPr/>
        </p:nvSpPr>
        <p:spPr>
          <a:xfrm>
            <a:off x="649063" y="154275"/>
            <a:ext cx="1497600" cy="3213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900">
                <a:solidFill>
                  <a:srgbClr val="CCCCCC"/>
                </a:solidFill>
                <a:latin typeface="Proxima Nova"/>
                <a:ea typeface="Proxima Nova"/>
                <a:cs typeface="Proxima Nova"/>
                <a:sym typeface="Proxima Nova"/>
              </a:rPr>
              <a:t>Presentation Subject</a:t>
            </a:r>
            <a:endParaRPr sz="900">
              <a:solidFill>
                <a:srgbClr val="CCCCCC"/>
              </a:solidFill>
              <a:latin typeface="Proxima Nova"/>
              <a:ea typeface="Proxima Nova"/>
              <a:cs typeface="Proxima Nova"/>
              <a:sym typeface="Proxima Nov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 type="secHead">
  <p:cSld name="SECTION_HEADER">
    <p:bg>
      <p:bgPr>
        <a:solidFill>
          <a:srgbClr val="E23208"/>
        </a:solidFill>
      </p:bgPr>
    </p:bg>
    <p:spTree>
      <p:nvGrpSpPr>
        <p:cNvPr id="17" name="Shape 17"/>
        <p:cNvGrpSpPr/>
        <p:nvPr/>
      </p:nvGrpSpPr>
      <p:grpSpPr>
        <a:xfrm>
          <a:off x="0" y="0"/>
          <a:ext cx="0" cy="0"/>
          <a:chOff x="0" y="0"/>
          <a:chExt cx="0" cy="0"/>
        </a:xfrm>
      </p:grpSpPr>
      <p:sp>
        <p:nvSpPr>
          <p:cNvPr id="18" name="Google Shape;18;p5"/>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5"/>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cean">
  <p:cSld name="SECTION_HEADER_2">
    <p:bg>
      <p:bgPr>
        <a:solidFill>
          <a:srgbClr val="518C8F"/>
        </a:solidFill>
      </p:bgPr>
    </p:bg>
    <p:spTree>
      <p:nvGrpSpPr>
        <p:cNvPr id="20" name="Shape 20"/>
        <p:cNvGrpSpPr/>
        <p:nvPr/>
      </p:nvGrpSpPr>
      <p:grpSpPr>
        <a:xfrm>
          <a:off x="0" y="0"/>
          <a:ext cx="0" cy="0"/>
          <a:chOff x="0" y="0"/>
          <a:chExt cx="0" cy="0"/>
        </a:xfrm>
      </p:grpSpPr>
      <p:sp>
        <p:nvSpPr>
          <p:cNvPr id="21" name="Google Shape;21;p6"/>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22" name="Google Shape;22;p6"/>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lush">
  <p:cSld name="SECTION_HEADER_1">
    <p:bg>
      <p:bgPr>
        <a:solidFill>
          <a:srgbClr val="E5BBB7"/>
        </a:solidFill>
      </p:bgPr>
    </p:bg>
    <p:spTree>
      <p:nvGrpSpPr>
        <p:cNvPr id="23" name="Shape 23"/>
        <p:cNvGrpSpPr/>
        <p:nvPr/>
      </p:nvGrpSpPr>
      <p:grpSpPr>
        <a:xfrm>
          <a:off x="0" y="0"/>
          <a:ext cx="0" cy="0"/>
          <a:chOff x="0" y="0"/>
          <a:chExt cx="0" cy="0"/>
        </a:xfrm>
      </p:grpSpPr>
      <p:sp>
        <p:nvSpPr>
          <p:cNvPr id="24" name="Google Shape;24;p7"/>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F3F3F3"/>
                </a:solidFill>
                <a:latin typeface="Proxima Nova"/>
                <a:ea typeface="Proxima Nova"/>
                <a:cs typeface="Proxima Nova"/>
                <a:sym typeface="Proxima Nova"/>
              </a:defRPr>
            </a:lvl1pPr>
            <a:lvl2pPr lvl="1" rtl="0" algn="r">
              <a:buNone/>
              <a:defRPr sz="1000">
                <a:solidFill>
                  <a:srgbClr val="F3F3F3"/>
                </a:solidFill>
                <a:latin typeface="Proxima Nova"/>
                <a:ea typeface="Proxima Nova"/>
                <a:cs typeface="Proxima Nova"/>
                <a:sym typeface="Proxima Nova"/>
              </a:defRPr>
            </a:lvl2pPr>
            <a:lvl3pPr lvl="2" rtl="0" algn="r">
              <a:buNone/>
              <a:defRPr sz="1000">
                <a:solidFill>
                  <a:srgbClr val="F3F3F3"/>
                </a:solidFill>
                <a:latin typeface="Proxima Nova"/>
                <a:ea typeface="Proxima Nova"/>
                <a:cs typeface="Proxima Nova"/>
                <a:sym typeface="Proxima Nova"/>
              </a:defRPr>
            </a:lvl3pPr>
            <a:lvl4pPr lvl="3" rtl="0" algn="r">
              <a:buNone/>
              <a:defRPr sz="1000">
                <a:solidFill>
                  <a:srgbClr val="F3F3F3"/>
                </a:solidFill>
                <a:latin typeface="Proxima Nova"/>
                <a:ea typeface="Proxima Nova"/>
                <a:cs typeface="Proxima Nova"/>
                <a:sym typeface="Proxima Nova"/>
              </a:defRPr>
            </a:lvl4pPr>
            <a:lvl5pPr lvl="4" rtl="0" algn="r">
              <a:buNone/>
              <a:defRPr sz="1000">
                <a:solidFill>
                  <a:srgbClr val="F3F3F3"/>
                </a:solidFill>
                <a:latin typeface="Proxima Nova"/>
                <a:ea typeface="Proxima Nova"/>
                <a:cs typeface="Proxima Nova"/>
                <a:sym typeface="Proxima Nova"/>
              </a:defRPr>
            </a:lvl5pPr>
            <a:lvl6pPr lvl="5" rtl="0" algn="r">
              <a:buNone/>
              <a:defRPr sz="1000">
                <a:solidFill>
                  <a:srgbClr val="F3F3F3"/>
                </a:solidFill>
                <a:latin typeface="Proxima Nova"/>
                <a:ea typeface="Proxima Nova"/>
                <a:cs typeface="Proxima Nova"/>
                <a:sym typeface="Proxima Nova"/>
              </a:defRPr>
            </a:lvl6pPr>
            <a:lvl7pPr lvl="6" rtl="0" algn="r">
              <a:buNone/>
              <a:defRPr sz="1000">
                <a:solidFill>
                  <a:srgbClr val="F3F3F3"/>
                </a:solidFill>
                <a:latin typeface="Proxima Nova"/>
                <a:ea typeface="Proxima Nova"/>
                <a:cs typeface="Proxima Nova"/>
                <a:sym typeface="Proxima Nova"/>
              </a:defRPr>
            </a:lvl7pPr>
            <a:lvl8pPr lvl="7" rtl="0" algn="r">
              <a:buNone/>
              <a:defRPr sz="1000">
                <a:solidFill>
                  <a:srgbClr val="F3F3F3"/>
                </a:solidFill>
                <a:latin typeface="Proxima Nova"/>
                <a:ea typeface="Proxima Nova"/>
                <a:cs typeface="Proxima Nova"/>
                <a:sym typeface="Proxima Nova"/>
              </a:defRPr>
            </a:lvl8pPr>
            <a:lvl9pPr lvl="8" rtl="0" algn="r">
              <a:buNone/>
              <a:defRPr sz="1000">
                <a:solidFill>
                  <a:srgbClr val="F3F3F3"/>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25" name="Google Shape;25;p7"/>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ky">
  <p:cSld name="SECTION_HEADER_1_1">
    <p:bg>
      <p:bgPr>
        <a:solidFill>
          <a:srgbClr val="BEDFE9"/>
        </a:solidFill>
      </p:bgPr>
    </p:bg>
    <p:spTree>
      <p:nvGrpSpPr>
        <p:cNvPr id="26" name="Shape 26"/>
        <p:cNvGrpSpPr/>
        <p:nvPr/>
      </p:nvGrpSpPr>
      <p:grpSpPr>
        <a:xfrm>
          <a:off x="0" y="0"/>
          <a:ext cx="0" cy="0"/>
          <a:chOff x="0" y="0"/>
          <a:chExt cx="0" cy="0"/>
        </a:xfrm>
      </p:grpSpPr>
      <p:sp>
        <p:nvSpPr>
          <p:cNvPr id="27" name="Google Shape;27;p8"/>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F3F3F3"/>
                </a:solidFill>
                <a:latin typeface="Proxima Nova"/>
                <a:ea typeface="Proxima Nova"/>
                <a:cs typeface="Proxima Nova"/>
                <a:sym typeface="Proxima Nova"/>
              </a:defRPr>
            </a:lvl1pPr>
            <a:lvl2pPr lvl="1" rtl="0" algn="r">
              <a:buNone/>
              <a:defRPr sz="1000">
                <a:solidFill>
                  <a:srgbClr val="F3F3F3"/>
                </a:solidFill>
                <a:latin typeface="Proxima Nova"/>
                <a:ea typeface="Proxima Nova"/>
                <a:cs typeface="Proxima Nova"/>
                <a:sym typeface="Proxima Nova"/>
              </a:defRPr>
            </a:lvl2pPr>
            <a:lvl3pPr lvl="2" rtl="0" algn="r">
              <a:buNone/>
              <a:defRPr sz="1000">
                <a:solidFill>
                  <a:srgbClr val="F3F3F3"/>
                </a:solidFill>
                <a:latin typeface="Proxima Nova"/>
                <a:ea typeface="Proxima Nova"/>
                <a:cs typeface="Proxima Nova"/>
                <a:sym typeface="Proxima Nova"/>
              </a:defRPr>
            </a:lvl3pPr>
            <a:lvl4pPr lvl="3" rtl="0" algn="r">
              <a:buNone/>
              <a:defRPr sz="1000">
                <a:solidFill>
                  <a:srgbClr val="F3F3F3"/>
                </a:solidFill>
                <a:latin typeface="Proxima Nova"/>
                <a:ea typeface="Proxima Nova"/>
                <a:cs typeface="Proxima Nova"/>
                <a:sym typeface="Proxima Nova"/>
              </a:defRPr>
            </a:lvl4pPr>
            <a:lvl5pPr lvl="4" rtl="0" algn="r">
              <a:buNone/>
              <a:defRPr sz="1000">
                <a:solidFill>
                  <a:srgbClr val="F3F3F3"/>
                </a:solidFill>
                <a:latin typeface="Proxima Nova"/>
                <a:ea typeface="Proxima Nova"/>
                <a:cs typeface="Proxima Nova"/>
                <a:sym typeface="Proxima Nova"/>
              </a:defRPr>
            </a:lvl5pPr>
            <a:lvl6pPr lvl="5" rtl="0" algn="r">
              <a:buNone/>
              <a:defRPr sz="1000">
                <a:solidFill>
                  <a:srgbClr val="F3F3F3"/>
                </a:solidFill>
                <a:latin typeface="Proxima Nova"/>
                <a:ea typeface="Proxima Nova"/>
                <a:cs typeface="Proxima Nova"/>
                <a:sym typeface="Proxima Nova"/>
              </a:defRPr>
            </a:lvl6pPr>
            <a:lvl7pPr lvl="6" rtl="0" algn="r">
              <a:buNone/>
              <a:defRPr sz="1000">
                <a:solidFill>
                  <a:srgbClr val="F3F3F3"/>
                </a:solidFill>
                <a:latin typeface="Proxima Nova"/>
                <a:ea typeface="Proxima Nova"/>
                <a:cs typeface="Proxima Nova"/>
                <a:sym typeface="Proxima Nova"/>
              </a:defRPr>
            </a:lvl7pPr>
            <a:lvl8pPr lvl="7" rtl="0" algn="r">
              <a:buNone/>
              <a:defRPr sz="1000">
                <a:solidFill>
                  <a:srgbClr val="F3F3F3"/>
                </a:solidFill>
                <a:latin typeface="Proxima Nova"/>
                <a:ea typeface="Proxima Nova"/>
                <a:cs typeface="Proxima Nova"/>
                <a:sym typeface="Proxima Nova"/>
              </a:defRPr>
            </a:lvl8pPr>
            <a:lvl9pPr lvl="8" rtl="0" algn="r">
              <a:buNone/>
              <a:defRPr sz="1000">
                <a:solidFill>
                  <a:srgbClr val="F3F3F3"/>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28" name="Google Shape;28;p8"/>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mon">
  <p:cSld name="SECTION_HEADER_1_1_2">
    <p:bg>
      <p:bgPr>
        <a:solidFill>
          <a:srgbClr val="F8E500"/>
        </a:solidFill>
      </p:bgPr>
    </p:bg>
    <p:spTree>
      <p:nvGrpSpPr>
        <p:cNvPr id="29" name="Shape 29"/>
        <p:cNvGrpSpPr/>
        <p:nvPr/>
      </p:nvGrpSpPr>
      <p:grpSpPr>
        <a:xfrm>
          <a:off x="0" y="0"/>
          <a:ext cx="0" cy="0"/>
          <a:chOff x="0" y="0"/>
          <a:chExt cx="0" cy="0"/>
        </a:xfrm>
      </p:grpSpPr>
      <p:sp>
        <p:nvSpPr>
          <p:cNvPr id="30" name="Google Shape;30;p9"/>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FFFFFF"/>
                </a:solidFill>
                <a:latin typeface="Proxima Nova"/>
                <a:ea typeface="Proxima Nova"/>
                <a:cs typeface="Proxima Nova"/>
                <a:sym typeface="Proxima Nova"/>
              </a:defRPr>
            </a:lvl1pPr>
            <a:lvl2pPr lvl="1" rtl="0" algn="r">
              <a:buNone/>
              <a:defRPr sz="1000">
                <a:solidFill>
                  <a:srgbClr val="FFFFFF"/>
                </a:solidFill>
                <a:latin typeface="Proxima Nova"/>
                <a:ea typeface="Proxima Nova"/>
                <a:cs typeface="Proxima Nova"/>
                <a:sym typeface="Proxima Nova"/>
              </a:defRPr>
            </a:lvl2pPr>
            <a:lvl3pPr lvl="2" rtl="0" algn="r">
              <a:buNone/>
              <a:defRPr sz="1000">
                <a:solidFill>
                  <a:srgbClr val="FFFFFF"/>
                </a:solidFill>
                <a:latin typeface="Proxima Nova"/>
                <a:ea typeface="Proxima Nova"/>
                <a:cs typeface="Proxima Nova"/>
                <a:sym typeface="Proxima Nova"/>
              </a:defRPr>
            </a:lvl3pPr>
            <a:lvl4pPr lvl="3" rtl="0" algn="r">
              <a:buNone/>
              <a:defRPr sz="1000">
                <a:solidFill>
                  <a:srgbClr val="FFFFFF"/>
                </a:solidFill>
                <a:latin typeface="Proxima Nova"/>
                <a:ea typeface="Proxima Nova"/>
                <a:cs typeface="Proxima Nova"/>
                <a:sym typeface="Proxima Nova"/>
              </a:defRPr>
            </a:lvl4pPr>
            <a:lvl5pPr lvl="4" rtl="0" algn="r">
              <a:buNone/>
              <a:defRPr sz="1000">
                <a:solidFill>
                  <a:srgbClr val="FFFFFF"/>
                </a:solidFill>
                <a:latin typeface="Proxima Nova"/>
                <a:ea typeface="Proxima Nova"/>
                <a:cs typeface="Proxima Nova"/>
                <a:sym typeface="Proxima Nova"/>
              </a:defRPr>
            </a:lvl5pPr>
            <a:lvl6pPr lvl="5" rtl="0" algn="r">
              <a:buNone/>
              <a:defRPr sz="1000">
                <a:solidFill>
                  <a:srgbClr val="FFFFFF"/>
                </a:solidFill>
                <a:latin typeface="Proxima Nova"/>
                <a:ea typeface="Proxima Nova"/>
                <a:cs typeface="Proxima Nova"/>
                <a:sym typeface="Proxima Nova"/>
              </a:defRPr>
            </a:lvl6pPr>
            <a:lvl7pPr lvl="6" rtl="0" algn="r">
              <a:buNone/>
              <a:defRPr sz="1000">
                <a:solidFill>
                  <a:srgbClr val="FFFFFF"/>
                </a:solidFill>
                <a:latin typeface="Proxima Nova"/>
                <a:ea typeface="Proxima Nova"/>
                <a:cs typeface="Proxima Nova"/>
                <a:sym typeface="Proxima Nova"/>
              </a:defRPr>
            </a:lvl7pPr>
            <a:lvl8pPr lvl="7" rtl="0" algn="r">
              <a:buNone/>
              <a:defRPr sz="1000">
                <a:solidFill>
                  <a:srgbClr val="FFFFFF"/>
                </a:solidFill>
                <a:latin typeface="Proxima Nova"/>
                <a:ea typeface="Proxima Nova"/>
                <a:cs typeface="Proxima Nova"/>
                <a:sym typeface="Proxima Nova"/>
              </a:defRPr>
            </a:lvl8pPr>
            <a:lvl9pPr lvl="8" rtl="0" algn="r">
              <a:buNone/>
              <a:defRPr sz="1000">
                <a:solidFill>
                  <a:srgbClr val="FFFFFF"/>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31" name="Google Shape;31;p9"/>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rest">
  <p:cSld name="SECTION_HEADER_1_1_1">
    <p:bg>
      <p:bgPr>
        <a:solidFill>
          <a:srgbClr val="3A5648"/>
        </a:solidFill>
      </p:bgPr>
    </p:bg>
    <p:spTree>
      <p:nvGrpSpPr>
        <p:cNvPr id="32" name="Shape 32"/>
        <p:cNvGrpSpPr/>
        <p:nvPr/>
      </p:nvGrpSpPr>
      <p:grpSpPr>
        <a:xfrm>
          <a:off x="0" y="0"/>
          <a:ext cx="0" cy="0"/>
          <a:chOff x="0" y="0"/>
          <a:chExt cx="0" cy="0"/>
        </a:xfrm>
      </p:grpSpPr>
      <p:sp>
        <p:nvSpPr>
          <p:cNvPr id="33" name="Google Shape;33;p10"/>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34" name="Google Shape;34;p10"/>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SECTION_HEADER_1_1_1_1">
    <p:bg>
      <p:bgPr>
        <a:solidFill>
          <a:srgbClr val="FFFFFF"/>
        </a:solidFill>
      </p:bgPr>
    </p:bg>
    <p:spTree>
      <p:nvGrpSpPr>
        <p:cNvPr id="35" name="Shape 35"/>
        <p:cNvGrpSpPr/>
        <p:nvPr/>
      </p:nvGrpSpPr>
      <p:grpSpPr>
        <a:xfrm>
          <a:off x="0" y="0"/>
          <a:ext cx="0" cy="0"/>
          <a:chOff x="0" y="0"/>
          <a:chExt cx="0" cy="0"/>
        </a:xfrm>
      </p:grpSpPr>
      <p:sp>
        <p:nvSpPr>
          <p:cNvPr id="36" name="Google Shape;36;p11"/>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5 1">
  <p:cSld name="TITLE_6_1">
    <p:spTree>
      <p:nvGrpSpPr>
        <p:cNvPr id="37" name="Shape 37"/>
        <p:cNvGrpSpPr/>
        <p:nvPr/>
      </p:nvGrpSpPr>
      <p:grpSpPr>
        <a:xfrm>
          <a:off x="0" y="0"/>
          <a:ext cx="0" cy="0"/>
          <a:chOff x="0" y="0"/>
          <a:chExt cx="0" cy="0"/>
        </a:xfrm>
      </p:grpSpPr>
      <p:sp>
        <p:nvSpPr>
          <p:cNvPr id="38" name="Google Shape;38;p12"/>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39" name="Google Shape;39;p12"/>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hyperlink" Target="https://docs.google.com/document/d/1M86ikS33G3hps9heiWyLNmWGZL6G2Ehx-x6v9DTP2J4/edit?usp=sharing" TargetMode="External"/><Relationship Id="rId10" Type="http://schemas.openxmlformats.org/officeDocument/2006/relationships/hyperlink" Target="https://docs.google.com/document/d/1rLdy68fETj0anPOif343XzByH1b973tQNkJFpPGM5L0/edit?usp=sharing" TargetMode="External"/><Relationship Id="rId9" Type="http://schemas.openxmlformats.org/officeDocument/2006/relationships/image" Target="../media/image7.png"/><Relationship Id="rId5" Type="http://schemas.openxmlformats.org/officeDocument/2006/relationships/hyperlink" Target="https://docs.google.com/presentation/d/1YUcharSg-0PB8mxGN_qfFKb_sjGWE6sGqwYzb8sbbA8/edit?usp=sharing" TargetMode="External"/><Relationship Id="rId6" Type="http://schemas.openxmlformats.org/officeDocument/2006/relationships/hyperlink" Target="https://docs.google.com/spreadsheets/d/1y4nrJKcRgwd_fhJIgaKl_W8yl4NZ_oa7Zuyr-LO-9lk/edit?usp=sharing" TargetMode="External"/><Relationship Id="rId7" Type="http://schemas.openxmlformats.org/officeDocument/2006/relationships/hyperlink" Target="https://docs.google.com/document/d/1HWN-9pCwXpilhrpydMQOYZLrYmjm0f0cvihoOoNZeKE/edit?usp=sharing" TargetMode="External"/><Relationship Id="rId8"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docs.google.com/presentation/u/0/d/1YUcharSg-0PB8mxGN_qfFKb_sjGWE6sGqwYzb8sbbA8/edit" TargetMode="External"/><Relationship Id="rId4" Type="http://schemas.openxmlformats.org/officeDocument/2006/relationships/hyperlink" Target="https://docs.google.com/document/d/1M86ikS33G3hps9heiWyLNmWGZL6G2Ehx-x6v9DTP2J4/edit?usp=sharing" TargetMode="External"/><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5.jpg"/><Relationship Id="rId4" Type="http://schemas.openxmlformats.org/officeDocument/2006/relationships/hyperlink" Target="https://docs.google.com/presentation/u/0/d/1YUcharSg-0PB8mxGN_qfFKb_sjGWE6sGqwYzb8sbbA8/edi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comments" Target="../comments/comment1.xml"/><Relationship Id="rId4" Type="http://schemas.openxmlformats.org/officeDocument/2006/relationships/image" Target="../media/image6.png"/><Relationship Id="rId5" Type="http://schemas.openxmlformats.org/officeDocument/2006/relationships/image" Target="../media/image13.png"/><Relationship Id="rId6" Type="http://schemas.openxmlformats.org/officeDocument/2006/relationships/image" Target="../media/image10.png"/><Relationship Id="rId7" Type="http://schemas.openxmlformats.org/officeDocument/2006/relationships/image" Target="../media/image4.png"/><Relationship Id="rId8" Type="http://schemas.openxmlformats.org/officeDocument/2006/relationships/hyperlink" Target="https://docs.google.com/presentation/u/0/d/1YUcharSg-0PB8mxGN_qfFKb_sjGWE6sGqwYzb8sbbA8/edit"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comments" Target="../comments/comment2.xml"/><Relationship Id="rId4" Type="http://schemas.openxmlformats.org/officeDocument/2006/relationships/image" Target="../media/image16.jpg"/><Relationship Id="rId5" Type="http://schemas.openxmlformats.org/officeDocument/2006/relationships/image" Target="../media/image19.jpg"/><Relationship Id="rId6" Type="http://schemas.openxmlformats.org/officeDocument/2006/relationships/image" Target="../media/image11.jpg"/><Relationship Id="rId7" Type="http://schemas.openxmlformats.org/officeDocument/2006/relationships/hyperlink" Target="https://docs.google.com/presentation/u/0/d/1YUcharSg-0PB8mxGN_qfFKb_sjGWE6sGqwYzb8sbbA8/edi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docs.google.com/presentation/u/0/d/1YUcharSg-0PB8mxGN_qfFKb_sjGWE6sGqwYzb8sbbA8/edit" TargetMode="External"/><Relationship Id="rId4" Type="http://schemas.openxmlformats.org/officeDocument/2006/relationships/image" Target="../media/image9.png"/><Relationship Id="rId5" Type="http://schemas.openxmlformats.org/officeDocument/2006/relationships/image" Target="../media/image23.png"/><Relationship Id="rId6" Type="http://schemas.openxmlformats.org/officeDocument/2006/relationships/hyperlink" Target="https://docs.google.com/presentation/u/0/d/1YUcharSg-0PB8mxGN_qfFKb_sjGWE6sGqwYzb8sbbA8/edi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comments" Target="../comments/comment3.xml"/><Relationship Id="rId4" Type="http://schemas.openxmlformats.org/officeDocument/2006/relationships/hyperlink" Target="https://docs.google.com/presentation/u/0/d/1YUcharSg-0PB8mxGN_qfFKb_sjGWE6sGqwYzb8sbbA8/edit" TargetMode="External"/><Relationship Id="rId5" Type="http://schemas.openxmlformats.org/officeDocument/2006/relationships/image" Target="../media/image18.png"/><Relationship Id="rId6"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2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comments" Target="../comments/comment4.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6.png"/></Relationships>
</file>

<file path=ppt/slides/_rels/slide18.xml.rels><?xml version="1.0" encoding="UTF-8" standalone="yes"?><Relationships xmlns="http://schemas.openxmlformats.org/package/2006/relationships"><Relationship Id="rId11" Type="http://schemas.openxmlformats.org/officeDocument/2006/relationships/image" Target="../media/image41.png"/><Relationship Id="rId10" Type="http://schemas.openxmlformats.org/officeDocument/2006/relationships/image" Target="../media/image35.png"/><Relationship Id="rId13" Type="http://schemas.openxmlformats.org/officeDocument/2006/relationships/image" Target="../media/image42.png"/><Relationship Id="rId12" Type="http://schemas.openxmlformats.org/officeDocument/2006/relationships/image" Target="../media/image29.png"/><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30.png"/><Relationship Id="rId4" Type="http://schemas.openxmlformats.org/officeDocument/2006/relationships/image" Target="../media/image37.png"/><Relationship Id="rId9" Type="http://schemas.openxmlformats.org/officeDocument/2006/relationships/image" Target="../media/image34.png"/><Relationship Id="rId15" Type="http://schemas.openxmlformats.org/officeDocument/2006/relationships/image" Target="../media/image32.png"/><Relationship Id="rId14" Type="http://schemas.openxmlformats.org/officeDocument/2006/relationships/image" Target="../media/image33.png"/><Relationship Id="rId17" Type="http://schemas.openxmlformats.org/officeDocument/2006/relationships/image" Target="../media/image38.png"/><Relationship Id="rId16" Type="http://schemas.openxmlformats.org/officeDocument/2006/relationships/image" Target="../media/image39.png"/><Relationship Id="rId5" Type="http://schemas.openxmlformats.org/officeDocument/2006/relationships/image" Target="../media/image31.png"/><Relationship Id="rId6" Type="http://schemas.openxmlformats.org/officeDocument/2006/relationships/image" Target="../media/image22.png"/><Relationship Id="rId18" Type="http://schemas.openxmlformats.org/officeDocument/2006/relationships/image" Target="../media/image40.png"/><Relationship Id="rId7" Type="http://schemas.openxmlformats.org/officeDocument/2006/relationships/image" Target="../media/image27.png"/><Relationship Id="rId8"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3"/>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CCCCCC"/>
                </a:solidFill>
              </a:rPr>
              <a:t>‹#›</a:t>
            </a:fld>
            <a:endParaRPr>
              <a:solidFill>
                <a:srgbClr val="CCCCCC"/>
              </a:solidFill>
            </a:endParaRPr>
          </a:p>
        </p:txBody>
      </p:sp>
      <p:sp>
        <p:nvSpPr>
          <p:cNvPr id="45" name="Google Shape;45;p13"/>
          <p:cNvSpPr txBox="1"/>
          <p:nvPr/>
        </p:nvSpPr>
        <p:spPr>
          <a:xfrm>
            <a:off x="686000" y="3212725"/>
            <a:ext cx="2980200" cy="39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F5F5F1"/>
                </a:solidFill>
                <a:latin typeface="Proxima Nova"/>
                <a:ea typeface="Proxima Nova"/>
                <a:cs typeface="Proxima Nova"/>
                <a:sym typeface="Proxima Nova"/>
              </a:rPr>
              <a:t>DRI: Kelly Peterson &amp; James Kelley</a:t>
            </a:r>
            <a:endParaRPr b="1" sz="1000">
              <a:solidFill>
                <a:srgbClr val="F5F5F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b="1" sz="800">
              <a:solidFill>
                <a:srgbClr val="F5F5F1"/>
              </a:solidFill>
              <a:latin typeface="Proxima Nova"/>
              <a:ea typeface="Proxima Nova"/>
              <a:cs typeface="Proxima Nova"/>
              <a:sym typeface="Proxima Nova"/>
            </a:endParaRPr>
          </a:p>
        </p:txBody>
      </p:sp>
      <p:sp>
        <p:nvSpPr>
          <p:cNvPr id="46" name="Google Shape;46;p13"/>
          <p:cNvSpPr txBox="1"/>
          <p:nvPr/>
        </p:nvSpPr>
        <p:spPr>
          <a:xfrm>
            <a:off x="686000" y="3571025"/>
            <a:ext cx="2980200" cy="5427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 sz="1000">
                <a:solidFill>
                  <a:srgbClr val="F5F5F1"/>
                </a:solidFill>
                <a:latin typeface="Proxima Nova"/>
                <a:ea typeface="Proxima Nova"/>
                <a:cs typeface="Proxima Nova"/>
                <a:sym typeface="Proxima Nova"/>
              </a:rPr>
              <a:t>Jan 2023</a:t>
            </a:r>
            <a:endParaRPr sz="1000">
              <a:solidFill>
                <a:srgbClr val="F5F5F1"/>
              </a:solidFill>
              <a:latin typeface="Proxima Nova"/>
              <a:ea typeface="Proxima Nova"/>
              <a:cs typeface="Proxima Nova"/>
              <a:sym typeface="Proxima Nova"/>
            </a:endParaRPr>
          </a:p>
        </p:txBody>
      </p:sp>
      <p:sp>
        <p:nvSpPr>
          <p:cNvPr id="47" name="Google Shape;47;p13"/>
          <p:cNvSpPr txBox="1"/>
          <p:nvPr/>
        </p:nvSpPr>
        <p:spPr>
          <a:xfrm>
            <a:off x="609800" y="1613975"/>
            <a:ext cx="7336500" cy="13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0">
                <a:solidFill>
                  <a:srgbClr val="F5F5F1"/>
                </a:solidFill>
                <a:latin typeface="Proxima Nova"/>
                <a:ea typeface="Proxima Nova"/>
                <a:cs typeface="Proxima Nova"/>
                <a:sym typeface="Proxima Nova"/>
              </a:rPr>
              <a:t>Make Lunch </a:t>
            </a:r>
            <a:endParaRPr sz="5000">
              <a:solidFill>
                <a:srgbClr val="F5F5F1"/>
              </a:solidFill>
              <a:latin typeface="Proxima Nova"/>
              <a:ea typeface="Proxima Nova"/>
              <a:cs typeface="Proxima Nova"/>
              <a:sym typeface="Proxima Nova"/>
            </a:endParaRPr>
          </a:p>
          <a:p>
            <a:pPr indent="0" lvl="0" marL="0" rtl="0" algn="l">
              <a:spcBef>
                <a:spcPts val="0"/>
              </a:spcBef>
              <a:spcAft>
                <a:spcPts val="0"/>
              </a:spcAft>
              <a:buNone/>
            </a:pPr>
            <a:r>
              <a:rPr lang="en" sz="5000">
                <a:solidFill>
                  <a:srgbClr val="F5F5F1"/>
                </a:solidFill>
                <a:latin typeface="Proxima Nova"/>
                <a:ea typeface="Proxima Nova"/>
                <a:cs typeface="Proxima Nova"/>
                <a:sym typeface="Proxima Nova"/>
              </a:rPr>
              <a:t>Great Again</a:t>
            </a:r>
            <a:endParaRPr sz="5000">
              <a:solidFill>
                <a:srgbClr val="F5F5F1"/>
              </a:solidFill>
              <a:latin typeface="Proxima Nova"/>
              <a:ea typeface="Proxima Nova"/>
              <a:cs typeface="Proxima Nova"/>
              <a:sym typeface="Proxima Nova"/>
            </a:endParaRPr>
          </a:p>
        </p:txBody>
      </p:sp>
      <p:pic>
        <p:nvPicPr>
          <p:cNvPr id="48" name="Google Shape;48;p13"/>
          <p:cNvPicPr preferRelativeResize="0"/>
          <p:nvPr/>
        </p:nvPicPr>
        <p:blipFill>
          <a:blip r:embed="rId3">
            <a:alphaModFix/>
          </a:blip>
          <a:stretch>
            <a:fillRect/>
          </a:stretch>
        </p:blipFill>
        <p:spPr>
          <a:xfrm>
            <a:off x="723399" y="1284763"/>
            <a:ext cx="1408775" cy="162575"/>
          </a:xfrm>
          <a:prstGeom prst="rect">
            <a:avLst/>
          </a:prstGeom>
          <a:noFill/>
          <a:ln>
            <a:noFill/>
          </a:ln>
        </p:spPr>
      </p:pic>
      <p:pic>
        <p:nvPicPr>
          <p:cNvPr id="49" name="Google Shape;49;p13"/>
          <p:cNvPicPr preferRelativeResize="0"/>
          <p:nvPr/>
        </p:nvPicPr>
        <p:blipFill>
          <a:blip r:embed="rId4">
            <a:alphaModFix/>
          </a:blip>
          <a:stretch>
            <a:fillRect/>
          </a:stretch>
        </p:blipFill>
        <p:spPr>
          <a:xfrm>
            <a:off x="4964452" y="843850"/>
            <a:ext cx="2072550" cy="3125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4"/>
          <p:cNvSpPr txBox="1"/>
          <p:nvPr/>
        </p:nvSpPr>
        <p:spPr>
          <a:xfrm>
            <a:off x="1090175" y="2989475"/>
            <a:ext cx="1787400" cy="37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666666"/>
                </a:solidFill>
                <a:latin typeface="Proxima Nova"/>
                <a:ea typeface="Proxima Nova"/>
                <a:cs typeface="Proxima Nova"/>
                <a:sym typeface="Proxima Nova"/>
              </a:rPr>
              <a:t>How large is the “eatable moments” market for lunch? Who is ordering lunch?  </a:t>
            </a:r>
            <a:endParaRPr sz="1200">
              <a:solidFill>
                <a:srgbClr val="666666"/>
              </a:solidFill>
              <a:latin typeface="Proxima Nova"/>
              <a:ea typeface="Proxima Nova"/>
              <a:cs typeface="Proxima Nova"/>
              <a:sym typeface="Proxima Nova"/>
            </a:endParaRPr>
          </a:p>
        </p:txBody>
      </p:sp>
      <p:sp>
        <p:nvSpPr>
          <p:cNvPr id="55" name="Google Shape;55;p14"/>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 name="Google Shape;56;p14"/>
          <p:cNvSpPr txBox="1"/>
          <p:nvPr/>
        </p:nvSpPr>
        <p:spPr>
          <a:xfrm>
            <a:off x="658700" y="238200"/>
            <a:ext cx="7287600" cy="52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500">
                <a:solidFill>
                  <a:srgbClr val="666666"/>
                </a:solidFill>
                <a:latin typeface="Proxima Nova"/>
                <a:ea typeface="Proxima Nova"/>
                <a:cs typeface="Proxima Nova"/>
                <a:sym typeface="Proxima Nova"/>
              </a:rPr>
              <a:t>Research Goals</a:t>
            </a:r>
            <a:endParaRPr b="1" sz="2500">
              <a:solidFill>
                <a:srgbClr val="666666"/>
              </a:solidFill>
              <a:latin typeface="Proxima Nova"/>
              <a:ea typeface="Proxima Nova"/>
              <a:cs typeface="Proxima Nova"/>
              <a:sym typeface="Proxima Nova"/>
            </a:endParaRPr>
          </a:p>
        </p:txBody>
      </p:sp>
      <p:sp>
        <p:nvSpPr>
          <p:cNvPr id="57" name="Google Shape;57;p14"/>
          <p:cNvSpPr txBox="1"/>
          <p:nvPr/>
        </p:nvSpPr>
        <p:spPr>
          <a:xfrm>
            <a:off x="708250" y="2919125"/>
            <a:ext cx="548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CC0000"/>
                </a:solidFill>
                <a:latin typeface="Proxima Nova"/>
                <a:ea typeface="Proxima Nova"/>
                <a:cs typeface="Proxima Nova"/>
                <a:sym typeface="Proxima Nova"/>
              </a:rPr>
              <a:t>1.</a:t>
            </a:r>
            <a:endParaRPr b="1" sz="2400">
              <a:solidFill>
                <a:srgbClr val="CC0000"/>
              </a:solidFill>
              <a:latin typeface="Proxima Nova"/>
              <a:ea typeface="Proxima Nova"/>
              <a:cs typeface="Proxima Nova"/>
              <a:sym typeface="Proxima Nova"/>
            </a:endParaRPr>
          </a:p>
        </p:txBody>
      </p:sp>
      <p:sp>
        <p:nvSpPr>
          <p:cNvPr id="58" name="Google Shape;58;p14"/>
          <p:cNvSpPr txBox="1"/>
          <p:nvPr/>
        </p:nvSpPr>
        <p:spPr>
          <a:xfrm>
            <a:off x="3596400" y="2989475"/>
            <a:ext cx="1943100" cy="37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666666"/>
                </a:solidFill>
                <a:latin typeface="Proxima Nova"/>
                <a:ea typeface="Proxima Nova"/>
                <a:cs typeface="Proxima Nova"/>
                <a:sym typeface="Proxima Nova"/>
              </a:rPr>
              <a:t>What are the top considerations influence lunch decision making? How do Cx decide where they will order?</a:t>
            </a:r>
            <a:endParaRPr sz="1200">
              <a:solidFill>
                <a:srgbClr val="666666"/>
              </a:solidFill>
              <a:latin typeface="Proxima Nova"/>
              <a:ea typeface="Proxima Nova"/>
              <a:cs typeface="Proxima Nova"/>
              <a:sym typeface="Proxima Nova"/>
            </a:endParaRPr>
          </a:p>
        </p:txBody>
      </p:sp>
      <p:sp>
        <p:nvSpPr>
          <p:cNvPr id="59" name="Google Shape;59;p14"/>
          <p:cNvSpPr txBox="1"/>
          <p:nvPr/>
        </p:nvSpPr>
        <p:spPr>
          <a:xfrm>
            <a:off x="3176050" y="2919125"/>
            <a:ext cx="585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CC0000"/>
                </a:solidFill>
                <a:latin typeface="Proxima Nova"/>
                <a:ea typeface="Proxima Nova"/>
                <a:cs typeface="Proxima Nova"/>
                <a:sym typeface="Proxima Nova"/>
              </a:rPr>
              <a:t>2.</a:t>
            </a:r>
            <a:endParaRPr b="1" sz="2400">
              <a:solidFill>
                <a:srgbClr val="CC0000"/>
              </a:solidFill>
              <a:latin typeface="Proxima Nova"/>
              <a:ea typeface="Proxima Nova"/>
              <a:cs typeface="Proxima Nova"/>
              <a:sym typeface="Proxima Nova"/>
            </a:endParaRPr>
          </a:p>
        </p:txBody>
      </p:sp>
      <p:sp>
        <p:nvSpPr>
          <p:cNvPr id="60" name="Google Shape;60;p14"/>
          <p:cNvSpPr txBox="1"/>
          <p:nvPr/>
        </p:nvSpPr>
        <p:spPr>
          <a:xfrm>
            <a:off x="669100" y="1163100"/>
            <a:ext cx="7351800" cy="150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000">
                <a:solidFill>
                  <a:srgbClr val="505050"/>
                </a:solidFill>
                <a:latin typeface="Proxima Nova"/>
                <a:ea typeface="Proxima Nova"/>
                <a:cs typeface="Proxima Nova"/>
                <a:sym typeface="Proxima Nova"/>
              </a:rPr>
              <a:t>Understand existing attitudes and behaviors around lunch to re-imagine the DoorDash lunch experience</a:t>
            </a:r>
            <a:endParaRPr b="1" sz="2000">
              <a:solidFill>
                <a:srgbClr val="505050"/>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b="1" sz="2000">
              <a:solidFill>
                <a:srgbClr val="505050"/>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b="1" lang="en" sz="1700">
                <a:solidFill>
                  <a:srgbClr val="505050"/>
                </a:solidFill>
                <a:latin typeface="Proxima Nova"/>
                <a:ea typeface="Proxima Nova"/>
                <a:cs typeface="Proxima Nova"/>
                <a:sym typeface="Proxima Nova"/>
              </a:rPr>
              <a:t>Key questions include…</a:t>
            </a:r>
            <a:endParaRPr b="1" sz="1700">
              <a:solidFill>
                <a:srgbClr val="505050"/>
              </a:solidFill>
            </a:endParaRPr>
          </a:p>
        </p:txBody>
      </p:sp>
      <p:sp>
        <p:nvSpPr>
          <p:cNvPr id="61" name="Google Shape;61;p14"/>
          <p:cNvSpPr txBox="1"/>
          <p:nvPr/>
        </p:nvSpPr>
        <p:spPr>
          <a:xfrm>
            <a:off x="6263400" y="2989475"/>
            <a:ext cx="1641300" cy="37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666666"/>
                </a:solidFill>
                <a:latin typeface="Proxima Nova"/>
                <a:ea typeface="Proxima Nova"/>
                <a:cs typeface="Proxima Nova"/>
                <a:sym typeface="Proxima Nova"/>
              </a:rPr>
              <a:t>What are the top barriers to ordering lunch/ordering lunch on DoorDash</a:t>
            </a:r>
            <a:endParaRPr sz="1200">
              <a:solidFill>
                <a:srgbClr val="666666"/>
              </a:solidFill>
              <a:latin typeface="Proxima Nova"/>
              <a:ea typeface="Proxima Nova"/>
              <a:cs typeface="Proxima Nova"/>
              <a:sym typeface="Proxima Nova"/>
            </a:endParaRPr>
          </a:p>
        </p:txBody>
      </p:sp>
      <p:sp>
        <p:nvSpPr>
          <p:cNvPr id="62" name="Google Shape;62;p14"/>
          <p:cNvSpPr txBox="1"/>
          <p:nvPr/>
        </p:nvSpPr>
        <p:spPr>
          <a:xfrm>
            <a:off x="5768025" y="2919125"/>
            <a:ext cx="585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CC0000"/>
                </a:solidFill>
                <a:latin typeface="Proxima Nova"/>
                <a:ea typeface="Proxima Nova"/>
                <a:cs typeface="Proxima Nova"/>
                <a:sym typeface="Proxima Nova"/>
              </a:rPr>
              <a:t>3.</a:t>
            </a:r>
            <a:endParaRPr b="1" sz="2400">
              <a:solidFill>
                <a:srgbClr val="CC0000"/>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8" name="Google Shape;68;p15"/>
          <p:cNvPicPr preferRelativeResize="0"/>
          <p:nvPr/>
        </p:nvPicPr>
        <p:blipFill>
          <a:blip r:embed="rId3">
            <a:alphaModFix/>
          </a:blip>
          <a:stretch>
            <a:fillRect/>
          </a:stretch>
        </p:blipFill>
        <p:spPr>
          <a:xfrm>
            <a:off x="8197738" y="269687"/>
            <a:ext cx="297201" cy="168825"/>
          </a:xfrm>
          <a:prstGeom prst="rect">
            <a:avLst/>
          </a:prstGeom>
          <a:noFill/>
          <a:ln>
            <a:noFill/>
          </a:ln>
        </p:spPr>
      </p:pic>
      <p:sp>
        <p:nvSpPr>
          <p:cNvPr id="69" name="Google Shape;69;p15"/>
          <p:cNvSpPr txBox="1"/>
          <p:nvPr/>
        </p:nvSpPr>
        <p:spPr>
          <a:xfrm>
            <a:off x="362900" y="265450"/>
            <a:ext cx="49023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rgbClr val="666666"/>
                </a:solidFill>
                <a:latin typeface="Proxima Nova"/>
                <a:ea typeface="Proxima Nova"/>
                <a:cs typeface="Proxima Nova"/>
                <a:sym typeface="Proxima Nova"/>
              </a:rPr>
              <a:t>Research Approach</a:t>
            </a:r>
            <a:endParaRPr b="1" sz="2400">
              <a:solidFill>
                <a:srgbClr val="666666"/>
              </a:solidFill>
              <a:latin typeface="Proxima Nova"/>
              <a:ea typeface="Proxima Nova"/>
              <a:cs typeface="Proxima Nova"/>
              <a:sym typeface="Proxima Nova"/>
            </a:endParaRPr>
          </a:p>
        </p:txBody>
      </p:sp>
      <p:sp>
        <p:nvSpPr>
          <p:cNvPr id="70" name="Google Shape;70;p15"/>
          <p:cNvSpPr txBox="1"/>
          <p:nvPr/>
        </p:nvSpPr>
        <p:spPr>
          <a:xfrm>
            <a:off x="422700" y="2241575"/>
            <a:ext cx="3771300" cy="25950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rgbClr val="E23208"/>
              </a:buClr>
              <a:buSzPts val="1400"/>
              <a:buFont typeface="Proxima Nova"/>
              <a:buAutoNum type="arabicPeriod"/>
            </a:pPr>
            <a:r>
              <a:rPr b="1" lang="en">
                <a:solidFill>
                  <a:srgbClr val="E23208"/>
                </a:solidFill>
                <a:latin typeface="Proxima Nova"/>
                <a:ea typeface="Proxima Nova"/>
                <a:cs typeface="Proxima Nova"/>
                <a:sym typeface="Proxima Nova"/>
              </a:rPr>
              <a:t>Meta Analysis of Existing Information</a:t>
            </a:r>
            <a:endParaRPr b="1">
              <a:solidFill>
                <a:srgbClr val="E23208"/>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b="1">
              <a:solidFill>
                <a:srgbClr val="E23208"/>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b="1" lang="en" sz="1200">
                <a:solidFill>
                  <a:schemeClr val="dk2"/>
                </a:solidFill>
                <a:latin typeface="Proxima Nova"/>
                <a:ea typeface="Proxima Nova"/>
                <a:cs typeface="Proxima Nova"/>
                <a:sym typeface="Proxima Nova"/>
              </a:rPr>
              <a:t>Specifically</a:t>
            </a:r>
            <a:r>
              <a:rPr b="1" lang="en" sz="1200">
                <a:solidFill>
                  <a:schemeClr val="dk2"/>
                </a:solidFill>
                <a:latin typeface="Proxima Nova"/>
                <a:ea typeface="Proxima Nova"/>
                <a:cs typeface="Proxima Nova"/>
                <a:sym typeface="Proxima Nova"/>
              </a:rPr>
              <a:t> the team looked at:</a:t>
            </a:r>
            <a:endParaRPr b="1" sz="1200">
              <a:solidFill>
                <a:schemeClr val="dk2"/>
              </a:solidFill>
              <a:latin typeface="Proxima Nova"/>
              <a:ea typeface="Proxima Nova"/>
              <a:cs typeface="Proxima Nova"/>
              <a:sym typeface="Proxima Nova"/>
            </a:endParaRPr>
          </a:p>
          <a:p>
            <a:pPr indent="-304800" lvl="1" marL="914400" rtl="0" algn="l">
              <a:lnSpc>
                <a:spcPct val="115000"/>
              </a:lnSpc>
              <a:spcBef>
                <a:spcPts val="0"/>
              </a:spcBef>
              <a:spcAft>
                <a:spcPts val="0"/>
              </a:spcAft>
              <a:buClr>
                <a:schemeClr val="dk2"/>
              </a:buClr>
              <a:buSzPts val="1200"/>
              <a:buFont typeface="Proxima Nova"/>
              <a:buAutoNum type="alphaLcParenR"/>
            </a:pPr>
            <a:r>
              <a:rPr lang="en" sz="1200" u="sng">
                <a:solidFill>
                  <a:srgbClr val="1155CC"/>
                </a:solidFill>
                <a:latin typeface="Proxima Nova"/>
                <a:ea typeface="Proxima Nova"/>
                <a:cs typeface="Proxima Nova"/>
                <a:sym typeface="Proxima Nova"/>
                <a:hlinkClick r:id="rId4">
                  <a:extLst>
                    <a:ext uri="{A12FA001-AC4F-418D-AE19-62706E023703}">
                      <ahyp:hlinkClr val="tx"/>
                    </a:ext>
                  </a:extLst>
                </a:hlinkClick>
              </a:rPr>
              <a:t>Lunch Behaviors and Aspirations Qual and Survey COMBINED FINDINGS</a:t>
            </a:r>
            <a:endParaRPr sz="1200">
              <a:solidFill>
                <a:schemeClr val="dk1"/>
              </a:solidFill>
              <a:latin typeface="Proxima Nova"/>
              <a:ea typeface="Proxima Nova"/>
              <a:cs typeface="Proxima Nova"/>
              <a:sym typeface="Proxima Nova"/>
            </a:endParaRPr>
          </a:p>
          <a:p>
            <a:pPr indent="-304800" lvl="1" marL="914400" rtl="0" algn="l">
              <a:lnSpc>
                <a:spcPct val="115000"/>
              </a:lnSpc>
              <a:spcBef>
                <a:spcPts val="0"/>
              </a:spcBef>
              <a:spcAft>
                <a:spcPts val="0"/>
              </a:spcAft>
              <a:buClr>
                <a:schemeClr val="dk2"/>
              </a:buClr>
              <a:buSzPts val="1200"/>
              <a:buFont typeface="Proxima Nova"/>
              <a:buAutoNum type="alphaLcParenR"/>
            </a:pPr>
            <a:r>
              <a:rPr lang="en" sz="1200">
                <a:solidFill>
                  <a:srgbClr val="595959"/>
                </a:solidFill>
                <a:latin typeface="Proxima Nova"/>
                <a:ea typeface="Proxima Nova"/>
                <a:cs typeface="Proxima Nova"/>
                <a:sym typeface="Proxima Nova"/>
              </a:rPr>
              <a:t>A cut by meal from </a:t>
            </a:r>
            <a:r>
              <a:rPr lang="en" sz="1200" u="sng">
                <a:solidFill>
                  <a:srgbClr val="1155CC"/>
                </a:solidFill>
                <a:latin typeface="Proxima Nova"/>
                <a:ea typeface="Proxima Nova"/>
                <a:cs typeface="Proxima Nova"/>
                <a:sym typeface="Proxima Nova"/>
                <a:hlinkClick r:id="rId5">
                  <a:extLst>
                    <a:ext uri="{A12FA001-AC4F-418D-AE19-62706E023703}">
                      <ahyp:hlinkClr val="tx"/>
                    </a:ext>
                  </a:extLst>
                </a:hlinkClick>
              </a:rPr>
              <a:t>Eatable Moments 2022 | Q4 2022</a:t>
            </a:r>
            <a:endParaRPr sz="1200">
              <a:solidFill>
                <a:schemeClr val="dk1"/>
              </a:solidFill>
              <a:latin typeface="Proxima Nova"/>
              <a:ea typeface="Proxima Nova"/>
              <a:cs typeface="Proxima Nova"/>
              <a:sym typeface="Proxima Nova"/>
            </a:endParaRPr>
          </a:p>
          <a:p>
            <a:pPr indent="-304800" lvl="2" marL="1371600" rtl="0" algn="l">
              <a:lnSpc>
                <a:spcPct val="115000"/>
              </a:lnSpc>
              <a:spcBef>
                <a:spcPts val="0"/>
              </a:spcBef>
              <a:spcAft>
                <a:spcPts val="0"/>
              </a:spcAft>
              <a:buClr>
                <a:schemeClr val="dk1"/>
              </a:buClr>
              <a:buSzPts val="1200"/>
              <a:buFont typeface="Proxima Nova"/>
              <a:buAutoNum type="romanLcParenR"/>
            </a:pPr>
            <a:r>
              <a:rPr lang="en" sz="1200">
                <a:solidFill>
                  <a:schemeClr val="dk2"/>
                </a:solidFill>
                <a:latin typeface="Proxima Nova"/>
                <a:ea typeface="Proxima Nova"/>
                <a:cs typeface="Proxima Nova"/>
                <a:sym typeface="Proxima Nova"/>
              </a:rPr>
              <a:t>Data Tables:</a:t>
            </a:r>
            <a:r>
              <a:rPr lang="en" sz="1200">
                <a:solidFill>
                  <a:schemeClr val="dk1"/>
                </a:solidFill>
                <a:latin typeface="Proxima Nova"/>
                <a:ea typeface="Proxima Nova"/>
                <a:cs typeface="Proxima Nova"/>
                <a:sym typeface="Proxima Nova"/>
              </a:rPr>
              <a:t> </a:t>
            </a:r>
            <a:r>
              <a:rPr lang="en" sz="1200" u="sng">
                <a:solidFill>
                  <a:srgbClr val="1155CC"/>
                </a:solidFill>
                <a:latin typeface="Proxima Nova"/>
                <a:ea typeface="Proxima Nova"/>
                <a:cs typeface="Proxima Nova"/>
                <a:sym typeface="Proxima Nova"/>
                <a:hlinkClick r:id="rId6">
                  <a:extLst>
                    <a:ext uri="{A12FA001-AC4F-418D-AE19-62706E023703}">
                      <ahyp:hlinkClr val="tx"/>
                    </a:ext>
                  </a:extLst>
                </a:hlinkClick>
              </a:rPr>
              <a:t>EM Tables- Lunch Analysis for KP 01232023</a:t>
            </a:r>
            <a:endParaRPr sz="1200">
              <a:solidFill>
                <a:schemeClr val="dk1"/>
              </a:solidFill>
              <a:latin typeface="Proxima Nova"/>
              <a:ea typeface="Proxima Nova"/>
              <a:cs typeface="Proxima Nova"/>
              <a:sym typeface="Proxima Nova"/>
            </a:endParaRPr>
          </a:p>
          <a:p>
            <a:pPr indent="-304800" lvl="1" marL="914400" rtl="0" algn="l">
              <a:lnSpc>
                <a:spcPct val="115000"/>
              </a:lnSpc>
              <a:spcBef>
                <a:spcPts val="0"/>
              </a:spcBef>
              <a:spcAft>
                <a:spcPts val="0"/>
              </a:spcAft>
              <a:buClr>
                <a:schemeClr val="dk2"/>
              </a:buClr>
              <a:buSzPts val="1200"/>
              <a:buFont typeface="Proxima Nova"/>
              <a:buAutoNum type="alphaLcParenR"/>
            </a:pPr>
            <a:r>
              <a:rPr lang="en" sz="1200" u="sng">
                <a:solidFill>
                  <a:srgbClr val="1155CC"/>
                </a:solidFill>
                <a:latin typeface="Proxima Nova"/>
                <a:ea typeface="Proxima Nova"/>
                <a:cs typeface="Proxima Nova"/>
                <a:sym typeface="Proxima Nova"/>
                <a:hlinkClick r:id="rId7">
                  <a:extLst>
                    <a:ext uri="{A12FA001-AC4F-418D-AE19-62706E023703}">
                      <ahyp:hlinkClr val="tx"/>
                    </a:ext>
                  </a:extLst>
                </a:hlinkClick>
              </a:rPr>
              <a:t>Report | Lunch Subscription</a:t>
            </a:r>
            <a:endParaRPr sz="12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a:latin typeface="Proxima Nova"/>
              <a:ea typeface="Proxima Nova"/>
              <a:cs typeface="Proxima Nova"/>
              <a:sym typeface="Proxima Nova"/>
            </a:endParaRPr>
          </a:p>
        </p:txBody>
      </p:sp>
      <p:pic>
        <p:nvPicPr>
          <p:cNvPr id="71" name="Google Shape;71;p15"/>
          <p:cNvPicPr preferRelativeResize="0"/>
          <p:nvPr/>
        </p:nvPicPr>
        <p:blipFill>
          <a:blip r:embed="rId8">
            <a:alphaModFix/>
          </a:blip>
          <a:stretch>
            <a:fillRect/>
          </a:stretch>
        </p:blipFill>
        <p:spPr>
          <a:xfrm>
            <a:off x="1822146" y="1180827"/>
            <a:ext cx="972399" cy="972399"/>
          </a:xfrm>
          <a:prstGeom prst="rect">
            <a:avLst/>
          </a:prstGeom>
          <a:noFill/>
          <a:ln>
            <a:noFill/>
          </a:ln>
        </p:spPr>
      </p:pic>
      <p:sp>
        <p:nvSpPr>
          <p:cNvPr id="72" name="Google Shape;72;p15"/>
          <p:cNvSpPr txBox="1"/>
          <p:nvPr/>
        </p:nvSpPr>
        <p:spPr>
          <a:xfrm>
            <a:off x="4613850" y="2241575"/>
            <a:ext cx="3771300" cy="15330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rgbClr val="E23208"/>
              </a:buClr>
              <a:buSzPts val="1400"/>
              <a:buFont typeface="Proxima Nova"/>
              <a:buAutoNum type="arabicPeriod" startAt="2"/>
            </a:pPr>
            <a:r>
              <a:rPr b="1" lang="en">
                <a:solidFill>
                  <a:srgbClr val="E23208"/>
                </a:solidFill>
                <a:latin typeface="Proxima Nova"/>
                <a:ea typeface="Proxima Nova"/>
                <a:cs typeface="Proxima Nova"/>
                <a:sym typeface="Proxima Nova"/>
              </a:rPr>
              <a:t>1:1 Interviews (To be scheduled) </a:t>
            </a:r>
            <a:endParaRPr b="1">
              <a:solidFill>
                <a:srgbClr val="E23208"/>
              </a:solidFill>
              <a:latin typeface="Proxima Nova"/>
              <a:ea typeface="Proxima Nova"/>
              <a:cs typeface="Proxima Nova"/>
              <a:sym typeface="Proxima Nova"/>
            </a:endParaRPr>
          </a:p>
          <a:p>
            <a:pPr indent="0" lvl="0" marL="457200" rtl="0" algn="l">
              <a:lnSpc>
                <a:spcPct val="115000"/>
              </a:lnSpc>
              <a:spcBef>
                <a:spcPts val="0"/>
              </a:spcBef>
              <a:spcAft>
                <a:spcPts val="0"/>
              </a:spcAft>
              <a:buNone/>
            </a:pPr>
            <a:r>
              <a:t/>
            </a:r>
            <a:endParaRPr b="1">
              <a:solidFill>
                <a:srgbClr val="E23208"/>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b="1" lang="en" sz="1200">
                <a:solidFill>
                  <a:schemeClr val="dk2"/>
                </a:solidFill>
                <a:latin typeface="Proxima Nova"/>
                <a:ea typeface="Proxima Nova"/>
                <a:cs typeface="Proxima Nova"/>
                <a:sym typeface="Proxima Nova"/>
              </a:rPr>
              <a:t>Recommended next steps and approach for follow up 1:1 interviews can be found in the next steps section of this report</a:t>
            </a:r>
            <a:endParaRPr sz="12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a:latin typeface="Proxima Nova"/>
              <a:ea typeface="Proxima Nova"/>
              <a:cs typeface="Proxima Nova"/>
              <a:sym typeface="Proxima Nova"/>
            </a:endParaRPr>
          </a:p>
        </p:txBody>
      </p:sp>
      <p:pic>
        <p:nvPicPr>
          <p:cNvPr id="73" name="Google Shape;73;p15"/>
          <p:cNvPicPr preferRelativeResize="0"/>
          <p:nvPr/>
        </p:nvPicPr>
        <p:blipFill>
          <a:blip r:embed="rId9">
            <a:alphaModFix/>
          </a:blip>
          <a:stretch>
            <a:fillRect/>
          </a:stretch>
        </p:blipFill>
        <p:spPr>
          <a:xfrm>
            <a:off x="5417600" y="1141851"/>
            <a:ext cx="1050351" cy="1050351"/>
          </a:xfrm>
          <a:prstGeom prst="rect">
            <a:avLst/>
          </a:prstGeom>
          <a:noFill/>
          <a:ln>
            <a:noFill/>
          </a:ln>
        </p:spPr>
      </p:pic>
      <p:sp>
        <p:nvSpPr>
          <p:cNvPr id="74" name="Google Shape;74;p15"/>
          <p:cNvSpPr txBox="1"/>
          <p:nvPr/>
        </p:nvSpPr>
        <p:spPr>
          <a:xfrm>
            <a:off x="167875" y="4706125"/>
            <a:ext cx="2004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u="sng">
                <a:solidFill>
                  <a:schemeClr val="hlink"/>
                </a:solidFill>
                <a:latin typeface="Proxima Nova"/>
                <a:ea typeface="Proxima Nova"/>
                <a:cs typeface="Proxima Nova"/>
                <a:sym typeface="Proxima Nova"/>
                <a:hlinkClick r:id="rId10"/>
              </a:rPr>
              <a:t>Research Brief</a:t>
            </a:r>
            <a:endParaRPr sz="800">
              <a:latin typeface="Proxima Nova"/>
              <a:ea typeface="Proxima Nova"/>
              <a:cs typeface="Proxima Nova"/>
              <a:sym typeface="Proxima Nov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0" name="Google Shape;80;p16"/>
          <p:cNvSpPr txBox="1"/>
          <p:nvPr/>
        </p:nvSpPr>
        <p:spPr>
          <a:xfrm>
            <a:off x="609800" y="1537775"/>
            <a:ext cx="7551600" cy="13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0">
                <a:solidFill>
                  <a:srgbClr val="FFFFFF"/>
                </a:solidFill>
                <a:latin typeface="Proxima Nova"/>
                <a:ea typeface="Proxima Nova"/>
                <a:cs typeface="Proxima Nova"/>
                <a:sym typeface="Proxima Nova"/>
              </a:rPr>
              <a:t>What does lunch look like for DoorDash Cx today?</a:t>
            </a:r>
            <a:endParaRPr sz="5000">
              <a:solidFill>
                <a:srgbClr val="FFFFFF"/>
              </a:solidFill>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6" name="Google Shape;86;p17"/>
          <p:cNvSpPr txBox="1"/>
          <p:nvPr/>
        </p:nvSpPr>
        <p:spPr>
          <a:xfrm>
            <a:off x="207375" y="316000"/>
            <a:ext cx="78009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solidFill>
                  <a:schemeClr val="dk2"/>
                </a:solidFill>
                <a:latin typeface="Proxima Nova"/>
                <a:ea typeface="Proxima Nova"/>
                <a:cs typeface="Proxima Nova"/>
                <a:sym typeface="Proxima Nova"/>
              </a:rPr>
              <a:t>How often do Cx order lunch?</a:t>
            </a:r>
            <a:endParaRPr b="1" sz="2300">
              <a:solidFill>
                <a:schemeClr val="dk2"/>
              </a:solidFill>
              <a:latin typeface="Proxima Nova"/>
              <a:ea typeface="Proxima Nova"/>
              <a:cs typeface="Proxima Nova"/>
              <a:sym typeface="Proxima Nova"/>
            </a:endParaRPr>
          </a:p>
        </p:txBody>
      </p:sp>
      <p:grpSp>
        <p:nvGrpSpPr>
          <p:cNvPr id="87" name="Google Shape;87;p17"/>
          <p:cNvGrpSpPr/>
          <p:nvPr/>
        </p:nvGrpSpPr>
        <p:grpSpPr>
          <a:xfrm>
            <a:off x="823825" y="2192775"/>
            <a:ext cx="1327800" cy="1248000"/>
            <a:chOff x="158700" y="-245625"/>
            <a:chExt cx="1327800" cy="1248000"/>
          </a:xfrm>
        </p:grpSpPr>
        <p:sp>
          <p:nvSpPr>
            <p:cNvPr id="88" name="Google Shape;88;p17"/>
            <p:cNvSpPr/>
            <p:nvPr/>
          </p:nvSpPr>
          <p:spPr>
            <a:xfrm>
              <a:off x="163301" y="-241043"/>
              <a:ext cx="1318500" cy="1238700"/>
            </a:xfrm>
            <a:prstGeom prst="ellipse">
              <a:avLst/>
            </a:prstGeom>
            <a:noFill/>
            <a:ln cap="flat" cmpd="sng" w="381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7"/>
            <p:cNvSpPr/>
            <p:nvPr/>
          </p:nvSpPr>
          <p:spPr>
            <a:xfrm>
              <a:off x="158700" y="-245625"/>
              <a:ext cx="1327800" cy="1248000"/>
            </a:xfrm>
            <a:prstGeom prst="arc">
              <a:avLst>
                <a:gd fmla="val 16329822" name="adj1"/>
                <a:gd fmla="val 122159" name="adj2"/>
              </a:avLst>
            </a:prstGeom>
            <a:noFill/>
            <a:ln cap="flat" cmpd="sng" w="114300">
              <a:solidFill>
                <a:srgbClr val="34A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4A853"/>
                </a:solidFill>
              </a:endParaRPr>
            </a:p>
          </p:txBody>
        </p:sp>
        <p:sp>
          <p:nvSpPr>
            <p:cNvPr id="90" name="Google Shape;90;p17"/>
            <p:cNvSpPr txBox="1"/>
            <p:nvPr/>
          </p:nvSpPr>
          <p:spPr>
            <a:xfrm>
              <a:off x="211032" y="140500"/>
              <a:ext cx="1172100" cy="475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b="1" lang="en" sz="2300">
                  <a:solidFill>
                    <a:srgbClr val="34A853"/>
                  </a:solidFill>
                  <a:latin typeface="Proxima Nova"/>
                  <a:ea typeface="Proxima Nova"/>
                  <a:cs typeface="Proxima Nova"/>
                  <a:sym typeface="Proxima Nova"/>
                </a:rPr>
                <a:t>25</a:t>
              </a:r>
              <a:r>
                <a:rPr b="1" lang="en" sz="2300">
                  <a:solidFill>
                    <a:srgbClr val="34A853"/>
                  </a:solidFill>
                  <a:latin typeface="Proxima Nova"/>
                  <a:ea typeface="Proxima Nova"/>
                  <a:cs typeface="Proxima Nova"/>
                  <a:sym typeface="Proxima Nova"/>
                </a:rPr>
                <a:t>%</a:t>
              </a:r>
              <a:r>
                <a:rPr b="1" lang="en" sz="1000">
                  <a:solidFill>
                    <a:srgbClr val="34A853"/>
                  </a:solidFill>
                  <a:latin typeface="Proxima Nova"/>
                  <a:ea typeface="Proxima Nova"/>
                  <a:cs typeface="Proxima Nova"/>
                  <a:sym typeface="Proxima Nova"/>
                </a:rPr>
                <a:t> </a:t>
              </a:r>
              <a:endParaRPr sz="1300">
                <a:solidFill>
                  <a:srgbClr val="34A853"/>
                </a:solidFill>
                <a:latin typeface="Proxima Nova"/>
                <a:ea typeface="Proxima Nova"/>
                <a:cs typeface="Proxima Nova"/>
                <a:sym typeface="Proxima Nova"/>
              </a:endParaRPr>
            </a:p>
          </p:txBody>
        </p:sp>
      </p:grpSp>
      <p:sp>
        <p:nvSpPr>
          <p:cNvPr id="91" name="Google Shape;91;p17"/>
          <p:cNvSpPr txBox="1"/>
          <p:nvPr/>
        </p:nvSpPr>
        <p:spPr>
          <a:xfrm>
            <a:off x="347100" y="3548150"/>
            <a:ext cx="24588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2"/>
                </a:solidFill>
                <a:latin typeface="Proxima Nova"/>
                <a:ea typeface="Proxima Nova"/>
                <a:cs typeface="Proxima Nova"/>
                <a:sym typeface="Proxima Nova"/>
              </a:rPr>
              <a:t>Lunch represents</a:t>
            </a:r>
            <a:r>
              <a:rPr b="1" lang="en" sz="1200">
                <a:solidFill>
                  <a:srgbClr val="34A853"/>
                </a:solidFill>
                <a:latin typeface="Proxima Nova"/>
                <a:ea typeface="Proxima Nova"/>
                <a:cs typeface="Proxima Nova"/>
                <a:sym typeface="Proxima Nova"/>
              </a:rPr>
              <a:t> </a:t>
            </a:r>
            <a:r>
              <a:rPr b="1" lang="en" sz="1200" u="sng">
                <a:solidFill>
                  <a:srgbClr val="34A853"/>
                </a:solidFill>
                <a:latin typeface="Proxima Nova"/>
                <a:ea typeface="Proxima Nova"/>
                <a:cs typeface="Proxima Nova"/>
                <a:sym typeface="Proxima Nova"/>
              </a:rPr>
              <a:t>25% of all eatable moments</a:t>
            </a:r>
            <a:r>
              <a:rPr b="1" lang="en" sz="1200">
                <a:solidFill>
                  <a:schemeClr val="dk2"/>
                </a:solidFill>
                <a:latin typeface="Proxima Nova"/>
                <a:ea typeface="Proxima Nova"/>
                <a:cs typeface="Proxima Nova"/>
                <a:sym typeface="Proxima Nova"/>
              </a:rPr>
              <a:t> among DoorDash Cx*</a:t>
            </a:r>
            <a:endParaRPr b="1" sz="1200">
              <a:solidFill>
                <a:schemeClr val="dk2"/>
              </a:solidFill>
              <a:latin typeface="Proxima Nova"/>
              <a:ea typeface="Proxima Nova"/>
              <a:cs typeface="Proxima Nova"/>
              <a:sym typeface="Proxima Nova"/>
            </a:endParaRPr>
          </a:p>
        </p:txBody>
      </p:sp>
      <p:grpSp>
        <p:nvGrpSpPr>
          <p:cNvPr id="92" name="Google Shape;92;p17"/>
          <p:cNvGrpSpPr/>
          <p:nvPr/>
        </p:nvGrpSpPr>
        <p:grpSpPr>
          <a:xfrm>
            <a:off x="3338425" y="2192775"/>
            <a:ext cx="1327800" cy="1248000"/>
            <a:chOff x="82500" y="-321825"/>
            <a:chExt cx="1327800" cy="1248000"/>
          </a:xfrm>
        </p:grpSpPr>
        <p:sp>
          <p:nvSpPr>
            <p:cNvPr id="93" name="Google Shape;93;p17"/>
            <p:cNvSpPr/>
            <p:nvPr/>
          </p:nvSpPr>
          <p:spPr>
            <a:xfrm>
              <a:off x="87101" y="-317243"/>
              <a:ext cx="1318500" cy="1238700"/>
            </a:xfrm>
            <a:prstGeom prst="ellipse">
              <a:avLst/>
            </a:prstGeom>
            <a:noFill/>
            <a:ln cap="flat" cmpd="sng" w="381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7"/>
            <p:cNvSpPr/>
            <p:nvPr/>
          </p:nvSpPr>
          <p:spPr>
            <a:xfrm>
              <a:off x="82500" y="-321825"/>
              <a:ext cx="1327800" cy="1248000"/>
            </a:xfrm>
            <a:prstGeom prst="arc">
              <a:avLst>
                <a:gd fmla="val 16329822" name="adj1"/>
                <a:gd fmla="val 7703917" name="adj2"/>
              </a:avLst>
            </a:prstGeom>
            <a:noFill/>
            <a:ln cap="flat" cmpd="sng" w="114300">
              <a:solidFill>
                <a:srgbClr val="34A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7"/>
            <p:cNvSpPr txBox="1"/>
            <p:nvPr/>
          </p:nvSpPr>
          <p:spPr>
            <a:xfrm>
              <a:off x="134832" y="64300"/>
              <a:ext cx="1172100" cy="475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b="1" lang="en" sz="2300">
                  <a:solidFill>
                    <a:srgbClr val="34A853"/>
                  </a:solidFill>
                  <a:latin typeface="Proxima Nova"/>
                  <a:ea typeface="Proxima Nova"/>
                  <a:cs typeface="Proxima Nova"/>
                  <a:sym typeface="Proxima Nova"/>
                </a:rPr>
                <a:t>74</a:t>
              </a:r>
              <a:r>
                <a:rPr b="1" lang="en" sz="2300">
                  <a:solidFill>
                    <a:srgbClr val="34A853"/>
                  </a:solidFill>
                  <a:latin typeface="Proxima Nova"/>
                  <a:ea typeface="Proxima Nova"/>
                  <a:cs typeface="Proxima Nova"/>
                  <a:sym typeface="Proxima Nova"/>
                </a:rPr>
                <a:t>%</a:t>
              </a:r>
              <a:r>
                <a:rPr b="1" lang="en" sz="1000">
                  <a:solidFill>
                    <a:srgbClr val="34A853"/>
                  </a:solidFill>
                  <a:latin typeface="Proxima Nova"/>
                  <a:ea typeface="Proxima Nova"/>
                  <a:cs typeface="Proxima Nova"/>
                  <a:sym typeface="Proxima Nova"/>
                </a:rPr>
                <a:t> </a:t>
              </a:r>
              <a:endParaRPr sz="1300">
                <a:solidFill>
                  <a:srgbClr val="34A853"/>
                </a:solidFill>
                <a:latin typeface="Proxima Nova"/>
                <a:ea typeface="Proxima Nova"/>
                <a:cs typeface="Proxima Nova"/>
                <a:sym typeface="Proxima Nova"/>
              </a:endParaRPr>
            </a:p>
          </p:txBody>
        </p:sp>
      </p:grpSp>
      <p:sp>
        <p:nvSpPr>
          <p:cNvPr id="96" name="Google Shape;96;p17"/>
          <p:cNvSpPr txBox="1"/>
          <p:nvPr/>
        </p:nvSpPr>
        <p:spPr>
          <a:xfrm>
            <a:off x="2990725" y="3548150"/>
            <a:ext cx="24588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2"/>
                </a:solidFill>
                <a:latin typeface="Proxima Nova"/>
                <a:ea typeface="Proxima Nova"/>
                <a:cs typeface="Proxima Nova"/>
                <a:sym typeface="Proxima Nova"/>
              </a:rPr>
              <a:t>Of Cx order out lunch </a:t>
            </a:r>
            <a:r>
              <a:rPr b="1" lang="en" sz="1200">
                <a:solidFill>
                  <a:srgbClr val="34A853"/>
                </a:solidFill>
                <a:latin typeface="Proxima Nova"/>
                <a:ea typeface="Proxima Nova"/>
                <a:cs typeface="Proxima Nova"/>
                <a:sym typeface="Proxima Nova"/>
              </a:rPr>
              <a:t>once a week or less often</a:t>
            </a:r>
            <a:r>
              <a:rPr b="1" lang="en" sz="1200">
                <a:solidFill>
                  <a:schemeClr val="dk2"/>
                </a:solidFill>
                <a:latin typeface="Proxima Nova"/>
                <a:ea typeface="Proxima Nova"/>
                <a:cs typeface="Proxima Nova"/>
                <a:sym typeface="Proxima Nova"/>
              </a:rPr>
              <a:t> according to Lunch specific research conducted in Sept of 2022**</a:t>
            </a:r>
            <a:endParaRPr b="1" sz="1200">
              <a:solidFill>
                <a:schemeClr val="dk2"/>
              </a:solidFill>
              <a:latin typeface="Proxima Nova"/>
              <a:ea typeface="Proxima Nova"/>
              <a:cs typeface="Proxima Nova"/>
              <a:sym typeface="Proxima Nova"/>
            </a:endParaRPr>
          </a:p>
        </p:txBody>
      </p:sp>
      <p:sp>
        <p:nvSpPr>
          <p:cNvPr id="97" name="Google Shape;97;p17"/>
          <p:cNvSpPr txBox="1"/>
          <p:nvPr/>
        </p:nvSpPr>
        <p:spPr>
          <a:xfrm>
            <a:off x="557875" y="1295488"/>
            <a:ext cx="4300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Proxima Nova"/>
                <a:ea typeface="Proxima Nova"/>
                <a:cs typeface="Proxima Nova"/>
                <a:sym typeface="Proxima Nova"/>
              </a:rPr>
              <a:t>Ordering out lunch is a lower frequency occurrence…</a:t>
            </a:r>
            <a:endParaRPr b="1">
              <a:latin typeface="Proxima Nova"/>
              <a:ea typeface="Proxima Nova"/>
              <a:cs typeface="Proxima Nova"/>
              <a:sym typeface="Proxima Nova"/>
            </a:endParaRPr>
          </a:p>
        </p:txBody>
      </p:sp>
      <p:sp>
        <p:nvSpPr>
          <p:cNvPr id="98" name="Google Shape;98;p17"/>
          <p:cNvSpPr txBox="1"/>
          <p:nvPr/>
        </p:nvSpPr>
        <p:spPr>
          <a:xfrm>
            <a:off x="5269600" y="1371688"/>
            <a:ext cx="3624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Proxima Nova"/>
                <a:ea typeface="Proxima Nova"/>
                <a:cs typeface="Proxima Nova"/>
                <a:sym typeface="Proxima Nova"/>
              </a:rPr>
              <a:t>Peak lunch orders occur between 11-1PM*</a:t>
            </a:r>
            <a:endParaRPr b="1">
              <a:latin typeface="Proxima Nova"/>
              <a:ea typeface="Proxima Nova"/>
              <a:cs typeface="Proxima Nova"/>
              <a:sym typeface="Proxima Nova"/>
            </a:endParaRPr>
          </a:p>
        </p:txBody>
      </p:sp>
      <p:sp>
        <p:nvSpPr>
          <p:cNvPr id="99" name="Google Shape;99;p17"/>
          <p:cNvSpPr txBox="1"/>
          <p:nvPr/>
        </p:nvSpPr>
        <p:spPr>
          <a:xfrm>
            <a:off x="148125" y="4613725"/>
            <a:ext cx="3130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Proxima Nova"/>
                <a:ea typeface="Proxima Nova"/>
                <a:cs typeface="Proxima Nova"/>
                <a:sym typeface="Proxima Nova"/>
              </a:rPr>
              <a:t>*</a:t>
            </a:r>
            <a:r>
              <a:rPr lang="en" sz="800" u="sng">
                <a:solidFill>
                  <a:schemeClr val="hlink"/>
                </a:solidFill>
                <a:latin typeface="Proxima Nova"/>
                <a:ea typeface="Proxima Nova"/>
                <a:cs typeface="Proxima Nova"/>
                <a:sym typeface="Proxima Nova"/>
                <a:hlinkClick r:id="rId3"/>
              </a:rPr>
              <a:t>Source</a:t>
            </a:r>
            <a:endParaRPr sz="800">
              <a:latin typeface="Proxima Nova"/>
              <a:ea typeface="Proxima Nova"/>
              <a:cs typeface="Proxima Nova"/>
              <a:sym typeface="Proxima Nova"/>
            </a:endParaRPr>
          </a:p>
          <a:p>
            <a:pPr indent="0" lvl="0" marL="0" rtl="0" algn="l">
              <a:spcBef>
                <a:spcPts val="0"/>
              </a:spcBef>
              <a:spcAft>
                <a:spcPts val="0"/>
              </a:spcAft>
              <a:buNone/>
            </a:pPr>
            <a:r>
              <a:rPr lang="en" sz="800">
                <a:latin typeface="Proxima Nova"/>
                <a:ea typeface="Proxima Nova"/>
                <a:cs typeface="Proxima Nova"/>
                <a:sym typeface="Proxima Nova"/>
              </a:rPr>
              <a:t>**</a:t>
            </a:r>
            <a:r>
              <a:rPr lang="en" sz="800" u="sng">
                <a:solidFill>
                  <a:schemeClr val="hlink"/>
                </a:solidFill>
                <a:latin typeface="Proxima Nova"/>
                <a:ea typeface="Proxima Nova"/>
                <a:cs typeface="Proxima Nova"/>
                <a:sym typeface="Proxima Nova"/>
                <a:hlinkClick r:id="rId4"/>
              </a:rPr>
              <a:t>Source</a:t>
            </a:r>
            <a:endParaRPr sz="800">
              <a:latin typeface="Proxima Nova"/>
              <a:ea typeface="Proxima Nova"/>
              <a:cs typeface="Proxima Nova"/>
              <a:sym typeface="Proxima Nova"/>
            </a:endParaRPr>
          </a:p>
        </p:txBody>
      </p:sp>
      <p:pic>
        <p:nvPicPr>
          <p:cNvPr id="100" name="Google Shape;100;p17"/>
          <p:cNvPicPr preferRelativeResize="0"/>
          <p:nvPr/>
        </p:nvPicPr>
        <p:blipFill>
          <a:blip r:embed="rId5">
            <a:alphaModFix/>
          </a:blip>
          <a:stretch>
            <a:fillRect/>
          </a:stretch>
        </p:blipFill>
        <p:spPr>
          <a:xfrm>
            <a:off x="5525713" y="1787238"/>
            <a:ext cx="3389676" cy="2095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6" name="Google Shape;106;p18"/>
          <p:cNvSpPr txBox="1"/>
          <p:nvPr/>
        </p:nvSpPr>
        <p:spPr>
          <a:xfrm>
            <a:off x="207375" y="316000"/>
            <a:ext cx="780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2"/>
                </a:solidFill>
                <a:latin typeface="Proxima Nova"/>
                <a:ea typeface="Proxima Nova"/>
                <a:cs typeface="Proxima Nova"/>
                <a:sym typeface="Proxima Nova"/>
              </a:rPr>
              <a:t>Why do Cx order takeout for lunch</a:t>
            </a:r>
            <a:r>
              <a:rPr b="1" lang="en" sz="2000">
                <a:solidFill>
                  <a:schemeClr val="dk2"/>
                </a:solidFill>
                <a:latin typeface="Proxima Nova"/>
                <a:ea typeface="Proxima Nova"/>
                <a:cs typeface="Proxima Nova"/>
                <a:sym typeface="Proxima Nova"/>
              </a:rPr>
              <a:t>?</a:t>
            </a:r>
            <a:endParaRPr b="1" sz="2000">
              <a:solidFill>
                <a:schemeClr val="dk2"/>
              </a:solidFill>
              <a:latin typeface="Proxima Nova"/>
              <a:ea typeface="Proxima Nova"/>
              <a:cs typeface="Proxima Nova"/>
              <a:sym typeface="Proxima Nova"/>
            </a:endParaRPr>
          </a:p>
        </p:txBody>
      </p:sp>
      <p:sp>
        <p:nvSpPr>
          <p:cNvPr id="107" name="Google Shape;107;p18"/>
          <p:cNvSpPr txBox="1"/>
          <p:nvPr/>
        </p:nvSpPr>
        <p:spPr>
          <a:xfrm>
            <a:off x="207375" y="1898775"/>
            <a:ext cx="5688000" cy="15354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Clr>
                <a:schemeClr val="dk2"/>
              </a:buClr>
              <a:buSzPts val="1300"/>
              <a:buFont typeface="Proxima Nova"/>
              <a:buChar char="●"/>
            </a:pPr>
            <a:r>
              <a:rPr lang="en" sz="1300">
                <a:solidFill>
                  <a:schemeClr val="dk2"/>
                </a:solidFill>
                <a:latin typeface="Proxima Nova"/>
                <a:ea typeface="Proxima Nova"/>
                <a:cs typeface="Proxima Nova"/>
                <a:sym typeface="Proxima Nova"/>
              </a:rPr>
              <a:t>Cx who order delivery do so because they </a:t>
            </a:r>
            <a:r>
              <a:rPr b="1" lang="en" sz="1300">
                <a:solidFill>
                  <a:schemeClr val="dk2"/>
                </a:solidFill>
                <a:latin typeface="Proxima Nova"/>
                <a:ea typeface="Proxima Nova"/>
                <a:cs typeface="Proxima Nova"/>
                <a:sym typeface="Proxima Nova"/>
              </a:rPr>
              <a:t>do not have the time to travel</a:t>
            </a:r>
            <a:endParaRPr b="1" sz="1300">
              <a:solidFill>
                <a:schemeClr val="dk2"/>
              </a:solidFill>
              <a:latin typeface="Proxima Nova"/>
              <a:ea typeface="Proxima Nova"/>
              <a:cs typeface="Proxima Nova"/>
              <a:sym typeface="Proxima Nova"/>
            </a:endParaRPr>
          </a:p>
          <a:p>
            <a:pPr indent="-311150" lvl="0" marL="457200" rtl="0" algn="l">
              <a:lnSpc>
                <a:spcPct val="115000"/>
              </a:lnSpc>
              <a:spcBef>
                <a:spcPts val="0"/>
              </a:spcBef>
              <a:spcAft>
                <a:spcPts val="0"/>
              </a:spcAft>
              <a:buClr>
                <a:schemeClr val="dk2"/>
              </a:buClr>
              <a:buSzPts val="1300"/>
              <a:buFont typeface="Proxima Nova"/>
              <a:buChar char="●"/>
            </a:pPr>
            <a:r>
              <a:rPr lang="en" sz="1300">
                <a:solidFill>
                  <a:schemeClr val="dk2"/>
                </a:solidFill>
                <a:latin typeface="Proxima Nova"/>
                <a:ea typeface="Proxima Nova"/>
                <a:cs typeface="Proxima Nova"/>
                <a:sym typeface="Proxima Nova"/>
              </a:rPr>
              <a:t>Cx ordering lunch are more likely to indicate they are</a:t>
            </a:r>
            <a:r>
              <a:rPr b="1" lang="en" sz="1300">
                <a:solidFill>
                  <a:schemeClr val="dk2"/>
                </a:solidFill>
                <a:latin typeface="Proxima Nova"/>
                <a:ea typeface="Proxima Nova"/>
                <a:cs typeface="Proxima Nova"/>
                <a:sym typeface="Proxima Nova"/>
              </a:rPr>
              <a:t> feeling tired/sleepy/low energy</a:t>
            </a:r>
            <a:endParaRPr b="1" sz="1300">
              <a:solidFill>
                <a:schemeClr val="dk2"/>
              </a:solidFill>
              <a:latin typeface="Proxima Nova"/>
              <a:ea typeface="Proxima Nova"/>
              <a:cs typeface="Proxima Nova"/>
              <a:sym typeface="Proxima Nova"/>
            </a:endParaRPr>
          </a:p>
          <a:p>
            <a:pPr indent="-311150" lvl="0" marL="457200" rtl="0" algn="l">
              <a:lnSpc>
                <a:spcPct val="115000"/>
              </a:lnSpc>
              <a:spcBef>
                <a:spcPts val="0"/>
              </a:spcBef>
              <a:spcAft>
                <a:spcPts val="0"/>
              </a:spcAft>
              <a:buClr>
                <a:schemeClr val="dk2"/>
              </a:buClr>
              <a:buSzPts val="1300"/>
              <a:buFont typeface="Proxima Nova"/>
              <a:buChar char="●"/>
            </a:pPr>
            <a:r>
              <a:rPr lang="en" sz="1300">
                <a:solidFill>
                  <a:schemeClr val="dk2"/>
                </a:solidFill>
                <a:latin typeface="Proxima Nova"/>
                <a:ea typeface="Proxima Nova"/>
                <a:cs typeface="Proxima Nova"/>
                <a:sym typeface="Proxima Nova"/>
              </a:rPr>
              <a:t>They are </a:t>
            </a:r>
            <a:r>
              <a:rPr b="1" lang="en" sz="1300">
                <a:solidFill>
                  <a:schemeClr val="dk2"/>
                </a:solidFill>
                <a:latin typeface="Proxima Nova"/>
                <a:ea typeface="Proxima Nova"/>
                <a:cs typeface="Proxima Nova"/>
                <a:sym typeface="Proxima Nova"/>
              </a:rPr>
              <a:t>significantly less likely to do extensive research</a:t>
            </a:r>
            <a:r>
              <a:rPr lang="en" sz="1300">
                <a:solidFill>
                  <a:schemeClr val="dk2"/>
                </a:solidFill>
                <a:latin typeface="Proxima Nova"/>
                <a:ea typeface="Proxima Nova"/>
                <a:cs typeface="Proxima Nova"/>
                <a:sym typeface="Proxima Nova"/>
              </a:rPr>
              <a:t> or exploration to decide where to eat</a:t>
            </a:r>
            <a:endParaRPr sz="1300">
              <a:solidFill>
                <a:schemeClr val="dk2"/>
              </a:solidFill>
              <a:latin typeface="Proxima Nova"/>
              <a:ea typeface="Proxima Nova"/>
              <a:cs typeface="Proxima Nova"/>
              <a:sym typeface="Proxima Nova"/>
            </a:endParaRPr>
          </a:p>
        </p:txBody>
      </p:sp>
      <p:pic>
        <p:nvPicPr>
          <p:cNvPr id="108" name="Google Shape;108;p18"/>
          <p:cNvPicPr preferRelativeResize="0"/>
          <p:nvPr/>
        </p:nvPicPr>
        <p:blipFill>
          <a:blip r:embed="rId3">
            <a:alphaModFix/>
          </a:blip>
          <a:stretch>
            <a:fillRect/>
          </a:stretch>
        </p:blipFill>
        <p:spPr>
          <a:xfrm>
            <a:off x="5457825" y="2823275"/>
            <a:ext cx="3120175" cy="1747300"/>
          </a:xfrm>
          <a:prstGeom prst="rect">
            <a:avLst/>
          </a:prstGeom>
          <a:noFill/>
          <a:ln>
            <a:noFill/>
          </a:ln>
        </p:spPr>
      </p:pic>
      <p:sp>
        <p:nvSpPr>
          <p:cNvPr id="109" name="Google Shape;109;p18"/>
          <p:cNvSpPr txBox="1"/>
          <p:nvPr/>
        </p:nvSpPr>
        <p:spPr>
          <a:xfrm>
            <a:off x="276500" y="1145475"/>
            <a:ext cx="8946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solidFill>
                  <a:schemeClr val="dk2"/>
                </a:solidFill>
                <a:latin typeface="Proxima Nova"/>
                <a:ea typeface="Proxima Nova"/>
                <a:cs typeface="Proxima Nova"/>
                <a:sym typeface="Proxima Nova"/>
              </a:rPr>
              <a:t>Lunch ordering typically happens because Cx are in a time crunch, they do not have time to go out or prepare anything and are feeling depleted from their day.  </a:t>
            </a:r>
            <a:r>
              <a:rPr b="1" i="1" lang="en">
                <a:solidFill>
                  <a:schemeClr val="dk2"/>
                </a:solidFill>
                <a:latin typeface="Proxima Nova"/>
                <a:ea typeface="Proxima Nova"/>
                <a:cs typeface="Proxima Nova"/>
                <a:sym typeface="Proxima Nova"/>
              </a:rPr>
              <a:t>They need food fast</a:t>
            </a:r>
            <a:r>
              <a:rPr i="1" lang="en">
                <a:solidFill>
                  <a:schemeClr val="dk2"/>
                </a:solidFill>
                <a:latin typeface="Proxima Nova"/>
                <a:ea typeface="Proxima Nova"/>
                <a:cs typeface="Proxima Nova"/>
                <a:sym typeface="Proxima Nova"/>
              </a:rPr>
              <a:t>.</a:t>
            </a:r>
            <a:endParaRPr i="1">
              <a:solidFill>
                <a:schemeClr val="dk2"/>
              </a:solidFill>
              <a:latin typeface="Proxima Nova"/>
              <a:ea typeface="Proxima Nova"/>
              <a:cs typeface="Proxima Nova"/>
              <a:sym typeface="Proxima Nova"/>
            </a:endParaRPr>
          </a:p>
        </p:txBody>
      </p:sp>
      <p:sp>
        <p:nvSpPr>
          <p:cNvPr id="110" name="Google Shape;110;p18"/>
          <p:cNvSpPr txBox="1"/>
          <p:nvPr/>
        </p:nvSpPr>
        <p:spPr>
          <a:xfrm>
            <a:off x="39500" y="4690675"/>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u="sng">
                <a:solidFill>
                  <a:schemeClr val="hlink"/>
                </a:solidFill>
                <a:latin typeface="Proxima Nova"/>
                <a:ea typeface="Proxima Nova"/>
                <a:cs typeface="Proxima Nova"/>
                <a:sym typeface="Proxima Nova"/>
                <a:hlinkClick r:id="rId4"/>
              </a:rPr>
              <a:t>Source</a:t>
            </a:r>
            <a:endParaRPr sz="800">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9"/>
          <p:cNvSpPr txBox="1"/>
          <p:nvPr>
            <p:ph idx="12" type="sldNum"/>
          </p:nvPr>
        </p:nvSpPr>
        <p:spPr>
          <a:xfrm>
            <a:off x="8022458" y="45870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6" name="Google Shape;116;p19"/>
          <p:cNvSpPr txBox="1"/>
          <p:nvPr/>
        </p:nvSpPr>
        <p:spPr>
          <a:xfrm>
            <a:off x="266625" y="175775"/>
            <a:ext cx="780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2"/>
                </a:solidFill>
                <a:latin typeface="Proxima Nova"/>
                <a:ea typeface="Proxima Nova"/>
                <a:cs typeface="Proxima Nova"/>
                <a:sym typeface="Proxima Nova"/>
              </a:rPr>
              <a:t>What are the Cx considerations around lunch</a:t>
            </a:r>
            <a:endParaRPr b="1" sz="2000">
              <a:solidFill>
                <a:schemeClr val="dk2"/>
              </a:solidFill>
              <a:latin typeface="Proxima Nova"/>
              <a:ea typeface="Proxima Nova"/>
              <a:cs typeface="Proxima Nova"/>
              <a:sym typeface="Proxima Nova"/>
            </a:endParaRPr>
          </a:p>
        </p:txBody>
      </p:sp>
      <p:sp>
        <p:nvSpPr>
          <p:cNvPr id="117" name="Google Shape;117;p19"/>
          <p:cNvSpPr txBox="1"/>
          <p:nvPr/>
        </p:nvSpPr>
        <p:spPr>
          <a:xfrm>
            <a:off x="342825" y="1038175"/>
            <a:ext cx="3337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dk2"/>
                </a:solidFill>
                <a:latin typeface="Proxima Nova"/>
                <a:ea typeface="Proxima Nova"/>
                <a:cs typeface="Proxima Nova"/>
                <a:sym typeface="Proxima Nova"/>
              </a:rPr>
              <a:t>Preferred mode of ordering</a:t>
            </a:r>
            <a:r>
              <a:rPr b="1" lang="en" sz="1300">
                <a:solidFill>
                  <a:schemeClr val="dk2"/>
                </a:solidFill>
                <a:latin typeface="Proxima Nova"/>
                <a:ea typeface="Proxima Nova"/>
                <a:cs typeface="Proxima Nova"/>
                <a:sym typeface="Proxima Nova"/>
              </a:rPr>
              <a:t>:</a:t>
            </a:r>
            <a:endParaRPr b="1" sz="1300">
              <a:solidFill>
                <a:schemeClr val="dk2"/>
              </a:solidFill>
              <a:latin typeface="Proxima Nova"/>
              <a:ea typeface="Proxima Nova"/>
              <a:cs typeface="Proxima Nova"/>
              <a:sym typeface="Proxima Nova"/>
            </a:endParaRPr>
          </a:p>
        </p:txBody>
      </p:sp>
      <p:sp>
        <p:nvSpPr>
          <p:cNvPr id="118" name="Google Shape;118;p19"/>
          <p:cNvSpPr txBox="1"/>
          <p:nvPr/>
        </p:nvSpPr>
        <p:spPr>
          <a:xfrm>
            <a:off x="3530000" y="1038175"/>
            <a:ext cx="3337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dk2"/>
                </a:solidFill>
                <a:latin typeface="Proxima Nova"/>
                <a:ea typeface="Proxima Nova"/>
                <a:cs typeface="Proxima Nova"/>
                <a:sym typeface="Proxima Nova"/>
              </a:rPr>
              <a:t>Top considerations for ordering</a:t>
            </a:r>
            <a:r>
              <a:rPr b="1" lang="en" sz="1300">
                <a:solidFill>
                  <a:schemeClr val="dk2"/>
                </a:solidFill>
                <a:latin typeface="Proxima Nova"/>
                <a:ea typeface="Proxima Nova"/>
                <a:cs typeface="Proxima Nova"/>
                <a:sym typeface="Proxima Nova"/>
              </a:rPr>
              <a:t>:</a:t>
            </a:r>
            <a:endParaRPr b="1" sz="1300">
              <a:solidFill>
                <a:schemeClr val="dk2"/>
              </a:solidFill>
              <a:latin typeface="Proxima Nova"/>
              <a:ea typeface="Proxima Nova"/>
              <a:cs typeface="Proxima Nova"/>
              <a:sym typeface="Proxima Nova"/>
            </a:endParaRPr>
          </a:p>
        </p:txBody>
      </p:sp>
      <p:pic>
        <p:nvPicPr>
          <p:cNvPr id="119" name="Google Shape;119;p19" title="Of the available options below, which were the top three considerations when deciding which restaurant to order food from?"/>
          <p:cNvPicPr preferRelativeResize="0"/>
          <p:nvPr/>
        </p:nvPicPr>
        <p:blipFill>
          <a:blip r:embed="rId4">
            <a:alphaModFix/>
          </a:blip>
          <a:stretch>
            <a:fillRect/>
          </a:stretch>
        </p:blipFill>
        <p:spPr>
          <a:xfrm>
            <a:off x="3485400" y="1390475"/>
            <a:ext cx="5460791" cy="3372025"/>
          </a:xfrm>
          <a:prstGeom prst="rect">
            <a:avLst/>
          </a:prstGeom>
          <a:noFill/>
          <a:ln>
            <a:noFill/>
          </a:ln>
        </p:spPr>
      </p:pic>
      <p:sp>
        <p:nvSpPr>
          <p:cNvPr id="120" name="Google Shape;120;p19"/>
          <p:cNvSpPr/>
          <p:nvPr/>
        </p:nvSpPr>
        <p:spPr>
          <a:xfrm rot="-327365">
            <a:off x="6753756" y="2251816"/>
            <a:ext cx="1034889" cy="275169"/>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9"/>
          <p:cNvSpPr/>
          <p:nvPr/>
        </p:nvSpPr>
        <p:spPr>
          <a:xfrm rot="-327365">
            <a:off x="6551906" y="2764363"/>
            <a:ext cx="1034889" cy="220929"/>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9"/>
          <p:cNvSpPr txBox="1"/>
          <p:nvPr/>
        </p:nvSpPr>
        <p:spPr>
          <a:xfrm>
            <a:off x="323425" y="521775"/>
            <a:ext cx="7509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2"/>
                </a:solidFill>
                <a:latin typeface="Proxima Nova"/>
                <a:ea typeface="Proxima Nova"/>
                <a:cs typeface="Proxima Nova"/>
                <a:sym typeface="Proxima Nova"/>
              </a:rPr>
              <a:t>Cx have to decide between cost saving at home vs ordering out; when ordering out the most important factors are price, quality and speed.  Speed and proximity play a bigger role at lunch than other meals.</a:t>
            </a:r>
            <a:endParaRPr i="1" sz="1000">
              <a:solidFill>
                <a:schemeClr val="dk2"/>
              </a:solidFill>
              <a:latin typeface="Proxima Nova"/>
              <a:ea typeface="Proxima Nova"/>
              <a:cs typeface="Proxima Nova"/>
              <a:sym typeface="Proxima Nova"/>
            </a:endParaRPr>
          </a:p>
        </p:txBody>
      </p:sp>
      <p:pic>
        <p:nvPicPr>
          <p:cNvPr id="123" name="Google Shape;123;p19"/>
          <p:cNvPicPr preferRelativeResize="0"/>
          <p:nvPr/>
        </p:nvPicPr>
        <p:blipFill>
          <a:blip r:embed="rId5">
            <a:alphaModFix/>
          </a:blip>
          <a:stretch>
            <a:fillRect/>
          </a:stretch>
        </p:blipFill>
        <p:spPr>
          <a:xfrm rot="5399995">
            <a:off x="988150" y="1950088"/>
            <a:ext cx="1937499" cy="1198022"/>
          </a:xfrm>
          <a:prstGeom prst="rect">
            <a:avLst/>
          </a:prstGeom>
          <a:noFill/>
          <a:ln>
            <a:noFill/>
          </a:ln>
        </p:spPr>
      </p:pic>
      <p:sp>
        <p:nvSpPr>
          <p:cNvPr id="124" name="Google Shape;124;p19"/>
          <p:cNvSpPr txBox="1"/>
          <p:nvPr/>
        </p:nvSpPr>
        <p:spPr>
          <a:xfrm>
            <a:off x="950163" y="3231475"/>
            <a:ext cx="21231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rgbClr val="00838A"/>
                </a:solidFill>
                <a:latin typeface="Proxima Nova"/>
                <a:ea typeface="Proxima Nova"/>
                <a:cs typeface="Proxima Nova"/>
                <a:sym typeface="Proxima Nova"/>
              </a:rPr>
              <a:t>45% of Cx use pick up functionality</a:t>
            </a:r>
            <a:r>
              <a:rPr b="1" lang="en" sz="1200">
                <a:solidFill>
                  <a:schemeClr val="dk2"/>
                </a:solidFill>
                <a:latin typeface="Proxima Nova"/>
                <a:ea typeface="Proxima Nova"/>
                <a:cs typeface="Proxima Nova"/>
                <a:sym typeface="Proxima Nova"/>
              </a:rPr>
              <a:t> </a:t>
            </a:r>
            <a:r>
              <a:rPr lang="en" sz="1100">
                <a:solidFill>
                  <a:schemeClr val="dk2"/>
                </a:solidFill>
                <a:latin typeface="Proxima Nova"/>
                <a:ea typeface="Proxima Nova"/>
                <a:cs typeface="Proxima Nova"/>
                <a:sym typeface="Proxima Nova"/>
              </a:rPr>
              <a:t>when ordering lunch (</a:t>
            </a:r>
            <a:r>
              <a:rPr i="1" lang="en" sz="1100">
                <a:solidFill>
                  <a:schemeClr val="dk2"/>
                </a:solidFill>
                <a:latin typeface="Proxima Nova"/>
                <a:ea typeface="Proxima Nova"/>
                <a:cs typeface="Proxima Nova"/>
                <a:sym typeface="Proxima Nova"/>
              </a:rPr>
              <a:t>vs. 39% for other meals</a:t>
            </a:r>
            <a:r>
              <a:rPr lang="en" sz="1100">
                <a:solidFill>
                  <a:schemeClr val="dk2"/>
                </a:solidFill>
                <a:latin typeface="Proxima Nova"/>
                <a:ea typeface="Proxima Nova"/>
                <a:cs typeface="Proxima Nova"/>
                <a:sym typeface="Proxima Nova"/>
              </a:rPr>
              <a:t>)</a:t>
            </a:r>
            <a:endParaRPr sz="1100">
              <a:solidFill>
                <a:schemeClr val="dk2"/>
              </a:solidFill>
              <a:latin typeface="Proxima Nova"/>
              <a:ea typeface="Proxima Nova"/>
              <a:cs typeface="Proxima Nova"/>
              <a:sym typeface="Proxima Nova"/>
            </a:endParaRPr>
          </a:p>
        </p:txBody>
      </p:sp>
      <p:sp>
        <p:nvSpPr>
          <p:cNvPr id="125" name="Google Shape;125;p19"/>
          <p:cNvSpPr txBox="1"/>
          <p:nvPr/>
        </p:nvSpPr>
        <p:spPr>
          <a:xfrm>
            <a:off x="950163" y="1446875"/>
            <a:ext cx="21231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rgbClr val="CC0000"/>
                </a:solidFill>
                <a:latin typeface="Proxima Nova"/>
                <a:ea typeface="Proxima Nova"/>
                <a:cs typeface="Proxima Nova"/>
                <a:sym typeface="Proxima Nova"/>
              </a:rPr>
              <a:t>55</a:t>
            </a:r>
            <a:r>
              <a:rPr b="1" lang="en" sz="1200">
                <a:solidFill>
                  <a:srgbClr val="CC0000"/>
                </a:solidFill>
                <a:latin typeface="Proxima Nova"/>
                <a:ea typeface="Proxima Nova"/>
                <a:cs typeface="Proxima Nova"/>
                <a:sym typeface="Proxima Nova"/>
              </a:rPr>
              <a:t>% of Cx opt for delivery </a:t>
            </a:r>
            <a:r>
              <a:rPr lang="en" sz="1100">
                <a:solidFill>
                  <a:schemeClr val="dk2"/>
                </a:solidFill>
                <a:latin typeface="Proxima Nova"/>
                <a:ea typeface="Proxima Nova"/>
                <a:cs typeface="Proxima Nova"/>
                <a:sym typeface="Proxima Nova"/>
              </a:rPr>
              <a:t>when ordering lunch.</a:t>
            </a:r>
            <a:endParaRPr sz="1100">
              <a:solidFill>
                <a:schemeClr val="dk2"/>
              </a:solidFill>
              <a:latin typeface="Proxima Nova"/>
              <a:ea typeface="Proxima Nova"/>
              <a:cs typeface="Proxima Nova"/>
              <a:sym typeface="Proxima Nova"/>
            </a:endParaRPr>
          </a:p>
        </p:txBody>
      </p:sp>
      <p:pic>
        <p:nvPicPr>
          <p:cNvPr id="126" name="Google Shape;126;p19"/>
          <p:cNvPicPr preferRelativeResize="0"/>
          <p:nvPr/>
        </p:nvPicPr>
        <p:blipFill>
          <a:blip r:embed="rId6">
            <a:alphaModFix/>
          </a:blip>
          <a:stretch>
            <a:fillRect/>
          </a:stretch>
        </p:blipFill>
        <p:spPr>
          <a:xfrm>
            <a:off x="342825" y="1446875"/>
            <a:ext cx="615600" cy="615600"/>
          </a:xfrm>
          <a:prstGeom prst="rect">
            <a:avLst/>
          </a:prstGeom>
          <a:noFill/>
          <a:ln>
            <a:noFill/>
          </a:ln>
        </p:spPr>
      </p:pic>
      <p:pic>
        <p:nvPicPr>
          <p:cNvPr id="127" name="Google Shape;127;p19"/>
          <p:cNvPicPr preferRelativeResize="0"/>
          <p:nvPr/>
        </p:nvPicPr>
        <p:blipFill>
          <a:blip r:embed="rId7">
            <a:alphaModFix/>
          </a:blip>
          <a:stretch>
            <a:fillRect/>
          </a:stretch>
        </p:blipFill>
        <p:spPr>
          <a:xfrm>
            <a:off x="376275" y="3318775"/>
            <a:ext cx="548700" cy="548700"/>
          </a:xfrm>
          <a:prstGeom prst="rect">
            <a:avLst/>
          </a:prstGeom>
          <a:noFill/>
          <a:ln>
            <a:noFill/>
          </a:ln>
        </p:spPr>
      </p:pic>
      <p:sp>
        <p:nvSpPr>
          <p:cNvPr id="128" name="Google Shape;128;p19"/>
          <p:cNvSpPr txBox="1"/>
          <p:nvPr/>
        </p:nvSpPr>
        <p:spPr>
          <a:xfrm>
            <a:off x="239088" y="4045550"/>
            <a:ext cx="3435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000">
                <a:solidFill>
                  <a:schemeClr val="accent5"/>
                </a:solidFill>
                <a:latin typeface="Proxima Nova"/>
                <a:ea typeface="Proxima Nova"/>
                <a:cs typeface="Proxima Nova"/>
                <a:sym typeface="Proxima Nova"/>
              </a:rPr>
              <a:t>Those ordering pickup indicate, are slightly more likely to indicate they are grabbing lunch on the way to another location (27% vs. 20%) for other meals).</a:t>
            </a:r>
            <a:endParaRPr i="1" sz="1000">
              <a:solidFill>
                <a:schemeClr val="accent5"/>
              </a:solidFill>
              <a:latin typeface="Proxima Nova"/>
              <a:ea typeface="Proxima Nova"/>
              <a:cs typeface="Proxima Nova"/>
              <a:sym typeface="Proxima Nova"/>
            </a:endParaRPr>
          </a:p>
        </p:txBody>
      </p:sp>
      <p:sp>
        <p:nvSpPr>
          <p:cNvPr id="129" name="Google Shape;129;p19"/>
          <p:cNvSpPr txBox="1"/>
          <p:nvPr/>
        </p:nvSpPr>
        <p:spPr>
          <a:xfrm>
            <a:off x="39500" y="4766875"/>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u="sng">
                <a:solidFill>
                  <a:schemeClr val="hlink"/>
                </a:solidFill>
                <a:latin typeface="Proxima Nova"/>
                <a:ea typeface="Proxima Nova"/>
                <a:cs typeface="Proxima Nova"/>
                <a:sym typeface="Proxima Nova"/>
                <a:hlinkClick r:id="rId8"/>
              </a:rPr>
              <a:t>Source</a:t>
            </a:r>
            <a:endParaRPr sz="800">
              <a:latin typeface="Proxima Nova"/>
              <a:ea typeface="Proxima Nova"/>
              <a:cs typeface="Proxima Nova"/>
              <a:sym typeface="Proxima Nov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nvSpPr>
        <p:spPr>
          <a:xfrm>
            <a:off x="658700" y="3321100"/>
            <a:ext cx="2448900" cy="37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rgbClr val="666666"/>
                </a:solidFill>
                <a:latin typeface="Proxima Nova"/>
                <a:ea typeface="Proxima Nova"/>
                <a:cs typeface="Proxima Nova"/>
                <a:sym typeface="Proxima Nova"/>
              </a:rPr>
              <a:t>Those who order lunch tend to be younger &amp; </a:t>
            </a:r>
            <a:r>
              <a:rPr b="1" lang="en" sz="1000">
                <a:solidFill>
                  <a:srgbClr val="666666"/>
                </a:solidFill>
                <a:latin typeface="Proxima Nova"/>
                <a:ea typeface="Proxima Nova"/>
                <a:cs typeface="Proxima Nova"/>
                <a:sym typeface="Proxima Nova"/>
              </a:rPr>
              <a:t>less</a:t>
            </a:r>
            <a:r>
              <a:rPr b="1" lang="en" sz="1000">
                <a:solidFill>
                  <a:srgbClr val="666666"/>
                </a:solidFill>
                <a:latin typeface="Proxima Nova"/>
                <a:ea typeface="Proxima Nova"/>
                <a:cs typeface="Proxima Nova"/>
                <a:sym typeface="Proxima Nova"/>
              </a:rPr>
              <a:t> educated</a:t>
            </a:r>
            <a:endParaRPr b="1" sz="1000">
              <a:solidFill>
                <a:srgbClr val="666666"/>
              </a:solidFill>
              <a:latin typeface="Proxima Nova"/>
              <a:ea typeface="Proxima Nova"/>
              <a:cs typeface="Proxima Nova"/>
              <a:sym typeface="Proxima Nova"/>
            </a:endParaRPr>
          </a:p>
        </p:txBody>
      </p:sp>
      <p:sp>
        <p:nvSpPr>
          <p:cNvPr id="135" name="Google Shape;135;p20"/>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6" name="Google Shape;136;p20"/>
          <p:cNvSpPr txBox="1"/>
          <p:nvPr/>
        </p:nvSpPr>
        <p:spPr>
          <a:xfrm>
            <a:off x="653875" y="3686300"/>
            <a:ext cx="2448900" cy="654600"/>
          </a:xfrm>
          <a:prstGeom prst="rect">
            <a:avLst/>
          </a:prstGeom>
          <a:noFill/>
          <a:ln>
            <a:noFill/>
          </a:ln>
        </p:spPr>
        <p:txBody>
          <a:bodyPr anchorCtr="0" anchor="t" bIns="91425" lIns="91425" spcFirstLastPara="1" rIns="91425" wrap="square" tIns="91425">
            <a:noAutofit/>
          </a:bodyPr>
          <a:lstStyle/>
          <a:p>
            <a:pPr indent="-285750" lvl="0" marL="457200" rtl="0" algn="l">
              <a:lnSpc>
                <a:spcPct val="115000"/>
              </a:lnSpc>
              <a:spcBef>
                <a:spcPts val="0"/>
              </a:spcBef>
              <a:spcAft>
                <a:spcPts val="0"/>
              </a:spcAft>
              <a:buClr>
                <a:schemeClr val="dk2"/>
              </a:buClr>
              <a:buSzPts val="900"/>
              <a:buFont typeface="Proxima Nova"/>
              <a:buChar char="●"/>
            </a:pPr>
            <a:r>
              <a:rPr lang="en" sz="900">
                <a:solidFill>
                  <a:schemeClr val="dk2"/>
                </a:solidFill>
                <a:latin typeface="Proxima Nova"/>
                <a:ea typeface="Proxima Nova"/>
                <a:cs typeface="Proxima Nova"/>
                <a:sym typeface="Proxima Nova"/>
              </a:rPr>
              <a:t>60% fall in the age range of 18 to 23 (vs. 53% for other meal types)  </a:t>
            </a:r>
            <a:endParaRPr sz="900">
              <a:solidFill>
                <a:schemeClr val="dk2"/>
              </a:solidFill>
              <a:latin typeface="Proxima Nova"/>
              <a:ea typeface="Proxima Nova"/>
              <a:cs typeface="Proxima Nova"/>
              <a:sym typeface="Proxima Nova"/>
            </a:endParaRPr>
          </a:p>
          <a:p>
            <a:pPr indent="-285750" lvl="0" marL="457200" rtl="0" algn="l">
              <a:lnSpc>
                <a:spcPct val="115000"/>
              </a:lnSpc>
              <a:spcBef>
                <a:spcPts val="0"/>
              </a:spcBef>
              <a:spcAft>
                <a:spcPts val="0"/>
              </a:spcAft>
              <a:buClr>
                <a:schemeClr val="dk2"/>
              </a:buClr>
              <a:buSzPts val="900"/>
              <a:buFont typeface="Proxima Nova"/>
              <a:buChar char="●"/>
            </a:pPr>
            <a:r>
              <a:rPr lang="en" sz="900">
                <a:solidFill>
                  <a:schemeClr val="dk2"/>
                </a:solidFill>
                <a:latin typeface="Proxima Nova"/>
                <a:ea typeface="Proxima Nova"/>
                <a:cs typeface="Proxima Nova"/>
                <a:sym typeface="Proxima Nova"/>
              </a:rPr>
              <a:t>Those that order lunch are =5% more likely to have income under 50k</a:t>
            </a:r>
            <a:endParaRPr sz="900">
              <a:solidFill>
                <a:schemeClr val="dk2"/>
              </a:solidFill>
              <a:latin typeface="Proxima Nova"/>
              <a:ea typeface="Proxima Nova"/>
              <a:cs typeface="Proxima Nova"/>
              <a:sym typeface="Proxima Nova"/>
            </a:endParaRPr>
          </a:p>
          <a:p>
            <a:pPr indent="-285750" lvl="0" marL="457200" rtl="0" algn="l">
              <a:lnSpc>
                <a:spcPct val="115000"/>
              </a:lnSpc>
              <a:spcBef>
                <a:spcPts val="0"/>
              </a:spcBef>
              <a:spcAft>
                <a:spcPts val="0"/>
              </a:spcAft>
              <a:buClr>
                <a:schemeClr val="dk2"/>
              </a:buClr>
              <a:buSzPts val="900"/>
              <a:buFont typeface="Proxima Nova"/>
              <a:buChar char="●"/>
            </a:pPr>
            <a:r>
              <a:rPr lang="en" sz="900">
                <a:solidFill>
                  <a:schemeClr val="dk2"/>
                </a:solidFill>
                <a:latin typeface="Proxima Nova"/>
                <a:ea typeface="Proxima Nova"/>
                <a:cs typeface="Proxima Nova"/>
                <a:sym typeface="Proxima Nova"/>
              </a:rPr>
              <a:t>No differences in gender, income or geo type (city, rural).</a:t>
            </a:r>
            <a:endParaRPr sz="900">
              <a:solidFill>
                <a:schemeClr val="dk2"/>
              </a:solidFill>
              <a:latin typeface="Proxima Nova"/>
              <a:ea typeface="Proxima Nova"/>
              <a:cs typeface="Proxima Nova"/>
              <a:sym typeface="Proxima Nova"/>
            </a:endParaRPr>
          </a:p>
        </p:txBody>
      </p:sp>
      <p:sp>
        <p:nvSpPr>
          <p:cNvPr id="137" name="Google Shape;137;p20"/>
          <p:cNvSpPr txBox="1"/>
          <p:nvPr/>
        </p:nvSpPr>
        <p:spPr>
          <a:xfrm>
            <a:off x="3347550" y="3686300"/>
            <a:ext cx="2448900" cy="654600"/>
          </a:xfrm>
          <a:prstGeom prst="rect">
            <a:avLst/>
          </a:prstGeom>
          <a:noFill/>
          <a:ln>
            <a:noFill/>
          </a:ln>
        </p:spPr>
        <p:txBody>
          <a:bodyPr anchorCtr="0" anchor="t" bIns="91425" lIns="91425" spcFirstLastPara="1" rIns="91425" wrap="square" tIns="91425">
            <a:noAutofit/>
          </a:bodyPr>
          <a:lstStyle/>
          <a:p>
            <a:pPr indent="-285750" lvl="0" marL="457200" rtl="0" algn="l">
              <a:lnSpc>
                <a:spcPct val="115000"/>
              </a:lnSpc>
              <a:spcBef>
                <a:spcPts val="0"/>
              </a:spcBef>
              <a:spcAft>
                <a:spcPts val="0"/>
              </a:spcAft>
              <a:buClr>
                <a:schemeClr val="dk2"/>
              </a:buClr>
              <a:buSzPts val="900"/>
              <a:buFont typeface="Proxima Nova"/>
              <a:buChar char="●"/>
            </a:pPr>
            <a:r>
              <a:rPr lang="en" sz="900">
                <a:solidFill>
                  <a:schemeClr val="dk2"/>
                </a:solidFill>
                <a:latin typeface="Proxima Nova"/>
                <a:ea typeface="Proxima Nova"/>
                <a:cs typeface="Proxima Nova"/>
                <a:sym typeface="Proxima Nova"/>
              </a:rPr>
              <a:t>47% of Cx eat lunch alone (vs. 37% for other meals)</a:t>
            </a:r>
            <a:endParaRPr sz="900">
              <a:solidFill>
                <a:schemeClr val="dk2"/>
              </a:solidFill>
              <a:latin typeface="Proxima Nova"/>
              <a:ea typeface="Proxima Nova"/>
              <a:cs typeface="Proxima Nova"/>
              <a:sym typeface="Proxima Nova"/>
            </a:endParaRPr>
          </a:p>
          <a:p>
            <a:pPr indent="-285750" lvl="0" marL="457200" rtl="0" algn="l">
              <a:lnSpc>
                <a:spcPct val="115000"/>
              </a:lnSpc>
              <a:spcBef>
                <a:spcPts val="0"/>
              </a:spcBef>
              <a:spcAft>
                <a:spcPts val="0"/>
              </a:spcAft>
              <a:buClr>
                <a:schemeClr val="dk2"/>
              </a:buClr>
              <a:buSzPts val="900"/>
              <a:buFont typeface="Proxima Nova"/>
              <a:buChar char="●"/>
            </a:pPr>
            <a:r>
              <a:rPr lang="en" sz="900">
                <a:solidFill>
                  <a:schemeClr val="dk2"/>
                </a:solidFill>
                <a:latin typeface="Proxima Nova"/>
                <a:ea typeface="Proxima Nova"/>
                <a:cs typeface="Proxima Nova"/>
                <a:sym typeface="Proxima Nova"/>
              </a:rPr>
              <a:t>Less likely to eat lunch with </a:t>
            </a:r>
            <a:r>
              <a:rPr lang="en" sz="900">
                <a:solidFill>
                  <a:schemeClr val="dk2"/>
                </a:solidFill>
                <a:latin typeface="Proxima Nova"/>
                <a:ea typeface="Proxima Nova"/>
                <a:cs typeface="Proxima Nova"/>
                <a:sym typeface="Proxima Nova"/>
              </a:rPr>
              <a:t>spouse</a:t>
            </a:r>
            <a:r>
              <a:rPr lang="en" sz="900">
                <a:solidFill>
                  <a:schemeClr val="dk2"/>
                </a:solidFill>
                <a:latin typeface="Proxima Nova"/>
                <a:ea typeface="Proxima Nova"/>
                <a:cs typeface="Proxima Nova"/>
                <a:sym typeface="Proxima Nova"/>
              </a:rPr>
              <a:t> or children</a:t>
            </a:r>
            <a:endParaRPr sz="900">
              <a:solidFill>
                <a:schemeClr val="dk2"/>
              </a:solidFill>
              <a:latin typeface="Proxima Nova"/>
              <a:ea typeface="Proxima Nova"/>
              <a:cs typeface="Proxima Nova"/>
              <a:sym typeface="Proxima Nova"/>
            </a:endParaRPr>
          </a:p>
          <a:p>
            <a:pPr indent="0" lvl="0" marL="0" rtl="0" algn="l">
              <a:lnSpc>
                <a:spcPct val="120000"/>
              </a:lnSpc>
              <a:spcBef>
                <a:spcPts val="0"/>
              </a:spcBef>
              <a:spcAft>
                <a:spcPts val="0"/>
              </a:spcAft>
              <a:buNone/>
            </a:pPr>
            <a:r>
              <a:t/>
            </a:r>
            <a:endParaRPr sz="900">
              <a:solidFill>
                <a:schemeClr val="dk2"/>
              </a:solidFill>
              <a:latin typeface="Proxima Nova"/>
              <a:ea typeface="Proxima Nova"/>
              <a:cs typeface="Proxima Nova"/>
              <a:sym typeface="Proxima Nova"/>
            </a:endParaRPr>
          </a:p>
        </p:txBody>
      </p:sp>
      <p:sp>
        <p:nvSpPr>
          <p:cNvPr id="138" name="Google Shape;138;p20"/>
          <p:cNvSpPr txBox="1"/>
          <p:nvPr/>
        </p:nvSpPr>
        <p:spPr>
          <a:xfrm>
            <a:off x="3347550" y="3321100"/>
            <a:ext cx="2448900" cy="37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rgbClr val="666666"/>
                </a:solidFill>
                <a:latin typeface="Proxima Nova"/>
                <a:ea typeface="Proxima Nova"/>
                <a:cs typeface="Proxima Nova"/>
                <a:sym typeface="Proxima Nova"/>
              </a:rPr>
              <a:t>Those ordering lunch are ordering alone</a:t>
            </a:r>
            <a:endParaRPr b="1" sz="1000">
              <a:solidFill>
                <a:srgbClr val="666666"/>
              </a:solidFill>
              <a:latin typeface="Proxima Nova"/>
              <a:ea typeface="Proxima Nova"/>
              <a:cs typeface="Proxima Nova"/>
              <a:sym typeface="Proxima Nova"/>
            </a:endParaRPr>
          </a:p>
        </p:txBody>
      </p:sp>
      <p:sp>
        <p:nvSpPr>
          <p:cNvPr id="139" name="Google Shape;139;p20"/>
          <p:cNvSpPr txBox="1"/>
          <p:nvPr/>
        </p:nvSpPr>
        <p:spPr>
          <a:xfrm>
            <a:off x="6036400" y="3686300"/>
            <a:ext cx="2448900" cy="654600"/>
          </a:xfrm>
          <a:prstGeom prst="rect">
            <a:avLst/>
          </a:prstGeom>
          <a:noFill/>
          <a:ln>
            <a:noFill/>
          </a:ln>
        </p:spPr>
        <p:txBody>
          <a:bodyPr anchorCtr="0" anchor="t" bIns="91425" lIns="91425" spcFirstLastPara="1" rIns="91425" wrap="square" tIns="91425">
            <a:noAutofit/>
          </a:bodyPr>
          <a:lstStyle/>
          <a:p>
            <a:pPr indent="-285750" lvl="0" marL="457200" rtl="0" algn="l">
              <a:lnSpc>
                <a:spcPct val="115000"/>
              </a:lnSpc>
              <a:spcBef>
                <a:spcPts val="0"/>
              </a:spcBef>
              <a:spcAft>
                <a:spcPts val="0"/>
              </a:spcAft>
              <a:buClr>
                <a:schemeClr val="dk2"/>
              </a:buClr>
              <a:buSzPts val="900"/>
              <a:buFont typeface="Proxima Nova"/>
              <a:buChar char="●"/>
            </a:pPr>
            <a:r>
              <a:rPr lang="en" sz="900">
                <a:solidFill>
                  <a:schemeClr val="dk2"/>
                </a:solidFill>
                <a:latin typeface="Proxima Nova"/>
                <a:ea typeface="Proxima Nova"/>
                <a:cs typeface="Proxima Nova"/>
                <a:sym typeface="Proxima Nova"/>
              </a:rPr>
              <a:t>17% eat in the office vs. (3% for other meal types), less likely to be at home (69% vs. 83% for other meal types)</a:t>
            </a:r>
            <a:endParaRPr sz="900">
              <a:solidFill>
                <a:schemeClr val="dk2"/>
              </a:solidFill>
              <a:latin typeface="Proxima Nova"/>
              <a:ea typeface="Proxima Nova"/>
              <a:cs typeface="Proxima Nova"/>
              <a:sym typeface="Proxima Nova"/>
            </a:endParaRPr>
          </a:p>
          <a:p>
            <a:pPr indent="-285750" lvl="0" marL="457200" rtl="0" algn="l">
              <a:lnSpc>
                <a:spcPct val="115000"/>
              </a:lnSpc>
              <a:spcBef>
                <a:spcPts val="0"/>
              </a:spcBef>
              <a:spcAft>
                <a:spcPts val="0"/>
              </a:spcAft>
              <a:buClr>
                <a:schemeClr val="dk2"/>
              </a:buClr>
              <a:buSzPts val="900"/>
              <a:buFont typeface="Proxima Nova"/>
              <a:buChar char="●"/>
            </a:pPr>
            <a:r>
              <a:rPr lang="en" sz="900">
                <a:solidFill>
                  <a:schemeClr val="dk2"/>
                </a:solidFill>
                <a:latin typeface="Proxima Nova"/>
                <a:ea typeface="Proxima Nova"/>
                <a:cs typeface="Proxima Nova"/>
                <a:sym typeface="Proxima Nova"/>
              </a:rPr>
              <a:t>If lunch is eaten with others, it's more likely to be eaten with business colleagues (14% vs. 2% for other meals) </a:t>
            </a:r>
            <a:endParaRPr sz="1100">
              <a:solidFill>
                <a:schemeClr val="dk1"/>
              </a:solidFill>
            </a:endParaRPr>
          </a:p>
          <a:p>
            <a:pPr indent="0" lvl="0" marL="0" rtl="0" algn="ctr">
              <a:lnSpc>
                <a:spcPct val="120000"/>
              </a:lnSpc>
              <a:spcBef>
                <a:spcPts val="0"/>
              </a:spcBef>
              <a:spcAft>
                <a:spcPts val="0"/>
              </a:spcAft>
              <a:buClr>
                <a:schemeClr val="dk1"/>
              </a:buClr>
              <a:buSzPts val="1100"/>
              <a:buFont typeface="Arial"/>
              <a:buNone/>
            </a:pPr>
            <a:r>
              <a:t/>
            </a:r>
            <a:endParaRPr sz="1000">
              <a:solidFill>
                <a:srgbClr val="888888"/>
              </a:solidFill>
              <a:latin typeface="Proxima Nova"/>
              <a:ea typeface="Proxima Nova"/>
              <a:cs typeface="Proxima Nova"/>
              <a:sym typeface="Proxima Nova"/>
            </a:endParaRPr>
          </a:p>
        </p:txBody>
      </p:sp>
      <p:sp>
        <p:nvSpPr>
          <p:cNvPr id="140" name="Google Shape;140;p20"/>
          <p:cNvSpPr txBox="1"/>
          <p:nvPr/>
        </p:nvSpPr>
        <p:spPr>
          <a:xfrm>
            <a:off x="6036400" y="3321100"/>
            <a:ext cx="2448900" cy="37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rgbClr val="666666"/>
                </a:solidFill>
                <a:latin typeface="Proxima Nova"/>
                <a:ea typeface="Proxima Nova"/>
                <a:cs typeface="Proxima Nova"/>
                <a:sym typeface="Proxima Nova"/>
              </a:rPr>
              <a:t>Lunch is an work event</a:t>
            </a:r>
            <a:endParaRPr b="1" sz="1000">
              <a:solidFill>
                <a:srgbClr val="666666"/>
              </a:solidFill>
              <a:latin typeface="Proxima Nova"/>
              <a:ea typeface="Proxima Nova"/>
              <a:cs typeface="Proxima Nova"/>
              <a:sym typeface="Proxima Nova"/>
            </a:endParaRPr>
          </a:p>
        </p:txBody>
      </p:sp>
      <p:sp>
        <p:nvSpPr>
          <p:cNvPr id="141" name="Google Shape;141;p20"/>
          <p:cNvSpPr/>
          <p:nvPr/>
        </p:nvSpPr>
        <p:spPr>
          <a:xfrm>
            <a:off x="1060375" y="1478975"/>
            <a:ext cx="1635900" cy="16359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0"/>
          <p:cNvSpPr/>
          <p:nvPr/>
        </p:nvSpPr>
        <p:spPr>
          <a:xfrm>
            <a:off x="3754050" y="1478975"/>
            <a:ext cx="1635900" cy="16359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0"/>
          <p:cNvSpPr/>
          <p:nvPr/>
        </p:nvSpPr>
        <p:spPr>
          <a:xfrm>
            <a:off x="6442900" y="1478975"/>
            <a:ext cx="1635900" cy="16359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4" name="Google Shape;144;p20"/>
          <p:cNvPicPr preferRelativeResize="0"/>
          <p:nvPr/>
        </p:nvPicPr>
        <p:blipFill rotWithShape="1">
          <a:blip r:embed="rId4">
            <a:alphaModFix/>
          </a:blip>
          <a:srcRect b="0" l="9961" r="9961" t="0"/>
          <a:stretch/>
        </p:blipFill>
        <p:spPr>
          <a:xfrm>
            <a:off x="1060375" y="1478975"/>
            <a:ext cx="1635900" cy="1635900"/>
          </a:xfrm>
          <a:prstGeom prst="ellipse">
            <a:avLst/>
          </a:prstGeom>
          <a:noFill/>
          <a:ln>
            <a:noFill/>
          </a:ln>
        </p:spPr>
      </p:pic>
      <p:pic>
        <p:nvPicPr>
          <p:cNvPr id="145" name="Google Shape;145;p20"/>
          <p:cNvPicPr preferRelativeResize="0"/>
          <p:nvPr/>
        </p:nvPicPr>
        <p:blipFill rotWithShape="1">
          <a:blip r:embed="rId5">
            <a:alphaModFix/>
          </a:blip>
          <a:srcRect b="0" l="21906" r="21906" t="0"/>
          <a:stretch/>
        </p:blipFill>
        <p:spPr>
          <a:xfrm>
            <a:off x="3751638" y="1478975"/>
            <a:ext cx="1635900" cy="1635900"/>
          </a:xfrm>
          <a:prstGeom prst="ellipse">
            <a:avLst/>
          </a:prstGeom>
          <a:noFill/>
          <a:ln>
            <a:noFill/>
          </a:ln>
        </p:spPr>
      </p:pic>
      <p:pic>
        <p:nvPicPr>
          <p:cNvPr id="146" name="Google Shape;146;p20"/>
          <p:cNvPicPr preferRelativeResize="0"/>
          <p:nvPr/>
        </p:nvPicPr>
        <p:blipFill rotWithShape="1">
          <a:blip r:embed="rId6">
            <a:alphaModFix/>
          </a:blip>
          <a:srcRect b="0" l="16729" r="16723" t="0"/>
          <a:stretch/>
        </p:blipFill>
        <p:spPr>
          <a:xfrm>
            <a:off x="6447725" y="1478975"/>
            <a:ext cx="1635900" cy="1635900"/>
          </a:xfrm>
          <a:prstGeom prst="ellipse">
            <a:avLst/>
          </a:prstGeom>
          <a:noFill/>
          <a:ln>
            <a:noFill/>
          </a:ln>
        </p:spPr>
      </p:pic>
      <p:sp>
        <p:nvSpPr>
          <p:cNvPr id="147" name="Google Shape;147;p20"/>
          <p:cNvSpPr txBox="1"/>
          <p:nvPr/>
        </p:nvSpPr>
        <p:spPr>
          <a:xfrm>
            <a:off x="175500" y="175775"/>
            <a:ext cx="78009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solidFill>
                  <a:schemeClr val="dk2"/>
                </a:solidFill>
                <a:latin typeface="Proxima Nova"/>
                <a:ea typeface="Proxima Nova"/>
                <a:cs typeface="Proxima Nova"/>
                <a:sym typeface="Proxima Nova"/>
              </a:rPr>
              <a:t>Who is ordering lunch?</a:t>
            </a:r>
            <a:endParaRPr b="1" sz="2300">
              <a:solidFill>
                <a:schemeClr val="dk2"/>
              </a:solidFill>
              <a:latin typeface="Proxima Nova"/>
              <a:ea typeface="Proxima Nova"/>
              <a:cs typeface="Proxima Nova"/>
              <a:sym typeface="Proxima Nova"/>
            </a:endParaRPr>
          </a:p>
        </p:txBody>
      </p:sp>
      <p:sp>
        <p:nvSpPr>
          <p:cNvPr id="148" name="Google Shape;148;p20"/>
          <p:cNvSpPr txBox="1"/>
          <p:nvPr/>
        </p:nvSpPr>
        <p:spPr>
          <a:xfrm>
            <a:off x="39500" y="4690675"/>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u="sng">
                <a:solidFill>
                  <a:schemeClr val="hlink"/>
                </a:solidFill>
                <a:latin typeface="Proxima Nova"/>
                <a:ea typeface="Proxima Nova"/>
                <a:cs typeface="Proxima Nova"/>
                <a:sym typeface="Proxima Nova"/>
                <a:hlinkClick r:id="rId7"/>
              </a:rPr>
              <a:t>Source</a:t>
            </a:r>
            <a:endParaRPr sz="800">
              <a:latin typeface="Proxima Nova"/>
              <a:ea typeface="Proxima Nova"/>
              <a:cs typeface="Proxima Nova"/>
              <a:sym typeface="Proxima Nova"/>
            </a:endParaRPr>
          </a:p>
        </p:txBody>
      </p:sp>
      <p:sp>
        <p:nvSpPr>
          <p:cNvPr id="149" name="Google Shape;149;p20"/>
          <p:cNvSpPr txBox="1"/>
          <p:nvPr/>
        </p:nvSpPr>
        <p:spPr>
          <a:xfrm>
            <a:off x="291550" y="623750"/>
            <a:ext cx="7509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2"/>
                </a:solidFill>
                <a:latin typeface="Proxima Nova"/>
                <a:ea typeface="Proxima Nova"/>
                <a:cs typeface="Proxima Nova"/>
                <a:sym typeface="Proxima Nova"/>
              </a:rPr>
              <a:t>Lunch is typically ordered among younger working professionals &amp; students who are eating alone</a:t>
            </a:r>
            <a:endParaRPr i="1" sz="1000">
              <a:solidFill>
                <a:schemeClr val="dk2"/>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1"/>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5" name="Google Shape;155;p21"/>
          <p:cNvSpPr txBox="1"/>
          <p:nvPr/>
        </p:nvSpPr>
        <p:spPr>
          <a:xfrm>
            <a:off x="177925" y="182150"/>
            <a:ext cx="780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2"/>
                </a:solidFill>
                <a:latin typeface="Proxima Nova"/>
                <a:ea typeface="Proxima Nova"/>
                <a:cs typeface="Proxima Nova"/>
                <a:sym typeface="Proxima Nova"/>
              </a:rPr>
              <a:t>What and where are Cx ordering for lunch?</a:t>
            </a:r>
            <a:endParaRPr b="1" sz="2000">
              <a:solidFill>
                <a:schemeClr val="dk2"/>
              </a:solidFill>
              <a:latin typeface="Proxima Nova"/>
              <a:ea typeface="Proxima Nova"/>
              <a:cs typeface="Proxima Nova"/>
              <a:sym typeface="Proxima Nova"/>
            </a:endParaRPr>
          </a:p>
        </p:txBody>
      </p:sp>
      <p:sp>
        <p:nvSpPr>
          <p:cNvPr id="156" name="Google Shape;156;p21"/>
          <p:cNvSpPr txBox="1"/>
          <p:nvPr/>
        </p:nvSpPr>
        <p:spPr>
          <a:xfrm>
            <a:off x="39500" y="4690675"/>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u="sng">
                <a:solidFill>
                  <a:schemeClr val="hlink"/>
                </a:solidFill>
                <a:latin typeface="Proxima Nova"/>
                <a:ea typeface="Proxima Nova"/>
                <a:cs typeface="Proxima Nova"/>
                <a:sym typeface="Proxima Nova"/>
                <a:hlinkClick r:id="rId3"/>
              </a:rPr>
              <a:t>Source</a:t>
            </a:r>
            <a:endParaRPr sz="800">
              <a:latin typeface="Proxima Nova"/>
              <a:ea typeface="Proxima Nova"/>
              <a:cs typeface="Proxima Nova"/>
              <a:sym typeface="Proxima Nova"/>
            </a:endParaRPr>
          </a:p>
        </p:txBody>
      </p:sp>
      <p:sp>
        <p:nvSpPr>
          <p:cNvPr id="157" name="Google Shape;157;p21"/>
          <p:cNvSpPr txBox="1"/>
          <p:nvPr/>
        </p:nvSpPr>
        <p:spPr>
          <a:xfrm>
            <a:off x="4709825" y="2299675"/>
            <a:ext cx="4005900" cy="2391000"/>
          </a:xfrm>
          <a:prstGeom prst="rect">
            <a:avLst/>
          </a:prstGeom>
          <a:noFill/>
          <a:ln>
            <a:noFill/>
          </a:ln>
        </p:spPr>
        <p:txBody>
          <a:bodyPr anchorCtr="0" anchor="t" bIns="91425" lIns="91425" spcFirstLastPara="1" rIns="91425" wrap="square" tIns="91425">
            <a:spAutoFit/>
          </a:bodyPr>
          <a:lstStyle/>
          <a:p>
            <a:pPr indent="-298450" lvl="0" marL="457200" rtl="0" algn="l">
              <a:lnSpc>
                <a:spcPct val="100000"/>
              </a:lnSpc>
              <a:spcBef>
                <a:spcPts val="0"/>
              </a:spcBef>
              <a:spcAft>
                <a:spcPts val="0"/>
              </a:spcAft>
              <a:buClr>
                <a:srgbClr val="CC0000"/>
              </a:buClr>
              <a:buSzPts val="1100"/>
              <a:buChar char="●"/>
            </a:pPr>
            <a:r>
              <a:rPr b="1" lang="en" sz="1100">
                <a:solidFill>
                  <a:schemeClr val="dk1"/>
                </a:solidFill>
              </a:rPr>
              <a:t>Cx are m</a:t>
            </a:r>
            <a:r>
              <a:rPr b="1" lang="en" sz="1100">
                <a:solidFill>
                  <a:schemeClr val="dk1"/>
                </a:solidFill>
              </a:rPr>
              <a:t>ore likely to</a:t>
            </a:r>
            <a:r>
              <a:rPr lang="en" sz="1100">
                <a:solidFill>
                  <a:schemeClr val="dk1"/>
                </a:solidFill>
              </a:rPr>
              <a:t> </a:t>
            </a:r>
            <a:r>
              <a:rPr b="1" lang="en" sz="1100">
                <a:solidFill>
                  <a:schemeClr val="dk1"/>
                </a:solidFill>
              </a:rPr>
              <a:t>order from places they’ve ordered from before</a:t>
            </a:r>
            <a:r>
              <a:rPr lang="en" sz="1100">
                <a:solidFill>
                  <a:schemeClr val="dk1"/>
                </a:solidFill>
              </a:rPr>
              <a:t> (</a:t>
            </a:r>
            <a:r>
              <a:rPr i="1" lang="en" sz="1100">
                <a:solidFill>
                  <a:schemeClr val="dk1"/>
                </a:solidFill>
              </a:rPr>
              <a:t>especially 10+ times before</a:t>
            </a:r>
            <a:r>
              <a:rPr lang="en" sz="1100">
                <a:solidFill>
                  <a:schemeClr val="dk1"/>
                </a:solidFill>
              </a:rPr>
              <a:t>).</a:t>
            </a:r>
            <a:endParaRPr b="1" sz="1100">
              <a:solidFill>
                <a:schemeClr val="dk1"/>
              </a:solidFill>
            </a:endParaRPr>
          </a:p>
          <a:p>
            <a:pPr indent="-298450" lvl="0" marL="457200" rtl="0" algn="l">
              <a:lnSpc>
                <a:spcPct val="100000"/>
              </a:lnSpc>
              <a:spcBef>
                <a:spcPts val="1000"/>
              </a:spcBef>
              <a:spcAft>
                <a:spcPts val="0"/>
              </a:spcAft>
              <a:buClr>
                <a:srgbClr val="CC0000"/>
              </a:buClr>
              <a:buSzPts val="1100"/>
              <a:buChar char="●"/>
            </a:pPr>
            <a:r>
              <a:rPr lang="en" sz="1100">
                <a:solidFill>
                  <a:schemeClr val="dk1"/>
                </a:solidFill>
              </a:rPr>
              <a:t>Cx are more likely to </a:t>
            </a:r>
            <a:r>
              <a:rPr b="1" lang="en" sz="1100">
                <a:solidFill>
                  <a:schemeClr val="dk1"/>
                </a:solidFill>
              </a:rPr>
              <a:t>know the exact cuisine</a:t>
            </a:r>
            <a:r>
              <a:rPr lang="en" sz="1100">
                <a:solidFill>
                  <a:schemeClr val="dk1"/>
                </a:solidFill>
              </a:rPr>
              <a:t> (65% vs. 60% for other meals), the </a:t>
            </a:r>
            <a:r>
              <a:rPr b="1" lang="en" sz="1100">
                <a:solidFill>
                  <a:schemeClr val="dk1"/>
                </a:solidFill>
              </a:rPr>
              <a:t>exact Rx </a:t>
            </a:r>
            <a:r>
              <a:rPr lang="en" sz="1100">
                <a:solidFill>
                  <a:schemeClr val="dk1"/>
                </a:solidFill>
              </a:rPr>
              <a:t>(58% vs. 51%), </a:t>
            </a:r>
            <a:r>
              <a:rPr b="1" lang="en" sz="1100">
                <a:solidFill>
                  <a:schemeClr val="dk1"/>
                </a:solidFill>
              </a:rPr>
              <a:t>and items</a:t>
            </a:r>
            <a:r>
              <a:rPr lang="en" sz="1100">
                <a:solidFill>
                  <a:schemeClr val="dk1"/>
                </a:solidFill>
              </a:rPr>
              <a:t> (50% vs. 41%).</a:t>
            </a:r>
            <a:endParaRPr sz="1100">
              <a:solidFill>
                <a:schemeClr val="dk1"/>
              </a:solidFill>
            </a:endParaRPr>
          </a:p>
          <a:p>
            <a:pPr indent="-298450" lvl="0" marL="457200" rtl="0" algn="l">
              <a:lnSpc>
                <a:spcPct val="100000"/>
              </a:lnSpc>
              <a:spcBef>
                <a:spcPts val="1000"/>
              </a:spcBef>
              <a:spcAft>
                <a:spcPts val="0"/>
              </a:spcAft>
              <a:buClr>
                <a:srgbClr val="CC0000"/>
              </a:buClr>
              <a:buSzPts val="1100"/>
              <a:buChar char="●"/>
            </a:pPr>
            <a:r>
              <a:rPr lang="en" sz="1100">
                <a:solidFill>
                  <a:schemeClr val="dk1"/>
                </a:solidFill>
              </a:rPr>
              <a:t>Lunches are </a:t>
            </a:r>
            <a:r>
              <a:rPr b="1" lang="en" sz="1100">
                <a:solidFill>
                  <a:schemeClr val="dk1"/>
                </a:solidFill>
              </a:rPr>
              <a:t>more likely to consist of entrees/main dishes </a:t>
            </a:r>
            <a:r>
              <a:rPr lang="en" sz="1100">
                <a:solidFill>
                  <a:schemeClr val="dk1"/>
                </a:solidFill>
              </a:rPr>
              <a:t>and less other items (i.e. apps, kids meals, sides, etc.)</a:t>
            </a:r>
            <a:endParaRPr sz="1100">
              <a:solidFill>
                <a:schemeClr val="dk1"/>
              </a:solidFill>
            </a:endParaRPr>
          </a:p>
          <a:p>
            <a:pPr indent="-298450" lvl="0" marL="457200" rtl="0" algn="l">
              <a:lnSpc>
                <a:spcPct val="100000"/>
              </a:lnSpc>
              <a:spcBef>
                <a:spcPts val="1000"/>
              </a:spcBef>
              <a:spcAft>
                <a:spcPts val="0"/>
              </a:spcAft>
              <a:buClr>
                <a:srgbClr val="CC0000"/>
              </a:buClr>
              <a:buSzPts val="1100"/>
              <a:buChar char="●"/>
            </a:pPr>
            <a:r>
              <a:rPr b="1" lang="en" sz="1100">
                <a:solidFill>
                  <a:schemeClr val="dk1"/>
                </a:solidFill>
              </a:rPr>
              <a:t>Lunch is a “meal on the go” among 13% of Cx</a:t>
            </a:r>
            <a:endParaRPr b="1" sz="1100">
              <a:solidFill>
                <a:schemeClr val="dk1"/>
              </a:solidFill>
            </a:endParaRPr>
          </a:p>
          <a:p>
            <a:pPr indent="-298450" lvl="1" marL="914400" rtl="0" algn="l">
              <a:lnSpc>
                <a:spcPct val="100000"/>
              </a:lnSpc>
              <a:spcBef>
                <a:spcPts val="1000"/>
              </a:spcBef>
              <a:spcAft>
                <a:spcPts val="1000"/>
              </a:spcAft>
              <a:buClr>
                <a:schemeClr val="dk1"/>
              </a:buClr>
              <a:buSzPts val="1100"/>
              <a:buChar char="○"/>
            </a:pPr>
            <a:r>
              <a:rPr lang="en" sz="1100">
                <a:solidFill>
                  <a:schemeClr val="dk1"/>
                </a:solidFill>
              </a:rPr>
              <a:t>vs. 5% for other meals </a:t>
            </a:r>
            <a:endParaRPr sz="1100">
              <a:solidFill>
                <a:schemeClr val="dk1"/>
              </a:solidFill>
            </a:endParaRPr>
          </a:p>
        </p:txBody>
      </p:sp>
      <p:pic>
        <p:nvPicPr>
          <p:cNvPr id="158" name="Google Shape;158;p21"/>
          <p:cNvPicPr preferRelativeResize="0"/>
          <p:nvPr/>
        </p:nvPicPr>
        <p:blipFill>
          <a:blip r:embed="rId4">
            <a:alphaModFix/>
          </a:blip>
          <a:stretch>
            <a:fillRect/>
          </a:stretch>
        </p:blipFill>
        <p:spPr>
          <a:xfrm>
            <a:off x="6271725" y="1215450"/>
            <a:ext cx="1020351" cy="1020351"/>
          </a:xfrm>
          <a:prstGeom prst="rect">
            <a:avLst/>
          </a:prstGeom>
          <a:noFill/>
          <a:ln>
            <a:noFill/>
          </a:ln>
        </p:spPr>
      </p:pic>
      <p:pic>
        <p:nvPicPr>
          <p:cNvPr id="159" name="Google Shape;159;p21"/>
          <p:cNvPicPr preferRelativeResize="0"/>
          <p:nvPr/>
        </p:nvPicPr>
        <p:blipFill>
          <a:blip r:embed="rId5">
            <a:alphaModFix/>
          </a:blip>
          <a:stretch>
            <a:fillRect/>
          </a:stretch>
        </p:blipFill>
        <p:spPr>
          <a:xfrm>
            <a:off x="534825" y="1453750"/>
            <a:ext cx="3469776" cy="2983125"/>
          </a:xfrm>
          <a:prstGeom prst="rect">
            <a:avLst/>
          </a:prstGeom>
          <a:noFill/>
          <a:ln>
            <a:noFill/>
          </a:ln>
        </p:spPr>
      </p:pic>
      <p:sp>
        <p:nvSpPr>
          <p:cNvPr id="160" name="Google Shape;160;p21"/>
          <p:cNvSpPr txBox="1"/>
          <p:nvPr/>
        </p:nvSpPr>
        <p:spPr>
          <a:xfrm>
            <a:off x="39500" y="4690675"/>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u="sng">
                <a:solidFill>
                  <a:schemeClr val="hlink"/>
                </a:solidFill>
                <a:latin typeface="Proxima Nova"/>
                <a:ea typeface="Proxima Nova"/>
                <a:cs typeface="Proxima Nova"/>
                <a:sym typeface="Proxima Nova"/>
                <a:hlinkClick r:id="rId6"/>
              </a:rPr>
              <a:t>Source</a:t>
            </a:r>
            <a:endParaRPr sz="800">
              <a:latin typeface="Proxima Nova"/>
              <a:ea typeface="Proxima Nova"/>
              <a:cs typeface="Proxima Nova"/>
              <a:sym typeface="Proxima Nova"/>
            </a:endParaRPr>
          </a:p>
        </p:txBody>
      </p:sp>
      <p:sp>
        <p:nvSpPr>
          <p:cNvPr id="161" name="Google Shape;161;p21"/>
          <p:cNvSpPr txBox="1"/>
          <p:nvPr/>
        </p:nvSpPr>
        <p:spPr>
          <a:xfrm>
            <a:off x="534825" y="1104263"/>
            <a:ext cx="430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Proxima Nova"/>
                <a:ea typeface="Proxima Nova"/>
                <a:cs typeface="Proxima Nova"/>
                <a:sym typeface="Proxima Nova"/>
              </a:rPr>
              <a:t>Top cuisines ordered for lunch</a:t>
            </a:r>
            <a:endParaRPr b="1">
              <a:latin typeface="Proxima Nova"/>
              <a:ea typeface="Proxima Nova"/>
              <a:cs typeface="Proxima Nova"/>
              <a:sym typeface="Proxima Nova"/>
            </a:endParaRPr>
          </a:p>
        </p:txBody>
      </p:sp>
      <p:sp>
        <p:nvSpPr>
          <p:cNvPr id="162" name="Google Shape;162;p21"/>
          <p:cNvSpPr txBox="1"/>
          <p:nvPr/>
        </p:nvSpPr>
        <p:spPr>
          <a:xfrm>
            <a:off x="227850" y="561200"/>
            <a:ext cx="7509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2"/>
                </a:solidFill>
                <a:latin typeface="Proxima Nova"/>
                <a:ea typeface="Proxima Nova"/>
                <a:cs typeface="Proxima Nova"/>
                <a:sym typeface="Proxima Nova"/>
              </a:rPr>
              <a:t>Cx are looking for quick “on-to-go” type meals (ideally, sandwiches, burgers and fastfood).  </a:t>
            </a:r>
            <a:r>
              <a:rPr b="1" i="1" lang="en" sz="1000">
                <a:solidFill>
                  <a:schemeClr val="dk2"/>
                </a:solidFill>
                <a:latin typeface="Proxima Nova"/>
                <a:ea typeface="Proxima Nova"/>
                <a:cs typeface="Proxima Nova"/>
                <a:sym typeface="Proxima Nova"/>
              </a:rPr>
              <a:t>They will typically order from a Rx they have already successfully ordered from multiple times.</a:t>
            </a:r>
            <a:endParaRPr b="1" i="1" sz="1000">
              <a:solidFill>
                <a:schemeClr val="dk2"/>
              </a:solidFill>
              <a:latin typeface="Proxima Nova"/>
              <a:ea typeface="Proxima Nova"/>
              <a:cs typeface="Proxima Nova"/>
              <a:sym typeface="Proxima Nov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2"/>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8" name="Google Shape;168;p22"/>
          <p:cNvSpPr txBox="1"/>
          <p:nvPr/>
        </p:nvSpPr>
        <p:spPr>
          <a:xfrm>
            <a:off x="227850" y="207650"/>
            <a:ext cx="780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2"/>
                </a:solidFill>
                <a:latin typeface="Proxima Nova"/>
                <a:ea typeface="Proxima Nova"/>
                <a:cs typeface="Proxima Nova"/>
                <a:sym typeface="Proxima Nova"/>
              </a:rPr>
              <a:t>Why not DoorDash?</a:t>
            </a:r>
            <a:endParaRPr b="1" sz="2000">
              <a:solidFill>
                <a:schemeClr val="dk2"/>
              </a:solidFill>
              <a:latin typeface="Proxima Nova"/>
              <a:ea typeface="Proxima Nova"/>
              <a:cs typeface="Proxima Nova"/>
              <a:sym typeface="Proxima Nova"/>
            </a:endParaRPr>
          </a:p>
        </p:txBody>
      </p:sp>
      <p:sp>
        <p:nvSpPr>
          <p:cNvPr id="169" name="Google Shape;169;p22"/>
          <p:cNvSpPr txBox="1"/>
          <p:nvPr/>
        </p:nvSpPr>
        <p:spPr>
          <a:xfrm>
            <a:off x="260250" y="1123275"/>
            <a:ext cx="6368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dk2"/>
                </a:solidFill>
                <a:latin typeface="Proxima Nova"/>
                <a:ea typeface="Proxima Nova"/>
                <a:cs typeface="Proxima Nova"/>
                <a:sym typeface="Proxima Nova"/>
              </a:rPr>
              <a:t>Reasons from ordering Lunch from DoorDash vs. other third-party app </a:t>
            </a:r>
            <a:endParaRPr b="1" sz="1300">
              <a:solidFill>
                <a:schemeClr val="dk2"/>
              </a:solidFill>
              <a:latin typeface="Proxima Nova"/>
              <a:ea typeface="Proxima Nova"/>
              <a:cs typeface="Proxima Nova"/>
              <a:sym typeface="Proxima Nova"/>
            </a:endParaRPr>
          </a:p>
        </p:txBody>
      </p:sp>
      <p:sp>
        <p:nvSpPr>
          <p:cNvPr id="170" name="Google Shape;170;p22"/>
          <p:cNvSpPr txBox="1"/>
          <p:nvPr/>
        </p:nvSpPr>
        <p:spPr>
          <a:xfrm>
            <a:off x="39500" y="4690675"/>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u="sng">
                <a:solidFill>
                  <a:schemeClr val="hlink"/>
                </a:solidFill>
                <a:latin typeface="Proxima Nova"/>
                <a:ea typeface="Proxima Nova"/>
                <a:cs typeface="Proxima Nova"/>
                <a:sym typeface="Proxima Nova"/>
                <a:hlinkClick r:id="rId4"/>
              </a:rPr>
              <a:t>Source</a:t>
            </a:r>
            <a:endParaRPr sz="800">
              <a:latin typeface="Proxima Nova"/>
              <a:ea typeface="Proxima Nova"/>
              <a:cs typeface="Proxima Nova"/>
              <a:sym typeface="Proxima Nova"/>
            </a:endParaRPr>
          </a:p>
        </p:txBody>
      </p:sp>
      <p:sp>
        <p:nvSpPr>
          <p:cNvPr id="171" name="Google Shape;171;p22"/>
          <p:cNvSpPr txBox="1"/>
          <p:nvPr/>
        </p:nvSpPr>
        <p:spPr>
          <a:xfrm>
            <a:off x="227850" y="561200"/>
            <a:ext cx="82671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2"/>
                </a:solidFill>
                <a:latin typeface="Proxima Nova"/>
                <a:ea typeface="Proxima Nova"/>
                <a:cs typeface="Proxima Nova"/>
                <a:sym typeface="Proxima Nova"/>
              </a:rPr>
              <a:t>The top reasons that Cx may use another service include </a:t>
            </a:r>
            <a:r>
              <a:rPr i="1" lang="en" sz="1000">
                <a:solidFill>
                  <a:schemeClr val="dk2"/>
                </a:solidFill>
                <a:latin typeface="Proxima Nova"/>
                <a:ea typeface="Proxima Nova"/>
                <a:cs typeface="Proxima Nova"/>
                <a:sym typeface="Proxima Nova"/>
              </a:rPr>
              <a:t>availability</a:t>
            </a:r>
            <a:r>
              <a:rPr i="1" lang="en" sz="1000">
                <a:solidFill>
                  <a:schemeClr val="dk2"/>
                </a:solidFill>
                <a:latin typeface="Proxima Nova"/>
                <a:ea typeface="Proxima Nova"/>
                <a:cs typeface="Proxima Nova"/>
                <a:sym typeface="Proxima Nova"/>
              </a:rPr>
              <a:t> of credit, better offers/deals or better loyalty programs.</a:t>
            </a:r>
            <a:r>
              <a:rPr i="1" lang="en" sz="1000">
                <a:solidFill>
                  <a:schemeClr val="dk2"/>
                </a:solidFill>
                <a:latin typeface="Proxima Nova"/>
                <a:ea typeface="Proxima Nova"/>
                <a:cs typeface="Proxima Nova"/>
                <a:sym typeface="Proxima Nova"/>
              </a:rPr>
              <a:t>.  There is a strong need and affordable option for lunch but it cannot be at the loss of solutions that tackle top needs around speed &amp; proximity.  DoorDash can become more competitive with lunch rewards that do not necessarily link to subscription to a program or pre-scheduled lunch.</a:t>
            </a:r>
            <a:endParaRPr b="1" i="1" sz="1000">
              <a:solidFill>
                <a:schemeClr val="dk2"/>
              </a:solidFill>
              <a:latin typeface="Proxima Nova"/>
              <a:ea typeface="Proxima Nova"/>
              <a:cs typeface="Proxima Nova"/>
              <a:sym typeface="Proxima Nova"/>
            </a:endParaRPr>
          </a:p>
        </p:txBody>
      </p:sp>
      <p:pic>
        <p:nvPicPr>
          <p:cNvPr id="172" name="Google Shape;172;p22"/>
          <p:cNvPicPr preferRelativeResize="0"/>
          <p:nvPr/>
        </p:nvPicPr>
        <p:blipFill>
          <a:blip r:embed="rId5">
            <a:alphaModFix/>
          </a:blip>
          <a:stretch>
            <a:fillRect/>
          </a:stretch>
        </p:blipFill>
        <p:spPr>
          <a:xfrm>
            <a:off x="718950" y="1508175"/>
            <a:ext cx="7706102" cy="2808400"/>
          </a:xfrm>
          <a:prstGeom prst="rect">
            <a:avLst/>
          </a:prstGeom>
          <a:noFill/>
          <a:ln>
            <a:noFill/>
          </a:ln>
        </p:spPr>
      </p:pic>
      <p:sp>
        <p:nvSpPr>
          <p:cNvPr id="173" name="Google Shape;173;p22"/>
          <p:cNvSpPr/>
          <p:nvPr/>
        </p:nvSpPr>
        <p:spPr>
          <a:xfrm rot="-1782733">
            <a:off x="1333300" y="2518386"/>
            <a:ext cx="456981" cy="1050115"/>
          </a:xfrm>
          <a:prstGeom prst="ellipse">
            <a:avLst/>
          </a:prstGeom>
          <a:noFill/>
          <a:ln cap="flat" cmpd="sng" w="952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2"/>
          <p:cNvSpPr/>
          <p:nvPr/>
        </p:nvSpPr>
        <p:spPr>
          <a:xfrm rot="-1782733">
            <a:off x="1993550" y="2499574"/>
            <a:ext cx="456981" cy="1050115"/>
          </a:xfrm>
          <a:prstGeom prst="ellipse">
            <a:avLst/>
          </a:prstGeom>
          <a:noFill/>
          <a:ln cap="flat" cmpd="sng" w="952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2"/>
          <p:cNvSpPr/>
          <p:nvPr/>
        </p:nvSpPr>
        <p:spPr>
          <a:xfrm rot="-1782733">
            <a:off x="3422075" y="2782174"/>
            <a:ext cx="456981" cy="1050115"/>
          </a:xfrm>
          <a:prstGeom prst="ellipse">
            <a:avLst/>
          </a:prstGeom>
          <a:noFill/>
          <a:ln cap="flat" cmpd="sng" w="952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2"/>
          <p:cNvSpPr/>
          <p:nvPr/>
        </p:nvSpPr>
        <p:spPr>
          <a:xfrm rot="-9678647">
            <a:off x="2710930" y="1747294"/>
            <a:ext cx="384790" cy="1286612"/>
          </a:xfrm>
          <a:prstGeom prst="ellipse">
            <a:avLst/>
          </a:prstGeom>
          <a:no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2"/>
          <p:cNvSpPr txBox="1"/>
          <p:nvPr/>
        </p:nvSpPr>
        <p:spPr>
          <a:xfrm>
            <a:off x="3024775" y="4456075"/>
            <a:ext cx="1099200" cy="507900"/>
          </a:xfrm>
          <a:prstGeom prst="rect">
            <a:avLst/>
          </a:prstGeom>
          <a:solidFill>
            <a:srgbClr val="F4CCC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Proxima Nova"/>
                <a:ea typeface="Proxima Nova"/>
                <a:cs typeface="Proxima Nova"/>
                <a:sym typeface="Proxima Nova"/>
              </a:rPr>
              <a:t>Stronger reason for selecting other app for lunch vs. dinner (9%)</a:t>
            </a:r>
            <a:endParaRPr sz="700">
              <a:latin typeface="Proxima Nova"/>
              <a:ea typeface="Proxima Nova"/>
              <a:cs typeface="Proxima Nova"/>
              <a:sym typeface="Proxima Nova"/>
            </a:endParaRPr>
          </a:p>
        </p:txBody>
      </p:sp>
      <p:pic>
        <p:nvPicPr>
          <p:cNvPr id="178" name="Google Shape;178;p22"/>
          <p:cNvPicPr preferRelativeResize="0"/>
          <p:nvPr/>
        </p:nvPicPr>
        <p:blipFill>
          <a:blip r:embed="rId6">
            <a:alphaModFix/>
          </a:blip>
          <a:stretch>
            <a:fillRect/>
          </a:stretch>
        </p:blipFill>
        <p:spPr>
          <a:xfrm>
            <a:off x="3534325" y="4160275"/>
            <a:ext cx="295800" cy="295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3"/>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4" name="Google Shape;184;p23"/>
          <p:cNvSpPr txBox="1"/>
          <p:nvPr/>
        </p:nvSpPr>
        <p:spPr>
          <a:xfrm>
            <a:off x="207375" y="316000"/>
            <a:ext cx="78009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solidFill>
                  <a:schemeClr val="dk2"/>
                </a:solidFill>
                <a:latin typeface="Proxima Nova"/>
                <a:ea typeface="Proxima Nova"/>
                <a:cs typeface="Proxima Nova"/>
                <a:sym typeface="Proxima Nova"/>
              </a:rPr>
              <a:t>Summary of insights</a:t>
            </a:r>
            <a:endParaRPr b="1" sz="2300">
              <a:solidFill>
                <a:schemeClr val="dk2"/>
              </a:solidFill>
              <a:latin typeface="Proxima Nova"/>
              <a:ea typeface="Proxima Nova"/>
              <a:cs typeface="Proxima Nova"/>
              <a:sym typeface="Proxima Nova"/>
            </a:endParaRPr>
          </a:p>
        </p:txBody>
      </p:sp>
      <p:sp>
        <p:nvSpPr>
          <p:cNvPr id="185" name="Google Shape;185;p23"/>
          <p:cNvSpPr txBox="1"/>
          <p:nvPr/>
        </p:nvSpPr>
        <p:spPr>
          <a:xfrm>
            <a:off x="315675" y="1243925"/>
            <a:ext cx="7692600" cy="35196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rgbClr val="E23208"/>
              </a:buClr>
              <a:buSzPts val="1400"/>
              <a:buFont typeface="Proxima Nova"/>
              <a:buChar char="●"/>
            </a:pPr>
            <a:r>
              <a:rPr lang="en">
                <a:solidFill>
                  <a:schemeClr val="dk2"/>
                </a:solidFill>
                <a:latin typeface="Proxima Nova"/>
                <a:ea typeface="Proxima Nova"/>
                <a:cs typeface="Proxima Nova"/>
                <a:sym typeface="Proxima Nova"/>
              </a:rPr>
              <a:t>Cx who order out lunch are </a:t>
            </a:r>
            <a:r>
              <a:rPr b="1" lang="en">
                <a:solidFill>
                  <a:srgbClr val="E23208"/>
                </a:solidFill>
                <a:latin typeface="Proxima Nova"/>
                <a:ea typeface="Proxima Nova"/>
                <a:cs typeface="Proxima Nova"/>
                <a:sym typeface="Proxima Nova"/>
              </a:rPr>
              <a:t>split between delivery and pickup</a:t>
            </a:r>
            <a:r>
              <a:rPr lang="en">
                <a:solidFill>
                  <a:schemeClr val="dk2"/>
                </a:solidFill>
                <a:latin typeface="Proxima Nova"/>
                <a:ea typeface="Proxima Nova"/>
                <a:cs typeface="Proxima Nova"/>
                <a:sym typeface="Proxima Nova"/>
              </a:rPr>
              <a:t>; there is a higher </a:t>
            </a:r>
            <a:r>
              <a:rPr lang="en">
                <a:solidFill>
                  <a:schemeClr val="dk2"/>
                </a:solidFill>
                <a:latin typeface="Proxima Nova"/>
                <a:ea typeface="Proxima Nova"/>
                <a:cs typeface="Proxima Nova"/>
                <a:sym typeface="Proxima Nova"/>
              </a:rPr>
              <a:t>prevalence</a:t>
            </a:r>
            <a:r>
              <a:rPr lang="en">
                <a:solidFill>
                  <a:schemeClr val="dk2"/>
                </a:solidFill>
                <a:latin typeface="Proxima Nova"/>
                <a:ea typeface="Proxima Nova"/>
                <a:cs typeface="Proxima Nova"/>
                <a:sym typeface="Proxima Nova"/>
              </a:rPr>
              <a:t> of pickup at lunch compared to other meals</a:t>
            </a:r>
            <a:endParaRPr>
              <a:solidFill>
                <a:schemeClr val="dk2"/>
              </a:solidFill>
              <a:latin typeface="Proxima Nova"/>
              <a:ea typeface="Proxima Nova"/>
              <a:cs typeface="Proxima Nova"/>
              <a:sym typeface="Proxima Nova"/>
            </a:endParaRPr>
          </a:p>
          <a:p>
            <a:pPr indent="-317500" lvl="0" marL="457200" rtl="0" algn="l">
              <a:lnSpc>
                <a:spcPct val="115000"/>
              </a:lnSpc>
              <a:spcBef>
                <a:spcPts val="1000"/>
              </a:spcBef>
              <a:spcAft>
                <a:spcPts val="0"/>
              </a:spcAft>
              <a:buClr>
                <a:srgbClr val="E23208"/>
              </a:buClr>
              <a:buSzPts val="1400"/>
              <a:buFont typeface="Proxima Nova"/>
              <a:buChar char="●"/>
            </a:pPr>
            <a:r>
              <a:rPr lang="en">
                <a:solidFill>
                  <a:schemeClr val="dk2"/>
                </a:solidFill>
                <a:latin typeface="Proxima Nova"/>
                <a:ea typeface="Proxima Nova"/>
                <a:cs typeface="Proxima Nova"/>
                <a:sym typeface="Proxima Nova"/>
              </a:rPr>
              <a:t>Those ordering lunch tend to be </a:t>
            </a:r>
            <a:r>
              <a:rPr b="1" lang="en">
                <a:solidFill>
                  <a:srgbClr val="E23208"/>
                </a:solidFill>
                <a:latin typeface="Proxima Nova"/>
                <a:ea typeface="Proxima Nova"/>
                <a:cs typeface="Proxima Nova"/>
                <a:sym typeface="Proxima Nova"/>
              </a:rPr>
              <a:t>young professionals or students who have limited time </a:t>
            </a:r>
            <a:r>
              <a:rPr lang="en">
                <a:solidFill>
                  <a:schemeClr val="dk2"/>
                </a:solidFill>
                <a:latin typeface="Proxima Nova"/>
                <a:ea typeface="Proxima Nova"/>
                <a:cs typeface="Proxima Nova"/>
                <a:sym typeface="Proxima Nova"/>
              </a:rPr>
              <a:t>and are feeling low energy/tired</a:t>
            </a:r>
            <a:endParaRPr i="1">
              <a:solidFill>
                <a:schemeClr val="dk2"/>
              </a:solidFill>
              <a:latin typeface="Proxima Nova"/>
              <a:ea typeface="Proxima Nova"/>
              <a:cs typeface="Proxima Nova"/>
              <a:sym typeface="Proxima Nova"/>
            </a:endParaRPr>
          </a:p>
          <a:p>
            <a:pPr indent="-317500" lvl="0" marL="457200" rtl="0" algn="l">
              <a:lnSpc>
                <a:spcPct val="115000"/>
              </a:lnSpc>
              <a:spcBef>
                <a:spcPts val="1000"/>
              </a:spcBef>
              <a:spcAft>
                <a:spcPts val="0"/>
              </a:spcAft>
              <a:buClr>
                <a:srgbClr val="E23208"/>
              </a:buClr>
              <a:buSzPts val="1400"/>
              <a:buFont typeface="Proxima Nova"/>
              <a:buChar char="●"/>
            </a:pPr>
            <a:r>
              <a:rPr lang="en">
                <a:solidFill>
                  <a:schemeClr val="dk2"/>
                </a:solidFill>
                <a:latin typeface="Proxima Nova"/>
                <a:ea typeface="Proxima Nova"/>
                <a:cs typeface="Proxima Nova"/>
                <a:sym typeface="Proxima Nova"/>
              </a:rPr>
              <a:t>Cx look to </a:t>
            </a:r>
            <a:r>
              <a:rPr b="1" lang="en">
                <a:solidFill>
                  <a:srgbClr val="E23208"/>
                </a:solidFill>
                <a:latin typeface="Proxima Nova"/>
                <a:ea typeface="Proxima Nova"/>
                <a:cs typeface="Proxima Nova"/>
                <a:sym typeface="Proxima Nova"/>
              </a:rPr>
              <a:t>order from restaurants that they have frequently ordered previously</a:t>
            </a:r>
            <a:r>
              <a:rPr lang="en">
                <a:solidFill>
                  <a:schemeClr val="dk2"/>
                </a:solidFill>
                <a:latin typeface="Proxima Nova"/>
                <a:ea typeface="Proxima Nova"/>
                <a:cs typeface="Proxima Nova"/>
                <a:sym typeface="Proxima Nova"/>
              </a:rPr>
              <a:t>, where they can count on </a:t>
            </a:r>
            <a:r>
              <a:rPr b="1" lang="en">
                <a:solidFill>
                  <a:srgbClr val="E23208"/>
                </a:solidFill>
                <a:latin typeface="Proxima Nova"/>
                <a:ea typeface="Proxima Nova"/>
                <a:cs typeface="Proxima Nova"/>
                <a:sym typeface="Proxima Nova"/>
              </a:rPr>
              <a:t>price, quality and speed</a:t>
            </a:r>
            <a:endParaRPr b="1">
              <a:solidFill>
                <a:srgbClr val="E23208"/>
              </a:solidFill>
              <a:latin typeface="Proxima Nova"/>
              <a:ea typeface="Proxima Nova"/>
              <a:cs typeface="Proxima Nova"/>
              <a:sym typeface="Proxima Nova"/>
            </a:endParaRPr>
          </a:p>
          <a:p>
            <a:pPr indent="-317500" lvl="0" marL="457200" rtl="0" algn="l">
              <a:lnSpc>
                <a:spcPct val="115000"/>
              </a:lnSpc>
              <a:spcBef>
                <a:spcPts val="1000"/>
              </a:spcBef>
              <a:spcAft>
                <a:spcPts val="0"/>
              </a:spcAft>
              <a:buClr>
                <a:srgbClr val="E23208"/>
              </a:buClr>
              <a:buSzPts val="1400"/>
              <a:buFont typeface="Proxima Nova"/>
              <a:buChar char="●"/>
            </a:pPr>
            <a:r>
              <a:rPr lang="en">
                <a:solidFill>
                  <a:schemeClr val="dk2"/>
                </a:solidFill>
                <a:latin typeface="Proxima Nova"/>
                <a:ea typeface="Proxima Nova"/>
                <a:cs typeface="Proxima Nova"/>
                <a:sym typeface="Proxima Nova"/>
              </a:rPr>
              <a:t>They are more likely to order </a:t>
            </a:r>
            <a:r>
              <a:rPr b="1" lang="en">
                <a:solidFill>
                  <a:srgbClr val="E23208"/>
                </a:solidFill>
                <a:latin typeface="Proxima Nova"/>
                <a:ea typeface="Proxima Nova"/>
                <a:cs typeface="Proxima Nova"/>
                <a:sym typeface="Proxima Nova"/>
              </a:rPr>
              <a:t>“on-the-go” foods like sandwiches, burgers and fast food</a:t>
            </a:r>
            <a:endParaRPr b="1">
              <a:solidFill>
                <a:srgbClr val="E23208"/>
              </a:solidFill>
              <a:latin typeface="Proxima Nova"/>
              <a:ea typeface="Proxima Nova"/>
              <a:cs typeface="Proxima Nova"/>
              <a:sym typeface="Proxima Nova"/>
            </a:endParaRPr>
          </a:p>
          <a:p>
            <a:pPr indent="-317500" lvl="0" marL="457200" rtl="0" algn="l">
              <a:lnSpc>
                <a:spcPct val="115000"/>
              </a:lnSpc>
              <a:spcBef>
                <a:spcPts val="1000"/>
              </a:spcBef>
              <a:spcAft>
                <a:spcPts val="0"/>
              </a:spcAft>
              <a:buClr>
                <a:srgbClr val="E23208"/>
              </a:buClr>
              <a:buSzPts val="1400"/>
              <a:buFont typeface="Proxima Nova"/>
              <a:buChar char="●"/>
            </a:pPr>
            <a:r>
              <a:rPr lang="en">
                <a:solidFill>
                  <a:schemeClr val="dk2"/>
                </a:solidFill>
                <a:latin typeface="Proxima Nova"/>
                <a:ea typeface="Proxima Nova"/>
                <a:cs typeface="Proxima Nova"/>
                <a:sym typeface="Proxima Nova"/>
              </a:rPr>
              <a:t>When Cx use </a:t>
            </a:r>
            <a:r>
              <a:rPr b="1" lang="en">
                <a:solidFill>
                  <a:srgbClr val="E23208"/>
                </a:solidFill>
                <a:latin typeface="Proxima Nova"/>
                <a:ea typeface="Proxima Nova"/>
                <a:cs typeface="Proxima Nova"/>
                <a:sym typeface="Proxima Nova"/>
              </a:rPr>
              <a:t>other platforms</a:t>
            </a:r>
            <a:r>
              <a:rPr lang="en">
                <a:solidFill>
                  <a:schemeClr val="dk2"/>
                </a:solidFill>
                <a:latin typeface="Proxima Nova"/>
                <a:ea typeface="Proxima Nova"/>
                <a:cs typeface="Proxima Nova"/>
                <a:sym typeface="Proxima Nova"/>
              </a:rPr>
              <a:t> to order lunch it tends to be </a:t>
            </a:r>
            <a:r>
              <a:rPr b="1" lang="en">
                <a:solidFill>
                  <a:srgbClr val="E23208"/>
                </a:solidFill>
                <a:latin typeface="Proxima Nova"/>
                <a:ea typeface="Proxima Nova"/>
                <a:cs typeface="Proxima Nova"/>
                <a:sym typeface="Proxima Nova"/>
              </a:rPr>
              <a:t>because they have better deals/offers or a better loyalty program</a:t>
            </a:r>
            <a:r>
              <a:rPr lang="en">
                <a:solidFill>
                  <a:schemeClr val="dk2"/>
                </a:solidFill>
                <a:latin typeface="Proxima Nova"/>
                <a:ea typeface="Proxima Nova"/>
                <a:cs typeface="Proxima Nova"/>
                <a:sym typeface="Proxima Nova"/>
              </a:rPr>
              <a:t>.  Loyalty programs are more important for lunch vs. dinner</a:t>
            </a:r>
            <a:endParaRPr>
              <a:solidFill>
                <a:schemeClr val="dk2"/>
              </a:solidFill>
              <a:latin typeface="Proxima Nova"/>
              <a:ea typeface="Proxima Nova"/>
              <a:cs typeface="Proxima Nova"/>
              <a:sym typeface="Proxima Nova"/>
            </a:endParaRPr>
          </a:p>
          <a:p>
            <a:pPr indent="0" lvl="0" marL="0" rtl="0" algn="l">
              <a:lnSpc>
                <a:spcPct val="115000"/>
              </a:lnSpc>
              <a:spcBef>
                <a:spcPts val="1000"/>
              </a:spcBef>
              <a:spcAft>
                <a:spcPts val="1000"/>
              </a:spcAft>
              <a:buNone/>
            </a:pPr>
            <a:r>
              <a:t/>
            </a:r>
            <a:endParaRPr>
              <a:solidFill>
                <a:schemeClr val="dk2"/>
              </a:solidFill>
              <a:latin typeface="Proxima Nova"/>
              <a:ea typeface="Proxima Nova"/>
              <a:cs typeface="Proxima Nova"/>
              <a:sym typeface="Proxima Nov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4"/>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1" name="Google Shape;191;p24"/>
          <p:cNvSpPr txBox="1"/>
          <p:nvPr/>
        </p:nvSpPr>
        <p:spPr>
          <a:xfrm>
            <a:off x="609800" y="2006250"/>
            <a:ext cx="7336500" cy="9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0">
                <a:solidFill>
                  <a:srgbClr val="FFFFFF"/>
                </a:solidFill>
                <a:latin typeface="Proxima Nova"/>
                <a:ea typeface="Proxima Nova"/>
                <a:cs typeface="Proxima Nova"/>
                <a:sym typeface="Proxima Nova"/>
              </a:rPr>
              <a:t>Next steps</a:t>
            </a:r>
            <a:endParaRPr sz="5000">
              <a:solidFill>
                <a:srgbClr val="FFFFFF"/>
              </a:solidFill>
              <a:latin typeface="Proxima Nova"/>
              <a:ea typeface="Proxima Nova"/>
              <a:cs typeface="Proxima Nova"/>
              <a:sym typeface="Proxima Nova"/>
            </a:endParaRPr>
          </a:p>
        </p:txBody>
      </p:sp>
      <p:pic>
        <p:nvPicPr>
          <p:cNvPr id="192" name="Google Shape;192;p24"/>
          <p:cNvPicPr preferRelativeResize="0"/>
          <p:nvPr/>
        </p:nvPicPr>
        <p:blipFill>
          <a:blip r:embed="rId3">
            <a:alphaModFix/>
          </a:blip>
          <a:stretch>
            <a:fillRect/>
          </a:stretch>
        </p:blipFill>
        <p:spPr>
          <a:xfrm>
            <a:off x="5089775" y="1774525"/>
            <a:ext cx="3007500" cy="2040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5"/>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8" name="Google Shape;198;p25"/>
          <p:cNvSpPr txBox="1"/>
          <p:nvPr/>
        </p:nvSpPr>
        <p:spPr>
          <a:xfrm>
            <a:off x="207375" y="316000"/>
            <a:ext cx="78009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solidFill>
                  <a:schemeClr val="dk2"/>
                </a:solidFill>
                <a:latin typeface="Proxima Nova"/>
                <a:ea typeface="Proxima Nova"/>
                <a:cs typeface="Proxima Nova"/>
                <a:sym typeface="Proxima Nova"/>
              </a:rPr>
              <a:t>Recommended Next Steps</a:t>
            </a:r>
            <a:endParaRPr b="1" sz="2300">
              <a:solidFill>
                <a:schemeClr val="dk2"/>
              </a:solidFill>
              <a:latin typeface="Proxima Nova"/>
              <a:ea typeface="Proxima Nova"/>
              <a:cs typeface="Proxima Nova"/>
              <a:sym typeface="Proxima Nova"/>
            </a:endParaRPr>
          </a:p>
        </p:txBody>
      </p:sp>
      <p:sp>
        <p:nvSpPr>
          <p:cNvPr id="199" name="Google Shape;199;p25"/>
          <p:cNvSpPr txBox="1"/>
          <p:nvPr/>
        </p:nvSpPr>
        <p:spPr>
          <a:xfrm>
            <a:off x="401750" y="1641325"/>
            <a:ext cx="7962000" cy="3021900"/>
          </a:xfrm>
          <a:prstGeom prst="rect">
            <a:avLst/>
          </a:prstGeom>
          <a:noFill/>
          <a:ln>
            <a:noFill/>
          </a:ln>
        </p:spPr>
        <p:txBody>
          <a:bodyPr anchorCtr="0" anchor="t" bIns="91425" lIns="91425" spcFirstLastPara="1" rIns="91425" wrap="square" tIns="91425">
            <a:spAutoFit/>
          </a:bodyPr>
          <a:lstStyle/>
          <a:p>
            <a:pPr indent="-317500" lvl="0" marL="457200" rtl="0" algn="l">
              <a:lnSpc>
                <a:spcPct val="100000"/>
              </a:lnSpc>
              <a:spcBef>
                <a:spcPts val="0"/>
              </a:spcBef>
              <a:spcAft>
                <a:spcPts val="0"/>
              </a:spcAft>
              <a:buClr>
                <a:srgbClr val="E23208"/>
              </a:buClr>
              <a:buSzPts val="1400"/>
              <a:buFont typeface="Proxima Nova"/>
              <a:buAutoNum type="arabicPeriod"/>
            </a:pPr>
            <a:r>
              <a:rPr lang="en">
                <a:solidFill>
                  <a:schemeClr val="dk2"/>
                </a:solidFill>
                <a:latin typeface="Proxima Nova"/>
                <a:ea typeface="Proxima Nova"/>
                <a:cs typeface="Proxima Nova"/>
                <a:sym typeface="Proxima Nova"/>
              </a:rPr>
              <a:t>Team reviews this deck and includes comments for any questions on the data</a:t>
            </a:r>
            <a:endParaRPr>
              <a:solidFill>
                <a:schemeClr val="dk2"/>
              </a:solidFill>
              <a:latin typeface="Proxima Nova"/>
              <a:ea typeface="Proxima Nova"/>
              <a:cs typeface="Proxima Nova"/>
              <a:sym typeface="Proxima Nova"/>
            </a:endParaRPr>
          </a:p>
          <a:p>
            <a:pPr indent="-317500" lvl="0" marL="457200" rtl="0" algn="l">
              <a:lnSpc>
                <a:spcPct val="100000"/>
              </a:lnSpc>
              <a:spcBef>
                <a:spcPts val="1000"/>
              </a:spcBef>
              <a:spcAft>
                <a:spcPts val="0"/>
              </a:spcAft>
              <a:buClr>
                <a:srgbClr val="E23208"/>
              </a:buClr>
              <a:buSzPts val="1400"/>
              <a:buFont typeface="Proxima Nova"/>
              <a:buAutoNum type="arabicPeriod"/>
            </a:pPr>
            <a:r>
              <a:rPr lang="en">
                <a:solidFill>
                  <a:schemeClr val="dk2"/>
                </a:solidFill>
                <a:latin typeface="Proxima Nova"/>
                <a:ea typeface="Proxima Nova"/>
                <a:cs typeface="Proxima Nova"/>
                <a:sym typeface="Proxima Nova"/>
              </a:rPr>
              <a:t>A brainstorming session is held with the lunch team to identify ways to align to the top considerations and needs of lunch orderers</a:t>
            </a:r>
            <a:endParaRPr>
              <a:solidFill>
                <a:schemeClr val="dk2"/>
              </a:solidFill>
              <a:latin typeface="Proxima Nova"/>
              <a:ea typeface="Proxima Nova"/>
              <a:cs typeface="Proxima Nova"/>
              <a:sym typeface="Proxima Nova"/>
            </a:endParaRPr>
          </a:p>
          <a:p>
            <a:pPr indent="-317500" lvl="0" marL="457200" rtl="0" algn="l">
              <a:lnSpc>
                <a:spcPct val="100000"/>
              </a:lnSpc>
              <a:spcBef>
                <a:spcPts val="1000"/>
              </a:spcBef>
              <a:spcAft>
                <a:spcPts val="0"/>
              </a:spcAft>
              <a:buClr>
                <a:srgbClr val="E23208"/>
              </a:buClr>
              <a:buSzPts val="1400"/>
              <a:buFont typeface="Proxima Nova"/>
              <a:buAutoNum type="arabicPeriod"/>
            </a:pPr>
            <a:r>
              <a:rPr lang="en">
                <a:solidFill>
                  <a:schemeClr val="dk2"/>
                </a:solidFill>
                <a:latin typeface="Proxima Nova"/>
                <a:ea typeface="Proxima Nova"/>
                <a:cs typeface="Proxima Nova"/>
                <a:sym typeface="Proxima Nova"/>
              </a:rPr>
              <a:t>Design creates mock-ups based on the top 2-3 ideas developed</a:t>
            </a:r>
            <a:endParaRPr>
              <a:solidFill>
                <a:schemeClr val="dk2"/>
              </a:solidFill>
              <a:latin typeface="Proxima Nova"/>
              <a:ea typeface="Proxima Nova"/>
              <a:cs typeface="Proxima Nova"/>
              <a:sym typeface="Proxima Nova"/>
            </a:endParaRPr>
          </a:p>
          <a:p>
            <a:pPr indent="-317500" lvl="0" marL="457200" rtl="0" algn="l">
              <a:lnSpc>
                <a:spcPct val="100000"/>
              </a:lnSpc>
              <a:spcBef>
                <a:spcPts val="1000"/>
              </a:spcBef>
              <a:spcAft>
                <a:spcPts val="0"/>
              </a:spcAft>
              <a:buClr>
                <a:srgbClr val="E23208"/>
              </a:buClr>
              <a:buSzPts val="1400"/>
              <a:buFont typeface="Proxima Nova"/>
              <a:buAutoNum type="arabicPeriod"/>
            </a:pPr>
            <a:r>
              <a:rPr lang="en">
                <a:solidFill>
                  <a:schemeClr val="dk2"/>
                </a:solidFill>
                <a:latin typeface="Proxima Nova"/>
                <a:ea typeface="Proxima Nova"/>
                <a:cs typeface="Proxima Nova"/>
                <a:sym typeface="Proxima Nova"/>
              </a:rPr>
              <a:t>We host 1:1 interviews where Cx react to the mock-ups we provided</a:t>
            </a:r>
            <a:endParaRPr>
              <a:solidFill>
                <a:schemeClr val="dk2"/>
              </a:solidFill>
              <a:latin typeface="Proxima Nova"/>
              <a:ea typeface="Proxima Nova"/>
              <a:cs typeface="Proxima Nova"/>
              <a:sym typeface="Proxima Nova"/>
            </a:endParaRPr>
          </a:p>
          <a:p>
            <a:pPr indent="-317500" lvl="1" marL="914400" rtl="0" algn="l">
              <a:lnSpc>
                <a:spcPct val="100000"/>
              </a:lnSpc>
              <a:spcBef>
                <a:spcPts val="1000"/>
              </a:spcBef>
              <a:spcAft>
                <a:spcPts val="0"/>
              </a:spcAft>
              <a:buClr>
                <a:schemeClr val="dk2"/>
              </a:buClr>
              <a:buSzPts val="1400"/>
              <a:buFont typeface="Proxima Nova"/>
              <a:buAutoNum type="alphaLcPeriod"/>
            </a:pPr>
            <a:r>
              <a:rPr lang="en">
                <a:solidFill>
                  <a:schemeClr val="dk2"/>
                </a:solidFill>
                <a:latin typeface="Proxima Nova"/>
                <a:ea typeface="Proxima Nova"/>
                <a:cs typeface="Proxima Nova"/>
                <a:sym typeface="Proxima Nova"/>
              </a:rPr>
              <a:t>Interviews to include Cx who:</a:t>
            </a:r>
            <a:endParaRPr>
              <a:solidFill>
                <a:schemeClr val="dk2"/>
              </a:solidFill>
              <a:latin typeface="Proxima Nova"/>
              <a:ea typeface="Proxima Nova"/>
              <a:cs typeface="Proxima Nova"/>
              <a:sym typeface="Proxima Nova"/>
            </a:endParaRPr>
          </a:p>
          <a:p>
            <a:pPr indent="-317500" lvl="2" marL="1371600" rtl="0" algn="l">
              <a:lnSpc>
                <a:spcPct val="100000"/>
              </a:lnSpc>
              <a:spcBef>
                <a:spcPts val="1000"/>
              </a:spcBef>
              <a:spcAft>
                <a:spcPts val="0"/>
              </a:spcAft>
              <a:buClr>
                <a:schemeClr val="dk2"/>
              </a:buClr>
              <a:buSzPts val="1400"/>
              <a:buFont typeface="Proxima Nova"/>
              <a:buAutoNum type="romanLcPeriod"/>
            </a:pPr>
            <a:r>
              <a:rPr lang="en">
                <a:solidFill>
                  <a:schemeClr val="dk2"/>
                </a:solidFill>
                <a:latin typeface="Proxima Nova"/>
                <a:ea typeface="Proxima Nova"/>
                <a:cs typeface="Proxima Nova"/>
                <a:sym typeface="Proxima Nova"/>
              </a:rPr>
              <a:t>Rarely order lunch</a:t>
            </a:r>
            <a:endParaRPr>
              <a:solidFill>
                <a:schemeClr val="dk2"/>
              </a:solidFill>
              <a:latin typeface="Proxima Nova"/>
              <a:ea typeface="Proxima Nova"/>
              <a:cs typeface="Proxima Nova"/>
              <a:sym typeface="Proxima Nova"/>
            </a:endParaRPr>
          </a:p>
          <a:p>
            <a:pPr indent="-317500" lvl="2" marL="1371600" rtl="0" algn="l">
              <a:lnSpc>
                <a:spcPct val="100000"/>
              </a:lnSpc>
              <a:spcBef>
                <a:spcPts val="1000"/>
              </a:spcBef>
              <a:spcAft>
                <a:spcPts val="0"/>
              </a:spcAft>
              <a:buClr>
                <a:schemeClr val="dk2"/>
              </a:buClr>
              <a:buSzPts val="1400"/>
              <a:buFont typeface="Proxima Nova"/>
              <a:buAutoNum type="romanLcPeriod"/>
            </a:pPr>
            <a:r>
              <a:rPr lang="en">
                <a:solidFill>
                  <a:schemeClr val="dk2"/>
                </a:solidFill>
                <a:latin typeface="Proxima Nova"/>
                <a:ea typeface="Proxima Nova"/>
                <a:cs typeface="Proxima Nova"/>
                <a:sym typeface="Proxima Nova"/>
              </a:rPr>
              <a:t>Order lunch regularly but not on DoorDash</a:t>
            </a:r>
            <a:endParaRPr>
              <a:solidFill>
                <a:schemeClr val="dk2"/>
              </a:solidFill>
              <a:latin typeface="Proxima Nova"/>
              <a:ea typeface="Proxima Nova"/>
              <a:cs typeface="Proxima Nova"/>
              <a:sym typeface="Proxima Nova"/>
            </a:endParaRPr>
          </a:p>
          <a:p>
            <a:pPr indent="-317500" lvl="2" marL="1371600" rtl="0" algn="l">
              <a:lnSpc>
                <a:spcPct val="100000"/>
              </a:lnSpc>
              <a:spcBef>
                <a:spcPts val="1000"/>
              </a:spcBef>
              <a:spcAft>
                <a:spcPts val="1000"/>
              </a:spcAft>
              <a:buClr>
                <a:schemeClr val="dk2"/>
              </a:buClr>
              <a:buSzPts val="1400"/>
              <a:buFont typeface="Proxima Nova"/>
              <a:buAutoNum type="romanLcPeriod"/>
            </a:pPr>
            <a:r>
              <a:rPr lang="en">
                <a:solidFill>
                  <a:schemeClr val="dk2"/>
                </a:solidFill>
                <a:latin typeface="Proxima Nova"/>
                <a:ea typeface="Proxima Nova"/>
                <a:cs typeface="Proxima Nova"/>
                <a:sym typeface="Proxima Nova"/>
              </a:rPr>
              <a:t>Order lunch on DoorDash</a:t>
            </a:r>
            <a:endParaRPr>
              <a:solidFill>
                <a:schemeClr val="dk2"/>
              </a:solidFill>
              <a:latin typeface="Proxima Nova"/>
              <a:ea typeface="Proxima Nova"/>
              <a:cs typeface="Proxima Nova"/>
              <a:sym typeface="Proxima Nova"/>
            </a:endParaRPr>
          </a:p>
        </p:txBody>
      </p:sp>
      <p:sp>
        <p:nvSpPr>
          <p:cNvPr id="200" name="Google Shape;200;p25"/>
          <p:cNvSpPr txBox="1"/>
          <p:nvPr/>
        </p:nvSpPr>
        <p:spPr>
          <a:xfrm>
            <a:off x="266625" y="898600"/>
            <a:ext cx="84132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2"/>
                </a:solidFill>
                <a:latin typeface="Proxima Nova"/>
                <a:ea typeface="Proxima Nova"/>
                <a:cs typeface="Proxima Nova"/>
                <a:sym typeface="Proxima Nova"/>
              </a:rPr>
              <a:t>Initially, this research was going to include 1:1 interviews to fill knowledge gaps. </a:t>
            </a:r>
            <a:r>
              <a:rPr b="1" lang="en">
                <a:solidFill>
                  <a:schemeClr val="dk2"/>
                </a:solidFill>
                <a:latin typeface="Proxima Nova"/>
                <a:ea typeface="Proxima Nova"/>
                <a:cs typeface="Proxima Nova"/>
                <a:sym typeface="Proxima Nova"/>
              </a:rPr>
              <a:t> However, after seeing what we know so far about </a:t>
            </a:r>
            <a:r>
              <a:rPr b="1" lang="en">
                <a:solidFill>
                  <a:schemeClr val="dk2"/>
                </a:solidFill>
                <a:latin typeface="Proxima Nova"/>
                <a:ea typeface="Proxima Nova"/>
                <a:cs typeface="Proxima Nova"/>
                <a:sym typeface="Proxima Nova"/>
              </a:rPr>
              <a:t>lunch</a:t>
            </a:r>
            <a:r>
              <a:rPr b="1" lang="en">
                <a:solidFill>
                  <a:schemeClr val="dk2"/>
                </a:solidFill>
                <a:latin typeface="Proxima Nova"/>
                <a:ea typeface="Proxima Nova"/>
                <a:cs typeface="Proxima Nova"/>
                <a:sym typeface="Proxima Nova"/>
              </a:rPr>
              <a:t> research recommends the following approach:</a:t>
            </a:r>
            <a:r>
              <a:rPr b="1" lang="en">
                <a:solidFill>
                  <a:schemeClr val="dk2"/>
                </a:solidFill>
                <a:latin typeface="Proxima Nova"/>
                <a:ea typeface="Proxima Nova"/>
                <a:cs typeface="Proxima Nova"/>
                <a:sym typeface="Proxima Nova"/>
              </a:rPr>
              <a:t> </a:t>
            </a:r>
            <a:endParaRPr b="1" sz="1500"/>
          </a:p>
        </p:txBody>
      </p:sp>
      <p:pic>
        <p:nvPicPr>
          <p:cNvPr id="201" name="Google Shape;201;p25"/>
          <p:cNvPicPr preferRelativeResize="0"/>
          <p:nvPr/>
        </p:nvPicPr>
        <p:blipFill>
          <a:blip r:embed="rId3">
            <a:alphaModFix/>
          </a:blip>
          <a:stretch>
            <a:fillRect/>
          </a:stretch>
        </p:blipFill>
        <p:spPr>
          <a:xfrm>
            <a:off x="6855700" y="3618450"/>
            <a:ext cx="1090551" cy="10905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6"/>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7" name="Google Shape;207;p26"/>
          <p:cNvSpPr txBox="1"/>
          <p:nvPr/>
        </p:nvSpPr>
        <p:spPr>
          <a:xfrm>
            <a:off x="207375" y="316000"/>
            <a:ext cx="78009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solidFill>
                  <a:schemeClr val="dk2"/>
                </a:solidFill>
                <a:latin typeface="Proxima Nova"/>
                <a:ea typeface="Proxima Nova"/>
                <a:cs typeface="Proxima Nova"/>
                <a:sym typeface="Proxima Nova"/>
              </a:rPr>
              <a:t>Thought starters for brainstorm…</a:t>
            </a:r>
            <a:endParaRPr b="1" sz="2300">
              <a:solidFill>
                <a:schemeClr val="dk2"/>
              </a:solidFill>
              <a:latin typeface="Proxima Nova"/>
              <a:ea typeface="Proxima Nova"/>
              <a:cs typeface="Proxima Nova"/>
              <a:sym typeface="Proxima Nova"/>
            </a:endParaRPr>
          </a:p>
        </p:txBody>
      </p:sp>
      <p:sp>
        <p:nvSpPr>
          <p:cNvPr id="208" name="Google Shape;208;p26"/>
          <p:cNvSpPr txBox="1"/>
          <p:nvPr/>
        </p:nvSpPr>
        <p:spPr>
          <a:xfrm>
            <a:off x="266625" y="1203400"/>
            <a:ext cx="84132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600">
                <a:solidFill>
                  <a:schemeClr val="dk2"/>
                </a:solidFill>
                <a:latin typeface="Proxima Nova"/>
                <a:ea typeface="Proxima Nova"/>
                <a:cs typeface="Proxima Nova"/>
                <a:sym typeface="Proxima Nova"/>
              </a:rPr>
              <a:t>What if we…</a:t>
            </a:r>
            <a:endParaRPr b="1" sz="1700"/>
          </a:p>
        </p:txBody>
      </p:sp>
      <p:sp>
        <p:nvSpPr>
          <p:cNvPr id="209" name="Google Shape;209;p26"/>
          <p:cNvSpPr txBox="1"/>
          <p:nvPr/>
        </p:nvSpPr>
        <p:spPr>
          <a:xfrm>
            <a:off x="492225" y="1647400"/>
            <a:ext cx="7962000" cy="2118900"/>
          </a:xfrm>
          <a:prstGeom prst="rect">
            <a:avLst/>
          </a:prstGeom>
          <a:noFill/>
          <a:ln>
            <a:noFill/>
          </a:ln>
        </p:spPr>
        <p:txBody>
          <a:bodyPr anchorCtr="0" anchor="t" bIns="91425" lIns="91425" spcFirstLastPara="1" rIns="91425" wrap="square" tIns="91425">
            <a:spAutoFit/>
          </a:bodyPr>
          <a:lstStyle/>
          <a:p>
            <a:pPr indent="-317500" lvl="0" marL="457200" rtl="0" algn="l">
              <a:lnSpc>
                <a:spcPct val="100000"/>
              </a:lnSpc>
              <a:spcBef>
                <a:spcPts val="0"/>
              </a:spcBef>
              <a:spcAft>
                <a:spcPts val="0"/>
              </a:spcAft>
              <a:buClr>
                <a:srgbClr val="CC0000"/>
              </a:buClr>
              <a:buSzPts val="1400"/>
              <a:buFont typeface="Proxima Nova"/>
              <a:buChar char="●"/>
            </a:pPr>
            <a:r>
              <a:rPr lang="en">
                <a:solidFill>
                  <a:schemeClr val="dk2"/>
                </a:solidFill>
                <a:latin typeface="Proxima Nova"/>
                <a:ea typeface="Proxima Nova"/>
                <a:cs typeface="Proxima Nova"/>
                <a:sym typeface="Proxima Nova"/>
              </a:rPr>
              <a:t>Create a badge or carousel for “quick prep” or “easy pickup”</a:t>
            </a:r>
            <a:endParaRPr>
              <a:solidFill>
                <a:schemeClr val="dk2"/>
              </a:solidFill>
              <a:latin typeface="Proxima Nova"/>
              <a:ea typeface="Proxima Nova"/>
              <a:cs typeface="Proxima Nova"/>
              <a:sym typeface="Proxima Nova"/>
            </a:endParaRPr>
          </a:p>
          <a:p>
            <a:pPr indent="-317500" lvl="0" marL="457200" rtl="0" algn="l">
              <a:lnSpc>
                <a:spcPct val="100000"/>
              </a:lnSpc>
              <a:spcBef>
                <a:spcPts val="1000"/>
              </a:spcBef>
              <a:spcAft>
                <a:spcPts val="0"/>
              </a:spcAft>
              <a:buClr>
                <a:srgbClr val="CC0000"/>
              </a:buClr>
              <a:buSzPts val="1400"/>
              <a:buFont typeface="Proxima Nova"/>
              <a:buChar char="●"/>
            </a:pPr>
            <a:r>
              <a:rPr lang="en">
                <a:solidFill>
                  <a:schemeClr val="dk2"/>
                </a:solidFill>
                <a:latin typeface="Proxima Nova"/>
                <a:ea typeface="Proxima Nova"/>
                <a:cs typeface="Proxima Nova"/>
                <a:sym typeface="Proxima Nova"/>
              </a:rPr>
              <a:t>Provide “ready made” options in DashMarts with </a:t>
            </a:r>
            <a:r>
              <a:rPr lang="en">
                <a:solidFill>
                  <a:schemeClr val="dk2"/>
                </a:solidFill>
                <a:latin typeface="Proxima Nova"/>
                <a:ea typeface="Proxima Nova"/>
                <a:cs typeface="Proxima Nova"/>
                <a:sym typeface="Proxima Nova"/>
              </a:rPr>
              <a:t>guaranteed</a:t>
            </a:r>
            <a:r>
              <a:rPr lang="en">
                <a:solidFill>
                  <a:schemeClr val="dk2"/>
                </a:solidFill>
                <a:latin typeface="Proxima Nova"/>
                <a:ea typeface="Proxima Nova"/>
                <a:cs typeface="Proxima Nova"/>
                <a:sym typeface="Proxima Nova"/>
              </a:rPr>
              <a:t> delivery times</a:t>
            </a:r>
            <a:endParaRPr>
              <a:solidFill>
                <a:schemeClr val="dk2"/>
              </a:solidFill>
              <a:latin typeface="Proxima Nova"/>
              <a:ea typeface="Proxima Nova"/>
              <a:cs typeface="Proxima Nova"/>
              <a:sym typeface="Proxima Nova"/>
            </a:endParaRPr>
          </a:p>
          <a:p>
            <a:pPr indent="-317500" lvl="0" marL="457200" rtl="0" algn="l">
              <a:lnSpc>
                <a:spcPct val="100000"/>
              </a:lnSpc>
              <a:spcBef>
                <a:spcPts val="1000"/>
              </a:spcBef>
              <a:spcAft>
                <a:spcPts val="0"/>
              </a:spcAft>
              <a:buClr>
                <a:srgbClr val="CC0000"/>
              </a:buClr>
              <a:buSzPts val="1400"/>
              <a:buFont typeface="Proxima Nova"/>
              <a:buChar char="●"/>
            </a:pPr>
            <a:r>
              <a:rPr lang="en">
                <a:solidFill>
                  <a:schemeClr val="dk2"/>
                </a:solidFill>
                <a:latin typeface="Proxima Nova"/>
                <a:ea typeface="Proxima Nova"/>
                <a:cs typeface="Proxima Nova"/>
                <a:sym typeface="Proxima Nova"/>
              </a:rPr>
              <a:t>Create an &lt;15 mins filter for the lunch rush and highlight ready-made items</a:t>
            </a:r>
            <a:endParaRPr>
              <a:solidFill>
                <a:schemeClr val="dk2"/>
              </a:solidFill>
              <a:latin typeface="Proxima Nova"/>
              <a:ea typeface="Proxima Nova"/>
              <a:cs typeface="Proxima Nova"/>
              <a:sym typeface="Proxima Nova"/>
            </a:endParaRPr>
          </a:p>
          <a:p>
            <a:pPr indent="-317500" lvl="0" marL="457200" rtl="0" algn="l">
              <a:lnSpc>
                <a:spcPct val="100000"/>
              </a:lnSpc>
              <a:spcBef>
                <a:spcPts val="1000"/>
              </a:spcBef>
              <a:spcAft>
                <a:spcPts val="0"/>
              </a:spcAft>
              <a:buClr>
                <a:srgbClr val="CC0000"/>
              </a:buClr>
              <a:buSzPts val="1400"/>
              <a:buFont typeface="Proxima Nova"/>
              <a:buChar char="●"/>
            </a:pPr>
            <a:r>
              <a:rPr lang="en">
                <a:solidFill>
                  <a:schemeClr val="dk2"/>
                </a:solidFill>
                <a:latin typeface="Proxima Nova"/>
                <a:ea typeface="Proxima Nova"/>
                <a:cs typeface="Proxima Nova"/>
                <a:sym typeface="Proxima Nova"/>
              </a:rPr>
              <a:t>Ensure Rx ordered 2 or more times are surfaced between 11-1PM</a:t>
            </a:r>
            <a:endParaRPr>
              <a:solidFill>
                <a:schemeClr val="dk2"/>
              </a:solidFill>
              <a:latin typeface="Proxima Nova"/>
              <a:ea typeface="Proxima Nova"/>
              <a:cs typeface="Proxima Nova"/>
              <a:sym typeface="Proxima Nova"/>
            </a:endParaRPr>
          </a:p>
          <a:p>
            <a:pPr indent="-317500" lvl="0" marL="457200" rtl="0" algn="l">
              <a:lnSpc>
                <a:spcPct val="100000"/>
              </a:lnSpc>
              <a:spcBef>
                <a:spcPts val="1000"/>
              </a:spcBef>
              <a:spcAft>
                <a:spcPts val="0"/>
              </a:spcAft>
              <a:buClr>
                <a:srgbClr val="CC0000"/>
              </a:buClr>
              <a:buSzPts val="1400"/>
              <a:buFont typeface="Proxima Nova"/>
              <a:buChar char="●"/>
            </a:pPr>
            <a:r>
              <a:rPr lang="en">
                <a:solidFill>
                  <a:schemeClr val="dk2"/>
                </a:solidFill>
                <a:latin typeface="Proxima Nova"/>
                <a:ea typeface="Proxima Nova"/>
                <a:cs typeface="Proxima Nova"/>
                <a:sym typeface="Proxima Nova"/>
              </a:rPr>
              <a:t>Provide a lunch “challenge”  order 3 </a:t>
            </a:r>
            <a:r>
              <a:rPr lang="en">
                <a:solidFill>
                  <a:schemeClr val="dk2"/>
                </a:solidFill>
                <a:latin typeface="Proxima Nova"/>
                <a:ea typeface="Proxima Nova"/>
                <a:cs typeface="Proxima Nova"/>
                <a:sym typeface="Proxima Nova"/>
              </a:rPr>
              <a:t>lunches</a:t>
            </a:r>
            <a:r>
              <a:rPr lang="en">
                <a:solidFill>
                  <a:schemeClr val="dk2"/>
                </a:solidFill>
                <a:latin typeface="Proxima Nova"/>
                <a:ea typeface="Proxima Nova"/>
                <a:cs typeface="Proxima Nova"/>
                <a:sym typeface="Proxima Nova"/>
              </a:rPr>
              <a:t>, get free delivery on the 4th</a:t>
            </a:r>
            <a:endParaRPr>
              <a:solidFill>
                <a:schemeClr val="dk2"/>
              </a:solidFill>
              <a:latin typeface="Proxima Nova"/>
              <a:ea typeface="Proxima Nova"/>
              <a:cs typeface="Proxima Nova"/>
              <a:sym typeface="Proxima Nova"/>
            </a:endParaRPr>
          </a:p>
          <a:p>
            <a:pPr indent="-317500" lvl="0" marL="457200" rtl="0" algn="l">
              <a:lnSpc>
                <a:spcPct val="100000"/>
              </a:lnSpc>
              <a:spcBef>
                <a:spcPts val="1000"/>
              </a:spcBef>
              <a:spcAft>
                <a:spcPts val="1000"/>
              </a:spcAft>
              <a:buClr>
                <a:srgbClr val="CC0000"/>
              </a:buClr>
              <a:buSzPts val="1400"/>
              <a:buFont typeface="Proxima Nova"/>
              <a:buChar char="●"/>
            </a:pPr>
            <a:r>
              <a:rPr lang="en">
                <a:solidFill>
                  <a:schemeClr val="dk2"/>
                </a:solidFill>
                <a:latin typeface="Proxima Nova"/>
                <a:ea typeface="Proxima Nova"/>
                <a:cs typeface="Proxima Nova"/>
                <a:sym typeface="Proxima Nova"/>
              </a:rPr>
              <a:t>Work with quick prep Mx to provide lunch-specific rewards</a:t>
            </a:r>
            <a:endParaRPr>
              <a:solidFill>
                <a:schemeClr val="dk2"/>
              </a:solidFill>
              <a:latin typeface="Proxima Nova"/>
              <a:ea typeface="Proxima Nova"/>
              <a:cs typeface="Proxima Nova"/>
              <a:sym typeface="Proxima Nova"/>
            </a:endParaRPr>
          </a:p>
        </p:txBody>
      </p:sp>
      <p:pic>
        <p:nvPicPr>
          <p:cNvPr id="210" name="Google Shape;210;p26"/>
          <p:cNvPicPr preferRelativeResize="0"/>
          <p:nvPr/>
        </p:nvPicPr>
        <p:blipFill>
          <a:blip r:embed="rId4">
            <a:alphaModFix/>
          </a:blip>
          <a:stretch>
            <a:fillRect/>
          </a:stretch>
        </p:blipFill>
        <p:spPr>
          <a:xfrm>
            <a:off x="7016600" y="3337650"/>
            <a:ext cx="1272600" cy="1272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7"/>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6" name="Google Shape;216;p27"/>
          <p:cNvSpPr txBox="1"/>
          <p:nvPr/>
        </p:nvSpPr>
        <p:spPr>
          <a:xfrm>
            <a:off x="609800" y="2006250"/>
            <a:ext cx="7336500" cy="9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0">
                <a:solidFill>
                  <a:srgbClr val="FFFFFF"/>
                </a:solidFill>
                <a:latin typeface="Proxima Nova"/>
                <a:ea typeface="Proxima Nova"/>
                <a:cs typeface="Proxima Nova"/>
                <a:sym typeface="Proxima Nova"/>
              </a:rPr>
              <a:t>Thank you!</a:t>
            </a:r>
            <a:endParaRPr sz="5000">
              <a:solidFill>
                <a:srgbClr val="FFFFFF"/>
              </a:solidFill>
              <a:latin typeface="Proxima Nova"/>
              <a:ea typeface="Proxima Nova"/>
              <a:cs typeface="Proxima Nova"/>
              <a:sym typeface="Proxima Nova"/>
            </a:endParaRPr>
          </a:p>
        </p:txBody>
      </p:sp>
      <p:pic>
        <p:nvPicPr>
          <p:cNvPr id="217" name="Google Shape;217;p27"/>
          <p:cNvPicPr preferRelativeResize="0"/>
          <p:nvPr/>
        </p:nvPicPr>
        <p:blipFill>
          <a:blip r:embed="rId3">
            <a:alphaModFix/>
          </a:blip>
          <a:stretch>
            <a:fillRect/>
          </a:stretch>
        </p:blipFill>
        <p:spPr>
          <a:xfrm>
            <a:off x="4678053" y="1027850"/>
            <a:ext cx="2204625" cy="33129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8"/>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3" name="Google Shape;223;p28"/>
          <p:cNvSpPr txBox="1"/>
          <p:nvPr/>
        </p:nvSpPr>
        <p:spPr>
          <a:xfrm>
            <a:off x="609800" y="2006250"/>
            <a:ext cx="7336500" cy="9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0">
                <a:solidFill>
                  <a:srgbClr val="FFFFFF"/>
                </a:solidFill>
                <a:latin typeface="Proxima Nova"/>
                <a:ea typeface="Proxima Nova"/>
                <a:cs typeface="Proxima Nova"/>
                <a:sym typeface="Proxima Nova"/>
              </a:rPr>
              <a:t>Appendix</a:t>
            </a:r>
            <a:endParaRPr sz="5000">
              <a:solidFill>
                <a:srgbClr val="FFFFFF"/>
              </a:solidFill>
              <a:latin typeface="Proxima Nova"/>
              <a:ea typeface="Proxima Nova"/>
              <a:cs typeface="Proxima Nova"/>
              <a:sym typeface="Proxima Nov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p:nvPr/>
        </p:nvSpPr>
        <p:spPr>
          <a:xfrm>
            <a:off x="3838575" y="0"/>
            <a:ext cx="5305500" cy="6156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9"/>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0" name="Google Shape;230;p29"/>
          <p:cNvSpPr txBox="1"/>
          <p:nvPr/>
        </p:nvSpPr>
        <p:spPr>
          <a:xfrm>
            <a:off x="4217175" y="-22100"/>
            <a:ext cx="44610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800">
                <a:latin typeface="Proxima Nova"/>
                <a:ea typeface="Proxima Nova"/>
                <a:cs typeface="Proxima Nova"/>
                <a:sym typeface="Proxima Nova"/>
              </a:rPr>
              <a:t>Lunch Pickup (3%)</a:t>
            </a:r>
            <a:endParaRPr b="1" sz="2800">
              <a:latin typeface="Proxima Nova"/>
              <a:ea typeface="Proxima Nova"/>
              <a:cs typeface="Proxima Nova"/>
              <a:sym typeface="Proxima Nova"/>
            </a:endParaRPr>
          </a:p>
          <a:p>
            <a:pPr indent="0" lvl="0" marL="0" rtl="0" algn="l">
              <a:spcBef>
                <a:spcPts val="0"/>
              </a:spcBef>
              <a:spcAft>
                <a:spcPts val="0"/>
              </a:spcAft>
              <a:buNone/>
            </a:pPr>
            <a:r>
              <a:t/>
            </a:r>
            <a:endParaRPr b="1" sz="2800">
              <a:latin typeface="Proxima Nova"/>
              <a:ea typeface="Proxima Nova"/>
              <a:cs typeface="Proxima Nova"/>
              <a:sym typeface="Proxima Nova"/>
            </a:endParaRPr>
          </a:p>
        </p:txBody>
      </p:sp>
      <p:sp>
        <p:nvSpPr>
          <p:cNvPr id="231" name="Google Shape;231;p29"/>
          <p:cNvSpPr txBox="1"/>
          <p:nvPr/>
        </p:nvSpPr>
        <p:spPr>
          <a:xfrm>
            <a:off x="4440550" y="1577425"/>
            <a:ext cx="44610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Proxima Nova"/>
                <a:ea typeface="Proxima Nova"/>
                <a:cs typeface="Proxima Nova"/>
                <a:sym typeface="Proxima Nova"/>
              </a:rPr>
              <a:t>It happened again - You woke up to an empty calendar and by the time you arrived at the office you’re back-to-back all day with the exception of one 30 minute gap for lunch. While you listen to a meeting that should have been an email you debate over Mexican or that salad place a few blocks away. Ultimately the Mexican place wins out and you’re out the door to </a:t>
            </a:r>
            <a:r>
              <a:rPr lang="en">
                <a:solidFill>
                  <a:schemeClr val="dk1"/>
                </a:solidFill>
                <a:latin typeface="Proxima Nova"/>
                <a:ea typeface="Proxima Nova"/>
                <a:cs typeface="Proxima Nova"/>
                <a:sym typeface="Proxima Nova"/>
              </a:rPr>
              <a:t>pick up</a:t>
            </a:r>
            <a:r>
              <a:rPr lang="en">
                <a:solidFill>
                  <a:schemeClr val="dk1"/>
                </a:solidFill>
                <a:latin typeface="Proxima Nova"/>
                <a:ea typeface="Proxima Nova"/>
                <a:cs typeface="Proxima Nova"/>
                <a:sym typeface="Proxima Nova"/>
              </a:rPr>
              <a:t> lunch during your half hour of solitude. You pick it up because this is your only time window and you have to be sure it is ready when you are free, and you don’t trust a delivery person to be able to find you in the maze of buildings.</a:t>
            </a:r>
            <a:endParaRPr>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b="1" lang="en">
                <a:solidFill>
                  <a:srgbClr val="FF3008"/>
                </a:solidFill>
                <a:latin typeface="Proxima Nova"/>
                <a:ea typeface="Proxima Nova"/>
                <a:cs typeface="Proxima Nova"/>
                <a:sym typeface="Proxima Nova"/>
              </a:rPr>
              <a:t>DEPRIORITIZE:</a:t>
            </a:r>
            <a:endParaRPr b="1">
              <a:solidFill>
                <a:srgbClr val="FF3008"/>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b="1" lang="en">
                <a:solidFill>
                  <a:schemeClr val="dk1"/>
                </a:solidFill>
                <a:latin typeface="Proxima Nova"/>
                <a:ea typeface="Proxima Nova"/>
                <a:cs typeface="Proxima Nova"/>
                <a:sym typeface="Proxima Nova"/>
              </a:rPr>
              <a:t>nearby, out and about</a:t>
            </a:r>
            <a:endParaRPr>
              <a:solidFill>
                <a:schemeClr val="dk1"/>
              </a:solidFill>
              <a:latin typeface="Proxima Nova"/>
              <a:ea typeface="Proxima Nova"/>
              <a:cs typeface="Proxima Nova"/>
              <a:sym typeface="Proxima Nova"/>
            </a:endParaRPr>
          </a:p>
        </p:txBody>
      </p:sp>
      <p:pic>
        <p:nvPicPr>
          <p:cNvPr id="232" name="Google Shape;232;p29"/>
          <p:cNvPicPr preferRelativeResize="0"/>
          <p:nvPr/>
        </p:nvPicPr>
        <p:blipFill rotWithShape="1">
          <a:blip r:embed="rId3">
            <a:alphaModFix/>
          </a:blip>
          <a:srcRect b="0" l="43015" r="7411" t="0"/>
          <a:stretch/>
        </p:blipFill>
        <p:spPr>
          <a:xfrm>
            <a:off x="13900" y="0"/>
            <a:ext cx="3824674" cy="51435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30" title="Chart"/>
          <p:cNvPicPr preferRelativeResize="0"/>
          <p:nvPr/>
        </p:nvPicPr>
        <p:blipFill>
          <a:blip r:embed="rId3">
            <a:alphaModFix/>
          </a:blip>
          <a:stretch>
            <a:fillRect/>
          </a:stretch>
        </p:blipFill>
        <p:spPr>
          <a:xfrm>
            <a:off x="338328" y="3054096"/>
            <a:ext cx="2907792" cy="2002536"/>
          </a:xfrm>
          <a:prstGeom prst="rect">
            <a:avLst/>
          </a:prstGeom>
          <a:noFill/>
          <a:ln>
            <a:noFill/>
          </a:ln>
        </p:spPr>
      </p:pic>
      <p:sp>
        <p:nvSpPr>
          <p:cNvPr id="238" name="Google Shape;238;p30"/>
          <p:cNvSpPr/>
          <p:nvPr/>
        </p:nvSpPr>
        <p:spPr>
          <a:xfrm>
            <a:off x="473675" y="869700"/>
            <a:ext cx="777300" cy="778800"/>
          </a:xfrm>
          <a:prstGeom prst="rect">
            <a:avLst/>
          </a:prstGeom>
          <a:solidFill>
            <a:srgbClr val="34A8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9" name="Google Shape;239;p30"/>
          <p:cNvPicPr preferRelativeResize="0"/>
          <p:nvPr/>
        </p:nvPicPr>
        <p:blipFill>
          <a:blip r:embed="rId4">
            <a:alphaModFix/>
          </a:blip>
          <a:stretch>
            <a:fillRect/>
          </a:stretch>
        </p:blipFill>
        <p:spPr>
          <a:xfrm>
            <a:off x="473673" y="869659"/>
            <a:ext cx="1895701" cy="778875"/>
          </a:xfrm>
          <a:prstGeom prst="rect">
            <a:avLst/>
          </a:prstGeom>
          <a:noFill/>
          <a:ln cap="flat" cmpd="sng" w="19050">
            <a:solidFill>
              <a:srgbClr val="888888"/>
            </a:solidFill>
            <a:prstDash val="solid"/>
            <a:round/>
            <a:headEnd len="sm" w="sm" type="none"/>
            <a:tailEnd len="sm" w="sm" type="none"/>
          </a:ln>
        </p:spPr>
      </p:pic>
      <p:sp>
        <p:nvSpPr>
          <p:cNvPr id="240" name="Google Shape;240;p30"/>
          <p:cNvSpPr/>
          <p:nvPr/>
        </p:nvSpPr>
        <p:spPr>
          <a:xfrm>
            <a:off x="6812450" y="840075"/>
            <a:ext cx="1005900" cy="1005900"/>
          </a:xfrm>
          <a:prstGeom prst="rect">
            <a:avLst/>
          </a:prstGeom>
          <a:solidFill>
            <a:srgbClr val="F5F5F1">
              <a:alpha val="29800"/>
            </a:srgbClr>
          </a:solidFill>
          <a:ln cap="flat" cmpd="sng" w="28575">
            <a:solidFill>
              <a:srgbClr val="88888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6D88B0"/>
              </a:buClr>
              <a:buSzPts val="3520"/>
              <a:buFont typeface="Arial"/>
              <a:buNone/>
            </a:pPr>
            <a:r>
              <a:rPr lang="en" sz="700">
                <a:solidFill>
                  <a:srgbClr val="595959"/>
                </a:solidFill>
                <a:latin typeface="Proxima Nova"/>
                <a:ea typeface="Proxima Nova"/>
                <a:cs typeface="Proxima Nova"/>
                <a:sym typeface="Proxima Nova"/>
              </a:rPr>
              <a:t>Home</a:t>
            </a:r>
            <a:endParaRPr sz="700">
              <a:solidFill>
                <a:srgbClr val="595959"/>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6D88B0"/>
              </a:buClr>
              <a:buSzPts val="3520"/>
              <a:buFont typeface="Arial"/>
              <a:buNone/>
            </a:pPr>
            <a:r>
              <a:rPr lang="en" sz="700">
                <a:solidFill>
                  <a:srgbClr val="595959"/>
                </a:solidFill>
                <a:latin typeface="Proxima Nova"/>
                <a:ea typeface="Proxima Nova"/>
                <a:cs typeface="Proxima Nova"/>
                <a:sym typeface="Proxima Nova"/>
              </a:rPr>
              <a:t>(75</a:t>
            </a:r>
            <a:r>
              <a:rPr i="0" lang="en" sz="700" u="none" cap="none" strike="noStrike">
                <a:solidFill>
                  <a:srgbClr val="595959"/>
                </a:solidFill>
                <a:latin typeface="Proxima Nova"/>
                <a:ea typeface="Proxima Nova"/>
                <a:cs typeface="Proxima Nova"/>
                <a:sym typeface="Proxima Nova"/>
              </a:rPr>
              <a:t>%)</a:t>
            </a:r>
            <a:endParaRPr sz="700">
              <a:latin typeface="Proxima Nova"/>
              <a:ea typeface="Proxima Nova"/>
              <a:cs typeface="Proxima Nova"/>
              <a:sym typeface="Proxima Nova"/>
            </a:endParaRPr>
          </a:p>
        </p:txBody>
      </p:sp>
      <p:sp>
        <p:nvSpPr>
          <p:cNvPr id="241" name="Google Shape;241;p30"/>
          <p:cNvSpPr/>
          <p:nvPr/>
        </p:nvSpPr>
        <p:spPr>
          <a:xfrm>
            <a:off x="1576175" y="1750487"/>
            <a:ext cx="793200" cy="746100"/>
          </a:xfrm>
          <a:prstGeom prst="rect">
            <a:avLst/>
          </a:prstGeom>
          <a:solidFill>
            <a:srgbClr val="F5F5F1">
              <a:alpha val="29800"/>
            </a:srgbClr>
          </a:solidFill>
          <a:ln cap="flat" cmpd="sng" w="28575">
            <a:solidFill>
              <a:srgbClr val="88888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rtl="0" algn="ctr">
              <a:spcBef>
                <a:spcPts val="0"/>
              </a:spcBef>
              <a:spcAft>
                <a:spcPts val="0"/>
              </a:spcAft>
              <a:buClr>
                <a:srgbClr val="6D88B0"/>
              </a:buClr>
              <a:buSzPts val="3520"/>
              <a:buFont typeface="Arial"/>
              <a:buNone/>
            </a:pPr>
            <a:r>
              <a:rPr lang="en" sz="700">
                <a:solidFill>
                  <a:schemeClr val="dk2"/>
                </a:solidFill>
                <a:latin typeface="Proxima Nova"/>
                <a:ea typeface="Proxima Nova"/>
                <a:cs typeface="Proxima Nova"/>
                <a:sym typeface="Proxima Nova"/>
              </a:rPr>
              <a:t>Eating w/ partner (18%)</a:t>
            </a:r>
            <a:endParaRPr sz="700">
              <a:latin typeface="Proxima Nova"/>
              <a:ea typeface="Proxima Nova"/>
              <a:cs typeface="Proxima Nova"/>
              <a:sym typeface="Proxima Nova"/>
            </a:endParaRPr>
          </a:p>
        </p:txBody>
      </p:sp>
      <p:sp>
        <p:nvSpPr>
          <p:cNvPr id="242" name="Google Shape;242;p30"/>
          <p:cNvSpPr/>
          <p:nvPr/>
        </p:nvSpPr>
        <p:spPr>
          <a:xfrm>
            <a:off x="433300" y="1750475"/>
            <a:ext cx="793200" cy="746100"/>
          </a:xfrm>
          <a:prstGeom prst="rect">
            <a:avLst/>
          </a:prstGeom>
          <a:solidFill>
            <a:srgbClr val="F5F5F1">
              <a:alpha val="29800"/>
            </a:srgbClr>
          </a:solidFill>
          <a:ln cap="flat" cmpd="sng" w="28575">
            <a:solidFill>
              <a:srgbClr val="88888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6D88B0"/>
              </a:buClr>
              <a:buSzPts val="3520"/>
              <a:buFont typeface="Arial"/>
              <a:buNone/>
            </a:pPr>
            <a:r>
              <a:rPr lang="en" sz="700">
                <a:solidFill>
                  <a:srgbClr val="595959"/>
                </a:solidFill>
                <a:latin typeface="Proxima Nova"/>
                <a:ea typeface="Proxima Nova"/>
                <a:cs typeface="Proxima Nova"/>
                <a:sym typeface="Proxima Nova"/>
              </a:rPr>
              <a:t>Eating alone (74%)</a:t>
            </a:r>
            <a:endParaRPr sz="700">
              <a:latin typeface="Proxima Nova"/>
              <a:ea typeface="Proxima Nova"/>
              <a:cs typeface="Proxima Nova"/>
              <a:sym typeface="Proxima Nova"/>
            </a:endParaRPr>
          </a:p>
        </p:txBody>
      </p:sp>
      <p:sp>
        <p:nvSpPr>
          <p:cNvPr id="243" name="Google Shape;243;p30"/>
          <p:cNvSpPr txBox="1"/>
          <p:nvPr/>
        </p:nvSpPr>
        <p:spPr>
          <a:xfrm>
            <a:off x="2720250" y="92200"/>
            <a:ext cx="370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4A853"/>
                </a:solidFill>
                <a:latin typeface="Proxima Nova"/>
                <a:ea typeface="Proxima Nova"/>
                <a:cs typeface="Proxima Nova"/>
                <a:sym typeface="Proxima Nova"/>
              </a:rPr>
              <a:t>Solo Lunch Rush</a:t>
            </a:r>
            <a:endParaRPr b="1">
              <a:solidFill>
                <a:srgbClr val="7ED1D7"/>
              </a:solidFill>
              <a:latin typeface="Proxima Nova"/>
              <a:ea typeface="Proxima Nova"/>
              <a:cs typeface="Proxima Nova"/>
              <a:sym typeface="Proxima Nova"/>
            </a:endParaRPr>
          </a:p>
        </p:txBody>
      </p:sp>
      <p:sp>
        <p:nvSpPr>
          <p:cNvPr id="244" name="Google Shape;244;p30"/>
          <p:cNvSpPr txBox="1"/>
          <p:nvPr/>
        </p:nvSpPr>
        <p:spPr>
          <a:xfrm>
            <a:off x="814300" y="396988"/>
            <a:ext cx="1412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latin typeface="Proxima Nova"/>
                <a:ea typeface="Proxima Nova"/>
                <a:cs typeface="Proxima Nova"/>
                <a:sym typeface="Proxima Nova"/>
              </a:rPr>
              <a:t>Who?</a:t>
            </a:r>
            <a:endParaRPr b="1" sz="1800">
              <a:latin typeface="Proxima Nova"/>
              <a:ea typeface="Proxima Nova"/>
              <a:cs typeface="Proxima Nova"/>
              <a:sym typeface="Proxima Nova"/>
            </a:endParaRPr>
          </a:p>
        </p:txBody>
      </p:sp>
      <p:sp>
        <p:nvSpPr>
          <p:cNvPr id="245" name="Google Shape;245;p30"/>
          <p:cNvSpPr txBox="1"/>
          <p:nvPr/>
        </p:nvSpPr>
        <p:spPr>
          <a:xfrm>
            <a:off x="814300" y="2765588"/>
            <a:ext cx="1412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latin typeface="Proxima Nova"/>
                <a:ea typeface="Proxima Nova"/>
                <a:cs typeface="Proxima Nova"/>
                <a:sym typeface="Proxima Nova"/>
              </a:rPr>
              <a:t>When?</a:t>
            </a:r>
            <a:endParaRPr b="1" sz="1800">
              <a:latin typeface="Proxima Nova"/>
              <a:ea typeface="Proxima Nova"/>
              <a:cs typeface="Proxima Nova"/>
              <a:sym typeface="Proxima Nova"/>
            </a:endParaRPr>
          </a:p>
        </p:txBody>
      </p:sp>
      <p:sp>
        <p:nvSpPr>
          <p:cNvPr id="246" name="Google Shape;246;p30"/>
          <p:cNvSpPr txBox="1"/>
          <p:nvPr/>
        </p:nvSpPr>
        <p:spPr>
          <a:xfrm>
            <a:off x="3865950" y="396988"/>
            <a:ext cx="1412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latin typeface="Proxima Nova"/>
                <a:ea typeface="Proxima Nova"/>
                <a:cs typeface="Proxima Nova"/>
                <a:sym typeface="Proxima Nova"/>
              </a:rPr>
              <a:t>What?</a:t>
            </a:r>
            <a:endParaRPr b="1" sz="1800">
              <a:latin typeface="Proxima Nova"/>
              <a:ea typeface="Proxima Nova"/>
              <a:cs typeface="Proxima Nova"/>
              <a:sym typeface="Proxima Nova"/>
            </a:endParaRPr>
          </a:p>
        </p:txBody>
      </p:sp>
      <p:sp>
        <p:nvSpPr>
          <p:cNvPr id="247" name="Google Shape;247;p30"/>
          <p:cNvSpPr txBox="1"/>
          <p:nvPr/>
        </p:nvSpPr>
        <p:spPr>
          <a:xfrm>
            <a:off x="7182800" y="396988"/>
            <a:ext cx="1412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latin typeface="Proxima Nova"/>
                <a:ea typeface="Proxima Nova"/>
                <a:cs typeface="Proxima Nova"/>
                <a:sym typeface="Proxima Nova"/>
              </a:rPr>
              <a:t>Where?</a:t>
            </a:r>
            <a:endParaRPr b="1" sz="1800">
              <a:latin typeface="Proxima Nova"/>
              <a:ea typeface="Proxima Nova"/>
              <a:cs typeface="Proxima Nova"/>
              <a:sym typeface="Proxima Nova"/>
            </a:endParaRPr>
          </a:p>
        </p:txBody>
      </p:sp>
      <p:sp>
        <p:nvSpPr>
          <p:cNvPr id="248" name="Google Shape;248;p30"/>
          <p:cNvSpPr txBox="1"/>
          <p:nvPr/>
        </p:nvSpPr>
        <p:spPr>
          <a:xfrm>
            <a:off x="3271950" y="2794863"/>
            <a:ext cx="2600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latin typeface="Proxima Nova"/>
                <a:ea typeface="Proxima Nova"/>
                <a:cs typeface="Proxima Nova"/>
                <a:sym typeface="Proxima Nova"/>
              </a:rPr>
              <a:t>Descriptors/ Feelings</a:t>
            </a:r>
            <a:endParaRPr b="1" sz="1800">
              <a:latin typeface="Proxima Nova"/>
              <a:ea typeface="Proxima Nova"/>
              <a:cs typeface="Proxima Nova"/>
              <a:sym typeface="Proxima Nova"/>
            </a:endParaRPr>
          </a:p>
        </p:txBody>
      </p:sp>
      <p:sp>
        <p:nvSpPr>
          <p:cNvPr id="249" name="Google Shape;249;p30"/>
          <p:cNvSpPr txBox="1"/>
          <p:nvPr/>
        </p:nvSpPr>
        <p:spPr>
          <a:xfrm>
            <a:off x="4629725" y="986425"/>
            <a:ext cx="1849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Proxima Nova"/>
                <a:ea typeface="Proxima Nova"/>
                <a:cs typeface="Proxima Nova"/>
                <a:sym typeface="Proxima Nova"/>
              </a:rPr>
              <a:t>Mexican (18%)</a:t>
            </a:r>
            <a:endParaRPr sz="1200">
              <a:latin typeface="Proxima Nova"/>
              <a:ea typeface="Proxima Nova"/>
              <a:cs typeface="Proxima Nova"/>
              <a:sym typeface="Proxima Nova"/>
            </a:endParaRPr>
          </a:p>
        </p:txBody>
      </p:sp>
      <p:sp>
        <p:nvSpPr>
          <p:cNvPr id="250" name="Google Shape;250;p30"/>
          <p:cNvSpPr txBox="1"/>
          <p:nvPr/>
        </p:nvSpPr>
        <p:spPr>
          <a:xfrm>
            <a:off x="4629725" y="1547675"/>
            <a:ext cx="1849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Proxima Nova"/>
                <a:ea typeface="Proxima Nova"/>
                <a:cs typeface="Proxima Nova"/>
                <a:sym typeface="Proxima Nova"/>
              </a:rPr>
              <a:t>Sandwiches (11%)</a:t>
            </a:r>
            <a:endParaRPr sz="1200">
              <a:latin typeface="Proxima Nova"/>
              <a:ea typeface="Proxima Nova"/>
              <a:cs typeface="Proxima Nova"/>
              <a:sym typeface="Proxima Nova"/>
            </a:endParaRPr>
          </a:p>
        </p:txBody>
      </p:sp>
      <p:sp>
        <p:nvSpPr>
          <p:cNvPr id="251" name="Google Shape;251;p30"/>
          <p:cNvSpPr txBox="1"/>
          <p:nvPr/>
        </p:nvSpPr>
        <p:spPr>
          <a:xfrm>
            <a:off x="4629725" y="2108925"/>
            <a:ext cx="1849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Proxima Nova"/>
                <a:ea typeface="Proxima Nova"/>
                <a:cs typeface="Proxima Nova"/>
                <a:sym typeface="Proxima Nova"/>
              </a:rPr>
              <a:t>Fast food (10%)</a:t>
            </a:r>
            <a:endParaRPr sz="1200">
              <a:latin typeface="Proxima Nova"/>
              <a:ea typeface="Proxima Nova"/>
              <a:cs typeface="Proxima Nova"/>
              <a:sym typeface="Proxima Nova"/>
            </a:endParaRPr>
          </a:p>
        </p:txBody>
      </p:sp>
      <p:sp>
        <p:nvSpPr>
          <p:cNvPr id="252" name="Google Shape;252;p30"/>
          <p:cNvSpPr/>
          <p:nvPr/>
        </p:nvSpPr>
        <p:spPr>
          <a:xfrm>
            <a:off x="3680000" y="3231425"/>
            <a:ext cx="822900" cy="822900"/>
          </a:xfrm>
          <a:prstGeom prst="rect">
            <a:avLst/>
          </a:prstGeom>
          <a:solidFill>
            <a:srgbClr val="F5F5F1">
              <a:alpha val="29800"/>
            </a:srgbClr>
          </a:solidFill>
          <a:ln cap="flat" cmpd="sng" w="28575">
            <a:solidFill>
              <a:srgbClr val="88888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6D88B0"/>
              </a:buClr>
              <a:buSzPts val="3520"/>
              <a:buFont typeface="Arial"/>
              <a:buNone/>
            </a:pPr>
            <a:r>
              <a:rPr lang="en" sz="700">
                <a:solidFill>
                  <a:srgbClr val="595959"/>
                </a:solidFill>
                <a:latin typeface="Proxima Nova"/>
                <a:ea typeface="Proxima Nova"/>
                <a:cs typeface="Proxima Nova"/>
                <a:sym typeface="Proxima Nova"/>
              </a:rPr>
              <a:t>Routine meal (89%)</a:t>
            </a:r>
            <a:endParaRPr sz="700">
              <a:latin typeface="Proxima Nova"/>
              <a:ea typeface="Proxima Nova"/>
              <a:cs typeface="Proxima Nova"/>
              <a:sym typeface="Proxima Nova"/>
            </a:endParaRPr>
          </a:p>
        </p:txBody>
      </p:sp>
      <p:sp>
        <p:nvSpPr>
          <p:cNvPr id="253" name="Google Shape;253;p30"/>
          <p:cNvSpPr/>
          <p:nvPr/>
        </p:nvSpPr>
        <p:spPr>
          <a:xfrm>
            <a:off x="7946250" y="840087"/>
            <a:ext cx="1005900" cy="1005900"/>
          </a:xfrm>
          <a:prstGeom prst="rect">
            <a:avLst/>
          </a:prstGeom>
          <a:solidFill>
            <a:srgbClr val="F5F5F1">
              <a:alpha val="29800"/>
            </a:srgbClr>
          </a:solidFill>
          <a:ln cap="flat" cmpd="sng" w="28575">
            <a:solidFill>
              <a:srgbClr val="88888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6D88B0"/>
              </a:buClr>
              <a:buSzPts val="3520"/>
              <a:buFont typeface="Arial"/>
              <a:buNone/>
            </a:pPr>
            <a:r>
              <a:rPr lang="en" sz="700">
                <a:solidFill>
                  <a:srgbClr val="595959"/>
                </a:solidFill>
                <a:latin typeface="Proxima Nova"/>
                <a:ea typeface="Proxima Nova"/>
                <a:cs typeface="Proxima Nova"/>
                <a:sym typeface="Proxima Nova"/>
              </a:rPr>
              <a:t>Office</a:t>
            </a:r>
            <a:endParaRPr sz="700">
              <a:solidFill>
                <a:srgbClr val="595959"/>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6D88B0"/>
              </a:buClr>
              <a:buSzPts val="3520"/>
              <a:buFont typeface="Arial"/>
              <a:buNone/>
            </a:pPr>
            <a:r>
              <a:rPr lang="en" sz="700">
                <a:solidFill>
                  <a:srgbClr val="595959"/>
                </a:solidFill>
                <a:latin typeface="Proxima Nova"/>
                <a:ea typeface="Proxima Nova"/>
                <a:cs typeface="Proxima Nova"/>
                <a:sym typeface="Proxima Nova"/>
              </a:rPr>
              <a:t>(15</a:t>
            </a:r>
            <a:r>
              <a:rPr i="0" lang="en" sz="700" u="none" cap="none" strike="noStrike">
                <a:solidFill>
                  <a:srgbClr val="595959"/>
                </a:solidFill>
                <a:latin typeface="Proxima Nova"/>
                <a:ea typeface="Proxima Nova"/>
                <a:cs typeface="Proxima Nova"/>
                <a:sym typeface="Proxima Nova"/>
              </a:rPr>
              <a:t>%)</a:t>
            </a:r>
            <a:endParaRPr sz="700">
              <a:latin typeface="Proxima Nova"/>
              <a:ea typeface="Proxima Nova"/>
              <a:cs typeface="Proxima Nova"/>
              <a:sym typeface="Proxima Nova"/>
            </a:endParaRPr>
          </a:p>
        </p:txBody>
      </p:sp>
      <p:sp>
        <p:nvSpPr>
          <p:cNvPr id="254" name="Google Shape;254;p30"/>
          <p:cNvSpPr/>
          <p:nvPr/>
        </p:nvSpPr>
        <p:spPr>
          <a:xfrm>
            <a:off x="1061543" y="2318736"/>
            <a:ext cx="137100" cy="137100"/>
          </a:xfrm>
          <a:prstGeom prst="triangle">
            <a:avLst>
              <a:gd fmla="val 50000" name="adj"/>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0"/>
          <p:cNvSpPr/>
          <p:nvPr/>
        </p:nvSpPr>
        <p:spPr>
          <a:xfrm>
            <a:off x="4629725" y="3231425"/>
            <a:ext cx="822900" cy="822900"/>
          </a:xfrm>
          <a:prstGeom prst="rect">
            <a:avLst/>
          </a:prstGeom>
          <a:solidFill>
            <a:srgbClr val="F5F5F1">
              <a:alpha val="29800"/>
            </a:srgbClr>
          </a:solidFill>
          <a:ln cap="flat" cmpd="sng" w="28575">
            <a:solidFill>
              <a:srgbClr val="88888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6D88B0"/>
              </a:buClr>
              <a:buSzPts val="3520"/>
              <a:buFont typeface="Arial"/>
              <a:buNone/>
            </a:pPr>
            <a:r>
              <a:rPr lang="en" sz="700">
                <a:solidFill>
                  <a:srgbClr val="595959"/>
                </a:solidFill>
                <a:latin typeface="Proxima Nova"/>
                <a:ea typeface="Proxima Nova"/>
                <a:cs typeface="Proxima Nova"/>
                <a:sym typeface="Proxima Nova"/>
              </a:rPr>
              <a:t>Unplanned</a:t>
            </a:r>
            <a:endParaRPr sz="700">
              <a:solidFill>
                <a:srgbClr val="595959"/>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6D88B0"/>
              </a:buClr>
              <a:buSzPts val="3520"/>
              <a:buFont typeface="Arial"/>
              <a:buNone/>
            </a:pPr>
            <a:r>
              <a:rPr lang="en" sz="700">
                <a:solidFill>
                  <a:srgbClr val="595959"/>
                </a:solidFill>
                <a:latin typeface="Proxima Nova"/>
                <a:ea typeface="Proxima Nova"/>
                <a:cs typeface="Proxima Nova"/>
                <a:sym typeface="Proxima Nova"/>
              </a:rPr>
              <a:t>(79%)</a:t>
            </a:r>
            <a:endParaRPr sz="700">
              <a:latin typeface="Proxima Nova"/>
              <a:ea typeface="Proxima Nova"/>
              <a:cs typeface="Proxima Nova"/>
              <a:sym typeface="Proxima Nova"/>
            </a:endParaRPr>
          </a:p>
        </p:txBody>
      </p:sp>
      <p:sp>
        <p:nvSpPr>
          <p:cNvPr id="256" name="Google Shape;256;p30"/>
          <p:cNvSpPr/>
          <p:nvPr/>
        </p:nvSpPr>
        <p:spPr>
          <a:xfrm>
            <a:off x="3680000" y="4168150"/>
            <a:ext cx="822900" cy="822900"/>
          </a:xfrm>
          <a:prstGeom prst="rect">
            <a:avLst/>
          </a:prstGeom>
          <a:solidFill>
            <a:srgbClr val="F5F5F1">
              <a:alpha val="29800"/>
            </a:srgbClr>
          </a:solidFill>
          <a:ln cap="flat" cmpd="sng" w="28575">
            <a:solidFill>
              <a:srgbClr val="88888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6D88B0"/>
              </a:buClr>
              <a:buSzPts val="3520"/>
              <a:buFont typeface="Arial"/>
              <a:buNone/>
            </a:pPr>
            <a:r>
              <a:rPr lang="en" sz="700">
                <a:solidFill>
                  <a:srgbClr val="595959"/>
                </a:solidFill>
                <a:latin typeface="Proxima Nova"/>
                <a:ea typeface="Proxima Nova"/>
                <a:cs typeface="Proxima Nova"/>
                <a:sym typeface="Proxima Nova"/>
              </a:rPr>
              <a:t>Feeling Hangry/ Hungry (57</a:t>
            </a:r>
            <a:r>
              <a:rPr i="0" lang="en" sz="700" u="none" cap="none" strike="noStrike">
                <a:solidFill>
                  <a:srgbClr val="595959"/>
                </a:solidFill>
                <a:latin typeface="Proxima Nova"/>
                <a:ea typeface="Proxima Nova"/>
                <a:cs typeface="Proxima Nova"/>
                <a:sym typeface="Proxima Nova"/>
              </a:rPr>
              <a:t>%)</a:t>
            </a:r>
            <a:endParaRPr sz="700">
              <a:latin typeface="Proxima Nova"/>
              <a:ea typeface="Proxima Nova"/>
              <a:cs typeface="Proxima Nova"/>
              <a:sym typeface="Proxima Nova"/>
            </a:endParaRPr>
          </a:p>
        </p:txBody>
      </p:sp>
      <p:sp>
        <p:nvSpPr>
          <p:cNvPr id="257" name="Google Shape;257;p30"/>
          <p:cNvSpPr/>
          <p:nvPr/>
        </p:nvSpPr>
        <p:spPr>
          <a:xfrm>
            <a:off x="4629725" y="4168150"/>
            <a:ext cx="822900" cy="822900"/>
          </a:xfrm>
          <a:prstGeom prst="rect">
            <a:avLst/>
          </a:prstGeom>
          <a:solidFill>
            <a:srgbClr val="F5F5F1">
              <a:alpha val="29800"/>
            </a:srgbClr>
          </a:solidFill>
          <a:ln cap="flat" cmpd="sng" w="28575">
            <a:solidFill>
              <a:srgbClr val="88888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6D88B0"/>
              </a:buClr>
              <a:buSzPts val="3520"/>
              <a:buFont typeface="Arial"/>
              <a:buNone/>
            </a:pPr>
            <a:r>
              <a:rPr lang="en" sz="700">
                <a:solidFill>
                  <a:srgbClr val="595959"/>
                </a:solidFill>
                <a:latin typeface="Proxima Nova"/>
                <a:ea typeface="Proxima Nova"/>
                <a:cs typeface="Proxima Nova"/>
                <a:sym typeface="Proxima Nova"/>
              </a:rPr>
              <a:t>Stressed/ Rushed (20</a:t>
            </a:r>
            <a:r>
              <a:rPr i="0" lang="en" sz="700" u="none" cap="none" strike="noStrike">
                <a:solidFill>
                  <a:srgbClr val="595959"/>
                </a:solidFill>
                <a:latin typeface="Proxima Nova"/>
                <a:ea typeface="Proxima Nova"/>
                <a:cs typeface="Proxima Nova"/>
                <a:sym typeface="Proxima Nova"/>
              </a:rPr>
              <a:t>%)</a:t>
            </a:r>
            <a:endParaRPr sz="700">
              <a:latin typeface="Proxima Nova"/>
              <a:ea typeface="Proxima Nova"/>
              <a:cs typeface="Proxima Nova"/>
              <a:sym typeface="Proxima Nova"/>
            </a:endParaRPr>
          </a:p>
        </p:txBody>
      </p:sp>
      <p:sp>
        <p:nvSpPr>
          <p:cNvPr id="258" name="Google Shape;258;p30"/>
          <p:cNvSpPr/>
          <p:nvPr/>
        </p:nvSpPr>
        <p:spPr>
          <a:xfrm>
            <a:off x="6814346" y="2365971"/>
            <a:ext cx="1005900" cy="1005900"/>
          </a:xfrm>
          <a:prstGeom prst="rect">
            <a:avLst/>
          </a:prstGeom>
          <a:solidFill>
            <a:srgbClr val="F5F5F1">
              <a:alpha val="29800"/>
            </a:srgbClr>
          </a:solidFill>
          <a:ln cap="flat" cmpd="sng" w="28575">
            <a:solidFill>
              <a:srgbClr val="88888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D88B0"/>
              </a:buClr>
              <a:buSzPts val="3520"/>
              <a:buFont typeface="Arial"/>
              <a:buNone/>
            </a:pPr>
            <a:r>
              <a:t/>
            </a:r>
            <a:endParaRPr sz="7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7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7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7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7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700">
              <a:solidFill>
                <a:srgbClr val="6D88B0"/>
              </a:solidFill>
              <a:latin typeface="Proxima Nova"/>
              <a:ea typeface="Proxima Nova"/>
              <a:cs typeface="Proxima Nova"/>
              <a:sym typeface="Proxima Nova"/>
            </a:endParaRPr>
          </a:p>
          <a:p>
            <a:pPr indent="0" lvl="0" marL="0" rtl="0" algn="ctr">
              <a:spcBef>
                <a:spcPts val="0"/>
              </a:spcBef>
              <a:spcAft>
                <a:spcPts val="0"/>
              </a:spcAft>
              <a:buClr>
                <a:srgbClr val="6D88B0"/>
              </a:buClr>
              <a:buSzPts val="3520"/>
              <a:buFont typeface="Arial"/>
              <a:buNone/>
            </a:pPr>
            <a:r>
              <a:rPr lang="en" sz="700">
                <a:solidFill>
                  <a:schemeClr val="dk2"/>
                </a:solidFill>
                <a:latin typeface="Proxima Nova"/>
                <a:ea typeface="Proxima Nova"/>
                <a:cs typeface="Proxima Nova"/>
                <a:sym typeface="Proxima Nova"/>
              </a:rPr>
              <a:t>Rx was nearby</a:t>
            </a:r>
            <a:endParaRPr sz="700">
              <a:solidFill>
                <a:schemeClr val="dk2"/>
              </a:solidFill>
              <a:latin typeface="Proxima Nova"/>
              <a:ea typeface="Proxima Nova"/>
              <a:cs typeface="Proxima Nova"/>
              <a:sym typeface="Proxima Nova"/>
            </a:endParaRPr>
          </a:p>
          <a:p>
            <a:pPr indent="0" lvl="0" marL="0" rtl="0" algn="ctr">
              <a:spcBef>
                <a:spcPts val="0"/>
              </a:spcBef>
              <a:spcAft>
                <a:spcPts val="0"/>
              </a:spcAft>
              <a:buClr>
                <a:srgbClr val="6D88B0"/>
              </a:buClr>
              <a:buSzPts val="3520"/>
              <a:buFont typeface="Arial"/>
              <a:buNone/>
            </a:pPr>
            <a:r>
              <a:rPr lang="en" sz="700">
                <a:solidFill>
                  <a:schemeClr val="dk2"/>
                </a:solidFill>
                <a:latin typeface="Proxima Nova"/>
                <a:ea typeface="Proxima Nova"/>
                <a:cs typeface="Proxima Nova"/>
                <a:sym typeface="Proxima Nova"/>
              </a:rPr>
              <a:t>(72%) </a:t>
            </a:r>
            <a:endParaRPr sz="700">
              <a:solidFill>
                <a:srgbClr val="595959"/>
              </a:solidFill>
              <a:latin typeface="Proxima Nova"/>
              <a:ea typeface="Proxima Nova"/>
              <a:cs typeface="Proxima Nova"/>
              <a:sym typeface="Proxima Nova"/>
            </a:endParaRPr>
          </a:p>
        </p:txBody>
      </p:sp>
      <p:sp>
        <p:nvSpPr>
          <p:cNvPr id="259" name="Google Shape;259;p30"/>
          <p:cNvSpPr txBox="1"/>
          <p:nvPr/>
        </p:nvSpPr>
        <p:spPr>
          <a:xfrm>
            <a:off x="7000001" y="1892675"/>
            <a:ext cx="17823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latin typeface="Proxima Nova"/>
                <a:ea typeface="Proxima Nova"/>
                <a:cs typeface="Proxima Nova"/>
                <a:sym typeface="Proxima Nova"/>
              </a:rPr>
              <a:t>Why Pickup?</a:t>
            </a:r>
            <a:endParaRPr b="1" sz="1800">
              <a:latin typeface="Proxima Nova"/>
              <a:ea typeface="Proxima Nova"/>
              <a:cs typeface="Proxima Nova"/>
              <a:sym typeface="Proxima Nova"/>
            </a:endParaRPr>
          </a:p>
        </p:txBody>
      </p:sp>
      <p:sp>
        <p:nvSpPr>
          <p:cNvPr id="260" name="Google Shape;260;p30"/>
          <p:cNvSpPr/>
          <p:nvPr/>
        </p:nvSpPr>
        <p:spPr>
          <a:xfrm>
            <a:off x="7948146" y="2365983"/>
            <a:ext cx="1005900" cy="1005900"/>
          </a:xfrm>
          <a:prstGeom prst="rect">
            <a:avLst/>
          </a:prstGeom>
          <a:solidFill>
            <a:srgbClr val="F5F5F1">
              <a:alpha val="29800"/>
            </a:srgbClr>
          </a:solidFill>
          <a:ln cap="flat" cmpd="sng" w="28575">
            <a:solidFill>
              <a:srgbClr val="88888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6D88B0"/>
              </a:buClr>
              <a:buSzPts val="3520"/>
              <a:buFont typeface="Arial"/>
              <a:buNone/>
            </a:pPr>
            <a:r>
              <a:rPr lang="en" sz="700">
                <a:solidFill>
                  <a:schemeClr val="dk2"/>
                </a:solidFill>
                <a:latin typeface="Proxima Nova"/>
                <a:ea typeface="Proxima Nova"/>
                <a:cs typeface="Proxima Nova"/>
                <a:sym typeface="Proxima Nova"/>
              </a:rPr>
              <a:t>The Rx will keep more of my money (19%)</a:t>
            </a:r>
            <a:endParaRPr sz="700">
              <a:solidFill>
                <a:schemeClr val="dk1"/>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6D88B0"/>
              </a:buClr>
              <a:buSzPts val="3520"/>
              <a:buFont typeface="Arial"/>
              <a:buNone/>
            </a:pPr>
            <a:r>
              <a:t/>
            </a:r>
            <a:endParaRPr sz="700">
              <a:solidFill>
                <a:srgbClr val="595959"/>
              </a:solidFill>
              <a:latin typeface="Proxima Nova"/>
              <a:ea typeface="Proxima Nova"/>
              <a:cs typeface="Proxima Nova"/>
              <a:sym typeface="Proxima Nova"/>
            </a:endParaRPr>
          </a:p>
        </p:txBody>
      </p:sp>
      <p:sp>
        <p:nvSpPr>
          <p:cNvPr id="261" name="Google Shape;261;p30"/>
          <p:cNvSpPr/>
          <p:nvPr/>
        </p:nvSpPr>
        <p:spPr>
          <a:xfrm>
            <a:off x="6814346" y="3966171"/>
            <a:ext cx="1005900" cy="1005900"/>
          </a:xfrm>
          <a:prstGeom prst="rect">
            <a:avLst/>
          </a:prstGeom>
          <a:solidFill>
            <a:srgbClr val="F5F5F1">
              <a:alpha val="29800"/>
            </a:srgbClr>
          </a:solidFill>
          <a:ln cap="flat" cmpd="sng" w="28575">
            <a:solidFill>
              <a:srgbClr val="88888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6D88B0"/>
              </a:buClr>
              <a:buSzPts val="3520"/>
              <a:buFont typeface="Arial"/>
              <a:buNone/>
            </a:pPr>
            <a:r>
              <a:rPr lang="en" sz="700">
                <a:solidFill>
                  <a:srgbClr val="595959"/>
                </a:solidFill>
                <a:latin typeface="Proxima Nova"/>
                <a:ea typeface="Proxima Nova"/>
                <a:cs typeface="Proxima Nova"/>
                <a:sym typeface="Proxima Nova"/>
              </a:rPr>
              <a:t>Proximity</a:t>
            </a:r>
            <a:endParaRPr sz="700">
              <a:solidFill>
                <a:srgbClr val="595959"/>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6D88B0"/>
              </a:buClr>
              <a:buSzPts val="3520"/>
              <a:buFont typeface="Arial"/>
              <a:buNone/>
            </a:pPr>
            <a:r>
              <a:rPr lang="en" sz="700">
                <a:solidFill>
                  <a:srgbClr val="595959"/>
                </a:solidFill>
                <a:latin typeface="Proxima Nova"/>
                <a:ea typeface="Proxima Nova"/>
                <a:cs typeface="Proxima Nova"/>
                <a:sym typeface="Proxima Nova"/>
              </a:rPr>
              <a:t>(46%)</a:t>
            </a:r>
            <a:endParaRPr sz="700">
              <a:solidFill>
                <a:srgbClr val="595959"/>
              </a:solidFill>
              <a:latin typeface="Proxima Nova"/>
              <a:ea typeface="Proxima Nova"/>
              <a:cs typeface="Proxima Nova"/>
              <a:sym typeface="Proxima Nova"/>
            </a:endParaRPr>
          </a:p>
        </p:txBody>
      </p:sp>
      <p:sp>
        <p:nvSpPr>
          <p:cNvPr id="262" name="Google Shape;262;p30"/>
          <p:cNvSpPr txBox="1"/>
          <p:nvPr/>
        </p:nvSpPr>
        <p:spPr>
          <a:xfrm>
            <a:off x="6638900" y="3496688"/>
            <a:ext cx="2499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latin typeface="Proxima Nova"/>
                <a:ea typeface="Proxima Nova"/>
                <a:cs typeface="Proxima Nova"/>
                <a:sym typeface="Proxima Nova"/>
              </a:rPr>
              <a:t>Top Rx Considerations</a:t>
            </a:r>
            <a:endParaRPr b="1" sz="1800">
              <a:latin typeface="Proxima Nova"/>
              <a:ea typeface="Proxima Nova"/>
              <a:cs typeface="Proxima Nova"/>
              <a:sym typeface="Proxima Nova"/>
            </a:endParaRPr>
          </a:p>
        </p:txBody>
      </p:sp>
      <p:sp>
        <p:nvSpPr>
          <p:cNvPr id="263" name="Google Shape;263;p30"/>
          <p:cNvSpPr/>
          <p:nvPr/>
        </p:nvSpPr>
        <p:spPr>
          <a:xfrm>
            <a:off x="7948146" y="3966183"/>
            <a:ext cx="1005900" cy="1005900"/>
          </a:xfrm>
          <a:prstGeom prst="rect">
            <a:avLst/>
          </a:prstGeom>
          <a:solidFill>
            <a:srgbClr val="F5F5F1">
              <a:alpha val="29800"/>
            </a:srgbClr>
          </a:solidFill>
          <a:ln cap="flat" cmpd="sng" w="28575">
            <a:solidFill>
              <a:srgbClr val="88888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6D88B0"/>
              </a:buClr>
              <a:buSzPts val="3520"/>
              <a:buFont typeface="Arial"/>
              <a:buNone/>
            </a:pPr>
            <a:r>
              <a:t/>
            </a:r>
            <a:endParaRPr sz="1000">
              <a:solidFill>
                <a:srgbClr val="6D88B0"/>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6D88B0"/>
              </a:buClr>
              <a:buSzPts val="3520"/>
              <a:buFont typeface="Arial"/>
              <a:buNone/>
            </a:pPr>
            <a:r>
              <a:t/>
            </a:r>
            <a:endParaRPr sz="700">
              <a:solidFill>
                <a:srgbClr val="595959"/>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6D88B0"/>
              </a:buClr>
              <a:buSzPts val="3520"/>
              <a:buFont typeface="Arial"/>
              <a:buNone/>
            </a:pPr>
            <a:r>
              <a:t/>
            </a:r>
            <a:endParaRPr sz="700">
              <a:solidFill>
                <a:srgbClr val="595959"/>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6D88B0"/>
              </a:buClr>
              <a:buSzPts val="3520"/>
              <a:buFont typeface="Arial"/>
              <a:buNone/>
            </a:pPr>
            <a:r>
              <a:rPr lang="en" sz="700">
                <a:solidFill>
                  <a:srgbClr val="595959"/>
                </a:solidFill>
                <a:latin typeface="Proxima Nova"/>
                <a:ea typeface="Proxima Nova"/>
                <a:cs typeface="Proxima Nova"/>
                <a:sym typeface="Proxima Nova"/>
              </a:rPr>
              <a:t>Speed</a:t>
            </a:r>
            <a:endParaRPr sz="700">
              <a:solidFill>
                <a:srgbClr val="595959"/>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6D88B0"/>
              </a:buClr>
              <a:buSzPts val="3520"/>
              <a:buFont typeface="Arial"/>
              <a:buNone/>
            </a:pPr>
            <a:r>
              <a:rPr lang="en" sz="700">
                <a:solidFill>
                  <a:srgbClr val="595959"/>
                </a:solidFill>
                <a:latin typeface="Proxima Nova"/>
                <a:ea typeface="Proxima Nova"/>
                <a:cs typeface="Proxima Nova"/>
                <a:sym typeface="Proxima Nova"/>
              </a:rPr>
              <a:t>(43%)</a:t>
            </a:r>
            <a:endParaRPr sz="700">
              <a:solidFill>
                <a:srgbClr val="595959"/>
              </a:solidFill>
              <a:latin typeface="Proxima Nova"/>
              <a:ea typeface="Proxima Nova"/>
              <a:cs typeface="Proxima Nova"/>
              <a:sym typeface="Proxima Nova"/>
            </a:endParaRPr>
          </a:p>
        </p:txBody>
      </p:sp>
      <p:sp>
        <p:nvSpPr>
          <p:cNvPr id="264" name="Google Shape;264;p30"/>
          <p:cNvSpPr/>
          <p:nvPr/>
        </p:nvSpPr>
        <p:spPr>
          <a:xfrm>
            <a:off x="7467807" y="4738449"/>
            <a:ext cx="137100" cy="137100"/>
          </a:xfrm>
          <a:prstGeom prst="triangle">
            <a:avLst>
              <a:gd fmla="val 50000" name="adj"/>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0"/>
          <p:cNvSpPr/>
          <p:nvPr/>
        </p:nvSpPr>
        <p:spPr>
          <a:xfrm>
            <a:off x="8618119" y="4742235"/>
            <a:ext cx="137100" cy="137100"/>
          </a:xfrm>
          <a:prstGeom prst="triangle">
            <a:avLst>
              <a:gd fmla="val 50000" name="adj"/>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0"/>
          <p:cNvSpPr/>
          <p:nvPr/>
        </p:nvSpPr>
        <p:spPr>
          <a:xfrm>
            <a:off x="7467807" y="3151999"/>
            <a:ext cx="137100" cy="137100"/>
          </a:xfrm>
          <a:prstGeom prst="triangle">
            <a:avLst>
              <a:gd fmla="val 50000" name="adj"/>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0"/>
          <p:cNvSpPr/>
          <p:nvPr/>
        </p:nvSpPr>
        <p:spPr>
          <a:xfrm>
            <a:off x="8549734" y="3211870"/>
            <a:ext cx="137100" cy="137100"/>
          </a:xfrm>
          <a:prstGeom prst="triangle">
            <a:avLst>
              <a:gd fmla="val 50000" name="adj"/>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0"/>
          <p:cNvSpPr/>
          <p:nvPr/>
        </p:nvSpPr>
        <p:spPr>
          <a:xfrm>
            <a:off x="5734943" y="1102536"/>
            <a:ext cx="137100" cy="137100"/>
          </a:xfrm>
          <a:prstGeom prst="triangle">
            <a:avLst>
              <a:gd fmla="val 50000" name="adj"/>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9" name="Google Shape;269;p30"/>
          <p:cNvPicPr preferRelativeResize="0"/>
          <p:nvPr/>
        </p:nvPicPr>
        <p:blipFill>
          <a:blip r:embed="rId5">
            <a:alphaModFix/>
          </a:blip>
          <a:stretch>
            <a:fillRect/>
          </a:stretch>
        </p:blipFill>
        <p:spPr>
          <a:xfrm>
            <a:off x="8220456" y="4087368"/>
            <a:ext cx="457200" cy="457200"/>
          </a:xfrm>
          <a:prstGeom prst="rect">
            <a:avLst/>
          </a:prstGeom>
          <a:noFill/>
          <a:ln>
            <a:noFill/>
          </a:ln>
        </p:spPr>
      </p:pic>
      <p:pic>
        <p:nvPicPr>
          <p:cNvPr id="270" name="Google Shape;270;p30"/>
          <p:cNvPicPr preferRelativeResize="0"/>
          <p:nvPr/>
        </p:nvPicPr>
        <p:blipFill>
          <a:blip r:embed="rId6">
            <a:alphaModFix/>
          </a:blip>
          <a:stretch>
            <a:fillRect/>
          </a:stretch>
        </p:blipFill>
        <p:spPr>
          <a:xfrm>
            <a:off x="7086600" y="4087368"/>
            <a:ext cx="457200" cy="457200"/>
          </a:xfrm>
          <a:prstGeom prst="rect">
            <a:avLst/>
          </a:prstGeom>
          <a:noFill/>
          <a:ln>
            <a:noFill/>
          </a:ln>
        </p:spPr>
      </p:pic>
      <p:pic>
        <p:nvPicPr>
          <p:cNvPr id="271" name="Google Shape;271;p30"/>
          <p:cNvPicPr preferRelativeResize="0"/>
          <p:nvPr/>
        </p:nvPicPr>
        <p:blipFill>
          <a:blip r:embed="rId7">
            <a:alphaModFix/>
          </a:blip>
          <a:stretch>
            <a:fillRect/>
          </a:stretch>
        </p:blipFill>
        <p:spPr>
          <a:xfrm>
            <a:off x="8220456" y="2487168"/>
            <a:ext cx="457200" cy="457200"/>
          </a:xfrm>
          <a:prstGeom prst="rect">
            <a:avLst/>
          </a:prstGeom>
          <a:noFill/>
          <a:ln>
            <a:noFill/>
          </a:ln>
        </p:spPr>
      </p:pic>
      <p:pic>
        <p:nvPicPr>
          <p:cNvPr id="272" name="Google Shape;272;p30"/>
          <p:cNvPicPr preferRelativeResize="0"/>
          <p:nvPr/>
        </p:nvPicPr>
        <p:blipFill>
          <a:blip r:embed="rId6">
            <a:alphaModFix/>
          </a:blip>
          <a:stretch>
            <a:fillRect/>
          </a:stretch>
        </p:blipFill>
        <p:spPr>
          <a:xfrm>
            <a:off x="7086600" y="2487168"/>
            <a:ext cx="457200" cy="457200"/>
          </a:xfrm>
          <a:prstGeom prst="rect">
            <a:avLst/>
          </a:prstGeom>
          <a:noFill/>
          <a:ln>
            <a:noFill/>
          </a:ln>
        </p:spPr>
      </p:pic>
      <p:pic>
        <p:nvPicPr>
          <p:cNvPr id="273" name="Google Shape;273;p30"/>
          <p:cNvPicPr preferRelativeResize="0"/>
          <p:nvPr/>
        </p:nvPicPr>
        <p:blipFill>
          <a:blip r:embed="rId8">
            <a:alphaModFix/>
          </a:blip>
          <a:stretch>
            <a:fillRect/>
          </a:stretch>
        </p:blipFill>
        <p:spPr>
          <a:xfrm>
            <a:off x="3904488" y="4288536"/>
            <a:ext cx="365760" cy="365760"/>
          </a:xfrm>
          <a:prstGeom prst="rect">
            <a:avLst/>
          </a:prstGeom>
          <a:noFill/>
          <a:ln>
            <a:noFill/>
          </a:ln>
        </p:spPr>
      </p:pic>
      <p:pic>
        <p:nvPicPr>
          <p:cNvPr id="274" name="Google Shape;274;p30"/>
          <p:cNvPicPr preferRelativeResize="0"/>
          <p:nvPr/>
        </p:nvPicPr>
        <p:blipFill>
          <a:blip r:embed="rId9">
            <a:alphaModFix/>
          </a:blip>
          <a:stretch>
            <a:fillRect/>
          </a:stretch>
        </p:blipFill>
        <p:spPr>
          <a:xfrm>
            <a:off x="4855464" y="3337560"/>
            <a:ext cx="365760" cy="365760"/>
          </a:xfrm>
          <a:prstGeom prst="rect">
            <a:avLst/>
          </a:prstGeom>
          <a:noFill/>
          <a:ln>
            <a:noFill/>
          </a:ln>
        </p:spPr>
      </p:pic>
      <p:pic>
        <p:nvPicPr>
          <p:cNvPr id="275" name="Google Shape;275;p30"/>
          <p:cNvPicPr preferRelativeResize="0"/>
          <p:nvPr/>
        </p:nvPicPr>
        <p:blipFill>
          <a:blip r:embed="rId10">
            <a:alphaModFix/>
          </a:blip>
          <a:stretch>
            <a:fillRect/>
          </a:stretch>
        </p:blipFill>
        <p:spPr>
          <a:xfrm>
            <a:off x="8220456" y="1005840"/>
            <a:ext cx="457200" cy="457200"/>
          </a:xfrm>
          <a:prstGeom prst="rect">
            <a:avLst/>
          </a:prstGeom>
          <a:noFill/>
          <a:ln>
            <a:noFill/>
          </a:ln>
        </p:spPr>
      </p:pic>
      <p:pic>
        <p:nvPicPr>
          <p:cNvPr id="276" name="Google Shape;276;p30"/>
          <p:cNvPicPr preferRelativeResize="0"/>
          <p:nvPr/>
        </p:nvPicPr>
        <p:blipFill>
          <a:blip r:embed="rId11">
            <a:alphaModFix/>
          </a:blip>
          <a:stretch>
            <a:fillRect/>
          </a:stretch>
        </p:blipFill>
        <p:spPr>
          <a:xfrm>
            <a:off x="7086600" y="1005840"/>
            <a:ext cx="457200" cy="457200"/>
          </a:xfrm>
          <a:prstGeom prst="rect">
            <a:avLst/>
          </a:prstGeom>
          <a:noFill/>
          <a:ln>
            <a:noFill/>
          </a:ln>
        </p:spPr>
      </p:pic>
      <p:pic>
        <p:nvPicPr>
          <p:cNvPr id="277" name="Google Shape;277;p30"/>
          <p:cNvPicPr preferRelativeResize="0"/>
          <p:nvPr/>
        </p:nvPicPr>
        <p:blipFill>
          <a:blip r:embed="rId12">
            <a:alphaModFix/>
          </a:blip>
          <a:stretch>
            <a:fillRect/>
          </a:stretch>
        </p:blipFill>
        <p:spPr>
          <a:xfrm>
            <a:off x="3749040" y="1453896"/>
            <a:ext cx="457200" cy="457200"/>
          </a:xfrm>
          <a:prstGeom prst="rect">
            <a:avLst/>
          </a:prstGeom>
          <a:noFill/>
          <a:ln>
            <a:noFill/>
          </a:ln>
        </p:spPr>
      </p:pic>
      <p:pic>
        <p:nvPicPr>
          <p:cNvPr id="278" name="Google Shape;278;p30"/>
          <p:cNvPicPr preferRelativeResize="0"/>
          <p:nvPr/>
        </p:nvPicPr>
        <p:blipFill>
          <a:blip r:embed="rId13">
            <a:alphaModFix/>
          </a:blip>
          <a:stretch>
            <a:fillRect/>
          </a:stretch>
        </p:blipFill>
        <p:spPr>
          <a:xfrm>
            <a:off x="3749040" y="896112"/>
            <a:ext cx="457200" cy="457200"/>
          </a:xfrm>
          <a:prstGeom prst="rect">
            <a:avLst/>
          </a:prstGeom>
          <a:noFill/>
          <a:ln>
            <a:noFill/>
          </a:ln>
        </p:spPr>
      </p:pic>
      <p:pic>
        <p:nvPicPr>
          <p:cNvPr id="279" name="Google Shape;279;p30"/>
          <p:cNvPicPr preferRelativeResize="0"/>
          <p:nvPr/>
        </p:nvPicPr>
        <p:blipFill>
          <a:blip r:embed="rId14">
            <a:alphaModFix/>
          </a:blip>
          <a:stretch>
            <a:fillRect/>
          </a:stretch>
        </p:blipFill>
        <p:spPr>
          <a:xfrm>
            <a:off x="1737360" y="1801368"/>
            <a:ext cx="457200" cy="457200"/>
          </a:xfrm>
          <a:prstGeom prst="rect">
            <a:avLst/>
          </a:prstGeom>
          <a:noFill/>
          <a:ln>
            <a:noFill/>
          </a:ln>
        </p:spPr>
      </p:pic>
      <p:pic>
        <p:nvPicPr>
          <p:cNvPr id="280" name="Google Shape;280;p30"/>
          <p:cNvPicPr preferRelativeResize="0"/>
          <p:nvPr/>
        </p:nvPicPr>
        <p:blipFill>
          <a:blip r:embed="rId15">
            <a:alphaModFix/>
          </a:blip>
          <a:stretch>
            <a:fillRect/>
          </a:stretch>
        </p:blipFill>
        <p:spPr>
          <a:xfrm>
            <a:off x="603504" y="1801368"/>
            <a:ext cx="457200" cy="457200"/>
          </a:xfrm>
          <a:prstGeom prst="rect">
            <a:avLst/>
          </a:prstGeom>
          <a:noFill/>
          <a:ln>
            <a:noFill/>
          </a:ln>
        </p:spPr>
      </p:pic>
      <p:sp>
        <p:nvSpPr>
          <p:cNvPr id="281" name="Google Shape;281;p30"/>
          <p:cNvSpPr/>
          <p:nvPr/>
        </p:nvSpPr>
        <p:spPr>
          <a:xfrm>
            <a:off x="4251968" y="3821311"/>
            <a:ext cx="137100" cy="137100"/>
          </a:xfrm>
          <a:prstGeom prst="triangle">
            <a:avLst>
              <a:gd fmla="val 50000" name="adj"/>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0"/>
          <p:cNvSpPr/>
          <p:nvPr/>
        </p:nvSpPr>
        <p:spPr>
          <a:xfrm>
            <a:off x="5288406" y="4780161"/>
            <a:ext cx="137100" cy="137100"/>
          </a:xfrm>
          <a:prstGeom prst="triangle">
            <a:avLst>
              <a:gd fmla="val 50000" name="adj"/>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0"/>
          <p:cNvSpPr/>
          <p:nvPr/>
        </p:nvSpPr>
        <p:spPr>
          <a:xfrm>
            <a:off x="5172343" y="3821311"/>
            <a:ext cx="137100" cy="137100"/>
          </a:xfrm>
          <a:prstGeom prst="triangle">
            <a:avLst>
              <a:gd fmla="val 50000" name="adj"/>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0"/>
          <p:cNvSpPr/>
          <p:nvPr/>
        </p:nvSpPr>
        <p:spPr>
          <a:xfrm>
            <a:off x="4325931" y="4780161"/>
            <a:ext cx="137100" cy="137100"/>
          </a:xfrm>
          <a:prstGeom prst="triangle">
            <a:avLst>
              <a:gd fmla="val 50000" name="adj"/>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0"/>
          <p:cNvSpPr/>
          <p:nvPr/>
        </p:nvSpPr>
        <p:spPr>
          <a:xfrm rot="10800000">
            <a:off x="7467798" y="1543786"/>
            <a:ext cx="137100" cy="137100"/>
          </a:xfrm>
          <a:prstGeom prst="triangle">
            <a:avLst>
              <a:gd fmla="val 50000" name="adj"/>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0"/>
          <p:cNvSpPr/>
          <p:nvPr/>
        </p:nvSpPr>
        <p:spPr>
          <a:xfrm>
            <a:off x="8593482" y="1543799"/>
            <a:ext cx="137100" cy="137100"/>
          </a:xfrm>
          <a:prstGeom prst="triangle">
            <a:avLst>
              <a:gd fmla="val 50000" name="adj"/>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7" name="Google Shape;287;p30"/>
          <p:cNvPicPr preferRelativeResize="0"/>
          <p:nvPr/>
        </p:nvPicPr>
        <p:blipFill>
          <a:blip r:embed="rId16">
            <a:alphaModFix/>
          </a:blip>
          <a:stretch>
            <a:fillRect/>
          </a:stretch>
        </p:blipFill>
        <p:spPr>
          <a:xfrm>
            <a:off x="4855464" y="4288536"/>
            <a:ext cx="365760" cy="365760"/>
          </a:xfrm>
          <a:prstGeom prst="rect">
            <a:avLst/>
          </a:prstGeom>
          <a:noFill/>
          <a:ln>
            <a:noFill/>
          </a:ln>
        </p:spPr>
      </p:pic>
      <p:pic>
        <p:nvPicPr>
          <p:cNvPr id="288" name="Google Shape;288;p30"/>
          <p:cNvPicPr preferRelativeResize="0"/>
          <p:nvPr/>
        </p:nvPicPr>
        <p:blipFill>
          <a:blip r:embed="rId17">
            <a:alphaModFix/>
          </a:blip>
          <a:stretch>
            <a:fillRect/>
          </a:stretch>
        </p:blipFill>
        <p:spPr>
          <a:xfrm>
            <a:off x="3904488" y="3337560"/>
            <a:ext cx="365760" cy="365760"/>
          </a:xfrm>
          <a:prstGeom prst="rect">
            <a:avLst/>
          </a:prstGeom>
          <a:noFill/>
          <a:ln>
            <a:noFill/>
          </a:ln>
        </p:spPr>
      </p:pic>
      <p:pic>
        <p:nvPicPr>
          <p:cNvPr id="289" name="Google Shape;289;p30"/>
          <p:cNvPicPr preferRelativeResize="0"/>
          <p:nvPr/>
        </p:nvPicPr>
        <p:blipFill>
          <a:blip r:embed="rId18">
            <a:alphaModFix/>
          </a:blip>
          <a:stretch>
            <a:fillRect/>
          </a:stretch>
        </p:blipFill>
        <p:spPr>
          <a:xfrm>
            <a:off x="3703327" y="2018037"/>
            <a:ext cx="548640" cy="54864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oorDash">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838A"/>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