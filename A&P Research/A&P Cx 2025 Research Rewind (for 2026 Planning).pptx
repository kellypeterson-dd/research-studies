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Proxima Nova"/>
      <p:regular r:id="rId37"/>
      <p:bold r:id="rId38"/>
      <p:italic r:id="rId39"/>
      <p:boldItalic r:id="rId40"/>
    </p:embeddedFont>
    <p:embeddedFont>
      <p:font typeface="Proxima Nova Semibold"/>
      <p:regular r:id="rId41"/>
      <p:bold r:id="rId42"/>
      <p:boldItalic r:id="rId43"/>
    </p:embeddedFont>
    <p:embeddedFont>
      <p:font typeface="Poppins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84E93E-CF16-44C5-9BB5-38E9A09E7C76}">
  <a:tblStyle styleId="{6C84E93E-CF16-44C5-9BB5-38E9A09E7C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683DA66-3A22-4DE4-8C1D-75CCDEC8538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5.xml"/><Relationship Id="rId42" Type="http://schemas.openxmlformats.org/officeDocument/2006/relationships/font" Target="fonts/ProximaNovaSemibold-bold.fntdata"/><Relationship Id="rId41" Type="http://schemas.openxmlformats.org/officeDocument/2006/relationships/font" Target="fonts/ProximaNovaSemibold-regular.fntdata"/><Relationship Id="rId22" Type="http://schemas.openxmlformats.org/officeDocument/2006/relationships/slide" Target="slides/slide17.xml"/><Relationship Id="rId44" Type="http://schemas.openxmlformats.org/officeDocument/2006/relationships/font" Target="fonts/PoppinsSemiBold-regular.fntdata"/><Relationship Id="rId21" Type="http://schemas.openxmlformats.org/officeDocument/2006/relationships/slide" Target="slides/slide16.xml"/><Relationship Id="rId43" Type="http://schemas.openxmlformats.org/officeDocument/2006/relationships/font" Target="fonts/ProximaNovaSemibold-boldItalic.fntdata"/><Relationship Id="rId24" Type="http://schemas.openxmlformats.org/officeDocument/2006/relationships/slide" Target="slides/slide19.xml"/><Relationship Id="rId46" Type="http://schemas.openxmlformats.org/officeDocument/2006/relationships/font" Target="fonts/PoppinsSemiBold-italic.fntdata"/><Relationship Id="rId23" Type="http://schemas.openxmlformats.org/officeDocument/2006/relationships/slide" Target="slides/slide18.xml"/><Relationship Id="rId45" Type="http://schemas.openxmlformats.org/officeDocument/2006/relationships/font" Target="fonts/Poppins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PoppinsSemiBold-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roximaNov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roximaNova-italic.fntdata"/><Relationship Id="rId16" Type="http://schemas.openxmlformats.org/officeDocument/2006/relationships/slide" Target="slides/slide11.xml"/><Relationship Id="rId38" Type="http://schemas.openxmlformats.org/officeDocument/2006/relationships/font" Target="fonts/ProximaNov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2c4d88aa3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2c4d88aa3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d3aff83b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d3aff83b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b7146883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0b714688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517b889b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517b889b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517b889b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517b889b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517b889b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517b889b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517b889b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517b889b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517b889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517b889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517b889b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8517b889b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517b889b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8517b889b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517b889b8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517b889b8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517b889b8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517b889b8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517b889b8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517b889b8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517b889b8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517b889b8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517b889b8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517b889b8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517b889b8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517b889b8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517b889b8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8517b889b8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517b889b8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8517b889b8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517b889b8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517b889b8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517b889b8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517b889b8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517b889b8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517b889b8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517b889b8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517b889b8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8517b889b8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8517b889b8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8517b889b8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8517b889b8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517b889b8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8517b889b8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517b889b8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8517b889b8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8517b889b8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8517b889b8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517b889b8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8517b889b8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8517b889b8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8517b889b8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8517b889b8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8517b889b8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d53ba846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d53ba846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37" name="Shape 37"/>
        <p:cNvGrpSpPr/>
        <p:nvPr/>
      </p:nvGrpSpPr>
      <p:grpSpPr>
        <a:xfrm>
          <a:off x="0" y="0"/>
          <a:ext cx="0" cy="0"/>
          <a:chOff x="0" y="0"/>
          <a:chExt cx="0" cy="0"/>
        </a:xfrm>
      </p:grpSpPr>
      <p:sp>
        <p:nvSpPr>
          <p:cNvPr id="38" name="Google Shape;38;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39" name="Google Shape;39;p1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41" name="Shape 41"/>
        <p:cNvGrpSpPr/>
        <p:nvPr/>
      </p:nvGrpSpPr>
      <p:grpSpPr>
        <a:xfrm>
          <a:off x="0" y="0"/>
          <a:ext cx="0" cy="0"/>
          <a:chOff x="0" y="0"/>
          <a:chExt cx="0" cy="0"/>
        </a:xfrm>
      </p:grpSpPr>
      <p:sp>
        <p:nvSpPr>
          <p:cNvPr id="42" name="Google Shape;42;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43" name="Google Shape;43;p13"/>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 name="Google Shape;4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5 1">
  <p:cSld name="TITLE_6_1">
    <p:spTree>
      <p:nvGrpSpPr>
        <p:cNvPr id="45" name="Shape 45"/>
        <p:cNvGrpSpPr/>
        <p:nvPr/>
      </p:nvGrpSpPr>
      <p:grpSpPr>
        <a:xfrm>
          <a:off x="0" y="0"/>
          <a:ext cx="0" cy="0"/>
          <a:chOff x="0" y="0"/>
          <a:chExt cx="0" cy="0"/>
        </a:xfrm>
      </p:grpSpPr>
      <p:sp>
        <p:nvSpPr>
          <p:cNvPr id="46" name="Google Shape;46;p1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rgbClr val="CCCCCC"/>
                </a:solidFill>
                <a:latin typeface="Proxima Nova"/>
                <a:ea typeface="Proxima Nova"/>
                <a:cs typeface="Proxima Nova"/>
                <a:sym typeface="Proxima Nova"/>
              </a:defRPr>
            </a:lvl1pPr>
            <a:lvl2pPr lvl="1" algn="r">
              <a:buNone/>
              <a:defRPr sz="1000">
                <a:solidFill>
                  <a:srgbClr val="CCCCCC"/>
                </a:solidFill>
                <a:latin typeface="Proxima Nova"/>
                <a:ea typeface="Proxima Nova"/>
                <a:cs typeface="Proxima Nova"/>
                <a:sym typeface="Proxima Nova"/>
              </a:defRPr>
            </a:lvl2pPr>
            <a:lvl3pPr lvl="2" algn="r">
              <a:buNone/>
              <a:defRPr sz="1000">
                <a:solidFill>
                  <a:srgbClr val="CCCCCC"/>
                </a:solidFill>
                <a:latin typeface="Proxima Nova"/>
                <a:ea typeface="Proxima Nova"/>
                <a:cs typeface="Proxima Nova"/>
                <a:sym typeface="Proxima Nova"/>
              </a:defRPr>
            </a:lvl3pPr>
            <a:lvl4pPr lvl="3" algn="r">
              <a:buNone/>
              <a:defRPr sz="1000">
                <a:solidFill>
                  <a:srgbClr val="CCCCCC"/>
                </a:solidFill>
                <a:latin typeface="Proxima Nova"/>
                <a:ea typeface="Proxima Nova"/>
                <a:cs typeface="Proxima Nova"/>
                <a:sym typeface="Proxima Nova"/>
              </a:defRPr>
            </a:lvl4pPr>
            <a:lvl5pPr lvl="4" algn="r">
              <a:buNone/>
              <a:defRPr sz="1000">
                <a:solidFill>
                  <a:srgbClr val="CCCCCC"/>
                </a:solidFill>
                <a:latin typeface="Proxima Nova"/>
                <a:ea typeface="Proxima Nova"/>
                <a:cs typeface="Proxima Nova"/>
                <a:sym typeface="Proxima Nova"/>
              </a:defRPr>
            </a:lvl5pPr>
            <a:lvl6pPr lvl="5" algn="r">
              <a:buNone/>
              <a:defRPr sz="1000">
                <a:solidFill>
                  <a:srgbClr val="CCCCCC"/>
                </a:solidFill>
                <a:latin typeface="Proxima Nova"/>
                <a:ea typeface="Proxima Nova"/>
                <a:cs typeface="Proxima Nova"/>
                <a:sym typeface="Proxima Nova"/>
              </a:defRPr>
            </a:lvl6pPr>
            <a:lvl7pPr lvl="6" algn="r">
              <a:buNone/>
              <a:defRPr sz="1000">
                <a:solidFill>
                  <a:srgbClr val="CCCCCC"/>
                </a:solidFill>
                <a:latin typeface="Proxima Nova"/>
                <a:ea typeface="Proxima Nova"/>
                <a:cs typeface="Proxima Nova"/>
                <a:sym typeface="Proxima Nova"/>
              </a:defRPr>
            </a:lvl7pPr>
            <a:lvl8pPr lvl="7" algn="r">
              <a:buNone/>
              <a:defRPr sz="1000">
                <a:solidFill>
                  <a:srgbClr val="CCCCCC"/>
                </a:solidFill>
                <a:latin typeface="Proxima Nova"/>
                <a:ea typeface="Proxima Nova"/>
                <a:cs typeface="Proxima Nova"/>
                <a:sym typeface="Proxima Nova"/>
              </a:defRPr>
            </a:lvl8pPr>
            <a:lvl9pPr lvl="8"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47" name="Google Shape;47;p14"/>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9">
  <p:cSld name="TITLE_9">
    <p:spTree>
      <p:nvGrpSpPr>
        <p:cNvPr id="48" name="Shape 48"/>
        <p:cNvGrpSpPr/>
        <p:nvPr/>
      </p:nvGrpSpPr>
      <p:grpSpPr>
        <a:xfrm>
          <a:off x="0" y="0"/>
          <a:ext cx="0" cy="0"/>
          <a:chOff x="0" y="0"/>
          <a:chExt cx="0" cy="0"/>
        </a:xfrm>
      </p:grpSpPr>
      <p:sp>
        <p:nvSpPr>
          <p:cNvPr id="49" name="Google Shape;49;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50" name="Google Shape;50;p1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1" name="Google Shape;5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docs.google.com/presentation/d/1dvawPuiGJA68392qzB5WVvqSmm-bQ6vngq2stGuLqrM/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docs.google.com/presentation/u/0/d/1GUyJTelTm0KpXjhFSKLO9jfbNyrgoqqO-sU8PJxOAvA/ed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drive.google.com/file/d/1jJFQSsjo-N5TtqtxWptLNMOCrGARx9hA/view" TargetMode="Externa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docs.google.com/presentation/u/0/d/1j5gSQScZ3MhUV3w4dfZpt6KsJg0qvicazsQOvRmwIiw/edit" TargetMode="External"/><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docs.google.com/presentation/u/0/d/1v6lqtqsO83hGZg1XLdRQHfBpUgFped1MPuSUI76q_qk/edi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google.com/presentation/d/15V-h1ci0Y_2kqz_ITYm1KxUuNIsFUZvbENnRZDQp000/edit?usp=sharing" TargetMode="External"/><Relationship Id="rId4" Type="http://schemas.openxmlformats.org/officeDocument/2006/relationships/hyperlink" Target="https://docs.google.com/presentation/d/1N3cis6JUBCWFI7TyYgalue3zPa-dVRfSUDvsjbSI4gk/edit?usp=sharing" TargetMode="External"/><Relationship Id="rId5"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docs.google.com/presentation/u/0/d/160vFfk8ij4n591JU1IpPVVnxzMYA7iD8LoHtXydy8xw/edi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drive.google.com/file/d/1zK07rGINat-GWP_cjdkIoPR3eIjkl7MS/view" TargetMode="Externa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hyperlink" Target="https://docs.google.com/presentation/d/1bIM-khkQ33VGO85D_kAcFqCVgkw4luzuPaRF9zNwCEA/edit?usp=shar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sp>
        <p:nvSpPr>
          <p:cNvPr id="56" name="Google Shape;56;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 name="Google Shape;57;p16"/>
          <p:cNvSpPr txBox="1"/>
          <p:nvPr/>
        </p:nvSpPr>
        <p:spPr>
          <a:xfrm>
            <a:off x="686000" y="3441325"/>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Kelly Peterson</a:t>
            </a:r>
            <a:endParaRPr b="1" sz="800">
              <a:solidFill>
                <a:schemeClr val="dk1"/>
              </a:solidFill>
              <a:latin typeface="Proxima Nova"/>
              <a:ea typeface="Proxima Nova"/>
              <a:cs typeface="Proxima Nova"/>
              <a:sym typeface="Proxima Nova"/>
            </a:endParaRPr>
          </a:p>
        </p:txBody>
      </p:sp>
      <p:sp>
        <p:nvSpPr>
          <p:cNvPr id="58" name="Google Shape;58;p16"/>
          <p:cNvSpPr txBox="1"/>
          <p:nvPr/>
        </p:nvSpPr>
        <p:spPr>
          <a:xfrm>
            <a:off x="686000" y="37996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chemeClr val="dk1"/>
                </a:solidFill>
                <a:latin typeface="Proxima Nova"/>
                <a:ea typeface="Proxima Nova"/>
                <a:cs typeface="Proxima Nova"/>
                <a:sym typeface="Proxima Nova"/>
              </a:rPr>
              <a:t>Date: Oct 2025</a:t>
            </a:r>
            <a:endParaRPr sz="1000">
              <a:solidFill>
                <a:schemeClr val="dk1"/>
              </a:solidFill>
              <a:latin typeface="Proxima Nova"/>
              <a:ea typeface="Proxima Nova"/>
              <a:cs typeface="Proxima Nova"/>
              <a:sym typeface="Proxima Nova"/>
            </a:endParaRPr>
          </a:p>
          <a:p>
            <a:pPr indent="0" lvl="0" marL="0" rtl="0" algn="l">
              <a:lnSpc>
                <a:spcPct val="130000"/>
              </a:lnSpc>
              <a:spcBef>
                <a:spcPts val="0"/>
              </a:spcBef>
              <a:spcAft>
                <a:spcPts val="0"/>
              </a:spcAft>
              <a:buNone/>
            </a:pPr>
            <a:r>
              <a:t/>
            </a:r>
            <a:endParaRPr sz="1000">
              <a:solidFill>
                <a:schemeClr val="dk1"/>
              </a:solidFill>
              <a:latin typeface="Proxima Nova"/>
              <a:ea typeface="Proxima Nova"/>
              <a:cs typeface="Proxima Nova"/>
              <a:sym typeface="Proxima Nova"/>
            </a:endParaRPr>
          </a:p>
        </p:txBody>
      </p:sp>
      <p:sp>
        <p:nvSpPr>
          <p:cNvPr id="59" name="Google Shape;59;p16"/>
          <p:cNvSpPr txBox="1"/>
          <p:nvPr/>
        </p:nvSpPr>
        <p:spPr>
          <a:xfrm>
            <a:off x="609750" y="1529300"/>
            <a:ext cx="40971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dk1"/>
                </a:solidFill>
                <a:latin typeface="Proxima Nova"/>
                <a:ea typeface="Proxima Nova"/>
                <a:cs typeface="Proxima Nova"/>
                <a:sym typeface="Proxima Nova"/>
              </a:rPr>
              <a:t>2025 Research Rewind</a:t>
            </a:r>
            <a:endParaRPr b="1" sz="37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Promo Insights for 2026 Planning</a:t>
            </a:r>
            <a:endParaRPr b="1" sz="1800">
              <a:solidFill>
                <a:schemeClr val="dk1"/>
              </a:solidFill>
              <a:latin typeface="Proxima Nova"/>
              <a:ea typeface="Proxima Nova"/>
              <a:cs typeface="Proxima Nova"/>
              <a:sym typeface="Proxima Nova"/>
            </a:endParaRPr>
          </a:p>
        </p:txBody>
      </p:sp>
      <p:pic>
        <p:nvPicPr>
          <p:cNvPr id="60" name="Google Shape;60;p16"/>
          <p:cNvPicPr preferRelativeResize="0"/>
          <p:nvPr/>
        </p:nvPicPr>
        <p:blipFill>
          <a:blip r:embed="rId3">
            <a:alphaModFix/>
          </a:blip>
          <a:stretch>
            <a:fillRect/>
          </a:stretch>
        </p:blipFill>
        <p:spPr>
          <a:xfrm>
            <a:off x="723399" y="1284763"/>
            <a:ext cx="1408775" cy="162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 name="Google Shape;66;p17"/>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Who are “Deal Seekers” anyway?</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FFFFFF"/>
              </a:solidFill>
              <a:latin typeface="Proxima Nova"/>
              <a:ea typeface="Proxima Nova"/>
              <a:cs typeface="Proxima Nova"/>
              <a:sym typeface="Proxima Nova"/>
            </a:endParaRPr>
          </a:p>
        </p:txBody>
      </p:sp>
      <p:sp>
        <p:nvSpPr>
          <p:cNvPr id="67" name="Google Shape;67;p17"/>
          <p:cNvSpPr txBox="1"/>
          <p:nvPr/>
        </p:nvSpPr>
        <p:spPr>
          <a:xfrm>
            <a:off x="145700" y="4728025"/>
            <a:ext cx="15846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lt1"/>
                </a:solidFill>
                <a:hlinkClick r:id="rId3">
                  <a:extLst>
                    <a:ext uri="{A12FA001-AC4F-418D-AE19-62706E023703}">
                      <ahyp:hlinkClr val="tx"/>
                    </a:ext>
                  </a:extLst>
                </a:hlinkClick>
              </a:rPr>
              <a:t>Source</a:t>
            </a:r>
            <a:endParaRPr sz="12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8"/>
          <p:cNvSpPr txBox="1"/>
          <p:nvPr/>
        </p:nvSpPr>
        <p:spPr>
          <a:xfrm>
            <a:off x="1348725" y="1071700"/>
            <a:ext cx="1772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4A86E8"/>
                </a:solidFill>
                <a:latin typeface="Poppins SemiBold"/>
                <a:ea typeface="Poppins SemiBold"/>
                <a:cs typeface="Poppins SemiBold"/>
                <a:sym typeface="Poppins SemiBold"/>
              </a:rPr>
              <a:t>Deal Hunters</a:t>
            </a:r>
            <a:endParaRPr>
              <a:latin typeface="Poppins SemiBold"/>
              <a:ea typeface="Poppins SemiBold"/>
              <a:cs typeface="Poppins SemiBold"/>
              <a:sym typeface="Poppins SemiBold"/>
            </a:endParaRPr>
          </a:p>
        </p:txBody>
      </p:sp>
      <p:sp>
        <p:nvSpPr>
          <p:cNvPr id="73" name="Google Shape;73;p18"/>
          <p:cNvSpPr txBox="1"/>
          <p:nvPr/>
        </p:nvSpPr>
        <p:spPr>
          <a:xfrm>
            <a:off x="1348725" y="2256750"/>
            <a:ext cx="1914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9900"/>
                </a:solidFill>
                <a:latin typeface="Poppins SemiBold"/>
                <a:ea typeface="Poppins SemiBold"/>
                <a:cs typeface="Poppins SemiBold"/>
                <a:sym typeface="Poppins SemiBold"/>
              </a:rPr>
              <a:t>Budget Minders</a:t>
            </a:r>
            <a:endParaRPr>
              <a:latin typeface="Poppins SemiBold"/>
              <a:ea typeface="Poppins SemiBold"/>
              <a:cs typeface="Poppins SemiBold"/>
              <a:sym typeface="Poppins SemiBold"/>
            </a:endParaRPr>
          </a:p>
        </p:txBody>
      </p:sp>
      <p:sp>
        <p:nvSpPr>
          <p:cNvPr id="74" name="Google Shape;74;p18"/>
          <p:cNvSpPr txBox="1"/>
          <p:nvPr/>
        </p:nvSpPr>
        <p:spPr>
          <a:xfrm>
            <a:off x="1348725" y="3614175"/>
            <a:ext cx="1692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74EA7"/>
                </a:solidFill>
                <a:latin typeface="Poppins SemiBold"/>
                <a:ea typeface="Poppins SemiBold"/>
                <a:cs typeface="Poppins SemiBold"/>
                <a:sym typeface="Poppins SemiBold"/>
              </a:rPr>
              <a:t>Thrill Seekers</a:t>
            </a:r>
            <a:endParaRPr>
              <a:latin typeface="Poppins SemiBold"/>
              <a:ea typeface="Poppins SemiBold"/>
              <a:cs typeface="Poppins SemiBold"/>
              <a:sym typeface="Poppins SemiBold"/>
            </a:endParaRPr>
          </a:p>
        </p:txBody>
      </p:sp>
      <p:sp>
        <p:nvSpPr>
          <p:cNvPr id="75" name="Google Shape;75;p18"/>
          <p:cNvSpPr txBox="1"/>
          <p:nvPr/>
        </p:nvSpPr>
        <p:spPr>
          <a:xfrm>
            <a:off x="3089025" y="1206275"/>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4A86E8"/>
                </a:solidFill>
                <a:latin typeface="Poppins SemiBold"/>
                <a:ea typeface="Poppins SemiBold"/>
                <a:cs typeface="Poppins SemiBold"/>
                <a:sym typeface="Poppins SemiBold"/>
              </a:rPr>
              <a:t>I want to make sure I’m getting the best possible deal on every order I place.</a:t>
            </a:r>
            <a:endParaRPr sz="1500">
              <a:latin typeface="Poppins SemiBold"/>
              <a:ea typeface="Poppins SemiBold"/>
              <a:cs typeface="Poppins SemiBold"/>
              <a:sym typeface="Poppins SemiBold"/>
            </a:endParaRPr>
          </a:p>
        </p:txBody>
      </p:sp>
      <p:sp>
        <p:nvSpPr>
          <p:cNvPr id="76" name="Google Shape;76;p18"/>
          <p:cNvSpPr txBox="1"/>
          <p:nvPr/>
        </p:nvSpPr>
        <p:spPr>
          <a:xfrm>
            <a:off x="3089025" y="2331450"/>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9900"/>
                </a:solidFill>
                <a:latin typeface="Poppins SemiBold"/>
                <a:ea typeface="Poppins SemiBold"/>
                <a:cs typeface="Poppins SemiBold"/>
                <a:sym typeface="Poppins SemiBold"/>
              </a:rPr>
              <a:t>I need quality food within my cost range, a promo is helpful but not the only way to save</a:t>
            </a:r>
            <a:endParaRPr sz="1500">
              <a:solidFill>
                <a:srgbClr val="FF9900"/>
              </a:solidFill>
              <a:latin typeface="Poppins SemiBold"/>
              <a:ea typeface="Poppins SemiBold"/>
              <a:cs typeface="Poppins SemiBold"/>
              <a:sym typeface="Poppins SemiBold"/>
            </a:endParaRPr>
          </a:p>
        </p:txBody>
      </p:sp>
      <p:sp>
        <p:nvSpPr>
          <p:cNvPr id="77" name="Google Shape;77;p18"/>
          <p:cNvSpPr txBox="1"/>
          <p:nvPr/>
        </p:nvSpPr>
        <p:spPr>
          <a:xfrm>
            <a:off x="3089025" y="3609025"/>
            <a:ext cx="530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674EA7"/>
                </a:solidFill>
                <a:latin typeface="Poppins SemiBold"/>
                <a:ea typeface="Poppins SemiBold"/>
                <a:cs typeface="Poppins SemiBold"/>
                <a:sym typeface="Poppins SemiBold"/>
              </a:rPr>
              <a:t>I am going to order what I want regardless of promotions, but it is exciting when I get a good deal</a:t>
            </a:r>
            <a:endParaRPr sz="1500">
              <a:solidFill>
                <a:srgbClr val="674EA7"/>
              </a:solidFill>
              <a:latin typeface="Poppins SemiBold"/>
              <a:ea typeface="Poppins SemiBold"/>
              <a:cs typeface="Poppins SemiBold"/>
              <a:sym typeface="Poppins SemiBold"/>
            </a:endParaRPr>
          </a:p>
        </p:txBody>
      </p:sp>
      <p:pic>
        <p:nvPicPr>
          <p:cNvPr id="78" name="Google Shape;78;p18"/>
          <p:cNvPicPr preferRelativeResize="0"/>
          <p:nvPr/>
        </p:nvPicPr>
        <p:blipFill>
          <a:blip r:embed="rId3">
            <a:alphaModFix/>
          </a:blip>
          <a:stretch>
            <a:fillRect/>
          </a:stretch>
        </p:blipFill>
        <p:spPr>
          <a:xfrm>
            <a:off x="593300" y="1106300"/>
            <a:ext cx="646500" cy="646500"/>
          </a:xfrm>
          <a:prstGeom prst="rect">
            <a:avLst/>
          </a:prstGeom>
          <a:noFill/>
          <a:ln>
            <a:noFill/>
          </a:ln>
        </p:spPr>
      </p:pic>
      <p:pic>
        <p:nvPicPr>
          <p:cNvPr id="79" name="Google Shape;79;p18"/>
          <p:cNvPicPr preferRelativeResize="0"/>
          <p:nvPr/>
        </p:nvPicPr>
        <p:blipFill>
          <a:blip r:embed="rId4">
            <a:alphaModFix/>
          </a:blip>
          <a:stretch>
            <a:fillRect/>
          </a:stretch>
        </p:blipFill>
        <p:spPr>
          <a:xfrm>
            <a:off x="670250" y="2408399"/>
            <a:ext cx="492600" cy="492600"/>
          </a:xfrm>
          <a:prstGeom prst="rect">
            <a:avLst/>
          </a:prstGeom>
          <a:noFill/>
          <a:ln>
            <a:noFill/>
          </a:ln>
        </p:spPr>
      </p:pic>
      <p:pic>
        <p:nvPicPr>
          <p:cNvPr id="80" name="Google Shape;80;p18"/>
          <p:cNvPicPr preferRelativeResize="0"/>
          <p:nvPr/>
        </p:nvPicPr>
        <p:blipFill>
          <a:blip r:embed="rId5">
            <a:alphaModFix/>
          </a:blip>
          <a:stretch>
            <a:fillRect/>
          </a:stretch>
        </p:blipFill>
        <p:spPr>
          <a:xfrm>
            <a:off x="593300" y="3690375"/>
            <a:ext cx="492600" cy="492600"/>
          </a:xfrm>
          <a:prstGeom prst="rect">
            <a:avLst/>
          </a:prstGeom>
          <a:noFill/>
          <a:ln>
            <a:noFill/>
          </a:ln>
        </p:spPr>
      </p:pic>
      <p:sp>
        <p:nvSpPr>
          <p:cNvPr id="81" name="Google Shape;81;p1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8"/>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3 Personas were identified</a:t>
            </a:r>
            <a:endParaRPr b="1" sz="2000">
              <a:solidFill>
                <a:schemeClr val="dk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idx="12" type="sldNum"/>
          </p:nvPr>
        </p:nvSpPr>
        <p:spPr>
          <a:xfrm>
            <a:off x="82510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 name="Google Shape;88;p19"/>
          <p:cNvSpPr txBox="1"/>
          <p:nvPr/>
        </p:nvSpPr>
        <p:spPr>
          <a:xfrm>
            <a:off x="86100" y="5225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1"/>
                </a:solidFill>
                <a:latin typeface="Proxima Nova"/>
                <a:ea typeface="Proxima Nova"/>
                <a:cs typeface="Proxima Nova"/>
                <a:sym typeface="Proxima Nova"/>
              </a:rPr>
              <a:t>BM </a:t>
            </a:r>
            <a:r>
              <a:rPr b="1" lang="en" sz="2000">
                <a:solidFill>
                  <a:schemeClr val="dk1"/>
                </a:solidFill>
                <a:latin typeface="Proxima Nova"/>
                <a:ea typeface="Proxima Nova"/>
                <a:cs typeface="Proxima Nova"/>
                <a:sym typeface="Proxima Nova"/>
              </a:rPr>
              <a:t>are most focused on keeping under a budget threshold while </a:t>
            </a:r>
            <a:r>
              <a:rPr b="1" lang="en" sz="2000">
                <a:solidFill>
                  <a:srgbClr val="674EA7"/>
                </a:solidFill>
                <a:latin typeface="Proxima Nova"/>
                <a:ea typeface="Proxima Nova"/>
                <a:cs typeface="Proxima Nova"/>
                <a:sym typeface="Proxima Nova"/>
              </a:rPr>
              <a:t>TS </a:t>
            </a:r>
            <a:r>
              <a:rPr b="1" lang="en" sz="2000">
                <a:solidFill>
                  <a:schemeClr val="dk1"/>
                </a:solidFill>
                <a:latin typeface="Proxima Nova"/>
                <a:ea typeface="Proxima Nova"/>
                <a:cs typeface="Proxima Nova"/>
                <a:sym typeface="Proxima Nova"/>
              </a:rPr>
              <a:t>and </a:t>
            </a: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are more focused on the amount of savings </a:t>
            </a:r>
            <a:endParaRPr b="1" sz="2000">
              <a:solidFill>
                <a:srgbClr val="4A86E8"/>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89" name="Google Shape;89;p19"/>
          <p:cNvSpPr txBox="1"/>
          <p:nvPr/>
        </p:nvSpPr>
        <p:spPr>
          <a:xfrm>
            <a:off x="4385150" y="1523975"/>
            <a:ext cx="1407900" cy="615600"/>
          </a:xfrm>
          <a:prstGeom prst="rect">
            <a:avLst/>
          </a:prstGeom>
          <a:solidFill>
            <a:srgbClr val="4A86E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Deal </a:t>
            </a:r>
            <a:endParaRPr b="1">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Hunters</a:t>
            </a:r>
            <a:endParaRPr b="1">
              <a:solidFill>
                <a:schemeClr val="lt1"/>
              </a:solidFill>
              <a:latin typeface="Proxima Nova"/>
              <a:ea typeface="Proxima Nova"/>
              <a:cs typeface="Proxima Nova"/>
              <a:sym typeface="Proxima Nova"/>
            </a:endParaRPr>
          </a:p>
        </p:txBody>
      </p:sp>
      <p:sp>
        <p:nvSpPr>
          <p:cNvPr id="90" name="Google Shape;90;p19"/>
          <p:cNvSpPr txBox="1"/>
          <p:nvPr/>
        </p:nvSpPr>
        <p:spPr>
          <a:xfrm>
            <a:off x="5793050" y="1523975"/>
            <a:ext cx="1334700" cy="615600"/>
          </a:xfrm>
          <a:prstGeom prst="rect">
            <a:avLst/>
          </a:prstGeom>
          <a:solidFill>
            <a:srgbClr val="FF990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Budget Minders</a:t>
            </a:r>
            <a:endParaRPr b="1">
              <a:solidFill>
                <a:schemeClr val="lt1"/>
              </a:solidFill>
              <a:latin typeface="Proxima Nova"/>
              <a:ea typeface="Proxima Nova"/>
              <a:cs typeface="Proxima Nova"/>
              <a:sym typeface="Proxima Nova"/>
            </a:endParaRPr>
          </a:p>
        </p:txBody>
      </p:sp>
      <p:graphicFrame>
        <p:nvGraphicFramePr>
          <p:cNvPr id="91" name="Google Shape;91;p19"/>
          <p:cNvGraphicFramePr/>
          <p:nvPr/>
        </p:nvGraphicFramePr>
        <p:xfrm>
          <a:off x="1947375" y="2266988"/>
          <a:ext cx="3000000" cy="3000000"/>
        </p:xfrm>
        <a:graphic>
          <a:graphicData uri="http://schemas.openxmlformats.org/drawingml/2006/table">
            <a:tbl>
              <a:tblPr>
                <a:noFill/>
                <a:tableStyleId>{6C84E93E-CF16-44C5-9BB5-38E9A09E7C76}</a:tableStyleId>
              </a:tblPr>
              <a:tblGrid>
                <a:gridCol w="2437775"/>
                <a:gridCol w="1407825"/>
                <a:gridCol w="1372325"/>
                <a:gridCol w="1508050"/>
              </a:tblGrid>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Keeping my </a:t>
                      </a:r>
                      <a:r>
                        <a:rPr b="1" lang="en" sz="1200">
                          <a:solidFill>
                            <a:schemeClr val="dk1"/>
                          </a:solidFill>
                          <a:latin typeface="Proxima Nova"/>
                          <a:ea typeface="Proxima Nova"/>
                          <a:cs typeface="Proxima Nova"/>
                          <a:sym typeface="Proxima Nova"/>
                        </a:rPr>
                        <a:t>total spend under a threshold</a:t>
                      </a:r>
                      <a:r>
                        <a:rPr lang="en" sz="1200">
                          <a:solidFill>
                            <a:schemeClr val="dk1"/>
                          </a:solidFill>
                          <a:latin typeface="Proxima Nova"/>
                          <a:ea typeface="Proxima Nova"/>
                          <a:cs typeface="Proxima Nova"/>
                          <a:sym typeface="Proxima Nova"/>
                        </a:rPr>
                        <a:t> I feel comfortable with</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33%</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45%</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35%</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Getting a</a:t>
                      </a:r>
                      <a:r>
                        <a:rPr b="1" lang="en" sz="1200">
                          <a:solidFill>
                            <a:schemeClr val="dk1"/>
                          </a:solidFill>
                          <a:latin typeface="Proxima Nova"/>
                          <a:ea typeface="Proxima Nova"/>
                          <a:cs typeface="Proxima Nova"/>
                          <a:sym typeface="Proxima Nova"/>
                        </a:rPr>
                        <a:t> good deal for my order</a:t>
                      </a:r>
                      <a:endParaRPr b="1"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40%</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43%</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46%</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674EA7"/>
                    </a:solidFill>
                  </a:tcPr>
                </a:tc>
              </a:tr>
              <a:tr h="715250">
                <a:tc>
                  <a:txBody>
                    <a:bodyPr/>
                    <a:lstStyle/>
                    <a:p>
                      <a:pPr indent="0" lvl="0" marL="0" rtl="0" algn="l">
                        <a:lnSpc>
                          <a:spcPct val="115000"/>
                        </a:lnSpc>
                        <a:spcBef>
                          <a:spcPts val="0"/>
                        </a:spcBef>
                        <a:spcAft>
                          <a:spcPts val="0"/>
                        </a:spcAft>
                        <a:buNone/>
                      </a:pPr>
                      <a:r>
                        <a:rPr lang="en" sz="1200">
                          <a:solidFill>
                            <a:schemeClr val="dk1"/>
                          </a:solidFill>
                          <a:latin typeface="Proxima Nova"/>
                          <a:ea typeface="Proxima Nova"/>
                          <a:cs typeface="Proxima Nova"/>
                          <a:sym typeface="Proxima Nova"/>
                        </a:rPr>
                        <a:t>Making sure I am spending the least amount possible </a:t>
                      </a:r>
                      <a:r>
                        <a:rPr b="1" lang="en" sz="1200">
                          <a:solidFill>
                            <a:schemeClr val="dk1"/>
                          </a:solidFill>
                          <a:latin typeface="Proxima Nova"/>
                          <a:ea typeface="Proxima Nova"/>
                          <a:cs typeface="Proxima Nova"/>
                          <a:sym typeface="Proxima Nova"/>
                        </a:rPr>
                        <a:t>across ordering options</a:t>
                      </a:r>
                      <a:endParaRPr b="1"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lt1"/>
                          </a:solidFill>
                          <a:latin typeface="Proxima Nova"/>
                          <a:ea typeface="Proxima Nova"/>
                          <a:cs typeface="Proxima Nova"/>
                          <a:sym typeface="Proxima Nova"/>
                        </a:rPr>
                        <a:t>28%</a:t>
                      </a:r>
                      <a:endParaRPr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12%</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200">
                          <a:solidFill>
                            <a:schemeClr val="dk1"/>
                          </a:solidFill>
                          <a:latin typeface="Proxima Nova"/>
                          <a:ea typeface="Proxima Nova"/>
                          <a:cs typeface="Proxima Nova"/>
                          <a:sym typeface="Proxima Nova"/>
                        </a:rPr>
                        <a:t>19%</a:t>
                      </a:r>
                      <a:endParaRPr sz="12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r>
            </a:tbl>
          </a:graphicData>
        </a:graphic>
      </p:graphicFrame>
      <p:sp>
        <p:nvSpPr>
          <p:cNvPr id="92" name="Google Shape;92;p19"/>
          <p:cNvSpPr txBox="1"/>
          <p:nvPr/>
        </p:nvSpPr>
        <p:spPr>
          <a:xfrm>
            <a:off x="271600" y="937100"/>
            <a:ext cx="5300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Proxima Nova"/>
                <a:ea typeface="Proxima Nova"/>
                <a:cs typeface="Proxima Nova"/>
                <a:sym typeface="Proxima Nova"/>
              </a:rPr>
              <a:t>Financial goals when ordering (%T2B agree with statement)</a:t>
            </a:r>
            <a:endParaRPr/>
          </a:p>
        </p:txBody>
      </p:sp>
      <p:sp>
        <p:nvSpPr>
          <p:cNvPr id="93" name="Google Shape;93;p19"/>
          <p:cNvSpPr txBox="1"/>
          <p:nvPr/>
        </p:nvSpPr>
        <p:spPr>
          <a:xfrm>
            <a:off x="32775" y="48554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
        <p:nvSpPr>
          <p:cNvPr id="94" name="Google Shape;94;p19"/>
          <p:cNvSpPr txBox="1"/>
          <p:nvPr/>
        </p:nvSpPr>
        <p:spPr>
          <a:xfrm>
            <a:off x="7127750" y="1523975"/>
            <a:ext cx="1545600" cy="615600"/>
          </a:xfrm>
          <a:prstGeom prst="rect">
            <a:avLst/>
          </a:prstGeom>
          <a:solidFill>
            <a:srgbClr val="674EA7"/>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Thrill </a:t>
            </a:r>
            <a:endParaRPr b="1">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lt1"/>
                </a:solidFill>
                <a:latin typeface="Proxima Nova"/>
                <a:ea typeface="Proxima Nova"/>
                <a:cs typeface="Proxima Nova"/>
                <a:sym typeface="Proxima Nova"/>
              </a:rPr>
              <a:t>Seekers</a:t>
            </a:r>
            <a:endParaRPr b="1">
              <a:solidFill>
                <a:schemeClr val="lt1"/>
              </a:solidFill>
              <a:latin typeface="Proxima Nova"/>
              <a:ea typeface="Proxima Nova"/>
              <a:cs typeface="Proxima Nova"/>
              <a:sym typeface="Proxima Nova"/>
            </a:endParaRPr>
          </a:p>
        </p:txBody>
      </p:sp>
      <p:pic>
        <p:nvPicPr>
          <p:cNvPr id="95" name="Google Shape;95;p19"/>
          <p:cNvPicPr preferRelativeResize="0"/>
          <p:nvPr/>
        </p:nvPicPr>
        <p:blipFill>
          <a:blip r:embed="rId3">
            <a:alphaModFix/>
          </a:blip>
          <a:stretch>
            <a:fillRect/>
          </a:stretch>
        </p:blipFill>
        <p:spPr>
          <a:xfrm>
            <a:off x="395975" y="2654850"/>
            <a:ext cx="1168350" cy="116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Speed, ease of placing order &amp; selection are all important to </a:t>
            </a:r>
            <a:r>
              <a:rPr b="1" lang="en" sz="2000">
                <a:solidFill>
                  <a:srgbClr val="674EA7"/>
                </a:solidFill>
                <a:latin typeface="Proxima Nova"/>
                <a:ea typeface="Proxima Nova"/>
                <a:cs typeface="Proxima Nova"/>
                <a:sym typeface="Proxima Nova"/>
              </a:rPr>
              <a:t>TS</a:t>
            </a:r>
            <a:endParaRPr b="1" sz="2000">
              <a:solidFill>
                <a:srgbClr val="674EA7"/>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pic>
        <p:nvPicPr>
          <p:cNvPr id="102" name="Google Shape;102;p20"/>
          <p:cNvPicPr preferRelativeResize="0"/>
          <p:nvPr/>
        </p:nvPicPr>
        <p:blipFill>
          <a:blip r:embed="rId3">
            <a:alphaModFix/>
          </a:blip>
          <a:stretch>
            <a:fillRect/>
          </a:stretch>
        </p:blipFill>
        <p:spPr>
          <a:xfrm>
            <a:off x="99100" y="1124838"/>
            <a:ext cx="8839204" cy="3465762"/>
          </a:xfrm>
          <a:prstGeom prst="rect">
            <a:avLst/>
          </a:prstGeom>
          <a:noFill/>
          <a:ln>
            <a:noFill/>
          </a:ln>
        </p:spPr>
      </p:pic>
      <p:sp>
        <p:nvSpPr>
          <p:cNvPr id="103" name="Google Shape;103;p20"/>
          <p:cNvSpPr txBox="1"/>
          <p:nvPr/>
        </p:nvSpPr>
        <p:spPr>
          <a:xfrm>
            <a:off x="354075" y="8189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Proxima Nova"/>
                <a:ea typeface="Proxima Nova"/>
                <a:cs typeface="Proxima Nova"/>
                <a:sym typeface="Proxima Nova"/>
              </a:rPr>
              <a:t>Most important factors when selecting where to order</a:t>
            </a:r>
            <a:endParaRPr b="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00">
              <a:solidFill>
                <a:schemeClr val="dk1"/>
              </a:solidFill>
              <a:latin typeface="Proxima Nova"/>
              <a:ea typeface="Proxima Nova"/>
              <a:cs typeface="Proxima Nova"/>
              <a:sym typeface="Proxima Nova"/>
            </a:endParaRPr>
          </a:p>
        </p:txBody>
      </p:sp>
      <p:grpSp>
        <p:nvGrpSpPr>
          <p:cNvPr id="104" name="Google Shape;104;p20"/>
          <p:cNvGrpSpPr/>
          <p:nvPr/>
        </p:nvGrpSpPr>
        <p:grpSpPr>
          <a:xfrm>
            <a:off x="7671725" y="842850"/>
            <a:ext cx="883100" cy="446700"/>
            <a:chOff x="-1385800" y="2979700"/>
            <a:chExt cx="883100" cy="446700"/>
          </a:xfrm>
        </p:grpSpPr>
        <p:sp>
          <p:nvSpPr>
            <p:cNvPr id="105" name="Google Shape;105;p20"/>
            <p:cNvSpPr/>
            <p:nvPr/>
          </p:nvSpPr>
          <p:spPr>
            <a:xfrm>
              <a:off x="-1385800" y="2979700"/>
              <a:ext cx="142200" cy="1419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0"/>
            <p:cNvSpPr txBox="1"/>
            <p:nvPr/>
          </p:nvSpPr>
          <p:spPr>
            <a:xfrm>
              <a:off x="-1325000" y="29797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Deal Hunters</a:t>
              </a:r>
              <a:endParaRPr sz="700">
                <a:latin typeface="Proxima Nova"/>
                <a:ea typeface="Proxima Nova"/>
                <a:cs typeface="Proxima Nova"/>
                <a:sym typeface="Proxima Nova"/>
              </a:endParaRPr>
            </a:p>
          </p:txBody>
        </p:sp>
        <p:sp>
          <p:nvSpPr>
            <p:cNvPr id="107" name="Google Shape;107;p20"/>
            <p:cNvSpPr/>
            <p:nvPr/>
          </p:nvSpPr>
          <p:spPr>
            <a:xfrm>
              <a:off x="-1385800" y="3132100"/>
              <a:ext cx="142200" cy="141900"/>
            </a:xfrm>
            <a:prstGeom prst="rect">
              <a:avLst/>
            </a:prstGeom>
            <a:solidFill>
              <a:srgbClr val="FF99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0"/>
            <p:cNvSpPr txBox="1"/>
            <p:nvPr/>
          </p:nvSpPr>
          <p:spPr>
            <a:xfrm>
              <a:off x="-1325000" y="3132100"/>
              <a:ext cx="8223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Budget Minders</a:t>
              </a:r>
              <a:endParaRPr sz="700">
                <a:latin typeface="Proxima Nova"/>
                <a:ea typeface="Proxima Nova"/>
                <a:cs typeface="Proxima Nova"/>
                <a:sym typeface="Proxima Nova"/>
              </a:endParaRPr>
            </a:p>
          </p:txBody>
        </p:sp>
        <p:sp>
          <p:nvSpPr>
            <p:cNvPr id="109" name="Google Shape;109;p20"/>
            <p:cNvSpPr/>
            <p:nvPr/>
          </p:nvSpPr>
          <p:spPr>
            <a:xfrm>
              <a:off x="-1385800" y="3284500"/>
              <a:ext cx="142200" cy="141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74EA7"/>
                </a:solidFill>
              </a:endParaRPr>
            </a:p>
          </p:txBody>
        </p:sp>
        <p:sp>
          <p:nvSpPr>
            <p:cNvPr id="110" name="Google Shape;110;p20"/>
            <p:cNvSpPr txBox="1"/>
            <p:nvPr/>
          </p:nvSpPr>
          <p:spPr>
            <a:xfrm>
              <a:off x="-1325000" y="3284500"/>
              <a:ext cx="728400" cy="14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latin typeface="Proxima Nova"/>
                  <a:ea typeface="Proxima Nova"/>
                  <a:cs typeface="Proxima Nova"/>
                  <a:sym typeface="Proxima Nova"/>
                </a:rPr>
                <a:t>Thrill Seekers</a:t>
              </a:r>
              <a:endParaRPr sz="700">
                <a:latin typeface="Proxima Nova"/>
                <a:ea typeface="Proxima Nova"/>
                <a:cs typeface="Proxima Nova"/>
                <a:sym typeface="Proxima Nova"/>
              </a:endParaRPr>
            </a:p>
          </p:txBody>
        </p:sp>
      </p:grpSp>
      <p:sp>
        <p:nvSpPr>
          <p:cNvPr id="111" name="Google Shape;111;p20"/>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
        <p:nvSpPr>
          <p:cNvPr id="112" name="Google Shape;112;p20"/>
          <p:cNvSpPr/>
          <p:nvPr/>
        </p:nvSpPr>
        <p:spPr>
          <a:xfrm>
            <a:off x="2005491" y="180339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113" name="Google Shape;113;p20"/>
          <p:cNvSpPr/>
          <p:nvPr/>
        </p:nvSpPr>
        <p:spPr>
          <a:xfrm>
            <a:off x="5213791" y="2293374"/>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114" name="Google Shape;114;p20"/>
          <p:cNvSpPr/>
          <p:nvPr/>
        </p:nvSpPr>
        <p:spPr>
          <a:xfrm>
            <a:off x="6636516" y="297879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115" name="Google Shape;115;p20"/>
          <p:cNvSpPr/>
          <p:nvPr/>
        </p:nvSpPr>
        <p:spPr>
          <a:xfrm rot="598663">
            <a:off x="3528759" y="2451966"/>
            <a:ext cx="690849" cy="239702"/>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116" name="Google Shape;116;p20"/>
          <p:cNvSpPr/>
          <p:nvPr/>
        </p:nvSpPr>
        <p:spPr>
          <a:xfrm>
            <a:off x="2710053" y="1681801"/>
            <a:ext cx="843300" cy="3936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
        <p:nvSpPr>
          <p:cNvPr id="117" name="Google Shape;117;p20"/>
          <p:cNvSpPr/>
          <p:nvPr/>
        </p:nvSpPr>
        <p:spPr>
          <a:xfrm>
            <a:off x="478916" y="1227349"/>
            <a:ext cx="636000" cy="2397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23208"/>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 name="Google Shape;123;p21"/>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1"/>
                </a:solidFill>
                <a:latin typeface="Proxima Nova"/>
                <a:ea typeface="Proxima Nova"/>
                <a:cs typeface="Proxima Nova"/>
                <a:sym typeface="Proxima Nova"/>
              </a:rPr>
              <a:t>BM </a:t>
            </a:r>
            <a:r>
              <a:rPr b="1" lang="en" sz="2000">
                <a:solidFill>
                  <a:schemeClr val="dk1"/>
                </a:solidFill>
                <a:latin typeface="Proxima Nova"/>
                <a:ea typeface="Proxima Nova"/>
                <a:cs typeface="Proxima Nova"/>
                <a:sym typeface="Proxima Nova"/>
              </a:rPr>
              <a:t>and </a:t>
            </a:r>
            <a:r>
              <a:rPr b="1" lang="en" sz="2000">
                <a:solidFill>
                  <a:srgbClr val="674EA7"/>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put a greater importance on food timeliness quality and convenience while </a:t>
            </a: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focus more heavily on the deal.</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graphicFrame>
        <p:nvGraphicFramePr>
          <p:cNvPr id="124" name="Google Shape;124;p21"/>
          <p:cNvGraphicFramePr/>
          <p:nvPr/>
        </p:nvGraphicFramePr>
        <p:xfrm>
          <a:off x="800875" y="1013675"/>
          <a:ext cx="3000000" cy="3000000"/>
        </p:xfrm>
        <a:graphic>
          <a:graphicData uri="http://schemas.openxmlformats.org/drawingml/2006/table">
            <a:tbl>
              <a:tblPr>
                <a:noFill/>
                <a:tableStyleId>{6C84E93E-CF16-44C5-9BB5-38E9A09E7C76}</a:tableStyleId>
              </a:tblPr>
              <a:tblGrid>
                <a:gridCol w="4291225"/>
                <a:gridCol w="1114600"/>
                <a:gridCol w="1114600"/>
                <a:gridCol w="1114600"/>
              </a:tblGrid>
              <a:tr h="200025">
                <a:tc>
                  <a:txBody>
                    <a:bodyPr/>
                    <a:lstStyle/>
                    <a:p>
                      <a:pPr indent="0" lvl="0" marL="0" rtl="0" algn="l">
                        <a:lnSpc>
                          <a:spcPct val="115000"/>
                        </a:lnSpc>
                        <a:spcBef>
                          <a:spcPts val="0"/>
                        </a:spcBef>
                        <a:spcAft>
                          <a:spcPts val="0"/>
                        </a:spcAft>
                        <a:buNone/>
                      </a:pPr>
                      <a:r>
                        <a:t/>
                      </a:r>
                      <a:endParaRPr b="1" sz="1000">
                        <a:latin typeface="Proxima Nova"/>
                        <a:ea typeface="Proxima Nova"/>
                        <a:cs typeface="Proxima Nova"/>
                        <a:sym typeface="Proxima Nova"/>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Deal </a:t>
                      </a:r>
                      <a:endParaRPr b="1"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Hunters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Budget Minders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Thrill </a:t>
                      </a:r>
                      <a:endParaRPr b="1"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Seekers</a:t>
                      </a:r>
                      <a:endParaRPr b="1" sz="1200">
                        <a:solidFill>
                          <a:schemeClr val="lt1"/>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74EA7"/>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Promos are a must:</a:t>
                      </a:r>
                      <a:endParaRPr b="1"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D9D9D9"/>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will not place an order on any app unless there is a promotion or discount code I can use</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900">
                          <a:latin typeface="Proxima Nova"/>
                          <a:ea typeface="Proxima Nova"/>
                          <a:cs typeface="Proxima Nova"/>
                          <a:sym typeface="Proxima Nova"/>
                        </a:rPr>
                        <a:t>I feel guilty when I place an order without a promotion because of the extra costs for delivery</a:t>
                      </a:r>
                      <a:endParaRPr sz="9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90%</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like to shop around for the best deal and that includes when ordering takeout</a:t>
                      </a:r>
                      <a:endParaRPr b="1"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64%</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Deal seeking is emotional:</a:t>
                      </a:r>
                      <a:endParaRPr b="1" sz="1000">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rgbClr val="D9D9D9"/>
                    </a:solidFill>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generally am not price sensitive, but like the feeling of getting a good deal</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79%</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enjoy the thrill of finding a good deal</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33%</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75%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EFEFEF"/>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b="1" lang="en" sz="1000">
                          <a:latin typeface="Proxima Nova"/>
                          <a:ea typeface="Proxima Nova"/>
                          <a:cs typeface="Proxima Nova"/>
                          <a:sym typeface="Proxima Nova"/>
                        </a:rPr>
                        <a:t>Deals are not the #1 priority:</a:t>
                      </a:r>
                      <a:endParaRPr b="1" sz="1000">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c>
                  <a:txBody>
                    <a:bodyPr/>
                    <a:lstStyle/>
                    <a:p>
                      <a:pPr indent="0" lvl="0" marL="0" rtl="0" algn="ctr">
                        <a:spcBef>
                          <a:spcPts val="0"/>
                        </a:spcBef>
                        <a:spcAft>
                          <a:spcPts val="0"/>
                        </a:spcAft>
                        <a:buNone/>
                      </a:pPr>
                      <a:r>
                        <a:t/>
                      </a:r>
                      <a:endParaRPr>
                        <a:latin typeface="Proxima Nova"/>
                        <a:ea typeface="Proxima Nova"/>
                        <a:cs typeface="Proxima Nova"/>
                        <a:sym typeface="Proxima Nova"/>
                      </a:endParaRPr>
                    </a:p>
                  </a:txBody>
                  <a:tcPr marT="19050" marB="19050" marR="28575" marL="285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D9D9D9"/>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The convenience of ordering on DoorDash is more important than the amount that I spend</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11%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27%</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care more about food prices and fees than about getting promotions and discounts</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51%</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53%</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62%</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314325">
                <a:tc>
                  <a:txBody>
                    <a:bodyPr/>
                    <a:lstStyle/>
                    <a:p>
                      <a:pPr indent="0" lvl="0" marL="0" rtl="0" algn="l">
                        <a:lnSpc>
                          <a:spcPct val="115000"/>
                        </a:lnSpc>
                        <a:spcBef>
                          <a:spcPts val="0"/>
                        </a:spcBef>
                        <a:spcAft>
                          <a:spcPts val="0"/>
                        </a:spcAft>
                        <a:buNone/>
                      </a:pPr>
                      <a:r>
                        <a:rPr lang="en" sz="900">
                          <a:solidFill>
                            <a:srgbClr val="1F1F1F"/>
                          </a:solidFill>
                          <a:latin typeface="Proxima Nova"/>
                          <a:ea typeface="Proxima Nova"/>
                          <a:cs typeface="Proxima Nova"/>
                          <a:sym typeface="Proxima Nova"/>
                        </a:rPr>
                        <a:t>I care more about speed and food quality than promotions when placing an order on DoorDash</a:t>
                      </a:r>
                      <a:endParaRPr sz="900">
                        <a:solidFill>
                          <a:srgbClr val="1F1F1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29%</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40%</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a:t>
                      </a:r>
                      <a:endParaRPr sz="1000">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bl>
          </a:graphicData>
        </a:graphic>
      </p:graphicFrame>
      <p:sp>
        <p:nvSpPr>
          <p:cNvPr id="125" name="Google Shape;125;p21"/>
          <p:cNvSpPr txBox="1"/>
          <p:nvPr/>
        </p:nvSpPr>
        <p:spPr>
          <a:xfrm>
            <a:off x="337575" y="47792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 name="Google Shape;131;p22"/>
          <p:cNvSpPr txBox="1"/>
          <p:nvPr/>
        </p:nvSpPr>
        <p:spPr>
          <a:xfrm>
            <a:off x="354075" y="762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4A86E8"/>
                </a:solidFill>
                <a:latin typeface="Proxima Nova"/>
                <a:ea typeface="Proxima Nova"/>
                <a:cs typeface="Proxima Nova"/>
                <a:sym typeface="Proxima Nova"/>
              </a:rPr>
              <a:t>DH</a:t>
            </a:r>
            <a:r>
              <a:rPr b="1" lang="en" sz="2000">
                <a:solidFill>
                  <a:schemeClr val="dk1"/>
                </a:solidFill>
                <a:latin typeface="Proxima Nova"/>
                <a:ea typeface="Proxima Nova"/>
                <a:cs typeface="Proxima Nova"/>
                <a:sym typeface="Proxima Nova"/>
              </a:rPr>
              <a:t> are younger in cities, </a:t>
            </a:r>
            <a:r>
              <a:rPr b="1" lang="en" sz="2000">
                <a:solidFill>
                  <a:srgbClr val="FF9900"/>
                </a:solidFill>
                <a:latin typeface="Proxima Nova"/>
                <a:ea typeface="Proxima Nova"/>
                <a:cs typeface="Proxima Nova"/>
                <a:sym typeface="Proxima Nova"/>
              </a:rPr>
              <a:t>BM</a:t>
            </a:r>
            <a:r>
              <a:rPr b="1" lang="en" sz="2000">
                <a:solidFill>
                  <a:schemeClr val="dk1"/>
                </a:solidFill>
                <a:latin typeface="Proxima Nova"/>
                <a:ea typeface="Proxima Nova"/>
                <a:cs typeface="Proxima Nova"/>
                <a:sym typeface="Proxima Nova"/>
              </a:rPr>
              <a:t> are skew single and </a:t>
            </a:r>
            <a:r>
              <a:rPr b="1" lang="en" sz="2000">
                <a:solidFill>
                  <a:srgbClr val="8E7CC3"/>
                </a:solidFill>
                <a:latin typeface="Proxima Nova"/>
                <a:ea typeface="Proxima Nova"/>
                <a:cs typeface="Proxima Nova"/>
                <a:sym typeface="Proxima Nova"/>
              </a:rPr>
              <a:t>TS</a:t>
            </a:r>
            <a:r>
              <a:rPr b="1" lang="en" sz="2000">
                <a:solidFill>
                  <a:schemeClr val="dk1"/>
                </a:solidFill>
                <a:latin typeface="Proxima Nova"/>
                <a:ea typeface="Proxima Nova"/>
                <a:cs typeface="Proxima Nova"/>
                <a:sym typeface="Proxima Nova"/>
              </a:rPr>
              <a:t> skew the oldest and in more town or rural communities.</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graphicFrame>
        <p:nvGraphicFramePr>
          <p:cNvPr id="132" name="Google Shape;132;p22"/>
          <p:cNvGraphicFramePr/>
          <p:nvPr/>
        </p:nvGraphicFramePr>
        <p:xfrm>
          <a:off x="576000" y="852063"/>
          <a:ext cx="3000000" cy="3000000"/>
        </p:xfrm>
        <a:graphic>
          <a:graphicData uri="http://schemas.openxmlformats.org/drawingml/2006/table">
            <a:tbl>
              <a:tblPr>
                <a:noFill/>
                <a:tableStyleId>{6C84E93E-CF16-44C5-9BB5-38E9A09E7C76}</a:tableStyleId>
              </a:tblPr>
              <a:tblGrid>
                <a:gridCol w="3567900"/>
                <a:gridCol w="1450350"/>
                <a:gridCol w="1450350"/>
                <a:gridCol w="1450350"/>
              </a:tblGrid>
              <a:tr h="209300">
                <a:tc>
                  <a:txBody>
                    <a:bodyPr/>
                    <a:lstStyle/>
                    <a:p>
                      <a:pPr indent="0" lvl="0" marL="0" rtl="0" algn="l">
                        <a:spcBef>
                          <a:spcPts val="0"/>
                        </a:spcBef>
                        <a:spcAft>
                          <a:spcPts val="0"/>
                        </a:spcAft>
                        <a:buNone/>
                      </a:pPr>
                      <a:r>
                        <a:t/>
                      </a:r>
                      <a:endParaRPr/>
                    </a:p>
                  </a:txBody>
                  <a:tcPr marT="19050" marB="19050" marR="28575" marL="28575" anchor="b">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1000">
                          <a:solidFill>
                            <a:schemeClr val="lt1"/>
                          </a:solidFill>
                        </a:rPr>
                        <a:t>Deal Hunters</a:t>
                      </a:r>
                      <a:endParaRPr b="1" sz="1000">
                        <a:solidFill>
                          <a:schemeClr val="lt1"/>
                        </a:solidFill>
                      </a:endParaRPr>
                    </a:p>
                  </a:txBody>
                  <a:tcPr marT="19050" marB="19050" marR="28575" marL="28575" anchor="b">
                    <a:lnL cap="flat" cmpd="sng" w="9525">
                      <a:solidFill>
                        <a:srgbClr val="BFBFBF">
                          <a:alpha val="0"/>
                        </a:srgbClr>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000">
                          <a:solidFill>
                            <a:schemeClr val="lt1"/>
                          </a:solidFill>
                        </a:rPr>
                        <a:t>Budget Minders</a:t>
                      </a:r>
                      <a:endParaRPr b="1" sz="1000">
                        <a:solidFill>
                          <a:schemeClr val="lt1"/>
                        </a:solidFill>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FF9900"/>
                    </a:solidFill>
                  </a:tcPr>
                </a:tc>
                <a:tc>
                  <a:txBody>
                    <a:bodyPr/>
                    <a:lstStyle/>
                    <a:p>
                      <a:pPr indent="0" lvl="0" marL="0" rtl="0" algn="ctr">
                        <a:lnSpc>
                          <a:spcPct val="115000"/>
                        </a:lnSpc>
                        <a:spcBef>
                          <a:spcPts val="0"/>
                        </a:spcBef>
                        <a:spcAft>
                          <a:spcPts val="0"/>
                        </a:spcAft>
                        <a:buNone/>
                      </a:pPr>
                      <a:r>
                        <a:rPr b="1" lang="en" sz="1000">
                          <a:solidFill>
                            <a:schemeClr val="lt1"/>
                          </a:solidFill>
                        </a:rPr>
                        <a:t>Thrill Seekers</a:t>
                      </a:r>
                      <a:endParaRPr b="1" sz="1000">
                        <a:solidFill>
                          <a:schemeClr val="lt1"/>
                        </a:solidFill>
                      </a:endParaRPr>
                    </a:p>
                  </a:txBody>
                  <a:tcPr marT="19050" marB="19050" marR="28575" marL="28575" anchor="b">
                    <a:lnL cap="flat" cmpd="sng" w="9525">
                      <a:solidFill>
                        <a:srgbClr val="E0E0E0"/>
                      </a:solidFill>
                      <a:prstDash val="solid"/>
                      <a:round/>
                      <a:headEnd len="sm" w="sm" type="none"/>
                      <a:tailEnd len="sm" w="sm" type="none"/>
                    </a:lnL>
                    <a:lnR cap="flat" cmpd="sng" w="9525">
                      <a:solidFill>
                        <a:srgbClr val="E0E0E0"/>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152935">
                          <a:alpha val="0"/>
                        </a:srgbClr>
                      </a:solidFill>
                      <a:prstDash val="solid"/>
                      <a:round/>
                      <a:headEnd len="sm" w="sm" type="none"/>
                      <a:tailEnd len="sm" w="sm" type="none"/>
                    </a:lnB>
                    <a:solidFill>
                      <a:srgbClr val="8E7CC3"/>
                    </a:solidFill>
                  </a:tcPr>
                </a:tc>
              </a:tr>
              <a:tr h="174425">
                <a:tc>
                  <a:txBody>
                    <a:bodyPr/>
                    <a:lstStyle/>
                    <a:p>
                      <a:pPr indent="0" lvl="0" marL="0" rtl="0" algn="l">
                        <a:lnSpc>
                          <a:spcPct val="115000"/>
                        </a:lnSpc>
                        <a:spcBef>
                          <a:spcPts val="0"/>
                        </a:spcBef>
                        <a:spcAft>
                          <a:spcPts val="0"/>
                        </a:spcAft>
                        <a:buNone/>
                      </a:pPr>
                      <a:r>
                        <a:rPr b="1" lang="en" sz="1000">
                          <a:solidFill>
                            <a:schemeClr val="dk1"/>
                          </a:solidFill>
                        </a:rPr>
                        <a:t>Age:</a:t>
                      </a:r>
                      <a:endParaRPr b="1"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18 to 34</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35 to 49</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50+</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152935">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D9D2E9"/>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Marital Status:</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152935">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3F3F3"/>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Married/Partnered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35%</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Single</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39%</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CE5CD"/>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Divorced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Education:</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High school diploma or GED</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Some college, but no degree or associate's degree</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25%</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31%</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Bachelor’s degree +</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52%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45%</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44%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Area:</a:t>
                      </a:r>
                      <a:endParaRPr b="1"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EFEFEF"/>
                    </a:solidFill>
                  </a:tcPr>
                </a:tc>
              </a:tr>
              <a:tr h="285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Major metropolitan city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20%</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latin typeface="Proxima Nova"/>
                          <a:ea typeface="Proxima Nova"/>
                          <a:cs typeface="Proxima Nova"/>
                          <a:sym typeface="Proxima Nova"/>
                        </a:rPr>
                        <a:t>City</a:t>
                      </a:r>
                      <a:endParaRPr sz="1000">
                        <a:solidFill>
                          <a:schemeClr val="dk1"/>
                        </a:solidFill>
                        <a:latin typeface="Proxima Nova"/>
                        <a:ea typeface="Proxima Nova"/>
                        <a:cs typeface="Proxima Nova"/>
                        <a:sym typeface="Proxima Nova"/>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Suburb</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29%</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37%</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Town</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8%</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14%</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AEAEAE">
                          <a:alpha val="0"/>
                        </a:srgbClr>
                      </a:solidFill>
                      <a:prstDash val="solid"/>
                      <a:round/>
                      <a:headEnd len="sm" w="sm" type="none"/>
                      <a:tailEnd len="sm" w="sm" type="none"/>
                    </a:lnB>
                    <a:solidFill>
                      <a:srgbClr val="F9F9FB"/>
                    </a:solidFill>
                  </a:tcPr>
                </a:tc>
              </a:tr>
              <a:tr h="174425">
                <a:tc>
                  <a:txBody>
                    <a:bodyPr/>
                    <a:lstStyle/>
                    <a:p>
                      <a:pPr indent="0" lvl="0" marL="0" rtl="0" algn="l">
                        <a:lnSpc>
                          <a:spcPct val="115000"/>
                        </a:lnSpc>
                        <a:spcBef>
                          <a:spcPts val="0"/>
                        </a:spcBef>
                        <a:spcAft>
                          <a:spcPts val="0"/>
                        </a:spcAft>
                        <a:buNone/>
                      </a:pPr>
                      <a:r>
                        <a:rPr lang="en" sz="1000">
                          <a:solidFill>
                            <a:schemeClr val="dk1"/>
                          </a:solidFill>
                        </a:rPr>
                        <a:t>Rural area/ Countryside</a:t>
                      </a:r>
                      <a:endParaRPr sz="1000">
                        <a:solidFill>
                          <a:schemeClr val="dk1"/>
                        </a:solidFill>
                      </a:endParaRPr>
                    </a:p>
                  </a:txBody>
                  <a:tcPr marT="19050" marB="19050" marR="28575" marL="28575">
                    <a:lnL cap="flat" cmpd="sng" w="9525">
                      <a:solidFill>
                        <a:srgbClr val="BFBFBF">
                          <a:alpha val="0"/>
                        </a:srgbClr>
                      </a:solidFill>
                      <a:prstDash val="solid"/>
                      <a:round/>
                      <a:headEnd len="sm" w="sm" type="none"/>
                      <a:tailEnd len="sm" w="sm" type="none"/>
                    </a:lnL>
                    <a:lnR cap="flat" cmpd="sng" w="9525">
                      <a:solidFill>
                        <a:srgbClr val="BFBFBF">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2%</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BFBFBF">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3%</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F9F9FB"/>
                    </a:solidFill>
                  </a:tcPr>
                </a:tc>
                <a:tc>
                  <a:txBody>
                    <a:bodyPr/>
                    <a:lstStyle/>
                    <a:p>
                      <a:pPr indent="0" lvl="0" marL="0" rtl="0" algn="ctr">
                        <a:lnSpc>
                          <a:spcPct val="115000"/>
                        </a:lnSpc>
                        <a:spcBef>
                          <a:spcPts val="0"/>
                        </a:spcBef>
                        <a:spcAft>
                          <a:spcPts val="0"/>
                        </a:spcAft>
                        <a:buNone/>
                      </a:pPr>
                      <a:r>
                        <a:rPr lang="en" sz="1000">
                          <a:solidFill>
                            <a:schemeClr val="dk1"/>
                          </a:solidFill>
                          <a:latin typeface="Proxima Nova"/>
                          <a:ea typeface="Proxima Nova"/>
                          <a:cs typeface="Proxima Nova"/>
                          <a:sym typeface="Proxima Nova"/>
                        </a:rPr>
                        <a:t>6%</a:t>
                      </a:r>
                      <a:endParaRPr sz="1000">
                        <a:solidFill>
                          <a:schemeClr val="dk1"/>
                        </a:solidFill>
                        <a:latin typeface="Proxima Nova"/>
                        <a:ea typeface="Proxima Nova"/>
                        <a:cs typeface="Proxima Nova"/>
                        <a:sym typeface="Proxima Nova"/>
                      </a:endParaRPr>
                    </a:p>
                  </a:txBody>
                  <a:tcPr marT="19050" marB="19050" marR="28575" marL="28575" anchor="ctr">
                    <a:lnL cap="flat" cmpd="sng" w="9525">
                      <a:solidFill>
                        <a:srgbClr val="E0E0E0">
                          <a:alpha val="0"/>
                        </a:srgbClr>
                      </a:solidFill>
                      <a:prstDash val="solid"/>
                      <a:round/>
                      <a:headEnd len="sm" w="sm" type="none"/>
                      <a:tailEnd len="sm" w="sm" type="none"/>
                    </a:lnL>
                    <a:lnR cap="flat" cmpd="sng" w="9525">
                      <a:solidFill>
                        <a:srgbClr val="E0E0E0">
                          <a:alpha val="0"/>
                        </a:srgbClr>
                      </a:solidFill>
                      <a:prstDash val="solid"/>
                      <a:round/>
                      <a:headEnd len="sm" w="sm" type="none"/>
                      <a:tailEnd len="sm" w="sm" type="none"/>
                    </a:lnR>
                    <a:lnT cap="flat" cmpd="sng" w="9525">
                      <a:solidFill>
                        <a:srgbClr val="AEAEAE">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solidFill>
                      <a:srgbClr val="D9D2E9"/>
                    </a:solidFill>
                  </a:tcPr>
                </a:tc>
              </a:tr>
            </a:tbl>
          </a:graphicData>
        </a:graphic>
      </p:graphicFrame>
      <p:sp>
        <p:nvSpPr>
          <p:cNvPr id="133" name="Google Shape;133;p22"/>
          <p:cNvSpPr txBox="1"/>
          <p:nvPr/>
        </p:nvSpPr>
        <p:spPr>
          <a:xfrm>
            <a:off x="185175" y="4855475"/>
            <a:ext cx="4557300" cy="26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Proxima Nova"/>
                <a:ea typeface="Proxima Nova"/>
                <a:cs typeface="Proxima Nova"/>
                <a:sym typeface="Proxima Nova"/>
              </a:rPr>
              <a:t>Base: n= 126 Deal Hunters, n=60 Budget Minders, N=85 Thrill Seekers</a:t>
            </a:r>
            <a:endParaRPr sz="600">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23"/>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Persona cheat sheet:</a:t>
            </a:r>
            <a:endParaRPr b="1" sz="2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2000">
              <a:solidFill>
                <a:schemeClr val="dk1"/>
              </a:solidFill>
              <a:latin typeface="Proxima Nova"/>
              <a:ea typeface="Proxima Nova"/>
              <a:cs typeface="Proxima Nova"/>
              <a:sym typeface="Proxima Nova"/>
            </a:endParaRPr>
          </a:p>
        </p:txBody>
      </p:sp>
      <p:sp>
        <p:nvSpPr>
          <p:cNvPr id="140" name="Google Shape;140;p23"/>
          <p:cNvSpPr txBox="1"/>
          <p:nvPr/>
        </p:nvSpPr>
        <p:spPr>
          <a:xfrm>
            <a:off x="940100" y="1763625"/>
            <a:ext cx="1772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4A86E8"/>
                </a:solidFill>
                <a:latin typeface="Poppins SemiBold"/>
                <a:ea typeface="Poppins SemiBold"/>
                <a:cs typeface="Poppins SemiBold"/>
                <a:sym typeface="Poppins SemiBold"/>
              </a:rPr>
              <a:t>Deal Hunters</a:t>
            </a:r>
            <a:endParaRPr>
              <a:latin typeface="Poppins SemiBold"/>
              <a:ea typeface="Poppins SemiBold"/>
              <a:cs typeface="Poppins SemiBold"/>
              <a:sym typeface="Poppins SemiBold"/>
            </a:endParaRPr>
          </a:p>
        </p:txBody>
      </p:sp>
      <p:sp>
        <p:nvSpPr>
          <p:cNvPr id="141" name="Google Shape;141;p23"/>
          <p:cNvSpPr txBox="1"/>
          <p:nvPr/>
        </p:nvSpPr>
        <p:spPr>
          <a:xfrm>
            <a:off x="940100" y="2872475"/>
            <a:ext cx="1914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9900"/>
                </a:solidFill>
                <a:latin typeface="Poppins SemiBold"/>
                <a:ea typeface="Poppins SemiBold"/>
                <a:cs typeface="Poppins SemiBold"/>
                <a:sym typeface="Poppins SemiBold"/>
              </a:rPr>
              <a:t>Budget Minders</a:t>
            </a:r>
            <a:endParaRPr>
              <a:latin typeface="Poppins SemiBold"/>
              <a:ea typeface="Poppins SemiBold"/>
              <a:cs typeface="Poppins SemiBold"/>
              <a:sym typeface="Poppins SemiBold"/>
            </a:endParaRPr>
          </a:p>
        </p:txBody>
      </p:sp>
      <p:sp>
        <p:nvSpPr>
          <p:cNvPr id="142" name="Google Shape;142;p23"/>
          <p:cNvSpPr txBox="1"/>
          <p:nvPr/>
        </p:nvSpPr>
        <p:spPr>
          <a:xfrm>
            <a:off x="940100" y="3925100"/>
            <a:ext cx="1692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674EA7"/>
                </a:solidFill>
                <a:latin typeface="Poppins SemiBold"/>
                <a:ea typeface="Poppins SemiBold"/>
                <a:cs typeface="Poppins SemiBold"/>
                <a:sym typeface="Poppins SemiBold"/>
              </a:rPr>
              <a:t>Thrill Seekers</a:t>
            </a:r>
            <a:endParaRPr>
              <a:latin typeface="Poppins SemiBold"/>
              <a:ea typeface="Poppins SemiBold"/>
              <a:cs typeface="Poppins SemiBold"/>
              <a:sym typeface="Poppins SemiBold"/>
            </a:endParaRPr>
          </a:p>
        </p:txBody>
      </p:sp>
      <p:pic>
        <p:nvPicPr>
          <p:cNvPr id="143" name="Google Shape;143;p23"/>
          <p:cNvPicPr preferRelativeResize="0"/>
          <p:nvPr/>
        </p:nvPicPr>
        <p:blipFill>
          <a:blip r:embed="rId3">
            <a:alphaModFix/>
          </a:blip>
          <a:stretch>
            <a:fillRect/>
          </a:stretch>
        </p:blipFill>
        <p:spPr>
          <a:xfrm>
            <a:off x="337075" y="1798225"/>
            <a:ext cx="646500" cy="646500"/>
          </a:xfrm>
          <a:prstGeom prst="rect">
            <a:avLst/>
          </a:prstGeom>
          <a:noFill/>
          <a:ln>
            <a:noFill/>
          </a:ln>
        </p:spPr>
      </p:pic>
      <p:pic>
        <p:nvPicPr>
          <p:cNvPr id="144" name="Google Shape;144;p23"/>
          <p:cNvPicPr preferRelativeResize="0"/>
          <p:nvPr/>
        </p:nvPicPr>
        <p:blipFill>
          <a:blip r:embed="rId4">
            <a:alphaModFix/>
          </a:blip>
          <a:stretch>
            <a:fillRect/>
          </a:stretch>
        </p:blipFill>
        <p:spPr>
          <a:xfrm>
            <a:off x="414025" y="3024124"/>
            <a:ext cx="492600" cy="492600"/>
          </a:xfrm>
          <a:prstGeom prst="rect">
            <a:avLst/>
          </a:prstGeom>
          <a:noFill/>
          <a:ln>
            <a:noFill/>
          </a:ln>
        </p:spPr>
      </p:pic>
      <p:pic>
        <p:nvPicPr>
          <p:cNvPr id="145" name="Google Shape;145;p23"/>
          <p:cNvPicPr preferRelativeResize="0"/>
          <p:nvPr/>
        </p:nvPicPr>
        <p:blipFill>
          <a:blip r:embed="rId5">
            <a:alphaModFix/>
          </a:blip>
          <a:stretch>
            <a:fillRect/>
          </a:stretch>
        </p:blipFill>
        <p:spPr>
          <a:xfrm>
            <a:off x="337075" y="4001300"/>
            <a:ext cx="492600" cy="492600"/>
          </a:xfrm>
          <a:prstGeom prst="rect">
            <a:avLst/>
          </a:prstGeom>
          <a:noFill/>
          <a:ln>
            <a:noFill/>
          </a:ln>
        </p:spPr>
      </p:pic>
      <p:graphicFrame>
        <p:nvGraphicFramePr>
          <p:cNvPr id="146" name="Google Shape;146;p23"/>
          <p:cNvGraphicFramePr/>
          <p:nvPr/>
        </p:nvGraphicFramePr>
        <p:xfrm>
          <a:off x="2318475" y="978475"/>
          <a:ext cx="3000000" cy="3000000"/>
        </p:xfrm>
        <a:graphic>
          <a:graphicData uri="http://schemas.openxmlformats.org/drawingml/2006/table">
            <a:tbl>
              <a:tblPr>
                <a:noFill/>
                <a:tableStyleId>{9683DA66-3A22-4DE4-8C1D-75CCDEC85388}</a:tableStyleId>
              </a:tblPr>
              <a:tblGrid>
                <a:gridCol w="1039450"/>
                <a:gridCol w="1039450"/>
                <a:gridCol w="1039450"/>
                <a:gridCol w="1039450"/>
                <a:gridCol w="1039450"/>
                <a:gridCol w="1039450"/>
              </a:tblGrid>
              <a:tr h="404150">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Price sensitivity</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Promo usage</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Promo emotions</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Frequency of order</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 of ppl typical ordering for</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c>
                  <a:txBody>
                    <a:bodyPr/>
                    <a:lstStyle/>
                    <a:p>
                      <a:pPr indent="0" lvl="0" marL="0" rtl="0" algn="ctr">
                        <a:spcBef>
                          <a:spcPts val="0"/>
                        </a:spcBef>
                        <a:spcAft>
                          <a:spcPts val="0"/>
                        </a:spcAft>
                        <a:buNone/>
                      </a:pPr>
                      <a:r>
                        <a:rPr b="1" lang="en" sz="1200">
                          <a:solidFill>
                            <a:schemeClr val="lt1"/>
                          </a:solidFill>
                          <a:latin typeface="Proxima Nova"/>
                          <a:ea typeface="Proxima Nova"/>
                          <a:cs typeface="Proxima Nova"/>
                          <a:sym typeface="Proxima Nova"/>
                        </a:rPr>
                        <a:t>Preferred promo type</a:t>
                      </a:r>
                      <a:endParaRPr b="1" sz="1200">
                        <a:solidFill>
                          <a:schemeClr val="lt1"/>
                        </a:solidFill>
                        <a:latin typeface="Proxima Nova"/>
                        <a:ea typeface="Proxima Nova"/>
                        <a:cs typeface="Proxima Nova"/>
                        <a:sym typeface="Proxima Nova"/>
                      </a:endParaRPr>
                    </a:p>
                  </a:txBody>
                  <a:tcPr marT="91425" marB="91425" marR="91425" marL="91425" anchor="ctr">
                    <a:solidFill>
                      <a:srgbClr val="FF3008"/>
                    </a:solidFill>
                  </a:tcP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Medium</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Almost every order</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Must-have</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1-2 times per month</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1</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No minimum &amp; BOGO</a:t>
                      </a:r>
                      <a:endParaRPr sz="1000">
                        <a:latin typeface="Proxima Nova"/>
                        <a:ea typeface="Proxima Nova"/>
                        <a:cs typeface="Proxima Nova"/>
                        <a:sym typeface="Proxima Nova"/>
                      </a:endParaRPr>
                    </a:p>
                  </a:txBody>
                  <a:tcPr marT="91425" marB="91425" marR="91425" marL="91425" anchor="ct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High</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Rarely</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Functional</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Weekly</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 off or Free item</a:t>
                      </a:r>
                      <a:endParaRPr sz="1000">
                        <a:latin typeface="Proxima Nova"/>
                        <a:ea typeface="Proxima Nova"/>
                        <a:cs typeface="Proxima Nova"/>
                        <a:sym typeface="Proxima Nova"/>
                      </a:endParaRPr>
                    </a:p>
                  </a:txBody>
                  <a:tcPr marT="91425" marB="91425" marR="91425" marL="91425" anchor="ctr"/>
                </a:tc>
              </a:tr>
              <a:tr h="1093525">
                <a:tc>
                  <a:txBody>
                    <a:bodyPr/>
                    <a:lstStyle/>
                    <a:p>
                      <a:pPr indent="0" lvl="0" marL="0" rtl="0" algn="ctr">
                        <a:spcBef>
                          <a:spcPts val="0"/>
                        </a:spcBef>
                        <a:spcAft>
                          <a:spcPts val="0"/>
                        </a:spcAft>
                        <a:buNone/>
                      </a:pPr>
                      <a:r>
                        <a:rPr lang="en" sz="1000">
                          <a:latin typeface="Proxima Nova"/>
                          <a:ea typeface="Proxima Nova"/>
                          <a:cs typeface="Proxima Nova"/>
                          <a:sym typeface="Proxima Nova"/>
                        </a:rPr>
                        <a:t>Low</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Every few orders</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Exciting</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Weekly or more often</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2+</a:t>
                      </a:r>
                      <a:endParaRPr sz="10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Free item, BOGO, loyalty</a:t>
                      </a:r>
                      <a:endParaRPr sz="1000">
                        <a:latin typeface="Proxima Nova"/>
                        <a:ea typeface="Proxima Nova"/>
                        <a:cs typeface="Proxima Nova"/>
                        <a:sym typeface="Proxima Nova"/>
                      </a:endParaRPr>
                    </a:p>
                  </a:txBody>
                  <a:tcPr marT="91425" marB="91425" marR="91425" marL="91425"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24"/>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How do Cx find deals on DoorDash today?</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FFFFFF"/>
              </a:solidFill>
              <a:latin typeface="Proxima Nova"/>
              <a:ea typeface="Proxima Nova"/>
              <a:cs typeface="Proxima Nova"/>
              <a:sym typeface="Proxima Nova"/>
            </a:endParaRPr>
          </a:p>
        </p:txBody>
      </p:sp>
      <p:sp>
        <p:nvSpPr>
          <p:cNvPr id="153" name="Google Shape;153;p24"/>
          <p:cNvSpPr txBox="1"/>
          <p:nvPr/>
        </p:nvSpPr>
        <p:spPr>
          <a:xfrm>
            <a:off x="145700" y="4728025"/>
            <a:ext cx="15846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lt1"/>
                </a:solidFill>
                <a:hlinkClick r:id="rId3">
                  <a:extLst>
                    <a:ext uri="{A12FA001-AC4F-418D-AE19-62706E023703}">
                      <ahyp:hlinkClr val="tx"/>
                    </a:ext>
                  </a:extLst>
                </a:hlinkClick>
              </a:rPr>
              <a:t>Source</a:t>
            </a:r>
            <a:endParaRPr sz="12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p:nvPr/>
        </p:nvSpPr>
        <p:spPr>
          <a:xfrm>
            <a:off x="0" y="0"/>
            <a:ext cx="3495600" cy="5143500"/>
          </a:xfrm>
          <a:prstGeom prst="rect">
            <a:avLst/>
          </a:prstGeom>
          <a:solidFill>
            <a:srgbClr val="17A3A9">
              <a:alpha val="32910"/>
            </a:srgbClr>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159" name="Google Shape;159;p25"/>
          <p:cNvSpPr txBox="1"/>
          <p:nvPr/>
        </p:nvSpPr>
        <p:spPr>
          <a:xfrm>
            <a:off x="378225" y="679775"/>
            <a:ext cx="2932500" cy="129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 sz="2000">
                <a:solidFill>
                  <a:schemeClr val="dk1"/>
                </a:solidFill>
                <a:latin typeface="Proxima Nova"/>
                <a:ea typeface="Proxima Nova"/>
                <a:cs typeface="Proxima Nova"/>
                <a:sym typeface="Proxima Nova"/>
              </a:rPr>
              <a:t>We must think about the context;  Cx either visit Doordash planning to select their Mx based on the deals available…..</a:t>
            </a:r>
            <a:endParaRPr b="1" sz="2000">
              <a:solidFill>
                <a:schemeClr val="dk1"/>
              </a:solidFill>
              <a:latin typeface="Proxima Nova"/>
              <a:ea typeface="Proxima Nova"/>
              <a:cs typeface="Proxima Nova"/>
              <a:sym typeface="Proxima Nova"/>
            </a:endParaRPr>
          </a:p>
          <a:p>
            <a:pPr indent="0" lvl="0" marL="0" rtl="0" algn="l">
              <a:lnSpc>
                <a:spcPct val="100000"/>
              </a:lnSpc>
              <a:spcBef>
                <a:spcPts val="1400"/>
              </a:spcBef>
              <a:spcAft>
                <a:spcPts val="0"/>
              </a:spcAft>
              <a:buNone/>
            </a:pPr>
            <a:r>
              <a:t/>
            </a:r>
            <a:endParaRPr b="1" sz="2000">
              <a:solidFill>
                <a:schemeClr val="dk1"/>
              </a:solidFill>
              <a:latin typeface="Proxima Nova"/>
              <a:ea typeface="Proxima Nova"/>
              <a:cs typeface="Proxima Nova"/>
              <a:sym typeface="Proxima Nova"/>
            </a:endParaRPr>
          </a:p>
          <a:p>
            <a:pPr indent="0" lvl="0" marL="0" rtl="0" algn="l">
              <a:lnSpc>
                <a:spcPct val="100000"/>
              </a:lnSpc>
              <a:spcBef>
                <a:spcPts val="1400"/>
              </a:spcBef>
              <a:spcAft>
                <a:spcPts val="0"/>
              </a:spcAft>
              <a:buNone/>
            </a:pPr>
            <a:r>
              <a:t/>
            </a:r>
            <a:endParaRPr b="1" sz="2000">
              <a:solidFill>
                <a:schemeClr val="dk1"/>
              </a:solidFill>
              <a:latin typeface="Proxima Nova"/>
              <a:ea typeface="Proxima Nova"/>
              <a:cs typeface="Proxima Nova"/>
              <a:sym typeface="Proxima Nova"/>
            </a:endParaRPr>
          </a:p>
          <a:p>
            <a:pPr indent="0" lvl="0" marL="0" rtl="0" algn="l">
              <a:lnSpc>
                <a:spcPct val="100000"/>
              </a:lnSpc>
              <a:spcBef>
                <a:spcPts val="1400"/>
              </a:spcBef>
              <a:spcAft>
                <a:spcPts val="0"/>
              </a:spcAft>
              <a:buNone/>
            </a:pPr>
            <a:r>
              <a:t/>
            </a:r>
            <a:endParaRPr b="1" sz="2000">
              <a:solidFill>
                <a:schemeClr val="dk1"/>
              </a:solidFill>
              <a:latin typeface="Proxima Nova"/>
              <a:ea typeface="Proxima Nova"/>
              <a:cs typeface="Proxima Nova"/>
              <a:sym typeface="Proxima Nova"/>
            </a:endParaRPr>
          </a:p>
        </p:txBody>
      </p:sp>
      <p:sp>
        <p:nvSpPr>
          <p:cNvPr id="160" name="Google Shape;160;p25"/>
          <p:cNvSpPr txBox="1"/>
          <p:nvPr/>
        </p:nvSpPr>
        <p:spPr>
          <a:xfrm>
            <a:off x="4691025" y="1423225"/>
            <a:ext cx="3387900" cy="206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i="1" lang="en" sz="1600">
                <a:solidFill>
                  <a:schemeClr val="dk1"/>
                </a:solidFill>
                <a:latin typeface="Proxima Nova"/>
                <a:ea typeface="Proxima Nova"/>
                <a:cs typeface="Proxima Nova"/>
                <a:sym typeface="Proxima Nova"/>
              </a:rPr>
              <a:t>I try to look for deals, say things that are discounted, even if it's just 15, 20 percent. Or even the $5 off of like the 15 or 20, something like that.</a:t>
            </a:r>
            <a:endParaRPr i="1" sz="1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solidFill>
                <a:schemeClr val="dk1"/>
              </a:solidFill>
              <a:latin typeface="Proxima Nova"/>
              <a:ea typeface="Proxima Nova"/>
              <a:cs typeface="Proxima Nova"/>
              <a:sym typeface="Proxima Nova"/>
            </a:endParaRPr>
          </a:p>
        </p:txBody>
      </p:sp>
      <p:sp>
        <p:nvSpPr>
          <p:cNvPr id="161" name="Google Shape;161;p25"/>
          <p:cNvSpPr txBox="1"/>
          <p:nvPr/>
        </p:nvSpPr>
        <p:spPr>
          <a:xfrm>
            <a:off x="7708300" y="2402925"/>
            <a:ext cx="7860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solidFill>
                <a:schemeClr val="accent5"/>
              </a:solidFill>
            </a:endParaRPr>
          </a:p>
        </p:txBody>
      </p:sp>
      <p:sp>
        <p:nvSpPr>
          <p:cNvPr id="162" name="Google Shape;162;p25"/>
          <p:cNvSpPr txBox="1"/>
          <p:nvPr/>
        </p:nvSpPr>
        <p:spPr>
          <a:xfrm>
            <a:off x="4277250" y="858575"/>
            <a:ext cx="7419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latin typeface="Proxima Nova Semibold"/>
              <a:ea typeface="Proxima Nova Semibold"/>
              <a:cs typeface="Proxima Nova Semibold"/>
              <a:sym typeface="Proxima Nova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p:nvPr/>
        </p:nvSpPr>
        <p:spPr>
          <a:xfrm>
            <a:off x="0" y="0"/>
            <a:ext cx="3495600" cy="5143500"/>
          </a:xfrm>
          <a:prstGeom prst="rect">
            <a:avLst/>
          </a:prstGeom>
          <a:solidFill>
            <a:srgbClr val="17A3A9">
              <a:alpha val="32910"/>
            </a:srgbClr>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168" name="Google Shape;168;p26"/>
          <p:cNvSpPr txBox="1"/>
          <p:nvPr/>
        </p:nvSpPr>
        <p:spPr>
          <a:xfrm>
            <a:off x="378225" y="679775"/>
            <a:ext cx="2931900" cy="12900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2000">
                <a:solidFill>
                  <a:schemeClr val="dk1"/>
                </a:solidFill>
                <a:latin typeface="Proxima Nova"/>
                <a:ea typeface="Proxima Nova"/>
                <a:cs typeface="Proxima Nova"/>
                <a:sym typeface="Proxima Nova"/>
              </a:rPr>
              <a:t>…OR they are Cx who have a cuisine or dish in mind but want to find a deal</a:t>
            </a:r>
            <a:endParaRPr b="1" sz="20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t/>
            </a:r>
            <a:endParaRPr b="1" sz="2000">
              <a:solidFill>
                <a:schemeClr val="dk1"/>
              </a:solidFill>
              <a:latin typeface="Proxima Nova"/>
              <a:ea typeface="Proxima Nova"/>
              <a:cs typeface="Proxima Nova"/>
              <a:sym typeface="Proxima Nova"/>
            </a:endParaRPr>
          </a:p>
        </p:txBody>
      </p:sp>
      <p:sp>
        <p:nvSpPr>
          <p:cNvPr id="169" name="Google Shape;169;p26"/>
          <p:cNvSpPr txBox="1"/>
          <p:nvPr/>
        </p:nvSpPr>
        <p:spPr>
          <a:xfrm>
            <a:off x="554850" y="2228675"/>
            <a:ext cx="2339700" cy="11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70" name="Google Shape;170;p26"/>
          <p:cNvSpPr txBox="1"/>
          <p:nvPr/>
        </p:nvSpPr>
        <p:spPr>
          <a:xfrm>
            <a:off x="4691025" y="1423225"/>
            <a:ext cx="3387900" cy="213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i="1" lang="en" sz="1600">
                <a:solidFill>
                  <a:schemeClr val="dk1"/>
                </a:solidFill>
                <a:latin typeface="Proxima Nova"/>
                <a:ea typeface="Proxima Nova"/>
                <a:cs typeface="Proxima Nova"/>
                <a:sym typeface="Proxima Nova"/>
              </a:rPr>
              <a:t>I typically order from places I already know. So ones I know that are close so that my food doesn't get cold. Ones I know we like, ones I know that I do have a lot of issues</a:t>
            </a:r>
            <a:endParaRPr i="1" sz="1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i="1" sz="1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i="1" sz="1600">
              <a:solidFill>
                <a:schemeClr val="dk1"/>
              </a:solidFill>
              <a:latin typeface="Proxima Nova"/>
              <a:ea typeface="Proxima Nova"/>
              <a:cs typeface="Proxima Nova"/>
              <a:sym typeface="Proxima Nova"/>
            </a:endParaRPr>
          </a:p>
        </p:txBody>
      </p:sp>
      <p:sp>
        <p:nvSpPr>
          <p:cNvPr id="171" name="Google Shape;171;p26"/>
          <p:cNvSpPr txBox="1"/>
          <p:nvPr/>
        </p:nvSpPr>
        <p:spPr>
          <a:xfrm>
            <a:off x="7860700" y="2402925"/>
            <a:ext cx="7860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solidFill>
                <a:schemeClr val="accent5"/>
              </a:solidFill>
            </a:endParaRPr>
          </a:p>
        </p:txBody>
      </p:sp>
      <p:sp>
        <p:nvSpPr>
          <p:cNvPr id="172" name="Google Shape;172;p26"/>
          <p:cNvSpPr txBox="1"/>
          <p:nvPr/>
        </p:nvSpPr>
        <p:spPr>
          <a:xfrm>
            <a:off x="4124850" y="858575"/>
            <a:ext cx="7419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latin typeface="Proxima Nova Semibold"/>
              <a:ea typeface="Proxima Nova Semibold"/>
              <a:cs typeface="Proxima Nova Semibold"/>
              <a:sym typeface="Proxima Nova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p:nvPr/>
        </p:nvSpPr>
        <p:spPr>
          <a:xfrm>
            <a:off x="0" y="0"/>
            <a:ext cx="9144000" cy="1531200"/>
          </a:xfrm>
          <a:prstGeom prst="rect">
            <a:avLst/>
          </a:prstGeom>
          <a:solidFill>
            <a:srgbClr val="17A3A9">
              <a:alpha val="3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7"/>
          <p:cNvSpPr txBox="1"/>
          <p:nvPr/>
        </p:nvSpPr>
        <p:spPr>
          <a:xfrm>
            <a:off x="242875" y="265050"/>
            <a:ext cx="8258400" cy="100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2000">
                <a:solidFill>
                  <a:schemeClr val="dk1"/>
                </a:solidFill>
                <a:latin typeface="Proxima Nova"/>
                <a:ea typeface="Proxima Nova"/>
                <a:cs typeface="Proxima Nova"/>
                <a:sym typeface="Proxima Nova"/>
              </a:rPr>
              <a:t>Today, deal discovery happens a lot later than we think…</a:t>
            </a:r>
            <a:endParaRPr b="1" sz="20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1200"/>
              </a:spcAft>
              <a:buNone/>
            </a:pPr>
            <a:r>
              <a:t/>
            </a:r>
            <a:endParaRPr b="1" sz="1200">
              <a:solidFill>
                <a:schemeClr val="accent5"/>
              </a:solidFill>
              <a:latin typeface="Proxima Nova"/>
              <a:ea typeface="Proxima Nova"/>
              <a:cs typeface="Proxima Nova"/>
              <a:sym typeface="Proxima Nova"/>
            </a:endParaRPr>
          </a:p>
        </p:txBody>
      </p:sp>
      <p:sp>
        <p:nvSpPr>
          <p:cNvPr id="179" name="Google Shape;179;p27"/>
          <p:cNvSpPr txBox="1"/>
          <p:nvPr/>
        </p:nvSpPr>
        <p:spPr>
          <a:xfrm>
            <a:off x="242875" y="2010975"/>
            <a:ext cx="3000000" cy="213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Proxima Nova"/>
                <a:ea typeface="Proxima Nova"/>
                <a:cs typeface="Proxima Nova"/>
                <a:sym typeface="Proxima Nova"/>
              </a:rPr>
              <a:t>Almost all of the Cx we spoke to said they most often learn about deals in the cart.  They sometimes like at badges or carousels on the homepage but are not able to get the full picture of a deal there.</a:t>
            </a:r>
            <a:endParaRPr sz="1900">
              <a:latin typeface="Proxima Nova"/>
              <a:ea typeface="Proxima Nova"/>
              <a:cs typeface="Proxima Nova"/>
              <a:sym typeface="Proxima Nova"/>
            </a:endParaRPr>
          </a:p>
        </p:txBody>
      </p:sp>
      <p:pic>
        <p:nvPicPr>
          <p:cNvPr id="180" name="Google Shape;180;p27" title="Cart_build.mp4">
            <a:hlinkClick r:id="rId3"/>
          </p:cNvPr>
          <p:cNvPicPr preferRelativeResize="0"/>
          <p:nvPr/>
        </p:nvPicPr>
        <p:blipFill>
          <a:blip r:embed="rId4">
            <a:alphaModFix/>
          </a:blip>
          <a:stretch>
            <a:fillRect/>
          </a:stretch>
        </p:blipFill>
        <p:spPr>
          <a:xfrm>
            <a:off x="3999950" y="1683600"/>
            <a:ext cx="4991651" cy="280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p:nvPr/>
        </p:nvSpPr>
        <p:spPr>
          <a:xfrm>
            <a:off x="0" y="0"/>
            <a:ext cx="9144000" cy="1531200"/>
          </a:xfrm>
          <a:prstGeom prst="rect">
            <a:avLst/>
          </a:prstGeom>
          <a:solidFill>
            <a:srgbClr val="17A3A9">
              <a:alpha val="32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8"/>
          <p:cNvSpPr txBox="1"/>
          <p:nvPr/>
        </p:nvSpPr>
        <p:spPr>
          <a:xfrm>
            <a:off x="242875" y="265050"/>
            <a:ext cx="8258400" cy="100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1200"/>
              </a:spcAft>
              <a:buNone/>
            </a:pPr>
            <a:r>
              <a:rPr b="1" lang="en" sz="2000">
                <a:solidFill>
                  <a:schemeClr val="dk1"/>
                </a:solidFill>
                <a:latin typeface="Proxima Nova"/>
                <a:ea typeface="Proxima Nova"/>
                <a:cs typeface="Proxima Nova"/>
                <a:sym typeface="Proxima Nova"/>
              </a:rPr>
              <a:t>Today pill filters are not that helpful, and a little confusing</a:t>
            </a:r>
            <a:endParaRPr b="1" sz="1200">
              <a:solidFill>
                <a:schemeClr val="accent5"/>
              </a:solidFill>
              <a:latin typeface="Proxima Nova"/>
              <a:ea typeface="Proxima Nova"/>
              <a:cs typeface="Proxima Nova"/>
              <a:sym typeface="Proxima Nova"/>
            </a:endParaRPr>
          </a:p>
        </p:txBody>
      </p:sp>
      <p:sp>
        <p:nvSpPr>
          <p:cNvPr id="187" name="Google Shape;187;p28"/>
          <p:cNvSpPr txBox="1"/>
          <p:nvPr/>
        </p:nvSpPr>
        <p:spPr>
          <a:xfrm>
            <a:off x="178250" y="1783325"/>
            <a:ext cx="4462500" cy="26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Proxima Nova"/>
                <a:ea typeface="Proxima Nova"/>
                <a:cs typeface="Proxima Nova"/>
                <a:sym typeface="Proxima Nova"/>
              </a:rPr>
              <a:t>All of the Cx that we spoke with had </a:t>
            </a:r>
            <a:r>
              <a:rPr b="1" lang="en">
                <a:solidFill>
                  <a:schemeClr val="dk1"/>
                </a:solidFill>
                <a:latin typeface="Proxima Nova"/>
                <a:ea typeface="Proxima Nova"/>
                <a:cs typeface="Proxima Nova"/>
                <a:sym typeface="Proxima Nova"/>
              </a:rPr>
              <a:t>used a pill filter at least once </a:t>
            </a:r>
            <a:r>
              <a:rPr lang="en">
                <a:solidFill>
                  <a:schemeClr val="dk1"/>
                </a:solidFill>
                <a:latin typeface="Proxima Nova"/>
                <a:ea typeface="Proxima Nova"/>
                <a:cs typeface="Proxima Nova"/>
                <a:sym typeface="Proxima Nova"/>
              </a:rPr>
              <a:t>to narrow down their options. A few of the Cx we spoke to </a:t>
            </a:r>
            <a:r>
              <a:rPr b="1" lang="en">
                <a:solidFill>
                  <a:schemeClr val="dk1"/>
                </a:solidFill>
                <a:latin typeface="Proxima Nova"/>
                <a:ea typeface="Proxima Nova"/>
                <a:cs typeface="Proxima Nova"/>
                <a:sym typeface="Proxima Nova"/>
              </a:rPr>
              <a:t>did not realize that you could select more than one pill at a time</a:t>
            </a:r>
            <a:r>
              <a:rPr lang="en">
                <a:solidFill>
                  <a:schemeClr val="dk1"/>
                </a:solidFill>
                <a:latin typeface="Proxima Nova"/>
                <a:ea typeface="Proxima Nova"/>
                <a:cs typeface="Proxima Nova"/>
                <a:sym typeface="Proxima Nova"/>
              </a:rPr>
              <a:t> to narrow down results.  </a:t>
            </a:r>
            <a:endParaRPr sz="1700">
              <a:solidFill>
                <a:schemeClr val="dk1"/>
              </a:solidFill>
            </a:endParaRPr>
          </a:p>
          <a:p>
            <a:pPr indent="0" lvl="0" marL="0" rtl="0" algn="l">
              <a:lnSpc>
                <a:spcPct val="115000"/>
              </a:lnSpc>
              <a:spcBef>
                <a:spcPts val="0"/>
              </a:spcBef>
              <a:spcAft>
                <a:spcPts val="0"/>
              </a:spcAft>
              <a:buNone/>
            </a:pPr>
            <a:r>
              <a:t/>
            </a:r>
            <a:endParaRPr>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u="sng">
                <a:solidFill>
                  <a:schemeClr val="dk1"/>
                </a:solidFill>
                <a:latin typeface="Proxima Nova"/>
                <a:ea typeface="Proxima Nova"/>
                <a:cs typeface="Proxima Nova"/>
                <a:sym typeface="Proxima Nova"/>
              </a:rPr>
              <a:t>Cx had used the following pills:</a:t>
            </a:r>
            <a:endParaRPr u="sng">
              <a:solidFill>
                <a:schemeClr val="dk1"/>
              </a:solidFill>
              <a:latin typeface="Proxima Nova"/>
              <a:ea typeface="Proxima Nova"/>
              <a:cs typeface="Proxima Nova"/>
              <a:sym typeface="Proxima Nova"/>
            </a:endParaRPr>
          </a:p>
          <a:p>
            <a:pPr indent="-317500" lvl="0" marL="457200" rtl="0" algn="l">
              <a:lnSpc>
                <a:spcPct val="115000"/>
              </a:lnSpc>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Deals</a:t>
            </a:r>
            <a:endParaRPr>
              <a:solidFill>
                <a:schemeClr val="dk1"/>
              </a:solidFill>
              <a:latin typeface="Proxima Nova"/>
              <a:ea typeface="Proxima Nova"/>
              <a:cs typeface="Proxima Nova"/>
              <a:sym typeface="Proxima Nova"/>
            </a:endParaRPr>
          </a:p>
          <a:p>
            <a:pPr indent="-317500" lvl="0" marL="457200" rtl="0" algn="l">
              <a:lnSpc>
                <a:spcPct val="115000"/>
              </a:lnSpc>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Under 30 mins</a:t>
            </a:r>
            <a:endParaRPr>
              <a:solidFill>
                <a:schemeClr val="dk1"/>
              </a:solidFill>
              <a:latin typeface="Proxima Nova"/>
              <a:ea typeface="Proxima Nova"/>
              <a:cs typeface="Proxima Nova"/>
              <a:sym typeface="Proxima Nova"/>
            </a:endParaRPr>
          </a:p>
          <a:p>
            <a:pPr indent="-317500" lvl="0" marL="457200" rtl="0" algn="l">
              <a:lnSpc>
                <a:spcPct val="115000"/>
              </a:lnSpc>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DashPass</a:t>
            </a:r>
            <a:endParaRPr sz="1700"/>
          </a:p>
        </p:txBody>
      </p:sp>
      <p:sp>
        <p:nvSpPr>
          <p:cNvPr id="188" name="Google Shape;188;p28"/>
          <p:cNvSpPr txBox="1"/>
          <p:nvPr/>
        </p:nvSpPr>
        <p:spPr>
          <a:xfrm>
            <a:off x="5224425" y="2337625"/>
            <a:ext cx="33879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Proxima Nova"/>
                <a:ea typeface="Proxima Nova"/>
                <a:cs typeface="Proxima Nova"/>
                <a:sym typeface="Proxima Nova"/>
              </a:rPr>
              <a:t>Once I go to search and click deals, like the amount of poke places is so much and there's like so many different kinds of deals, and then I'll just kind of get lost in here.</a:t>
            </a:r>
            <a:endParaRPr i="1">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i="1">
              <a:solidFill>
                <a:schemeClr val="dk1"/>
              </a:solidFill>
              <a:latin typeface="Proxima Nova"/>
              <a:ea typeface="Proxima Nova"/>
              <a:cs typeface="Proxima Nova"/>
              <a:sym typeface="Proxima Nova"/>
            </a:endParaRPr>
          </a:p>
        </p:txBody>
      </p:sp>
      <p:sp>
        <p:nvSpPr>
          <p:cNvPr id="189" name="Google Shape;189;p28"/>
          <p:cNvSpPr txBox="1"/>
          <p:nvPr/>
        </p:nvSpPr>
        <p:spPr>
          <a:xfrm>
            <a:off x="8241700" y="3317325"/>
            <a:ext cx="7860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solidFill>
                <a:schemeClr val="accent5"/>
              </a:solidFill>
            </a:endParaRPr>
          </a:p>
        </p:txBody>
      </p:sp>
      <p:sp>
        <p:nvSpPr>
          <p:cNvPr id="190" name="Google Shape;190;p28"/>
          <p:cNvSpPr txBox="1"/>
          <p:nvPr/>
        </p:nvSpPr>
        <p:spPr>
          <a:xfrm>
            <a:off x="4810650" y="1772975"/>
            <a:ext cx="741900" cy="141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0">
                <a:solidFill>
                  <a:schemeClr val="accent5"/>
                </a:solidFill>
                <a:latin typeface="Proxima Nova Semibold"/>
                <a:ea typeface="Proxima Nova Semibold"/>
                <a:cs typeface="Proxima Nova Semibold"/>
                <a:sym typeface="Proxima Nova Semibold"/>
              </a:rPr>
              <a:t>“</a:t>
            </a:r>
            <a:endParaRPr sz="8000">
              <a:latin typeface="Proxima Nova Semibold"/>
              <a:ea typeface="Proxima Nova Semibold"/>
              <a:cs typeface="Proxima Nova Semibold"/>
              <a:sym typeface="Proxima Nova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p:nvPr/>
        </p:nvSpPr>
        <p:spPr>
          <a:xfrm>
            <a:off x="0" y="0"/>
            <a:ext cx="9144000" cy="1531200"/>
          </a:xfrm>
          <a:prstGeom prst="rect">
            <a:avLst/>
          </a:prstGeom>
          <a:solidFill>
            <a:srgbClr val="17A3A9">
              <a:alpha val="325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9"/>
          <p:cNvSpPr txBox="1"/>
          <p:nvPr/>
        </p:nvSpPr>
        <p:spPr>
          <a:xfrm>
            <a:off x="242875" y="265050"/>
            <a:ext cx="8258400" cy="100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2000">
                <a:solidFill>
                  <a:schemeClr val="dk1"/>
                </a:solidFill>
                <a:latin typeface="Proxima Nova"/>
                <a:ea typeface="Proxima Nova"/>
                <a:cs typeface="Proxima Nova"/>
                <a:sym typeface="Proxima Nova"/>
              </a:rPr>
              <a:t>Discovery experiences should clearly address the top Mx selection criteria of deal seeking Cx</a:t>
            </a:r>
            <a:endParaRPr b="1" sz="2000">
              <a:solidFill>
                <a:schemeClr val="dk1"/>
              </a:solidFill>
              <a:latin typeface="Proxima Nova"/>
              <a:ea typeface="Proxima Nova"/>
              <a:cs typeface="Proxima Nova"/>
              <a:sym typeface="Proxima Nova"/>
            </a:endParaRPr>
          </a:p>
          <a:p>
            <a:pPr indent="0" lvl="0" marL="0" rtl="0" algn="l">
              <a:lnSpc>
                <a:spcPct val="100000"/>
              </a:lnSpc>
              <a:spcBef>
                <a:spcPts val="1200"/>
              </a:spcBef>
              <a:spcAft>
                <a:spcPts val="1200"/>
              </a:spcAft>
              <a:buNone/>
            </a:pPr>
            <a:r>
              <a:t/>
            </a:r>
            <a:endParaRPr b="1" sz="1200">
              <a:solidFill>
                <a:schemeClr val="accent5"/>
              </a:solidFill>
              <a:latin typeface="Proxima Nova"/>
              <a:ea typeface="Proxima Nova"/>
              <a:cs typeface="Proxima Nova"/>
              <a:sym typeface="Proxima Nova"/>
            </a:endParaRPr>
          </a:p>
        </p:txBody>
      </p:sp>
      <p:sp>
        <p:nvSpPr>
          <p:cNvPr id="197" name="Google Shape;197;p29"/>
          <p:cNvSpPr txBox="1"/>
          <p:nvPr/>
        </p:nvSpPr>
        <p:spPr>
          <a:xfrm>
            <a:off x="129625" y="4600350"/>
            <a:ext cx="8484900" cy="44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1200"/>
              </a:spcAft>
              <a:buNone/>
            </a:pPr>
            <a:r>
              <a:rPr lang="en" sz="1100">
                <a:solidFill>
                  <a:schemeClr val="dk2"/>
                </a:solidFill>
                <a:latin typeface="Proxima Nova"/>
                <a:ea typeface="Proxima Nova"/>
                <a:cs typeface="Proxima Nova"/>
                <a:sym typeface="Proxima Nova"/>
              </a:rPr>
              <a:t>*Note these criteria are consistent with research around </a:t>
            </a:r>
            <a:r>
              <a:rPr lang="en" sz="1100" u="sng">
                <a:solidFill>
                  <a:schemeClr val="hlink"/>
                </a:solidFill>
                <a:latin typeface="Proxima Nova"/>
                <a:ea typeface="Proxima Nova"/>
                <a:cs typeface="Proxima Nova"/>
                <a:sym typeface="Proxima Nova"/>
                <a:hlinkClick r:id="rId3"/>
              </a:rPr>
              <a:t>discovery and Mx selection</a:t>
            </a:r>
            <a:endParaRPr baseline="30000" sz="1100">
              <a:solidFill>
                <a:schemeClr val="dk2"/>
              </a:solidFill>
              <a:latin typeface="Proxima Nova"/>
              <a:ea typeface="Proxima Nova"/>
              <a:cs typeface="Proxima Nova"/>
              <a:sym typeface="Proxima Nova"/>
            </a:endParaRPr>
          </a:p>
        </p:txBody>
      </p:sp>
      <p:sp>
        <p:nvSpPr>
          <p:cNvPr id="198" name="Google Shape;198;p29"/>
          <p:cNvSpPr txBox="1"/>
          <p:nvPr/>
        </p:nvSpPr>
        <p:spPr>
          <a:xfrm>
            <a:off x="269875" y="3105075"/>
            <a:ext cx="1728900" cy="6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250">
                <a:latin typeface="Proxima Nova"/>
                <a:ea typeface="Proxima Nova"/>
                <a:cs typeface="Proxima Nova"/>
                <a:sym typeface="Proxima Nova"/>
              </a:rPr>
              <a:t>The highest savings available to me</a:t>
            </a:r>
            <a:endParaRPr b="1"/>
          </a:p>
        </p:txBody>
      </p:sp>
      <p:sp>
        <p:nvSpPr>
          <p:cNvPr id="199" name="Google Shape;199;p29"/>
          <p:cNvSpPr txBox="1"/>
          <p:nvPr/>
        </p:nvSpPr>
        <p:spPr>
          <a:xfrm>
            <a:off x="2017881" y="3105075"/>
            <a:ext cx="1728900" cy="12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50">
                <a:latin typeface="Proxima Nova"/>
                <a:ea typeface="Proxima Nova"/>
                <a:cs typeface="Proxima Nova"/>
                <a:sym typeface="Proxima Nova"/>
              </a:rPr>
              <a:t>The distance of the Rx/time until delivery</a:t>
            </a:r>
            <a:endParaRPr b="1"/>
          </a:p>
        </p:txBody>
      </p:sp>
      <p:sp>
        <p:nvSpPr>
          <p:cNvPr id="200" name="Google Shape;200;p29"/>
          <p:cNvSpPr txBox="1"/>
          <p:nvPr/>
        </p:nvSpPr>
        <p:spPr>
          <a:xfrm>
            <a:off x="3765888" y="3105075"/>
            <a:ext cx="1728900" cy="6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50">
                <a:latin typeface="Proxima Nova"/>
                <a:ea typeface="Proxima Nova"/>
                <a:cs typeface="Proxima Nova"/>
                <a:sym typeface="Proxima Nova"/>
              </a:rPr>
              <a:t>The cuisine type</a:t>
            </a:r>
            <a:endParaRPr b="1"/>
          </a:p>
        </p:txBody>
      </p:sp>
      <p:sp>
        <p:nvSpPr>
          <p:cNvPr id="201" name="Google Shape;201;p29"/>
          <p:cNvSpPr txBox="1"/>
          <p:nvPr/>
        </p:nvSpPr>
        <p:spPr>
          <a:xfrm>
            <a:off x="5513894" y="3105075"/>
            <a:ext cx="1728900" cy="6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50">
                <a:latin typeface="Proxima Nova"/>
                <a:ea typeface="Proxima Nova"/>
                <a:cs typeface="Proxima Nova"/>
                <a:sym typeface="Proxima Nova"/>
              </a:rPr>
              <a:t>The images</a:t>
            </a:r>
            <a:endParaRPr b="1"/>
          </a:p>
        </p:txBody>
      </p:sp>
      <p:sp>
        <p:nvSpPr>
          <p:cNvPr id="202" name="Google Shape;202;p29"/>
          <p:cNvSpPr txBox="1"/>
          <p:nvPr/>
        </p:nvSpPr>
        <p:spPr>
          <a:xfrm>
            <a:off x="7261900" y="3105075"/>
            <a:ext cx="1728900" cy="6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50">
                <a:latin typeface="Proxima Nova"/>
                <a:ea typeface="Proxima Nova"/>
                <a:cs typeface="Proxima Nova"/>
                <a:sym typeface="Proxima Nova"/>
              </a:rPr>
              <a:t>The restaurant quality</a:t>
            </a:r>
            <a:endParaRPr b="1"/>
          </a:p>
        </p:txBody>
      </p:sp>
      <p:pic>
        <p:nvPicPr>
          <p:cNvPr id="203" name="Google Shape;203;p29"/>
          <p:cNvPicPr preferRelativeResize="0"/>
          <p:nvPr/>
        </p:nvPicPr>
        <p:blipFill>
          <a:blip r:embed="rId4">
            <a:alphaModFix/>
          </a:blip>
          <a:stretch>
            <a:fillRect/>
          </a:stretch>
        </p:blipFill>
        <p:spPr>
          <a:xfrm>
            <a:off x="2296000" y="2018200"/>
            <a:ext cx="1001100" cy="1001100"/>
          </a:xfrm>
          <a:prstGeom prst="rect">
            <a:avLst/>
          </a:prstGeom>
          <a:noFill/>
          <a:ln>
            <a:noFill/>
          </a:ln>
        </p:spPr>
      </p:pic>
      <p:pic>
        <p:nvPicPr>
          <p:cNvPr id="204" name="Google Shape;204;p29"/>
          <p:cNvPicPr preferRelativeResize="0"/>
          <p:nvPr/>
        </p:nvPicPr>
        <p:blipFill>
          <a:blip r:embed="rId5">
            <a:alphaModFix/>
          </a:blip>
          <a:stretch>
            <a:fillRect/>
          </a:stretch>
        </p:blipFill>
        <p:spPr>
          <a:xfrm>
            <a:off x="730538" y="2114962"/>
            <a:ext cx="807576" cy="807576"/>
          </a:xfrm>
          <a:prstGeom prst="rect">
            <a:avLst/>
          </a:prstGeom>
          <a:noFill/>
          <a:ln>
            <a:noFill/>
          </a:ln>
        </p:spPr>
      </p:pic>
      <p:pic>
        <p:nvPicPr>
          <p:cNvPr id="205" name="Google Shape;205;p29"/>
          <p:cNvPicPr preferRelativeResize="0"/>
          <p:nvPr/>
        </p:nvPicPr>
        <p:blipFill>
          <a:blip r:embed="rId6">
            <a:alphaModFix/>
          </a:blip>
          <a:stretch>
            <a:fillRect/>
          </a:stretch>
        </p:blipFill>
        <p:spPr>
          <a:xfrm>
            <a:off x="3985675" y="1932425"/>
            <a:ext cx="1172649" cy="1172649"/>
          </a:xfrm>
          <a:prstGeom prst="rect">
            <a:avLst/>
          </a:prstGeom>
          <a:noFill/>
          <a:ln>
            <a:noFill/>
          </a:ln>
        </p:spPr>
      </p:pic>
      <p:pic>
        <p:nvPicPr>
          <p:cNvPr id="206" name="Google Shape;206;p29"/>
          <p:cNvPicPr preferRelativeResize="0"/>
          <p:nvPr/>
        </p:nvPicPr>
        <p:blipFill>
          <a:blip r:embed="rId7">
            <a:alphaModFix/>
          </a:blip>
          <a:stretch>
            <a:fillRect/>
          </a:stretch>
        </p:blipFill>
        <p:spPr>
          <a:xfrm>
            <a:off x="5909625" y="2114962"/>
            <a:ext cx="807576" cy="807576"/>
          </a:xfrm>
          <a:prstGeom prst="rect">
            <a:avLst/>
          </a:prstGeom>
          <a:noFill/>
          <a:ln>
            <a:noFill/>
          </a:ln>
        </p:spPr>
      </p:pic>
      <p:pic>
        <p:nvPicPr>
          <p:cNvPr id="207" name="Google Shape;207;p29"/>
          <p:cNvPicPr preferRelativeResize="0"/>
          <p:nvPr/>
        </p:nvPicPr>
        <p:blipFill>
          <a:blip r:embed="rId8">
            <a:alphaModFix/>
          </a:blip>
          <a:stretch>
            <a:fillRect/>
          </a:stretch>
        </p:blipFill>
        <p:spPr>
          <a:xfrm>
            <a:off x="7699950" y="2092349"/>
            <a:ext cx="852801" cy="8528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0"/>
          <p:cNvSpPr txBox="1"/>
          <p:nvPr/>
        </p:nvSpPr>
        <p:spPr>
          <a:xfrm>
            <a:off x="903750" y="998750"/>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What about when Cx compare promos between DoorDash accounts?</a:t>
            </a:r>
            <a:endParaRPr sz="5000">
              <a:solidFill>
                <a:srgbClr val="FFFFFF"/>
              </a:solidFill>
              <a:latin typeface="Proxima Nova"/>
              <a:ea typeface="Proxima Nova"/>
              <a:cs typeface="Proxima Nova"/>
              <a:sym typeface="Proxima Nova"/>
            </a:endParaRPr>
          </a:p>
        </p:txBody>
      </p:sp>
      <p:sp>
        <p:nvSpPr>
          <p:cNvPr id="214" name="Google Shape;214;p30"/>
          <p:cNvSpPr txBox="1"/>
          <p:nvPr/>
        </p:nvSpPr>
        <p:spPr>
          <a:xfrm>
            <a:off x="145700" y="4728025"/>
            <a:ext cx="15846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3"/>
              </a:rPr>
              <a:t>Source</a:t>
            </a:r>
            <a:endParaRPr sz="12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3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1"/>
          <p:cNvSpPr txBox="1"/>
          <p:nvPr/>
        </p:nvSpPr>
        <p:spPr>
          <a:xfrm>
            <a:off x="354075" y="274275"/>
            <a:ext cx="8007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In the survey, 31% of Cx reported that they “sometimes” or “always” compare their DoorDash order to the same order on a different DoorDash account, which seemed high </a:t>
            </a:r>
            <a:endParaRPr b="1" sz="2000">
              <a:solidFill>
                <a:schemeClr val="dk1"/>
              </a:solidFill>
              <a:latin typeface="Proxima Nova"/>
              <a:ea typeface="Proxima Nova"/>
              <a:cs typeface="Proxima Nova"/>
              <a:sym typeface="Proxima Nova"/>
            </a:endParaRPr>
          </a:p>
        </p:txBody>
      </p:sp>
      <p:pic>
        <p:nvPicPr>
          <p:cNvPr id="221" name="Google Shape;221;p31" title="Points scored"/>
          <p:cNvPicPr preferRelativeResize="0"/>
          <p:nvPr/>
        </p:nvPicPr>
        <p:blipFill>
          <a:blip r:embed="rId3">
            <a:alphaModFix/>
          </a:blip>
          <a:stretch>
            <a:fillRect/>
          </a:stretch>
        </p:blipFill>
        <p:spPr>
          <a:xfrm>
            <a:off x="1826275" y="1392175"/>
            <a:ext cx="5770101" cy="35678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 name="Shape 225"/>
        <p:cNvGrpSpPr/>
        <p:nvPr/>
      </p:nvGrpSpPr>
      <p:grpSpPr>
        <a:xfrm>
          <a:off x="0" y="0"/>
          <a:ext cx="0" cy="0"/>
          <a:chOff x="0" y="0"/>
          <a:chExt cx="0" cy="0"/>
        </a:xfrm>
      </p:grpSpPr>
      <p:sp>
        <p:nvSpPr>
          <p:cNvPr id="226" name="Google Shape;226;p3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2"/>
          <p:cNvSpPr txBox="1"/>
          <p:nvPr/>
        </p:nvSpPr>
        <p:spPr>
          <a:xfrm>
            <a:off x="354075" y="274275"/>
            <a:ext cx="7935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Since that seemed a little high, we made some changes to the survey to really pressure test that 31% </a:t>
            </a:r>
            <a:endParaRPr b="1" sz="2000">
              <a:solidFill>
                <a:schemeClr val="dk1"/>
              </a:solidFill>
              <a:latin typeface="Proxima Nova"/>
              <a:ea typeface="Proxima Nova"/>
              <a:cs typeface="Proxima Nova"/>
              <a:sym typeface="Proxima Nova"/>
            </a:endParaRPr>
          </a:p>
        </p:txBody>
      </p:sp>
      <p:sp>
        <p:nvSpPr>
          <p:cNvPr id="228" name="Google Shape;228;p32"/>
          <p:cNvSpPr txBox="1"/>
          <p:nvPr/>
        </p:nvSpPr>
        <p:spPr>
          <a:xfrm>
            <a:off x="471600" y="1033725"/>
            <a:ext cx="39996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We…</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✅looked at the percentage of Cx who said that they “always” couch tested</a:t>
            </a:r>
            <a:endParaRPr sz="1250">
              <a:solidFill>
                <a:schemeClr val="dk1"/>
              </a:solidFill>
              <a:latin typeface="Proxima Nova"/>
              <a:ea typeface="Proxima Nova"/>
              <a:cs typeface="Proxima Nova"/>
              <a:sym typeface="Proxima Nova"/>
            </a:endParaRPr>
          </a:p>
          <a:p>
            <a:pPr indent="0" lvl="0" marL="0" rtl="0" algn="r">
              <a:spcBef>
                <a:spcPts val="0"/>
              </a:spcBef>
              <a:spcAft>
                <a:spcPts val="0"/>
              </a:spcAft>
              <a:buClr>
                <a:schemeClr val="dk1"/>
              </a:buClr>
              <a:buSzPts val="1100"/>
              <a:buFont typeface="Arial"/>
              <a:buNone/>
            </a:pPr>
            <a:r>
              <a:rPr b="1" lang="en" sz="1250">
                <a:solidFill>
                  <a:schemeClr val="dk1"/>
                </a:solidFill>
                <a:latin typeface="Proxima Nova"/>
                <a:ea typeface="Proxima Nova"/>
                <a:cs typeface="Proxima Nova"/>
                <a:sym typeface="Proxima Nova"/>
              </a:rPr>
              <a:t>… that was 8%</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🔄reformatted the couch test question to make it harder to click through the answers (“straightlining”)</a:t>
            </a:r>
            <a:endParaRPr sz="1250">
              <a:solidFill>
                <a:schemeClr val="dk1"/>
              </a:solidFill>
              <a:latin typeface="Proxima Nova"/>
              <a:ea typeface="Proxima Nova"/>
              <a:cs typeface="Proxima Nova"/>
              <a:sym typeface="Proxima Nova"/>
            </a:endParaRPr>
          </a:p>
          <a:p>
            <a:pPr indent="0" lvl="0" marL="0" rtl="0" algn="r">
              <a:spcBef>
                <a:spcPts val="0"/>
              </a:spcBef>
              <a:spcAft>
                <a:spcPts val="0"/>
              </a:spcAft>
              <a:buNone/>
            </a:pPr>
            <a:r>
              <a:rPr b="1" lang="en" sz="1250">
                <a:solidFill>
                  <a:schemeClr val="dk1"/>
                </a:solidFill>
                <a:latin typeface="Proxima Nova"/>
                <a:ea typeface="Proxima Nova"/>
                <a:cs typeface="Proxima Nova"/>
                <a:sym typeface="Proxima Nova"/>
              </a:rPr>
              <a:t>… still ~30%</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⛔added a question where the answer </a:t>
            </a:r>
            <a:r>
              <a:rPr i="1" lang="en" sz="1250">
                <a:solidFill>
                  <a:schemeClr val="dk1"/>
                </a:solidFill>
                <a:latin typeface="Proxima Nova"/>
                <a:ea typeface="Proxima Nova"/>
                <a:cs typeface="Proxima Nova"/>
                <a:sym typeface="Proxima Nova"/>
              </a:rPr>
              <a:t>should </a:t>
            </a:r>
            <a:r>
              <a:rPr lang="en" sz="1250">
                <a:solidFill>
                  <a:schemeClr val="dk1"/>
                </a:solidFill>
                <a:latin typeface="Proxima Nova"/>
                <a:ea typeface="Proxima Nova"/>
                <a:cs typeface="Proxima Nova"/>
                <a:sym typeface="Proxima Nova"/>
              </a:rPr>
              <a:t>be “never,” to get a sense of a “false positive rate” for the entire survey. </a:t>
            </a:r>
            <a:r>
              <a:rPr lang="en" sz="1000">
                <a:solidFill>
                  <a:schemeClr val="dk1"/>
                </a:solidFill>
                <a:latin typeface="Proxima Nova"/>
                <a:ea typeface="Proxima Nova"/>
                <a:cs typeface="Proxima Nova"/>
                <a:sym typeface="Proxima Nova"/>
              </a:rPr>
              <a:t>(“Drive to the restaurant you are considering and compare the prices on their menu to the prices on DoorDash.”) </a:t>
            </a:r>
            <a:endParaRPr sz="1000">
              <a:solidFill>
                <a:schemeClr val="dk1"/>
              </a:solidFill>
              <a:latin typeface="Proxima Nova"/>
              <a:ea typeface="Proxima Nova"/>
              <a:cs typeface="Proxima Nova"/>
              <a:sym typeface="Proxima Nova"/>
            </a:endParaRPr>
          </a:p>
          <a:p>
            <a:pPr indent="0" lvl="0" marL="0" rtl="0" algn="r">
              <a:spcBef>
                <a:spcPts val="0"/>
              </a:spcBef>
              <a:spcAft>
                <a:spcPts val="0"/>
              </a:spcAft>
              <a:buNone/>
            </a:pPr>
            <a:r>
              <a:rPr b="1" lang="en" sz="1250">
                <a:solidFill>
                  <a:schemeClr val="dk1"/>
                </a:solidFill>
                <a:latin typeface="Proxima Nova"/>
                <a:ea typeface="Proxima Nova"/>
                <a:cs typeface="Proxima Nova"/>
                <a:sym typeface="Proxima Nova"/>
              </a:rPr>
              <a:t>… the result was 37%, </a:t>
            </a:r>
            <a:endParaRPr b="1" sz="1250">
              <a:solidFill>
                <a:schemeClr val="dk1"/>
              </a:solidFill>
              <a:latin typeface="Proxima Nova"/>
              <a:ea typeface="Proxima Nova"/>
              <a:cs typeface="Proxima Nova"/>
              <a:sym typeface="Proxima Nova"/>
            </a:endParaRPr>
          </a:p>
          <a:p>
            <a:pPr indent="0" lvl="0" marL="0" rtl="0" algn="r">
              <a:spcBef>
                <a:spcPts val="0"/>
              </a:spcBef>
              <a:spcAft>
                <a:spcPts val="0"/>
              </a:spcAft>
              <a:buNone/>
            </a:pPr>
            <a:r>
              <a:rPr b="1" lang="en" sz="1250">
                <a:solidFill>
                  <a:schemeClr val="dk1"/>
                </a:solidFill>
                <a:latin typeface="Proxima Nova"/>
                <a:ea typeface="Proxima Nova"/>
                <a:cs typeface="Proxima Nova"/>
                <a:sym typeface="Proxima Nova"/>
              </a:rPr>
              <a:t>so we might indeed have a lot of false positives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🥸and then a few Cx who said in the survey that they were couch testers, when interviewed it turned out</a:t>
            </a:r>
            <a:endParaRPr sz="1250">
              <a:solidFill>
                <a:schemeClr val="dk1"/>
              </a:solidFill>
              <a:latin typeface="Proxima Nova"/>
              <a:ea typeface="Proxima Nova"/>
              <a:cs typeface="Proxima Nova"/>
              <a:sym typeface="Proxima Nova"/>
            </a:endParaRPr>
          </a:p>
          <a:p>
            <a:pPr indent="0" lvl="0" marL="0" rtl="0" algn="r">
              <a:spcBef>
                <a:spcPts val="0"/>
              </a:spcBef>
              <a:spcAft>
                <a:spcPts val="0"/>
              </a:spcAft>
              <a:buNone/>
            </a:pPr>
            <a:r>
              <a:rPr b="1" lang="en" sz="1250">
                <a:solidFill>
                  <a:schemeClr val="dk1"/>
                </a:solidFill>
                <a:latin typeface="Proxima Nova"/>
                <a:ea typeface="Proxima Nova"/>
                <a:cs typeface="Proxima Nova"/>
                <a:sym typeface="Proxima Nova"/>
              </a:rPr>
              <a:t>… that they weren’t actually couch testers </a:t>
            </a:r>
            <a:endParaRPr b="1" sz="1250">
              <a:solidFill>
                <a:schemeClr val="dk1"/>
              </a:solidFill>
              <a:latin typeface="Proxima Nova"/>
              <a:ea typeface="Proxima Nova"/>
              <a:cs typeface="Proxima Nova"/>
              <a:sym typeface="Proxima Nova"/>
            </a:endParaRPr>
          </a:p>
          <a:p>
            <a:pPr indent="0" lvl="0" marL="0" rtl="0" algn="r">
              <a:spcBef>
                <a:spcPts val="0"/>
              </a:spcBef>
              <a:spcAft>
                <a:spcPts val="0"/>
              </a:spcAft>
              <a:buNone/>
            </a:pPr>
            <a:r>
              <a:t/>
            </a:r>
            <a:endParaRPr sz="1250">
              <a:solidFill>
                <a:schemeClr val="dk1"/>
              </a:solidFill>
              <a:latin typeface="Proxima Nova"/>
              <a:ea typeface="Proxima Nova"/>
              <a:cs typeface="Proxima Nova"/>
              <a:sym typeface="Proxima Nova"/>
            </a:endParaRPr>
          </a:p>
        </p:txBody>
      </p:sp>
      <p:sp>
        <p:nvSpPr>
          <p:cNvPr id="229" name="Google Shape;229;p32"/>
          <p:cNvSpPr/>
          <p:nvPr/>
        </p:nvSpPr>
        <p:spPr>
          <a:xfrm>
            <a:off x="5097025" y="1448600"/>
            <a:ext cx="3290400" cy="2944200"/>
          </a:xfrm>
          <a:prstGeom prst="ellipse">
            <a:avLst/>
          </a:prstGeom>
          <a:solidFill>
            <a:srgbClr val="F3D1CD">
              <a:alpha val="58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32"/>
          <p:cNvSpPr txBox="1"/>
          <p:nvPr/>
        </p:nvSpPr>
        <p:spPr>
          <a:xfrm>
            <a:off x="5258425" y="2390500"/>
            <a:ext cx="2967600" cy="133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50">
                <a:solidFill>
                  <a:schemeClr val="dk1"/>
                </a:solidFill>
                <a:latin typeface="Proxima Nova"/>
                <a:ea typeface="Proxima Nova"/>
                <a:cs typeface="Proxima Nova"/>
                <a:sym typeface="Proxima Nova"/>
              </a:rPr>
              <a:t>So if we want to be </a:t>
            </a:r>
            <a:r>
              <a:rPr b="1" lang="en" sz="1250">
                <a:solidFill>
                  <a:schemeClr val="dk1"/>
                </a:solidFill>
                <a:latin typeface="Proxima Nova"/>
                <a:ea typeface="Proxima Nova"/>
                <a:cs typeface="Proxima Nova"/>
                <a:sym typeface="Proxima Nova"/>
              </a:rPr>
              <a:t>conservative</a:t>
            </a:r>
            <a:r>
              <a:rPr lang="en" sz="1250">
                <a:solidFill>
                  <a:schemeClr val="dk1"/>
                </a:solidFill>
                <a:latin typeface="Proxima Nova"/>
                <a:ea typeface="Proxima Nova"/>
                <a:cs typeface="Proxima Nova"/>
                <a:sym typeface="Proxima Nova"/>
              </a:rPr>
              <a:t>, we would say that the incidence of Cx couch testing is somewhere between 0% and 31%, and </a:t>
            </a:r>
            <a:r>
              <a:rPr b="1" lang="en" sz="1250">
                <a:solidFill>
                  <a:schemeClr val="dk1"/>
                </a:solidFill>
                <a:latin typeface="Proxima Nova"/>
                <a:ea typeface="Proxima Nova"/>
                <a:cs typeface="Proxima Nova"/>
                <a:sym typeface="Proxima Nova"/>
              </a:rPr>
              <a:t>most likely something like 10-20%.  </a:t>
            </a:r>
            <a:endParaRPr b="1" sz="1250">
              <a:solidFill>
                <a:schemeClr val="dk1"/>
              </a:solidFill>
              <a:latin typeface="Proxima Nova"/>
              <a:ea typeface="Proxima Nova"/>
              <a:cs typeface="Proxima Nova"/>
              <a:sym typeface="Proxima Nova"/>
            </a:endParaRPr>
          </a:p>
          <a:p>
            <a:pPr indent="0" lvl="0" marL="0" rtl="0" algn="r">
              <a:spcBef>
                <a:spcPts val="0"/>
              </a:spcBef>
              <a:spcAft>
                <a:spcPts val="0"/>
              </a:spcAft>
              <a:buNone/>
            </a:pPr>
            <a:r>
              <a:t/>
            </a:r>
            <a:endParaRPr sz="1250">
              <a:solidFill>
                <a:schemeClr val="dk1"/>
              </a:solidFill>
              <a:latin typeface="Proxima Nova"/>
              <a:ea typeface="Proxima Nova"/>
              <a:cs typeface="Proxima Nova"/>
              <a:sym typeface="Proxima Nov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3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33"/>
          <p:cNvSpPr txBox="1"/>
          <p:nvPr/>
        </p:nvSpPr>
        <p:spPr>
          <a:xfrm>
            <a:off x="354075" y="350475"/>
            <a:ext cx="81408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Couch testers differ from non-couch testers in ways that make sense </a:t>
            </a:r>
            <a:endParaRPr b="1" sz="2000">
              <a:solidFill>
                <a:schemeClr val="dk1"/>
              </a:solidFill>
              <a:latin typeface="Proxima Nova"/>
              <a:ea typeface="Proxima Nova"/>
              <a:cs typeface="Proxima Nova"/>
              <a:sym typeface="Proxima Nova"/>
            </a:endParaRPr>
          </a:p>
        </p:txBody>
      </p:sp>
      <p:sp>
        <p:nvSpPr>
          <p:cNvPr id="237" name="Google Shape;237;p33"/>
          <p:cNvSpPr txBox="1"/>
          <p:nvPr/>
        </p:nvSpPr>
        <p:spPr>
          <a:xfrm>
            <a:off x="1157450" y="1740000"/>
            <a:ext cx="74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t>◀️</a:t>
            </a:r>
            <a:endParaRPr sz="6000"/>
          </a:p>
        </p:txBody>
      </p:sp>
      <p:sp>
        <p:nvSpPr>
          <p:cNvPr id="238" name="Google Shape;238;p33"/>
          <p:cNvSpPr txBox="1"/>
          <p:nvPr/>
        </p:nvSpPr>
        <p:spPr>
          <a:xfrm>
            <a:off x="955675" y="2876475"/>
            <a:ext cx="1728900" cy="6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50">
                <a:solidFill>
                  <a:schemeClr val="dk1"/>
                </a:solidFill>
                <a:latin typeface="Proxima Nova"/>
                <a:ea typeface="Proxima Nova"/>
                <a:cs typeface="Proxima Nova"/>
                <a:sym typeface="Proxima Nova"/>
              </a:rPr>
              <a:t>Order less than 1x per week </a:t>
            </a:r>
            <a:endParaRPr/>
          </a:p>
        </p:txBody>
      </p:sp>
      <p:sp>
        <p:nvSpPr>
          <p:cNvPr id="239" name="Google Shape;239;p33"/>
          <p:cNvSpPr txBox="1"/>
          <p:nvPr/>
        </p:nvSpPr>
        <p:spPr>
          <a:xfrm>
            <a:off x="487350" y="1092375"/>
            <a:ext cx="8007600" cy="3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Compared to non-couch testers, couch testers are statistically significantly more likely to: </a:t>
            </a:r>
            <a:endParaRPr sz="1250">
              <a:solidFill>
                <a:schemeClr val="dk1"/>
              </a:solidFill>
              <a:latin typeface="Proxima Nova"/>
              <a:ea typeface="Proxima Nova"/>
              <a:cs typeface="Proxima Nova"/>
              <a:sym typeface="Proxima Nova"/>
            </a:endParaRPr>
          </a:p>
        </p:txBody>
      </p:sp>
      <p:sp>
        <p:nvSpPr>
          <p:cNvPr id="240" name="Google Shape;240;p33"/>
          <p:cNvSpPr txBox="1"/>
          <p:nvPr/>
        </p:nvSpPr>
        <p:spPr>
          <a:xfrm>
            <a:off x="3159542" y="1753975"/>
            <a:ext cx="74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t>💰</a:t>
            </a:r>
            <a:endParaRPr sz="6000"/>
          </a:p>
        </p:txBody>
      </p:sp>
      <p:sp>
        <p:nvSpPr>
          <p:cNvPr id="241" name="Google Shape;241;p33"/>
          <p:cNvSpPr txBox="1"/>
          <p:nvPr/>
        </p:nvSpPr>
        <p:spPr>
          <a:xfrm>
            <a:off x="2930750" y="2876475"/>
            <a:ext cx="1728900" cy="12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Say that promo availability, portion size, and no menu inflation are important ordering considerations </a:t>
            </a:r>
            <a:endParaRPr/>
          </a:p>
        </p:txBody>
      </p:sp>
      <p:sp>
        <p:nvSpPr>
          <p:cNvPr id="242" name="Google Shape;242;p33"/>
          <p:cNvSpPr txBox="1"/>
          <p:nvPr/>
        </p:nvSpPr>
        <p:spPr>
          <a:xfrm>
            <a:off x="5161633" y="1767950"/>
            <a:ext cx="74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6000">
                <a:solidFill>
                  <a:schemeClr val="dk1"/>
                </a:solidFill>
              </a:rPr>
              <a:t>💃</a:t>
            </a:r>
            <a:endParaRPr sz="6000"/>
          </a:p>
        </p:txBody>
      </p:sp>
      <p:sp>
        <p:nvSpPr>
          <p:cNvPr id="243" name="Google Shape;243;p33"/>
          <p:cNvSpPr txBox="1"/>
          <p:nvPr/>
        </p:nvSpPr>
        <p:spPr>
          <a:xfrm>
            <a:off x="4905825" y="2876475"/>
            <a:ext cx="1728900" cy="6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Be Classic Cx, not DashPass Cx </a:t>
            </a:r>
            <a:endParaRPr/>
          </a:p>
        </p:txBody>
      </p:sp>
      <p:sp>
        <p:nvSpPr>
          <p:cNvPr id="244" name="Google Shape;244;p33"/>
          <p:cNvSpPr txBox="1"/>
          <p:nvPr/>
        </p:nvSpPr>
        <p:spPr>
          <a:xfrm>
            <a:off x="7163725" y="1781925"/>
            <a:ext cx="614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t>💸</a:t>
            </a:r>
            <a:endParaRPr sz="6000"/>
          </a:p>
        </p:txBody>
      </p:sp>
      <p:sp>
        <p:nvSpPr>
          <p:cNvPr id="245" name="Google Shape;245;p33"/>
          <p:cNvSpPr txBox="1"/>
          <p:nvPr/>
        </p:nvSpPr>
        <p:spPr>
          <a:xfrm>
            <a:off x="6880900" y="2876475"/>
            <a:ext cx="1728900" cy="6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Be price sensitive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p3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4"/>
          <p:cNvSpPr txBox="1"/>
          <p:nvPr/>
        </p:nvSpPr>
        <p:spPr>
          <a:xfrm>
            <a:off x="354075" y="274275"/>
            <a:ext cx="78249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Of couch testers, 41% are actually comparing to another account that they themselves own…</a:t>
            </a:r>
            <a:endParaRPr b="1" sz="2000">
              <a:solidFill>
                <a:schemeClr val="dk1"/>
              </a:solidFill>
              <a:latin typeface="Proxima Nova"/>
              <a:ea typeface="Proxima Nova"/>
              <a:cs typeface="Proxima Nova"/>
              <a:sym typeface="Proxima Nova"/>
            </a:endParaRPr>
          </a:p>
        </p:txBody>
      </p:sp>
      <p:sp>
        <p:nvSpPr>
          <p:cNvPr id="252" name="Google Shape;252;p34"/>
          <p:cNvSpPr txBox="1"/>
          <p:nvPr/>
        </p:nvSpPr>
        <p:spPr>
          <a:xfrm>
            <a:off x="487350" y="1173225"/>
            <a:ext cx="4015500" cy="422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We know that many Cx have multiple accounts under their own name.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For instance, in </a:t>
            </a:r>
            <a:r>
              <a:rPr lang="en" sz="1250" u="sng">
                <a:solidFill>
                  <a:schemeClr val="hlink"/>
                </a:solidFill>
                <a:latin typeface="Proxima Nova"/>
                <a:ea typeface="Proxima Nova"/>
                <a:cs typeface="Proxima Nova"/>
                <a:sym typeface="Proxima Nova"/>
                <a:hlinkClick r:id="rId3"/>
              </a:rPr>
              <a:t>James’ recent DashPass Paused Account research</a:t>
            </a:r>
            <a:r>
              <a:rPr lang="en" sz="1250">
                <a:solidFill>
                  <a:schemeClr val="dk1"/>
                </a:solidFill>
                <a:latin typeface="Proxima Nova"/>
                <a:ea typeface="Proxima Nova"/>
                <a:cs typeface="Proxima Nova"/>
                <a:sym typeface="Proxima Nova"/>
              </a:rPr>
              <a:t>, he found that 54% of Paused DashPass Cx have multiple accounts – an average of 6.6 accounts each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We also know from </a:t>
            </a:r>
            <a:r>
              <a:rPr lang="en" sz="1250" u="sng">
                <a:solidFill>
                  <a:schemeClr val="hlink"/>
                </a:solidFill>
                <a:latin typeface="Proxima Nova"/>
                <a:ea typeface="Proxima Nova"/>
                <a:cs typeface="Proxima Nova"/>
                <a:sym typeface="Proxima Nova"/>
                <a:hlinkClick r:id="rId4"/>
              </a:rPr>
              <a:t>Vero’s 2023 research on account switching</a:t>
            </a:r>
            <a:r>
              <a:rPr lang="en" sz="1250">
                <a:solidFill>
                  <a:schemeClr val="dk1"/>
                </a:solidFill>
                <a:latin typeface="Proxima Nova"/>
                <a:ea typeface="Proxima Nova"/>
                <a:cs typeface="Proxima Nova"/>
                <a:sym typeface="Proxima Nova"/>
              </a:rPr>
              <a:t> that one of the primary reasons Cx have multiple accounts is for “promo hacking” – they know that different accounts get different kinds of promos and maintain multiple accounts to maximize their likelihood of getting a good promo.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The Growth team is apparently building a “switcher button” that will make it easier to switch accounts at login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250">
              <a:solidFill>
                <a:schemeClr val="dk1"/>
              </a:solidFill>
              <a:latin typeface="Proxima Nova"/>
              <a:ea typeface="Proxima Nova"/>
              <a:cs typeface="Proxima Nova"/>
              <a:sym typeface="Proxima Nova"/>
            </a:endParaRPr>
          </a:p>
        </p:txBody>
      </p:sp>
      <p:pic>
        <p:nvPicPr>
          <p:cNvPr id="253" name="Google Shape;253;p34" title="Screenshot 2025-04-09 at 9.29.23 PM.png"/>
          <p:cNvPicPr preferRelativeResize="0"/>
          <p:nvPr/>
        </p:nvPicPr>
        <p:blipFill>
          <a:blip r:embed="rId5">
            <a:alphaModFix/>
          </a:blip>
          <a:stretch>
            <a:fillRect/>
          </a:stretch>
        </p:blipFill>
        <p:spPr>
          <a:xfrm>
            <a:off x="4890700" y="1440550"/>
            <a:ext cx="3977100" cy="3012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3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35"/>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…and 59% are comparing to another person’s account </a:t>
            </a:r>
            <a:endParaRPr b="1" sz="2000">
              <a:solidFill>
                <a:schemeClr val="dk1"/>
              </a:solidFill>
              <a:latin typeface="Proxima Nova"/>
              <a:ea typeface="Proxima Nova"/>
              <a:cs typeface="Proxima Nova"/>
              <a:sym typeface="Proxima Nova"/>
            </a:endParaRPr>
          </a:p>
        </p:txBody>
      </p:sp>
      <p:sp>
        <p:nvSpPr>
          <p:cNvPr id="260" name="Google Shape;260;p35"/>
          <p:cNvSpPr txBox="1"/>
          <p:nvPr/>
        </p:nvSpPr>
        <p:spPr>
          <a:xfrm>
            <a:off x="487450" y="913450"/>
            <a:ext cx="8007600" cy="26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Of the 59% comparing to another person’s account, that other person is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👰‍♀️36% partner or spouse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👫34% friend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🧑‍💼14% coworker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👵11% other, usually a family member like mom, sister, etc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🏡5% roommate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6"/>
          <p:cNvSpPr txBox="1"/>
          <p:nvPr/>
        </p:nvSpPr>
        <p:spPr>
          <a:xfrm>
            <a:off x="354075" y="185500"/>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Key Insights</a:t>
            </a:r>
            <a:endParaRPr b="1" sz="2000">
              <a:solidFill>
                <a:srgbClr val="4A86E8"/>
              </a:solidFill>
              <a:latin typeface="Proxima Nova"/>
              <a:ea typeface="Proxima Nova"/>
              <a:cs typeface="Proxima Nova"/>
              <a:sym typeface="Proxima Nova"/>
            </a:endParaRPr>
          </a:p>
        </p:txBody>
      </p:sp>
      <p:sp>
        <p:nvSpPr>
          <p:cNvPr id="266" name="Google Shape;266;p36"/>
          <p:cNvSpPr txBox="1"/>
          <p:nvPr/>
        </p:nvSpPr>
        <p:spPr>
          <a:xfrm>
            <a:off x="1192200" y="772675"/>
            <a:ext cx="77916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50">
                <a:solidFill>
                  <a:schemeClr val="dk1"/>
                </a:solidFill>
                <a:latin typeface="Proxima Nova"/>
                <a:ea typeface="Proxima Nova"/>
                <a:cs typeface="Proxima Nova"/>
                <a:sym typeface="Proxima Nova"/>
              </a:rPr>
              <a:t>THERE IS MORE COMPARISON – AND DIFFERENT KINDS OF COMPARISON – THAN WE EXPECTED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250">
                <a:solidFill>
                  <a:schemeClr val="dk1"/>
                </a:solidFill>
                <a:latin typeface="Proxima Nova"/>
                <a:ea typeface="Proxima Nova"/>
                <a:cs typeface="Proxima Nova"/>
                <a:sym typeface="Proxima Nova"/>
              </a:rPr>
              <a:t>We conservatively estimate that 10-20% of Cx engage in couch testing.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i="1" sz="125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250">
                <a:solidFill>
                  <a:schemeClr val="dk1"/>
                </a:solidFill>
                <a:latin typeface="Proxima Nova"/>
                <a:ea typeface="Proxima Nova"/>
                <a:cs typeface="Proxima Nova"/>
                <a:sym typeface="Proxima Nova"/>
              </a:rPr>
              <a:t>Of couch testers, 41% are actually comparing to another account they themselves own. 59% are comparing to another person’s account, usually a family member or friend.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50">
                <a:solidFill>
                  <a:schemeClr val="dk1"/>
                </a:solidFill>
                <a:latin typeface="Proxima Nova"/>
                <a:ea typeface="Proxima Nova"/>
                <a:cs typeface="Proxima Nova"/>
                <a:sym typeface="Proxima Nova"/>
              </a:rPr>
              <a:t>CX DON’T SET OUT TO COMPARE, BUT WILL KEEP COMPARING WHEN DIFFERENCES ARE NOTED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The most common scenario is two Cx in the same space, planning to order food to eat together, both browsing Rx menus from their own phone/account to decide on what to order, and then incidentally discovering that they have different pricing/fees or are offered different promos.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Cx who have noticed differences in the past are more likely to couch test in the future, but still just order from whichever account is cheapest.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50">
                <a:solidFill>
                  <a:schemeClr val="dk1"/>
                </a:solidFill>
                <a:latin typeface="Proxima Nova"/>
                <a:ea typeface="Proxima Nova"/>
                <a:cs typeface="Proxima Nova"/>
                <a:sym typeface="Proxima Nova"/>
              </a:rPr>
              <a:t>COUCH TESTERS HAVE NO BAD FEELINGS ABOUT DIFFERENT PROMOS FOR DIFFERENT ACCOUNTS</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Cx understand that there might be variance between accounts in promo availability, but feel like they still have access to the better promo on the other account since they have a relationship with the other person. </a:t>
            </a:r>
            <a:endParaRPr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5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50">
                <a:solidFill>
                  <a:schemeClr val="dk1"/>
                </a:solidFill>
                <a:latin typeface="Proxima Nova"/>
                <a:ea typeface="Proxima Nova"/>
                <a:cs typeface="Proxima Nova"/>
                <a:sym typeface="Proxima Nova"/>
              </a:rPr>
              <a:t>Most Cx don’t think about Mx-funded and DD-funded promos differently, but if they do, they would expect Mx-funded promos to be the same for all Cx and would want to understand why any differences exist. </a:t>
            </a:r>
            <a:endParaRPr sz="1250">
              <a:solidFill>
                <a:schemeClr val="dk1"/>
              </a:solidFill>
              <a:latin typeface="Proxima Nova"/>
              <a:ea typeface="Proxima Nova"/>
              <a:cs typeface="Proxima Nova"/>
              <a:sym typeface="Proxima Nova"/>
            </a:endParaRPr>
          </a:p>
        </p:txBody>
      </p:sp>
      <p:sp>
        <p:nvSpPr>
          <p:cNvPr id="267" name="Google Shape;267;p36"/>
          <p:cNvSpPr txBox="1"/>
          <p:nvPr/>
        </p:nvSpPr>
        <p:spPr>
          <a:xfrm>
            <a:off x="456838" y="2320944"/>
            <a:ext cx="693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200"/>
              <a:t>👯</a:t>
            </a:r>
            <a:endParaRPr sz="4200"/>
          </a:p>
        </p:txBody>
      </p:sp>
      <p:sp>
        <p:nvSpPr>
          <p:cNvPr id="268" name="Google Shape;268;p36"/>
          <p:cNvSpPr txBox="1"/>
          <p:nvPr/>
        </p:nvSpPr>
        <p:spPr>
          <a:xfrm>
            <a:off x="418738" y="754988"/>
            <a:ext cx="76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200"/>
              <a:t>🍐</a:t>
            </a:r>
            <a:endParaRPr sz="4200"/>
          </a:p>
        </p:txBody>
      </p:sp>
      <p:sp>
        <p:nvSpPr>
          <p:cNvPr id="269" name="Google Shape;269;p36"/>
          <p:cNvSpPr txBox="1"/>
          <p:nvPr/>
        </p:nvSpPr>
        <p:spPr>
          <a:xfrm>
            <a:off x="447388" y="3734500"/>
            <a:ext cx="559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200"/>
              <a:t>🤷‍♀️</a:t>
            </a:r>
            <a:endParaRPr sz="4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7"/>
          <p:cNvSpPr txBox="1"/>
          <p:nvPr/>
        </p:nvSpPr>
        <p:spPr>
          <a:xfrm>
            <a:off x="903750" y="11348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What about when Cx compare promos between other platforms?</a:t>
            </a:r>
            <a:endParaRPr sz="5000">
              <a:solidFill>
                <a:srgbClr val="FFFFFF"/>
              </a:solidFill>
              <a:latin typeface="Proxima Nova"/>
              <a:ea typeface="Proxima Nova"/>
              <a:cs typeface="Proxima Nova"/>
              <a:sym typeface="Proxima Nova"/>
            </a:endParaRPr>
          </a:p>
        </p:txBody>
      </p:sp>
      <p:sp>
        <p:nvSpPr>
          <p:cNvPr id="276" name="Google Shape;276;p37"/>
          <p:cNvSpPr txBox="1"/>
          <p:nvPr/>
        </p:nvSpPr>
        <p:spPr>
          <a:xfrm>
            <a:off x="145700" y="4728025"/>
            <a:ext cx="15846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3"/>
              </a:rPr>
              <a:t>Source</a:t>
            </a:r>
            <a:endParaRPr sz="12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38"/>
          <p:cNvSpPr txBox="1"/>
          <p:nvPr/>
        </p:nvSpPr>
        <p:spPr>
          <a:xfrm>
            <a:off x="291500" y="359825"/>
            <a:ext cx="81321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While most Cx state that they compare cost across apps…</a:t>
            </a:r>
            <a:endParaRPr b="1" sz="2400">
              <a:solidFill>
                <a:schemeClr val="dk1"/>
              </a:solidFill>
              <a:latin typeface="Proxima Nova"/>
              <a:ea typeface="Proxima Nova"/>
              <a:cs typeface="Proxima Nova"/>
              <a:sym typeface="Proxima Nova"/>
            </a:endParaRPr>
          </a:p>
        </p:txBody>
      </p:sp>
      <p:sp>
        <p:nvSpPr>
          <p:cNvPr id="283" name="Google Shape;283;p3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38"/>
          <p:cNvSpPr txBox="1"/>
          <p:nvPr/>
        </p:nvSpPr>
        <p:spPr>
          <a:xfrm>
            <a:off x="582450" y="3387750"/>
            <a:ext cx="24618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a:ea typeface="Proxima Nova"/>
                <a:cs typeface="Proxima Nova"/>
                <a:sym typeface="Proxima Nova"/>
              </a:rPr>
              <a:t>Of Classic Active Cx state they compare prices across apps</a:t>
            </a:r>
            <a:endParaRPr sz="1200">
              <a:solidFill>
                <a:schemeClr val="dk1"/>
              </a:solidFill>
              <a:latin typeface="Proxima Nova"/>
              <a:ea typeface="Proxima Nova"/>
              <a:cs typeface="Proxima Nova"/>
              <a:sym typeface="Proxima Nova"/>
            </a:endParaRPr>
          </a:p>
        </p:txBody>
      </p:sp>
      <p:sp>
        <p:nvSpPr>
          <p:cNvPr id="285" name="Google Shape;285;p38"/>
          <p:cNvSpPr txBox="1"/>
          <p:nvPr/>
        </p:nvSpPr>
        <p:spPr>
          <a:xfrm>
            <a:off x="6199400" y="3327825"/>
            <a:ext cx="23004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a:ea typeface="Proxima Nova"/>
                <a:cs typeface="Proxima Nova"/>
                <a:sym typeface="Proxima Nova"/>
              </a:rPr>
              <a:t>of DashPass Cx state that they compare prices across apps </a:t>
            </a:r>
            <a:endParaRPr>
              <a:solidFill>
                <a:schemeClr val="dk1"/>
              </a:solidFill>
              <a:latin typeface="Proxima Nova"/>
              <a:ea typeface="Proxima Nova"/>
              <a:cs typeface="Proxima Nova"/>
              <a:sym typeface="Proxima Nova"/>
            </a:endParaRPr>
          </a:p>
        </p:txBody>
      </p:sp>
      <p:sp>
        <p:nvSpPr>
          <p:cNvPr id="286" name="Google Shape;286;p38"/>
          <p:cNvSpPr txBox="1"/>
          <p:nvPr/>
        </p:nvSpPr>
        <p:spPr>
          <a:xfrm>
            <a:off x="3347950" y="3277225"/>
            <a:ext cx="2378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Proxima Nova"/>
                <a:ea typeface="Proxima Nova"/>
                <a:cs typeface="Proxima Nova"/>
                <a:sym typeface="Proxima Nova"/>
              </a:rPr>
              <a:t>of Occasional Cx state that they compare prices across apps</a:t>
            </a:r>
            <a:endParaRPr b="1">
              <a:solidFill>
                <a:schemeClr val="dk1"/>
              </a:solidFill>
              <a:latin typeface="Proxima Nova"/>
              <a:ea typeface="Proxima Nova"/>
              <a:cs typeface="Proxima Nova"/>
              <a:sym typeface="Proxima Nova"/>
            </a:endParaRPr>
          </a:p>
        </p:txBody>
      </p:sp>
      <p:grpSp>
        <p:nvGrpSpPr>
          <p:cNvPr id="287" name="Google Shape;287;p38"/>
          <p:cNvGrpSpPr/>
          <p:nvPr/>
        </p:nvGrpSpPr>
        <p:grpSpPr>
          <a:xfrm>
            <a:off x="3871825" y="1811775"/>
            <a:ext cx="1327800" cy="1248000"/>
            <a:chOff x="158700" y="1506975"/>
            <a:chExt cx="1327800" cy="1248000"/>
          </a:xfrm>
        </p:grpSpPr>
        <p:sp>
          <p:nvSpPr>
            <p:cNvPr id="288" name="Google Shape;288;p38"/>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8"/>
            <p:cNvSpPr/>
            <p:nvPr/>
          </p:nvSpPr>
          <p:spPr>
            <a:xfrm>
              <a:off x="158700" y="1506975"/>
              <a:ext cx="1327800" cy="1248000"/>
            </a:xfrm>
            <a:prstGeom prst="arc">
              <a:avLst>
                <a:gd fmla="val 16329822" name="adj1"/>
                <a:gd fmla="val 6770394" name="adj2"/>
              </a:avLst>
            </a:prstGeom>
            <a:noFill/>
            <a:ln cap="flat" cmpd="sng" w="1143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8"/>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3C78D8"/>
                  </a:solidFill>
                  <a:latin typeface="Proxima Nova"/>
                  <a:ea typeface="Proxima Nova"/>
                  <a:cs typeface="Proxima Nova"/>
                  <a:sym typeface="Proxima Nova"/>
                </a:rPr>
                <a:t>59%</a:t>
              </a:r>
              <a:r>
                <a:rPr b="1" lang="en" sz="1000">
                  <a:solidFill>
                    <a:srgbClr val="3C78D8"/>
                  </a:solidFill>
                  <a:latin typeface="Proxima Nova"/>
                  <a:ea typeface="Proxima Nova"/>
                  <a:cs typeface="Proxima Nova"/>
                  <a:sym typeface="Proxima Nova"/>
                </a:rPr>
                <a:t> </a:t>
              </a:r>
              <a:endParaRPr sz="1300">
                <a:solidFill>
                  <a:srgbClr val="3C78D8"/>
                </a:solidFill>
                <a:latin typeface="Proxima Nova"/>
                <a:ea typeface="Proxima Nova"/>
                <a:cs typeface="Proxima Nova"/>
                <a:sym typeface="Proxima Nova"/>
              </a:endParaRPr>
            </a:p>
          </p:txBody>
        </p:sp>
      </p:grpSp>
      <p:grpSp>
        <p:nvGrpSpPr>
          <p:cNvPr id="291" name="Google Shape;291;p38"/>
          <p:cNvGrpSpPr/>
          <p:nvPr/>
        </p:nvGrpSpPr>
        <p:grpSpPr>
          <a:xfrm>
            <a:off x="6691225" y="1887975"/>
            <a:ext cx="1327800" cy="1248000"/>
            <a:chOff x="158700" y="1506975"/>
            <a:chExt cx="1327800" cy="1248000"/>
          </a:xfrm>
        </p:grpSpPr>
        <p:sp>
          <p:nvSpPr>
            <p:cNvPr id="292" name="Google Shape;292;p38"/>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8"/>
            <p:cNvSpPr/>
            <p:nvPr/>
          </p:nvSpPr>
          <p:spPr>
            <a:xfrm>
              <a:off x="158700" y="1506975"/>
              <a:ext cx="1327800" cy="1248000"/>
            </a:xfrm>
            <a:prstGeom prst="arc">
              <a:avLst>
                <a:gd fmla="val 16329822" name="adj1"/>
                <a:gd fmla="val 7630831" name="adj2"/>
              </a:avLst>
            </a:prstGeom>
            <a:noFill/>
            <a:ln cap="flat" cmpd="sng" w="1143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8"/>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674EA7"/>
                  </a:solidFill>
                  <a:latin typeface="Proxima Nova"/>
                  <a:ea typeface="Proxima Nova"/>
                  <a:cs typeface="Proxima Nova"/>
                  <a:sym typeface="Proxima Nova"/>
                </a:rPr>
                <a:t>62%</a:t>
              </a:r>
              <a:r>
                <a:rPr b="1" lang="en" sz="1000">
                  <a:solidFill>
                    <a:srgbClr val="674EA7"/>
                  </a:solidFill>
                  <a:latin typeface="Proxima Nova"/>
                  <a:ea typeface="Proxima Nova"/>
                  <a:cs typeface="Proxima Nova"/>
                  <a:sym typeface="Proxima Nova"/>
                </a:rPr>
                <a:t> </a:t>
              </a:r>
              <a:endParaRPr sz="1300">
                <a:solidFill>
                  <a:srgbClr val="674EA7"/>
                </a:solidFill>
                <a:latin typeface="Proxima Nova"/>
                <a:ea typeface="Proxima Nova"/>
                <a:cs typeface="Proxima Nova"/>
                <a:sym typeface="Proxima Nova"/>
              </a:endParaRPr>
            </a:p>
          </p:txBody>
        </p:sp>
      </p:grpSp>
      <p:grpSp>
        <p:nvGrpSpPr>
          <p:cNvPr id="295" name="Google Shape;295;p38"/>
          <p:cNvGrpSpPr/>
          <p:nvPr/>
        </p:nvGrpSpPr>
        <p:grpSpPr>
          <a:xfrm>
            <a:off x="1128625" y="1811775"/>
            <a:ext cx="1327800" cy="1248000"/>
            <a:chOff x="158700" y="1506975"/>
            <a:chExt cx="1327800" cy="1248000"/>
          </a:xfrm>
        </p:grpSpPr>
        <p:sp>
          <p:nvSpPr>
            <p:cNvPr id="296" name="Google Shape;296;p38"/>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8"/>
            <p:cNvSpPr/>
            <p:nvPr/>
          </p:nvSpPr>
          <p:spPr>
            <a:xfrm>
              <a:off x="158700" y="1506975"/>
              <a:ext cx="1327800" cy="1248000"/>
            </a:xfrm>
            <a:prstGeom prst="arc">
              <a:avLst>
                <a:gd fmla="val 16329822" name="adj1"/>
                <a:gd fmla="val 8376203" name="adj2"/>
              </a:avLst>
            </a:prstGeom>
            <a:noFill/>
            <a:ln cap="flat" cmpd="sng" w="1143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8"/>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CC0000"/>
                  </a:solidFill>
                  <a:latin typeface="Proxima Nova"/>
                  <a:ea typeface="Proxima Nova"/>
                  <a:cs typeface="Proxima Nova"/>
                  <a:sym typeface="Proxima Nova"/>
                </a:rPr>
                <a:t>64%</a:t>
              </a:r>
              <a:r>
                <a:rPr b="1" lang="en" sz="1000">
                  <a:solidFill>
                    <a:srgbClr val="CC0000"/>
                  </a:solidFill>
                  <a:latin typeface="Proxima Nova"/>
                  <a:ea typeface="Proxima Nova"/>
                  <a:cs typeface="Proxima Nova"/>
                  <a:sym typeface="Proxima Nova"/>
                </a:rPr>
                <a:t> </a:t>
              </a:r>
              <a:endParaRPr sz="1300">
                <a:solidFill>
                  <a:srgbClr val="CC0000"/>
                </a:solidFill>
                <a:latin typeface="Proxima Nova"/>
                <a:ea typeface="Proxima Nova"/>
                <a:cs typeface="Proxima Nova"/>
                <a:sym typeface="Proxima Nova"/>
              </a:endParaRPr>
            </a:p>
          </p:txBody>
        </p:sp>
      </p:grpSp>
      <p:sp>
        <p:nvSpPr>
          <p:cNvPr id="299" name="Google Shape;299;p38"/>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Base: n=443 DoorDash users</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39"/>
          <p:cNvSpPr txBox="1"/>
          <p:nvPr/>
        </p:nvSpPr>
        <p:spPr>
          <a:xfrm>
            <a:off x="362900" y="265450"/>
            <a:ext cx="4902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2400">
              <a:solidFill>
                <a:srgbClr val="666666"/>
              </a:solidFill>
              <a:latin typeface="Proxima Nova"/>
              <a:ea typeface="Proxima Nova"/>
              <a:cs typeface="Proxima Nova"/>
              <a:sym typeface="Proxima Nova"/>
            </a:endParaRPr>
          </a:p>
        </p:txBody>
      </p:sp>
      <p:sp>
        <p:nvSpPr>
          <p:cNvPr id="306" name="Google Shape;306;p39"/>
          <p:cNvSpPr txBox="1"/>
          <p:nvPr/>
        </p:nvSpPr>
        <p:spPr>
          <a:xfrm>
            <a:off x="287400" y="454225"/>
            <a:ext cx="81321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 their definition of comparison is not consistent</a:t>
            </a:r>
            <a:endParaRPr b="1" sz="2400">
              <a:solidFill>
                <a:schemeClr val="dk1"/>
              </a:solidFill>
              <a:latin typeface="Proxima Nova"/>
              <a:ea typeface="Proxima Nova"/>
              <a:cs typeface="Proxima Nova"/>
              <a:sym typeface="Proxima Nova"/>
            </a:endParaRPr>
          </a:p>
        </p:txBody>
      </p:sp>
      <p:sp>
        <p:nvSpPr>
          <p:cNvPr id="307" name="Google Shape;307;p39"/>
          <p:cNvSpPr txBox="1"/>
          <p:nvPr/>
        </p:nvSpPr>
        <p:spPr>
          <a:xfrm>
            <a:off x="474450" y="1324350"/>
            <a:ext cx="498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What does a comparison mean to Cx?</a:t>
            </a:r>
            <a:endParaRPr b="1">
              <a:solidFill>
                <a:schemeClr val="dk1"/>
              </a:solidFill>
              <a:latin typeface="Proxima Nova"/>
              <a:ea typeface="Proxima Nova"/>
              <a:cs typeface="Proxima Nova"/>
              <a:sym typeface="Proxima Nova"/>
            </a:endParaRPr>
          </a:p>
        </p:txBody>
      </p:sp>
      <p:sp>
        <p:nvSpPr>
          <p:cNvPr id="308" name="Google Shape;308;p39"/>
          <p:cNvSpPr txBox="1"/>
          <p:nvPr/>
        </p:nvSpPr>
        <p:spPr>
          <a:xfrm>
            <a:off x="1202525" y="2032763"/>
            <a:ext cx="6517500" cy="561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E23208"/>
              </a:buClr>
              <a:buSzPts val="1400"/>
              <a:buFont typeface="Proxima Nova"/>
              <a:buAutoNum type="arabicPeriod"/>
            </a:pPr>
            <a:r>
              <a:rPr b="1" lang="en">
                <a:solidFill>
                  <a:schemeClr val="dk2"/>
                </a:solidFill>
                <a:latin typeface="Proxima Nova"/>
                <a:ea typeface="Proxima Nova"/>
                <a:cs typeface="Proxima Nova"/>
                <a:sym typeface="Proxima Nova"/>
              </a:rPr>
              <a:t>I have </a:t>
            </a:r>
            <a:r>
              <a:rPr b="1" lang="en">
                <a:solidFill>
                  <a:srgbClr val="E23208"/>
                </a:solidFill>
                <a:latin typeface="Proxima Nova"/>
                <a:ea typeface="Proxima Nova"/>
                <a:cs typeface="Proxima Nova"/>
                <a:sym typeface="Proxima Nova"/>
              </a:rPr>
              <a:t>thought about what and where</a:t>
            </a:r>
            <a:r>
              <a:rPr b="1" lang="en">
                <a:solidFill>
                  <a:schemeClr val="dk2"/>
                </a:solidFill>
                <a:latin typeface="Proxima Nova"/>
                <a:ea typeface="Proxima Nova"/>
                <a:cs typeface="Proxima Nova"/>
                <a:sym typeface="Proxima Nova"/>
              </a:rPr>
              <a:t> I want to order from </a:t>
            </a:r>
            <a:r>
              <a:rPr b="1" lang="en">
                <a:solidFill>
                  <a:srgbClr val="E23208"/>
                </a:solidFill>
                <a:latin typeface="Proxima Nova"/>
                <a:ea typeface="Proxima Nova"/>
                <a:cs typeface="Proxima Nova"/>
                <a:sym typeface="Proxima Nova"/>
              </a:rPr>
              <a:t>before I go to </a:t>
            </a:r>
            <a:r>
              <a:rPr b="1" lang="en" u="sng">
                <a:solidFill>
                  <a:srgbClr val="E23208"/>
                </a:solidFill>
                <a:latin typeface="Proxima Nova"/>
                <a:ea typeface="Proxima Nova"/>
                <a:cs typeface="Proxima Nova"/>
                <a:sym typeface="Proxima Nova"/>
              </a:rPr>
              <a:t>any</a:t>
            </a:r>
            <a:r>
              <a:rPr b="1" lang="en">
                <a:solidFill>
                  <a:srgbClr val="E23208"/>
                </a:solidFill>
                <a:latin typeface="Proxima Nova"/>
                <a:ea typeface="Proxima Nova"/>
                <a:cs typeface="Proxima Nova"/>
                <a:sym typeface="Proxima Nova"/>
              </a:rPr>
              <a:t> app to order</a:t>
            </a:r>
            <a:endParaRPr b="1">
              <a:solidFill>
                <a:srgbClr val="E23208"/>
              </a:solidFill>
              <a:latin typeface="Proxima Nova"/>
              <a:ea typeface="Proxima Nova"/>
              <a:cs typeface="Proxima Nova"/>
              <a:sym typeface="Proxima Nova"/>
            </a:endParaRPr>
          </a:p>
          <a:p>
            <a:pPr indent="0" lvl="0" marL="457200" rtl="0" algn="l">
              <a:spcBef>
                <a:spcPts val="0"/>
              </a:spcBef>
              <a:spcAft>
                <a:spcPts val="0"/>
              </a:spcAft>
              <a:buNone/>
            </a:pPr>
            <a:r>
              <a:t/>
            </a:r>
            <a:endParaRPr b="1">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b="1">
              <a:solidFill>
                <a:schemeClr val="dk2"/>
              </a:solidFill>
              <a:latin typeface="Proxima Nova"/>
              <a:ea typeface="Proxima Nova"/>
              <a:cs typeface="Proxima Nova"/>
              <a:sym typeface="Proxima Nova"/>
            </a:endParaRPr>
          </a:p>
          <a:p>
            <a:pPr indent="-317500" lvl="0" marL="457200" rtl="0" algn="l">
              <a:spcBef>
                <a:spcPts val="0"/>
              </a:spcBef>
              <a:spcAft>
                <a:spcPts val="0"/>
              </a:spcAft>
              <a:buClr>
                <a:srgbClr val="E23208"/>
              </a:buClr>
              <a:buSzPts val="1400"/>
              <a:buFont typeface="Proxima Nova"/>
              <a:buAutoNum type="arabicPeriod"/>
            </a:pPr>
            <a:r>
              <a:rPr b="1" lang="en">
                <a:solidFill>
                  <a:schemeClr val="dk2"/>
                </a:solidFill>
                <a:latin typeface="Proxima Nova"/>
                <a:ea typeface="Proxima Nova"/>
                <a:cs typeface="Proxima Nova"/>
                <a:sym typeface="Proxima Nova"/>
              </a:rPr>
              <a:t>I go to place an order but </a:t>
            </a:r>
            <a:r>
              <a:rPr b="1" lang="en">
                <a:solidFill>
                  <a:srgbClr val="E23208"/>
                </a:solidFill>
                <a:latin typeface="Proxima Nova"/>
                <a:ea typeface="Proxima Nova"/>
                <a:cs typeface="Proxima Nova"/>
                <a:sym typeface="Proxima Nova"/>
              </a:rPr>
              <a:t>high costs </a:t>
            </a:r>
            <a:r>
              <a:rPr b="1" lang="en" u="sng">
                <a:solidFill>
                  <a:srgbClr val="E23208"/>
                </a:solidFill>
                <a:latin typeface="Proxima Nova"/>
                <a:ea typeface="Proxima Nova"/>
                <a:cs typeface="Proxima Nova"/>
                <a:sym typeface="Proxima Nova"/>
              </a:rPr>
              <a:t>cause me to look</a:t>
            </a:r>
            <a:r>
              <a:rPr b="1" lang="en">
                <a:solidFill>
                  <a:srgbClr val="E23208"/>
                </a:solidFill>
                <a:latin typeface="Proxima Nova"/>
                <a:ea typeface="Proxima Nova"/>
                <a:cs typeface="Proxima Nova"/>
                <a:sym typeface="Proxima Nova"/>
              </a:rPr>
              <a:t> at other apps</a:t>
            </a:r>
            <a:endParaRPr b="1">
              <a:solidFill>
                <a:srgbClr val="E23208"/>
              </a:solidFill>
              <a:latin typeface="Proxima Nova"/>
              <a:ea typeface="Proxima Nova"/>
              <a:cs typeface="Proxima Nova"/>
              <a:sym typeface="Proxima Nova"/>
            </a:endParaRPr>
          </a:p>
          <a:p>
            <a:pPr indent="0" lvl="0" marL="0" rtl="0" algn="l">
              <a:spcBef>
                <a:spcPts val="0"/>
              </a:spcBef>
              <a:spcAft>
                <a:spcPts val="0"/>
              </a:spcAft>
              <a:buNone/>
            </a:pPr>
            <a:r>
              <a:t/>
            </a:r>
            <a:endParaRPr b="1">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b="1">
              <a:solidFill>
                <a:schemeClr val="dk2"/>
              </a:solidFill>
              <a:latin typeface="Proxima Nova"/>
              <a:ea typeface="Proxima Nova"/>
              <a:cs typeface="Proxima Nova"/>
              <a:sym typeface="Proxima Nova"/>
            </a:endParaRPr>
          </a:p>
          <a:p>
            <a:pPr indent="-317500" lvl="0" marL="457200" rtl="0" algn="l">
              <a:spcBef>
                <a:spcPts val="0"/>
              </a:spcBef>
              <a:spcAft>
                <a:spcPts val="0"/>
              </a:spcAft>
              <a:buClr>
                <a:srgbClr val="E23208"/>
              </a:buClr>
              <a:buSzPts val="1400"/>
              <a:buFont typeface="Proxima Nova"/>
              <a:buAutoNum type="arabicPeriod"/>
            </a:pPr>
            <a:r>
              <a:rPr b="1" lang="en">
                <a:solidFill>
                  <a:schemeClr val="dk2"/>
                </a:solidFill>
                <a:latin typeface="Proxima Nova"/>
                <a:ea typeface="Proxima Nova"/>
                <a:cs typeface="Proxima Nova"/>
                <a:sym typeface="Proxima Nova"/>
              </a:rPr>
              <a:t>I </a:t>
            </a:r>
            <a:r>
              <a:rPr b="1" lang="en" u="sng">
                <a:solidFill>
                  <a:srgbClr val="E23208"/>
                </a:solidFill>
                <a:latin typeface="Proxima Nova"/>
                <a:ea typeface="Proxima Nova"/>
                <a:cs typeface="Proxima Nova"/>
                <a:sym typeface="Proxima Nova"/>
              </a:rPr>
              <a:t>open an app</a:t>
            </a:r>
            <a:r>
              <a:rPr b="1" lang="en">
                <a:solidFill>
                  <a:srgbClr val="E23208"/>
                </a:solidFill>
                <a:latin typeface="Proxima Nova"/>
                <a:ea typeface="Proxima Nova"/>
                <a:cs typeface="Proxima Nova"/>
                <a:sym typeface="Proxima Nova"/>
              </a:rPr>
              <a:t> with the intention of comparing </a:t>
            </a:r>
            <a:r>
              <a:rPr b="1" lang="en">
                <a:solidFill>
                  <a:schemeClr val="dk2"/>
                </a:solidFill>
                <a:latin typeface="Proxima Nova"/>
                <a:ea typeface="Proxima Nova"/>
                <a:cs typeface="Proxima Nova"/>
                <a:sym typeface="Proxima Nova"/>
              </a:rPr>
              <a:t>multiple apps</a:t>
            </a:r>
            <a:endParaRPr b="1">
              <a:solidFill>
                <a:schemeClr val="dk2"/>
              </a:solidFill>
              <a:latin typeface="Proxima Nova"/>
              <a:ea typeface="Proxima Nova"/>
              <a:cs typeface="Proxima Nova"/>
              <a:sym typeface="Proxima Nova"/>
            </a:endParaRPr>
          </a:p>
        </p:txBody>
      </p:sp>
      <p:sp>
        <p:nvSpPr>
          <p:cNvPr id="309" name="Google Shape;309;p39"/>
          <p:cNvSpPr txBox="1"/>
          <p:nvPr/>
        </p:nvSpPr>
        <p:spPr>
          <a:xfrm>
            <a:off x="286700" y="1821100"/>
            <a:ext cx="738900" cy="34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roxima Nova"/>
                <a:ea typeface="Proxima Nova"/>
                <a:cs typeface="Proxima Nova"/>
                <a:sym typeface="Proxima Nova"/>
              </a:rPr>
              <a:t>Most frequent</a:t>
            </a:r>
            <a:endParaRPr sz="700">
              <a:solidFill>
                <a:schemeClr val="dk2"/>
              </a:solidFill>
              <a:latin typeface="Proxima Nova"/>
              <a:ea typeface="Proxima Nova"/>
              <a:cs typeface="Proxima Nova"/>
              <a:sym typeface="Proxima Nova"/>
            </a:endParaRPr>
          </a:p>
        </p:txBody>
      </p:sp>
      <p:sp>
        <p:nvSpPr>
          <p:cNvPr id="310" name="Google Shape;310;p39"/>
          <p:cNvSpPr txBox="1"/>
          <p:nvPr/>
        </p:nvSpPr>
        <p:spPr>
          <a:xfrm>
            <a:off x="286700" y="4270325"/>
            <a:ext cx="819900" cy="34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roxima Nova"/>
                <a:ea typeface="Proxima Nova"/>
                <a:cs typeface="Proxima Nova"/>
                <a:sym typeface="Proxima Nova"/>
              </a:rPr>
              <a:t>Least frequent</a:t>
            </a:r>
            <a:endParaRPr sz="700">
              <a:solidFill>
                <a:schemeClr val="dk2"/>
              </a:solidFill>
              <a:latin typeface="Proxima Nova"/>
              <a:ea typeface="Proxima Nova"/>
              <a:cs typeface="Proxima Nova"/>
              <a:sym typeface="Proxima Nova"/>
            </a:endParaRPr>
          </a:p>
        </p:txBody>
      </p:sp>
      <p:cxnSp>
        <p:nvCxnSpPr>
          <p:cNvPr id="311" name="Google Shape;311;p39"/>
          <p:cNvCxnSpPr/>
          <p:nvPr/>
        </p:nvCxnSpPr>
        <p:spPr>
          <a:xfrm>
            <a:off x="656150" y="2162225"/>
            <a:ext cx="9000" cy="2108100"/>
          </a:xfrm>
          <a:prstGeom prst="straightConnector1">
            <a:avLst/>
          </a:prstGeom>
          <a:noFill/>
          <a:ln cap="flat" cmpd="sng" w="9525">
            <a:solidFill>
              <a:srgbClr val="CCCCCC"/>
            </a:solidFill>
            <a:prstDash val="solid"/>
            <a:round/>
            <a:headEnd len="med" w="med" type="none"/>
            <a:tailEnd len="med" w="med" type="triangle"/>
          </a:ln>
        </p:spPr>
      </p:cxnSp>
      <p:pic>
        <p:nvPicPr>
          <p:cNvPr id="312" name="Google Shape;312;p39"/>
          <p:cNvPicPr preferRelativeResize="0"/>
          <p:nvPr/>
        </p:nvPicPr>
        <p:blipFill>
          <a:blip r:embed="rId3">
            <a:alphaModFix/>
          </a:blip>
          <a:stretch>
            <a:fillRect/>
          </a:stretch>
        </p:blipFill>
        <p:spPr>
          <a:xfrm>
            <a:off x="7502450" y="3514101"/>
            <a:ext cx="1271274" cy="1271274"/>
          </a:xfrm>
          <a:prstGeom prst="rect">
            <a:avLst/>
          </a:prstGeom>
          <a:noFill/>
          <a:ln>
            <a:noFill/>
          </a:ln>
        </p:spPr>
      </p:pic>
      <p:sp>
        <p:nvSpPr>
          <p:cNvPr id="313" name="Google Shape;313;p39"/>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Base: n=443 DoorDash users</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idx="12" type="sldNum"/>
          </p:nvPr>
        </p:nvSpPr>
        <p:spPr>
          <a:xfrm>
            <a:off x="8403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40"/>
          <p:cNvSpPr txBox="1"/>
          <p:nvPr/>
        </p:nvSpPr>
        <p:spPr>
          <a:xfrm>
            <a:off x="5454950" y="218275"/>
            <a:ext cx="2021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Do I have a specific Rx I want to order from?</a:t>
            </a:r>
            <a:endParaRPr sz="1200">
              <a:solidFill>
                <a:schemeClr val="dk2"/>
              </a:solidFill>
              <a:latin typeface="Proxima Nova"/>
              <a:ea typeface="Proxima Nova"/>
              <a:cs typeface="Proxima Nova"/>
              <a:sym typeface="Proxima Nova"/>
            </a:endParaRPr>
          </a:p>
        </p:txBody>
      </p:sp>
      <p:sp>
        <p:nvSpPr>
          <p:cNvPr id="320" name="Google Shape;320;p40"/>
          <p:cNvSpPr txBox="1"/>
          <p:nvPr/>
        </p:nvSpPr>
        <p:spPr>
          <a:xfrm>
            <a:off x="4640700" y="1187963"/>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Is it available across multiple apps?</a:t>
            </a:r>
            <a:endParaRPr sz="1200">
              <a:solidFill>
                <a:schemeClr val="dk2"/>
              </a:solidFill>
              <a:latin typeface="Proxima Nova"/>
              <a:ea typeface="Proxima Nova"/>
              <a:cs typeface="Proxima Nova"/>
              <a:sym typeface="Proxima Nova"/>
            </a:endParaRPr>
          </a:p>
        </p:txBody>
      </p:sp>
      <p:sp>
        <p:nvSpPr>
          <p:cNvPr id="321" name="Google Shape;321;p40"/>
          <p:cNvSpPr txBox="1"/>
          <p:nvPr/>
        </p:nvSpPr>
        <p:spPr>
          <a:xfrm>
            <a:off x="2859250" y="3149525"/>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dk2"/>
              </a:solidFill>
              <a:latin typeface="Proxima Nova"/>
              <a:ea typeface="Proxima Nova"/>
              <a:cs typeface="Proxima Nova"/>
              <a:sym typeface="Proxima Nova"/>
            </a:endParaRPr>
          </a:p>
        </p:txBody>
      </p:sp>
      <p:sp>
        <p:nvSpPr>
          <p:cNvPr id="322" name="Google Shape;322;p40"/>
          <p:cNvSpPr txBox="1"/>
          <p:nvPr/>
        </p:nvSpPr>
        <p:spPr>
          <a:xfrm>
            <a:off x="3631750" y="2965125"/>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roxima Nova"/>
                <a:ea typeface="Proxima Nova"/>
                <a:cs typeface="Proxima Nova"/>
                <a:sym typeface="Proxima Nova"/>
              </a:rPr>
              <a:t>Order from available app</a:t>
            </a:r>
            <a:endParaRPr b="1" sz="1200">
              <a:solidFill>
                <a:schemeClr val="dk1"/>
              </a:solidFill>
              <a:latin typeface="Proxima Nova"/>
              <a:ea typeface="Proxima Nova"/>
              <a:cs typeface="Proxima Nova"/>
              <a:sym typeface="Proxima Nova"/>
            </a:endParaRPr>
          </a:p>
        </p:txBody>
      </p:sp>
      <p:sp>
        <p:nvSpPr>
          <p:cNvPr id="323" name="Google Shape;323;p40"/>
          <p:cNvSpPr txBox="1"/>
          <p:nvPr/>
        </p:nvSpPr>
        <p:spPr>
          <a:xfrm>
            <a:off x="5522075" y="2885350"/>
            <a:ext cx="27516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Search for discounts/promos; are they available  on good selection?</a:t>
            </a:r>
            <a:endParaRPr sz="1200">
              <a:solidFill>
                <a:schemeClr val="dk2"/>
              </a:solidFill>
              <a:latin typeface="Proxima Nova"/>
              <a:ea typeface="Proxima Nova"/>
              <a:cs typeface="Proxima Nova"/>
              <a:sym typeface="Proxima Nova"/>
            </a:endParaRPr>
          </a:p>
        </p:txBody>
      </p:sp>
      <p:sp>
        <p:nvSpPr>
          <p:cNvPr id="324" name="Google Shape;324;p40"/>
          <p:cNvSpPr txBox="1"/>
          <p:nvPr/>
        </p:nvSpPr>
        <p:spPr>
          <a:xfrm>
            <a:off x="5029925" y="4253725"/>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roxima Nova"/>
                <a:ea typeface="Proxima Nova"/>
                <a:cs typeface="Proxima Nova"/>
                <a:sym typeface="Proxima Nova"/>
              </a:rPr>
              <a:t>Order from app with best discount</a:t>
            </a:r>
            <a:endParaRPr sz="1200">
              <a:solidFill>
                <a:schemeClr val="dk1"/>
              </a:solidFill>
              <a:latin typeface="Proxima Nova"/>
              <a:ea typeface="Proxima Nova"/>
              <a:cs typeface="Proxima Nova"/>
              <a:sym typeface="Proxima Nova"/>
            </a:endParaRPr>
          </a:p>
        </p:txBody>
      </p:sp>
      <p:sp>
        <p:nvSpPr>
          <p:cNvPr id="325" name="Google Shape;325;p40"/>
          <p:cNvSpPr txBox="1"/>
          <p:nvPr/>
        </p:nvSpPr>
        <p:spPr>
          <a:xfrm>
            <a:off x="7200400" y="4178700"/>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roxima Nova"/>
                <a:ea typeface="Proxima Nova"/>
                <a:cs typeface="Proxima Nova"/>
                <a:sym typeface="Proxima Nova"/>
              </a:rPr>
              <a:t>Build a cart and </a:t>
            </a:r>
            <a:r>
              <a:rPr b="1" lang="en">
                <a:solidFill>
                  <a:schemeClr val="dk1"/>
                </a:solidFill>
                <a:latin typeface="Proxima Nova"/>
                <a:ea typeface="Proxima Nova"/>
                <a:cs typeface="Proxima Nova"/>
                <a:sym typeface="Proxima Nova"/>
              </a:rPr>
              <a:t>order from app with lowest price</a:t>
            </a:r>
            <a:endParaRPr b="1" sz="1200">
              <a:solidFill>
                <a:schemeClr val="dk1"/>
              </a:solidFill>
              <a:latin typeface="Proxima Nova"/>
              <a:ea typeface="Proxima Nova"/>
              <a:cs typeface="Proxima Nova"/>
              <a:sym typeface="Proxima Nova"/>
            </a:endParaRPr>
          </a:p>
        </p:txBody>
      </p:sp>
      <p:cxnSp>
        <p:nvCxnSpPr>
          <p:cNvPr id="326" name="Google Shape;326;p40"/>
          <p:cNvCxnSpPr>
            <a:stCxn id="319" idx="2"/>
          </p:cNvCxnSpPr>
          <p:nvPr/>
        </p:nvCxnSpPr>
        <p:spPr>
          <a:xfrm flipH="1">
            <a:off x="5750000" y="780175"/>
            <a:ext cx="715500" cy="457800"/>
          </a:xfrm>
          <a:prstGeom prst="straightConnector1">
            <a:avLst/>
          </a:prstGeom>
          <a:noFill/>
          <a:ln cap="flat" cmpd="sng" w="9525">
            <a:solidFill>
              <a:srgbClr val="38761D"/>
            </a:solidFill>
            <a:prstDash val="solid"/>
            <a:round/>
            <a:headEnd len="med" w="med" type="none"/>
            <a:tailEnd len="med" w="med" type="triangle"/>
          </a:ln>
        </p:spPr>
      </p:cxnSp>
      <p:cxnSp>
        <p:nvCxnSpPr>
          <p:cNvPr id="327" name="Google Shape;327;p40"/>
          <p:cNvCxnSpPr>
            <a:stCxn id="319" idx="2"/>
            <a:endCxn id="323" idx="0"/>
          </p:cNvCxnSpPr>
          <p:nvPr/>
        </p:nvCxnSpPr>
        <p:spPr>
          <a:xfrm>
            <a:off x="6465500" y="780175"/>
            <a:ext cx="432300" cy="2105100"/>
          </a:xfrm>
          <a:prstGeom prst="straightConnector1">
            <a:avLst/>
          </a:prstGeom>
          <a:noFill/>
          <a:ln cap="flat" cmpd="sng" w="9525">
            <a:solidFill>
              <a:srgbClr val="990000"/>
            </a:solidFill>
            <a:prstDash val="solid"/>
            <a:round/>
            <a:headEnd len="med" w="med" type="none"/>
            <a:tailEnd len="med" w="med" type="triangle"/>
          </a:ln>
        </p:spPr>
      </p:cxnSp>
      <p:cxnSp>
        <p:nvCxnSpPr>
          <p:cNvPr id="328" name="Google Shape;328;p40"/>
          <p:cNvCxnSpPr>
            <a:endCxn id="322" idx="0"/>
          </p:cNvCxnSpPr>
          <p:nvPr/>
        </p:nvCxnSpPr>
        <p:spPr>
          <a:xfrm flipH="1">
            <a:off x="4495300" y="1953525"/>
            <a:ext cx="1063500" cy="1011600"/>
          </a:xfrm>
          <a:prstGeom prst="straightConnector1">
            <a:avLst/>
          </a:prstGeom>
          <a:noFill/>
          <a:ln cap="flat" cmpd="sng" w="9525">
            <a:solidFill>
              <a:srgbClr val="980000"/>
            </a:solidFill>
            <a:prstDash val="solid"/>
            <a:round/>
            <a:headEnd len="med" w="med" type="none"/>
            <a:tailEnd len="med" w="med" type="triangle"/>
          </a:ln>
        </p:spPr>
      </p:cxnSp>
      <p:cxnSp>
        <p:nvCxnSpPr>
          <p:cNvPr id="329" name="Google Shape;329;p40"/>
          <p:cNvCxnSpPr>
            <a:endCxn id="323" idx="0"/>
          </p:cNvCxnSpPr>
          <p:nvPr/>
        </p:nvCxnSpPr>
        <p:spPr>
          <a:xfrm>
            <a:off x="5568275" y="1934650"/>
            <a:ext cx="1329600" cy="950700"/>
          </a:xfrm>
          <a:prstGeom prst="straightConnector1">
            <a:avLst/>
          </a:prstGeom>
          <a:noFill/>
          <a:ln cap="flat" cmpd="sng" w="9525">
            <a:solidFill>
              <a:srgbClr val="38761D"/>
            </a:solidFill>
            <a:prstDash val="solid"/>
            <a:round/>
            <a:headEnd len="med" w="med" type="none"/>
            <a:tailEnd len="med" w="med" type="triangle"/>
          </a:ln>
        </p:spPr>
      </p:cxnSp>
      <p:cxnSp>
        <p:nvCxnSpPr>
          <p:cNvPr id="330" name="Google Shape;330;p40"/>
          <p:cNvCxnSpPr/>
          <p:nvPr/>
        </p:nvCxnSpPr>
        <p:spPr>
          <a:xfrm flipH="1">
            <a:off x="6287400" y="3683675"/>
            <a:ext cx="715500" cy="457800"/>
          </a:xfrm>
          <a:prstGeom prst="straightConnector1">
            <a:avLst/>
          </a:prstGeom>
          <a:noFill/>
          <a:ln cap="flat" cmpd="sng" w="9525">
            <a:solidFill>
              <a:srgbClr val="38761D"/>
            </a:solidFill>
            <a:prstDash val="solid"/>
            <a:round/>
            <a:headEnd len="med" w="med" type="none"/>
            <a:tailEnd len="med" w="med" type="triangle"/>
          </a:ln>
        </p:spPr>
      </p:cxnSp>
      <p:cxnSp>
        <p:nvCxnSpPr>
          <p:cNvPr id="331" name="Google Shape;331;p40"/>
          <p:cNvCxnSpPr/>
          <p:nvPr/>
        </p:nvCxnSpPr>
        <p:spPr>
          <a:xfrm>
            <a:off x="7002900" y="3683675"/>
            <a:ext cx="756900" cy="420000"/>
          </a:xfrm>
          <a:prstGeom prst="straightConnector1">
            <a:avLst/>
          </a:prstGeom>
          <a:noFill/>
          <a:ln cap="flat" cmpd="sng" w="9525">
            <a:solidFill>
              <a:srgbClr val="990000"/>
            </a:solidFill>
            <a:prstDash val="solid"/>
            <a:round/>
            <a:headEnd len="med" w="med" type="none"/>
            <a:tailEnd len="med" w="med" type="triangle"/>
          </a:ln>
        </p:spPr>
      </p:cxnSp>
      <p:sp>
        <p:nvSpPr>
          <p:cNvPr id="332" name="Google Shape;332;p40"/>
          <p:cNvSpPr txBox="1"/>
          <p:nvPr/>
        </p:nvSpPr>
        <p:spPr>
          <a:xfrm>
            <a:off x="107650" y="1237975"/>
            <a:ext cx="2751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Most common comparison journey among value seekers</a:t>
            </a:r>
            <a:endParaRPr b="1" sz="2400">
              <a:solidFill>
                <a:schemeClr val="dk1"/>
              </a:solidFill>
              <a:latin typeface="Proxima Nova"/>
              <a:ea typeface="Proxima Nova"/>
              <a:cs typeface="Proxima Nova"/>
              <a:sym typeface="Proxima Nova"/>
            </a:endParaRPr>
          </a:p>
        </p:txBody>
      </p:sp>
      <p:sp>
        <p:nvSpPr>
          <p:cNvPr id="333" name="Google Shape;333;p40"/>
          <p:cNvSpPr txBox="1"/>
          <p:nvPr/>
        </p:nvSpPr>
        <p:spPr>
          <a:xfrm>
            <a:off x="5916050" y="895475"/>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38761D"/>
                </a:solidFill>
                <a:highlight>
                  <a:schemeClr val="lt1"/>
                </a:highlight>
                <a:latin typeface="Proxima Nova"/>
                <a:ea typeface="Proxima Nova"/>
                <a:cs typeface="Proxima Nova"/>
                <a:sym typeface="Proxima Nova"/>
              </a:rPr>
              <a:t>Yes</a:t>
            </a:r>
            <a:endParaRPr b="1" sz="700">
              <a:solidFill>
                <a:srgbClr val="38761D"/>
              </a:solidFill>
              <a:highlight>
                <a:schemeClr val="lt1"/>
              </a:highlight>
              <a:latin typeface="Proxima Nova"/>
              <a:ea typeface="Proxima Nova"/>
              <a:cs typeface="Proxima Nova"/>
              <a:sym typeface="Proxima Nova"/>
            </a:endParaRPr>
          </a:p>
        </p:txBody>
      </p:sp>
      <p:sp>
        <p:nvSpPr>
          <p:cNvPr id="334" name="Google Shape;334;p40"/>
          <p:cNvSpPr txBox="1"/>
          <p:nvPr/>
        </p:nvSpPr>
        <p:spPr>
          <a:xfrm>
            <a:off x="6453450" y="1666850"/>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990000"/>
                </a:solidFill>
                <a:highlight>
                  <a:schemeClr val="lt1"/>
                </a:highlight>
                <a:latin typeface="Proxima Nova"/>
                <a:ea typeface="Proxima Nova"/>
                <a:cs typeface="Proxima Nova"/>
                <a:sym typeface="Proxima Nova"/>
              </a:rPr>
              <a:t>No</a:t>
            </a:r>
            <a:endParaRPr b="1" sz="700">
              <a:solidFill>
                <a:srgbClr val="990000"/>
              </a:solidFill>
              <a:highlight>
                <a:schemeClr val="lt1"/>
              </a:highlight>
              <a:latin typeface="Proxima Nova"/>
              <a:ea typeface="Proxima Nova"/>
              <a:cs typeface="Proxima Nova"/>
              <a:sym typeface="Proxima Nova"/>
            </a:endParaRPr>
          </a:p>
        </p:txBody>
      </p:sp>
      <p:sp>
        <p:nvSpPr>
          <p:cNvPr id="335" name="Google Shape;335;p40"/>
          <p:cNvSpPr txBox="1"/>
          <p:nvPr/>
        </p:nvSpPr>
        <p:spPr>
          <a:xfrm>
            <a:off x="6041300" y="2370700"/>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38761D"/>
                </a:solidFill>
                <a:highlight>
                  <a:schemeClr val="lt1"/>
                </a:highlight>
                <a:latin typeface="Proxima Nova"/>
                <a:ea typeface="Proxima Nova"/>
                <a:cs typeface="Proxima Nova"/>
                <a:sym typeface="Proxima Nova"/>
              </a:rPr>
              <a:t>Yes</a:t>
            </a:r>
            <a:endParaRPr b="1" sz="700">
              <a:solidFill>
                <a:srgbClr val="38761D"/>
              </a:solidFill>
              <a:highlight>
                <a:schemeClr val="lt1"/>
              </a:highlight>
              <a:latin typeface="Proxima Nova"/>
              <a:ea typeface="Proxima Nova"/>
              <a:cs typeface="Proxima Nova"/>
              <a:sym typeface="Proxima Nova"/>
            </a:endParaRPr>
          </a:p>
        </p:txBody>
      </p:sp>
      <p:sp>
        <p:nvSpPr>
          <p:cNvPr id="336" name="Google Shape;336;p40"/>
          <p:cNvSpPr txBox="1"/>
          <p:nvPr/>
        </p:nvSpPr>
        <p:spPr>
          <a:xfrm>
            <a:off x="4894150" y="2313075"/>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990000"/>
                </a:solidFill>
                <a:highlight>
                  <a:schemeClr val="lt1"/>
                </a:highlight>
                <a:latin typeface="Proxima Nova"/>
                <a:ea typeface="Proxima Nova"/>
                <a:cs typeface="Proxima Nova"/>
                <a:sym typeface="Proxima Nova"/>
              </a:rPr>
              <a:t>No</a:t>
            </a:r>
            <a:endParaRPr b="1" sz="700">
              <a:solidFill>
                <a:srgbClr val="990000"/>
              </a:solidFill>
              <a:highlight>
                <a:schemeClr val="lt1"/>
              </a:highlight>
              <a:latin typeface="Proxima Nova"/>
              <a:ea typeface="Proxima Nova"/>
              <a:cs typeface="Proxima Nova"/>
              <a:sym typeface="Proxima Nova"/>
            </a:endParaRPr>
          </a:p>
        </p:txBody>
      </p:sp>
      <p:sp>
        <p:nvSpPr>
          <p:cNvPr id="337" name="Google Shape;337;p40"/>
          <p:cNvSpPr txBox="1"/>
          <p:nvPr/>
        </p:nvSpPr>
        <p:spPr>
          <a:xfrm>
            <a:off x="6453450" y="3747425"/>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38761D"/>
                </a:solidFill>
                <a:highlight>
                  <a:schemeClr val="lt1"/>
                </a:highlight>
                <a:latin typeface="Proxima Nova"/>
                <a:ea typeface="Proxima Nova"/>
                <a:cs typeface="Proxima Nova"/>
                <a:sym typeface="Proxima Nova"/>
              </a:rPr>
              <a:t>Yes</a:t>
            </a:r>
            <a:endParaRPr b="1" sz="700">
              <a:solidFill>
                <a:srgbClr val="38761D"/>
              </a:solidFill>
              <a:highlight>
                <a:schemeClr val="lt1"/>
              </a:highlight>
              <a:latin typeface="Proxima Nova"/>
              <a:ea typeface="Proxima Nova"/>
              <a:cs typeface="Proxima Nova"/>
              <a:sym typeface="Proxima Nova"/>
            </a:endParaRPr>
          </a:p>
        </p:txBody>
      </p:sp>
      <p:sp>
        <p:nvSpPr>
          <p:cNvPr id="338" name="Google Shape;338;p40"/>
          <p:cNvSpPr txBox="1"/>
          <p:nvPr/>
        </p:nvSpPr>
        <p:spPr>
          <a:xfrm>
            <a:off x="7189650" y="3747425"/>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990000"/>
                </a:solidFill>
                <a:highlight>
                  <a:schemeClr val="lt1"/>
                </a:highlight>
                <a:latin typeface="Proxima Nova"/>
                <a:ea typeface="Proxima Nova"/>
                <a:cs typeface="Proxima Nova"/>
                <a:sym typeface="Proxima Nova"/>
              </a:rPr>
              <a:t>No</a:t>
            </a:r>
            <a:endParaRPr b="1" sz="700">
              <a:solidFill>
                <a:srgbClr val="990000"/>
              </a:solidFill>
              <a:highlight>
                <a:schemeClr val="lt1"/>
              </a:highlight>
              <a:latin typeface="Proxima Nova"/>
              <a:ea typeface="Proxima Nova"/>
              <a:cs typeface="Proxima Nova"/>
              <a:sym typeface="Proxima Nova"/>
            </a:endParaRPr>
          </a:p>
        </p:txBody>
      </p:sp>
      <p:sp>
        <p:nvSpPr>
          <p:cNvPr id="339" name="Google Shape;339;p40"/>
          <p:cNvSpPr txBox="1"/>
          <p:nvPr/>
        </p:nvSpPr>
        <p:spPr>
          <a:xfrm>
            <a:off x="2766650" y="285750"/>
            <a:ext cx="2021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Have I seen any promos recently</a:t>
            </a:r>
            <a:endParaRPr sz="1200">
              <a:solidFill>
                <a:schemeClr val="dk2"/>
              </a:solidFill>
              <a:latin typeface="Proxima Nova"/>
              <a:ea typeface="Proxima Nova"/>
              <a:cs typeface="Proxima Nova"/>
              <a:sym typeface="Proxima Nova"/>
            </a:endParaRPr>
          </a:p>
        </p:txBody>
      </p:sp>
      <p:cxnSp>
        <p:nvCxnSpPr>
          <p:cNvPr id="340" name="Google Shape;340;p40"/>
          <p:cNvCxnSpPr>
            <a:endCxn id="322" idx="0"/>
          </p:cNvCxnSpPr>
          <p:nvPr/>
        </p:nvCxnSpPr>
        <p:spPr>
          <a:xfrm>
            <a:off x="3710500" y="847725"/>
            <a:ext cx="784800" cy="2117400"/>
          </a:xfrm>
          <a:prstGeom prst="straightConnector1">
            <a:avLst/>
          </a:prstGeom>
          <a:noFill/>
          <a:ln cap="flat" cmpd="sng" w="9525">
            <a:solidFill>
              <a:srgbClr val="38761D"/>
            </a:solidFill>
            <a:prstDash val="solid"/>
            <a:round/>
            <a:headEnd len="med" w="med" type="none"/>
            <a:tailEnd len="med" w="med" type="triangle"/>
          </a:ln>
        </p:spPr>
      </p:cxnSp>
      <p:sp>
        <p:nvSpPr>
          <p:cNvPr id="341" name="Google Shape;341;p40"/>
          <p:cNvSpPr txBox="1"/>
          <p:nvPr/>
        </p:nvSpPr>
        <p:spPr>
          <a:xfrm>
            <a:off x="3796550" y="1579350"/>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38761D"/>
                </a:solidFill>
                <a:highlight>
                  <a:schemeClr val="lt1"/>
                </a:highlight>
                <a:latin typeface="Proxima Nova"/>
                <a:ea typeface="Proxima Nova"/>
                <a:cs typeface="Proxima Nova"/>
                <a:sym typeface="Proxima Nova"/>
              </a:rPr>
              <a:t>Yes</a:t>
            </a:r>
            <a:endParaRPr b="1" sz="700">
              <a:solidFill>
                <a:srgbClr val="38761D"/>
              </a:solidFill>
              <a:highlight>
                <a:schemeClr val="lt1"/>
              </a:highlight>
              <a:latin typeface="Proxima Nova"/>
              <a:ea typeface="Proxima Nova"/>
              <a:cs typeface="Proxima Nova"/>
              <a:sym typeface="Proxima Nova"/>
            </a:endParaRPr>
          </a:p>
        </p:txBody>
      </p:sp>
      <p:cxnSp>
        <p:nvCxnSpPr>
          <p:cNvPr id="342" name="Google Shape;342;p40"/>
          <p:cNvCxnSpPr>
            <a:stCxn id="343" idx="1"/>
            <a:endCxn id="319" idx="1"/>
          </p:cNvCxnSpPr>
          <p:nvPr/>
        </p:nvCxnSpPr>
        <p:spPr>
          <a:xfrm flipH="1" rot="10800000">
            <a:off x="4929650" y="499175"/>
            <a:ext cx="525300" cy="19500"/>
          </a:xfrm>
          <a:prstGeom prst="straightConnector1">
            <a:avLst/>
          </a:prstGeom>
          <a:noFill/>
          <a:ln cap="flat" cmpd="sng" w="9525">
            <a:solidFill>
              <a:srgbClr val="990000"/>
            </a:solidFill>
            <a:prstDash val="solid"/>
            <a:round/>
            <a:headEnd len="med" w="med" type="none"/>
            <a:tailEnd len="med" w="med" type="triangle"/>
          </a:ln>
        </p:spPr>
      </p:cxnSp>
      <p:sp>
        <p:nvSpPr>
          <p:cNvPr id="343" name="Google Shape;343;p40"/>
          <p:cNvSpPr txBox="1"/>
          <p:nvPr/>
        </p:nvSpPr>
        <p:spPr>
          <a:xfrm>
            <a:off x="4929650" y="372425"/>
            <a:ext cx="383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700">
                <a:solidFill>
                  <a:srgbClr val="990000"/>
                </a:solidFill>
                <a:highlight>
                  <a:schemeClr val="lt1"/>
                </a:highlight>
                <a:latin typeface="Proxima Nova"/>
                <a:ea typeface="Proxima Nova"/>
                <a:cs typeface="Proxima Nova"/>
                <a:sym typeface="Proxima Nova"/>
              </a:rPr>
              <a:t>No</a:t>
            </a:r>
            <a:endParaRPr b="1" sz="700">
              <a:solidFill>
                <a:srgbClr val="990000"/>
              </a:solidFill>
              <a:highlight>
                <a:schemeClr val="lt1"/>
              </a:highlight>
              <a:latin typeface="Proxima Nova"/>
              <a:ea typeface="Proxima Nova"/>
              <a:cs typeface="Proxima Nova"/>
              <a:sym typeface="Proxima Nova"/>
            </a:endParaRPr>
          </a:p>
        </p:txBody>
      </p:sp>
      <p:pic>
        <p:nvPicPr>
          <p:cNvPr id="344" name="Google Shape;344;p40"/>
          <p:cNvPicPr preferRelativeResize="0"/>
          <p:nvPr/>
        </p:nvPicPr>
        <p:blipFill>
          <a:blip r:embed="rId3">
            <a:alphaModFix/>
          </a:blip>
          <a:stretch>
            <a:fillRect/>
          </a:stretch>
        </p:blipFill>
        <p:spPr>
          <a:xfrm>
            <a:off x="3413150" y="3054374"/>
            <a:ext cx="383400" cy="383400"/>
          </a:xfrm>
          <a:prstGeom prst="rect">
            <a:avLst/>
          </a:prstGeom>
          <a:noFill/>
          <a:ln>
            <a:noFill/>
          </a:ln>
        </p:spPr>
      </p:pic>
      <p:pic>
        <p:nvPicPr>
          <p:cNvPr id="345" name="Google Shape;345;p40"/>
          <p:cNvPicPr preferRelativeResize="0"/>
          <p:nvPr/>
        </p:nvPicPr>
        <p:blipFill>
          <a:blip r:embed="rId3">
            <a:alphaModFix/>
          </a:blip>
          <a:stretch>
            <a:fillRect/>
          </a:stretch>
        </p:blipFill>
        <p:spPr>
          <a:xfrm>
            <a:off x="4716950" y="4342974"/>
            <a:ext cx="383400" cy="383400"/>
          </a:xfrm>
          <a:prstGeom prst="rect">
            <a:avLst/>
          </a:prstGeom>
          <a:noFill/>
          <a:ln>
            <a:noFill/>
          </a:ln>
        </p:spPr>
      </p:pic>
      <p:pic>
        <p:nvPicPr>
          <p:cNvPr id="346" name="Google Shape;346;p40"/>
          <p:cNvPicPr preferRelativeResize="0"/>
          <p:nvPr/>
        </p:nvPicPr>
        <p:blipFill>
          <a:blip r:embed="rId3">
            <a:alphaModFix/>
          </a:blip>
          <a:stretch>
            <a:fillRect/>
          </a:stretch>
        </p:blipFill>
        <p:spPr>
          <a:xfrm>
            <a:off x="6964500" y="4340099"/>
            <a:ext cx="383400" cy="383400"/>
          </a:xfrm>
          <a:prstGeom prst="rect">
            <a:avLst/>
          </a:prstGeom>
          <a:noFill/>
          <a:ln>
            <a:noFill/>
          </a:ln>
        </p:spPr>
      </p:pic>
      <p:sp>
        <p:nvSpPr>
          <p:cNvPr id="347" name="Google Shape;347;p40"/>
          <p:cNvSpPr txBox="1"/>
          <p:nvPr/>
        </p:nvSpPr>
        <p:spPr>
          <a:xfrm>
            <a:off x="1528575" y="285750"/>
            <a:ext cx="17271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roxima Nova"/>
                <a:ea typeface="Proxima Nova"/>
                <a:cs typeface="Proxima Nova"/>
                <a:sym typeface="Proxima Nova"/>
              </a:rPr>
              <a:t>Start</a:t>
            </a:r>
            <a:endParaRPr b="1" sz="1200">
              <a:solidFill>
                <a:schemeClr val="dk1"/>
              </a:solidFill>
              <a:latin typeface="Proxima Nova"/>
              <a:ea typeface="Proxima Nova"/>
              <a:cs typeface="Proxima Nova"/>
              <a:sym typeface="Proxima Nova"/>
            </a:endParaRPr>
          </a:p>
        </p:txBody>
      </p:sp>
      <p:pic>
        <p:nvPicPr>
          <p:cNvPr id="348" name="Google Shape;348;p40"/>
          <p:cNvPicPr preferRelativeResize="0"/>
          <p:nvPr/>
        </p:nvPicPr>
        <p:blipFill>
          <a:blip r:embed="rId4">
            <a:alphaModFix/>
          </a:blip>
          <a:stretch>
            <a:fillRect/>
          </a:stretch>
        </p:blipFill>
        <p:spPr>
          <a:xfrm>
            <a:off x="1738775" y="283075"/>
            <a:ext cx="432300" cy="432300"/>
          </a:xfrm>
          <a:prstGeom prst="rect">
            <a:avLst/>
          </a:prstGeom>
          <a:noFill/>
          <a:ln>
            <a:noFill/>
          </a:ln>
        </p:spPr>
      </p:pic>
      <p:sp>
        <p:nvSpPr>
          <p:cNvPr id="349" name="Google Shape;349;p40"/>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1"/>
          <p:cNvSpPr txBox="1"/>
          <p:nvPr/>
        </p:nvSpPr>
        <p:spPr>
          <a:xfrm>
            <a:off x="362900" y="265450"/>
            <a:ext cx="7366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Quality and experience considerations only come into play when prices are similar across apps</a:t>
            </a:r>
            <a:endParaRPr b="1" sz="2400">
              <a:solidFill>
                <a:schemeClr val="dk1"/>
              </a:solidFill>
              <a:latin typeface="Proxima Nova"/>
              <a:ea typeface="Proxima Nova"/>
              <a:cs typeface="Proxima Nova"/>
              <a:sym typeface="Proxima Nova"/>
            </a:endParaRPr>
          </a:p>
        </p:txBody>
      </p:sp>
      <p:sp>
        <p:nvSpPr>
          <p:cNvPr id="356" name="Google Shape;356;p41"/>
          <p:cNvSpPr txBox="1"/>
          <p:nvPr/>
        </p:nvSpPr>
        <p:spPr>
          <a:xfrm>
            <a:off x="842350" y="2387175"/>
            <a:ext cx="37479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Factors for selecting the best discount:</a:t>
            </a:r>
            <a:endParaRPr b="1">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a:solidFill>
                <a:schemeClr val="dk1"/>
              </a:solidFill>
              <a:latin typeface="Proxima Nova"/>
              <a:ea typeface="Proxima Nova"/>
              <a:cs typeface="Proxima Nova"/>
              <a:sym typeface="Proxima Nova"/>
            </a:endParaRPr>
          </a:p>
          <a:p>
            <a:pPr indent="-317500" lvl="0" marL="457200" rtl="0" algn="l">
              <a:spcBef>
                <a:spcPts val="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Selection where offer is available</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Amount of offer (maximum/free meal)</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Ability to stack/apply multiple offers</a:t>
            </a:r>
            <a:endParaRPr>
              <a:solidFill>
                <a:schemeClr val="dk1"/>
              </a:solidFill>
              <a:latin typeface="Proxima Nova"/>
              <a:ea typeface="Proxima Nova"/>
              <a:cs typeface="Proxima Nova"/>
              <a:sym typeface="Proxima Nova"/>
            </a:endParaRPr>
          </a:p>
          <a:p>
            <a:pPr indent="-317500" lvl="0" marL="457200" rtl="0" algn="l">
              <a:spcBef>
                <a:spcPts val="1000"/>
              </a:spcBef>
              <a:spcAft>
                <a:spcPts val="100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Minimum requirement for offer</a:t>
            </a:r>
            <a:endParaRPr>
              <a:solidFill>
                <a:schemeClr val="dk1"/>
              </a:solidFill>
              <a:latin typeface="Proxima Nova"/>
              <a:ea typeface="Proxima Nova"/>
              <a:cs typeface="Proxima Nova"/>
              <a:sym typeface="Proxima Nova"/>
            </a:endParaRPr>
          </a:p>
        </p:txBody>
      </p:sp>
      <p:sp>
        <p:nvSpPr>
          <p:cNvPr id="357" name="Google Shape;357;p41"/>
          <p:cNvSpPr txBox="1"/>
          <p:nvPr/>
        </p:nvSpPr>
        <p:spPr>
          <a:xfrm>
            <a:off x="5004050" y="2387175"/>
            <a:ext cx="3297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Proxima Nova"/>
                <a:ea typeface="Proxima Nova"/>
                <a:cs typeface="Proxima Nova"/>
                <a:sym typeface="Proxima Nova"/>
              </a:rPr>
              <a:t>Factors when price is similar</a:t>
            </a:r>
            <a:endParaRPr b="1">
              <a:solidFill>
                <a:schemeClr val="dk1"/>
              </a:solidFill>
              <a:latin typeface="Proxima Nova"/>
              <a:ea typeface="Proxima Nova"/>
              <a:cs typeface="Proxima Nova"/>
              <a:sym typeface="Proxima Nova"/>
            </a:endParaRPr>
          </a:p>
        </p:txBody>
      </p:sp>
      <p:sp>
        <p:nvSpPr>
          <p:cNvPr id="358" name="Google Shape;358;p41"/>
          <p:cNvSpPr txBox="1"/>
          <p:nvPr/>
        </p:nvSpPr>
        <p:spPr>
          <a:xfrm>
            <a:off x="5004050" y="2870550"/>
            <a:ext cx="3791400" cy="164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Past experience/quality with app</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Menu item availability/ability to customize order</a:t>
            </a:r>
            <a:endParaRPr>
              <a:solidFill>
                <a:schemeClr val="dk1"/>
              </a:solidFill>
              <a:latin typeface="Proxima Nova"/>
              <a:ea typeface="Proxima Nova"/>
              <a:cs typeface="Proxima Nova"/>
              <a:sym typeface="Proxima Nova"/>
            </a:endParaRPr>
          </a:p>
          <a:p>
            <a:pPr indent="-317500" lvl="0" marL="457200" rtl="0" algn="l">
              <a:spcBef>
                <a:spcPts val="1000"/>
              </a:spcBef>
              <a:spcAft>
                <a:spcPts val="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Delivery time</a:t>
            </a:r>
            <a:endParaRPr>
              <a:solidFill>
                <a:schemeClr val="dk1"/>
              </a:solidFill>
              <a:latin typeface="Proxima Nova"/>
              <a:ea typeface="Proxima Nova"/>
              <a:cs typeface="Proxima Nova"/>
              <a:sym typeface="Proxima Nova"/>
            </a:endParaRPr>
          </a:p>
          <a:p>
            <a:pPr indent="-317500" lvl="0" marL="457200" rtl="0" algn="l">
              <a:spcBef>
                <a:spcPts val="1000"/>
              </a:spcBef>
              <a:spcAft>
                <a:spcPts val="1000"/>
              </a:spcAft>
              <a:buClr>
                <a:srgbClr val="E23208"/>
              </a:buClr>
              <a:buSzPts val="1400"/>
              <a:buFont typeface="Proxima Nova"/>
              <a:buAutoNum type="arabicPeriod"/>
            </a:pPr>
            <a:r>
              <a:rPr lang="en">
                <a:solidFill>
                  <a:schemeClr val="dk1"/>
                </a:solidFill>
                <a:latin typeface="Proxima Nova"/>
                <a:ea typeface="Proxima Nova"/>
                <a:cs typeface="Proxima Nova"/>
                <a:sym typeface="Proxima Nova"/>
              </a:rPr>
              <a:t>Loyalty programs </a:t>
            </a:r>
            <a:endParaRPr>
              <a:solidFill>
                <a:schemeClr val="dk1"/>
              </a:solidFill>
              <a:latin typeface="Proxima Nova"/>
              <a:ea typeface="Proxima Nova"/>
              <a:cs typeface="Proxima Nova"/>
              <a:sym typeface="Proxima Nova"/>
            </a:endParaRPr>
          </a:p>
        </p:txBody>
      </p:sp>
      <p:pic>
        <p:nvPicPr>
          <p:cNvPr id="359" name="Google Shape;359;p41"/>
          <p:cNvPicPr preferRelativeResize="0"/>
          <p:nvPr/>
        </p:nvPicPr>
        <p:blipFill>
          <a:blip r:embed="rId3">
            <a:alphaModFix/>
          </a:blip>
          <a:stretch>
            <a:fillRect/>
          </a:stretch>
        </p:blipFill>
        <p:spPr>
          <a:xfrm>
            <a:off x="2069613" y="1413450"/>
            <a:ext cx="907674" cy="907674"/>
          </a:xfrm>
          <a:prstGeom prst="rect">
            <a:avLst/>
          </a:prstGeom>
          <a:noFill/>
          <a:ln>
            <a:noFill/>
          </a:ln>
        </p:spPr>
      </p:pic>
      <p:pic>
        <p:nvPicPr>
          <p:cNvPr id="360" name="Google Shape;360;p41"/>
          <p:cNvPicPr preferRelativeResize="0"/>
          <p:nvPr/>
        </p:nvPicPr>
        <p:blipFill>
          <a:blip r:embed="rId4">
            <a:alphaModFix/>
          </a:blip>
          <a:stretch>
            <a:fillRect/>
          </a:stretch>
        </p:blipFill>
        <p:spPr>
          <a:xfrm>
            <a:off x="5583275" y="1454025"/>
            <a:ext cx="763674" cy="763674"/>
          </a:xfrm>
          <a:prstGeom prst="rect">
            <a:avLst/>
          </a:prstGeom>
          <a:noFill/>
          <a:ln>
            <a:noFill/>
          </a:ln>
        </p:spPr>
      </p:pic>
      <p:sp>
        <p:nvSpPr>
          <p:cNvPr id="361" name="Google Shape;361;p41"/>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Base: n=443 DoorDash users</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42"/>
          <p:cNvSpPr txBox="1"/>
          <p:nvPr/>
        </p:nvSpPr>
        <p:spPr>
          <a:xfrm>
            <a:off x="362900" y="265450"/>
            <a:ext cx="7366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Let’s have a Cx walk us through…</a:t>
            </a:r>
            <a:endParaRPr b="1" sz="2400">
              <a:solidFill>
                <a:schemeClr val="dk1"/>
              </a:solidFill>
              <a:latin typeface="Proxima Nova"/>
              <a:ea typeface="Proxima Nova"/>
              <a:cs typeface="Proxima Nova"/>
              <a:sym typeface="Proxima Nova"/>
            </a:endParaRPr>
          </a:p>
        </p:txBody>
      </p:sp>
      <p:pic>
        <p:nvPicPr>
          <p:cNvPr id="368" name="Google Shape;368;p42" title="Reel__2.mp4">
            <a:hlinkClick r:id="rId3"/>
          </p:cNvPr>
          <p:cNvPicPr preferRelativeResize="0"/>
          <p:nvPr/>
        </p:nvPicPr>
        <p:blipFill>
          <a:blip r:embed="rId4">
            <a:alphaModFix/>
          </a:blip>
          <a:stretch>
            <a:fillRect/>
          </a:stretch>
        </p:blipFill>
        <p:spPr>
          <a:xfrm>
            <a:off x="2209550" y="1123750"/>
            <a:ext cx="4572000" cy="3429000"/>
          </a:xfrm>
          <a:prstGeom prst="rect">
            <a:avLst/>
          </a:prstGeom>
          <a:noFill/>
          <a:ln>
            <a:noFill/>
          </a:ln>
        </p:spPr>
      </p:pic>
      <p:sp>
        <p:nvSpPr>
          <p:cNvPr id="369" name="Google Shape;369;p42"/>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43"/>
          <p:cNvSpPr txBox="1"/>
          <p:nvPr/>
        </p:nvSpPr>
        <p:spPr>
          <a:xfrm>
            <a:off x="362900" y="265450"/>
            <a:ext cx="73665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Proxima Nova"/>
                <a:ea typeface="Proxima Nova"/>
                <a:cs typeface="Proxima Nova"/>
                <a:sym typeface="Proxima Nova"/>
              </a:rPr>
              <a:t>Summary of comparison experience</a:t>
            </a:r>
            <a:endParaRPr b="1" sz="2400">
              <a:solidFill>
                <a:schemeClr val="dk1"/>
              </a:solidFill>
              <a:latin typeface="Proxima Nova"/>
              <a:ea typeface="Proxima Nova"/>
              <a:cs typeface="Proxima Nova"/>
              <a:sym typeface="Proxima Nova"/>
            </a:endParaRPr>
          </a:p>
        </p:txBody>
      </p:sp>
      <p:sp>
        <p:nvSpPr>
          <p:cNvPr id="376" name="Google Shape;376;p43"/>
          <p:cNvSpPr txBox="1"/>
          <p:nvPr/>
        </p:nvSpPr>
        <p:spPr>
          <a:xfrm>
            <a:off x="868250" y="1144488"/>
            <a:ext cx="77862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While Cx are most likely to get information for comparison on app, </a:t>
            </a:r>
            <a:r>
              <a:rPr b="1" lang="en">
                <a:solidFill>
                  <a:schemeClr val="dk1"/>
                </a:solidFill>
                <a:latin typeface="Proxima Nova"/>
                <a:ea typeface="Proxima Nova"/>
                <a:cs typeface="Proxima Nova"/>
                <a:sym typeface="Proxima Nova"/>
              </a:rPr>
              <a:t>mental comparisons happen before they even open the app</a:t>
            </a:r>
            <a:r>
              <a:rPr lang="en">
                <a:solidFill>
                  <a:schemeClr val="dk1"/>
                </a:solidFill>
                <a:latin typeface="Proxima Nova"/>
                <a:ea typeface="Proxima Nova"/>
                <a:cs typeface="Proxima Nova"/>
                <a:sym typeface="Proxima Nova"/>
              </a:rPr>
              <a:t>.  Mental comparisons consider </a:t>
            </a:r>
            <a:r>
              <a:rPr b="1" lang="en">
                <a:solidFill>
                  <a:schemeClr val="dk1"/>
                </a:solidFill>
                <a:latin typeface="Proxima Nova"/>
                <a:ea typeface="Proxima Nova"/>
                <a:cs typeface="Proxima Nova"/>
                <a:sym typeface="Proxima Nova"/>
              </a:rPr>
              <a:t>selection available and promotions received</a:t>
            </a:r>
            <a:r>
              <a:rPr lang="en">
                <a:solidFill>
                  <a:schemeClr val="dk1"/>
                </a:solidFill>
                <a:latin typeface="Proxima Nova"/>
                <a:ea typeface="Proxima Nova"/>
                <a:cs typeface="Proxima Nova"/>
                <a:sym typeface="Proxima Nova"/>
              </a:rPr>
              <a:t>.</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When Cx do not have a specific Rx in mind </a:t>
            </a:r>
            <a:r>
              <a:rPr b="1" lang="en">
                <a:solidFill>
                  <a:schemeClr val="dk1"/>
                </a:solidFill>
                <a:latin typeface="Proxima Nova"/>
                <a:ea typeface="Proxima Nova"/>
                <a:cs typeface="Proxima Nova"/>
                <a:sym typeface="Proxima Nova"/>
              </a:rPr>
              <a:t>availability of discounts and promotions is often used to help make a decision</a:t>
            </a:r>
            <a:r>
              <a:rPr lang="en">
                <a:solidFill>
                  <a:schemeClr val="dk1"/>
                </a:solidFill>
                <a:latin typeface="Proxima Nova"/>
                <a:ea typeface="Proxima Nova"/>
                <a:cs typeface="Proxima Nova"/>
                <a:sym typeface="Proxima Nova"/>
              </a:rPr>
              <a:t>.  Whichever app has the greatest value promotion will win.  </a:t>
            </a:r>
            <a:r>
              <a:rPr b="1" lang="en">
                <a:solidFill>
                  <a:schemeClr val="dk1"/>
                </a:solidFill>
                <a:latin typeface="Proxima Nova"/>
                <a:ea typeface="Proxima Nova"/>
                <a:cs typeface="Proxima Nova"/>
                <a:sym typeface="Proxima Nova"/>
              </a:rPr>
              <a:t>Value is determined by cost savings and minimum requirements</a:t>
            </a:r>
            <a:r>
              <a:rPr lang="en">
                <a:solidFill>
                  <a:schemeClr val="dk1"/>
                </a:solidFill>
                <a:latin typeface="Proxima Nova"/>
                <a:ea typeface="Proxima Nova"/>
                <a:cs typeface="Proxima Nova"/>
                <a:sym typeface="Proxima Nova"/>
              </a:rPr>
              <a:t>.</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When Cx do not have discounts available and a Rx is on multiple apps they will </a:t>
            </a:r>
            <a:r>
              <a:rPr b="1" lang="en">
                <a:solidFill>
                  <a:schemeClr val="dk1"/>
                </a:solidFill>
                <a:latin typeface="Proxima Nova"/>
                <a:ea typeface="Proxima Nova"/>
                <a:cs typeface="Proxima Nova"/>
                <a:sym typeface="Proxima Nova"/>
              </a:rPr>
              <a:t>build a cart with the same tip amount to compare prices</a:t>
            </a:r>
            <a:r>
              <a:rPr lang="en">
                <a:solidFill>
                  <a:schemeClr val="dk1"/>
                </a:solidFill>
                <a:latin typeface="Proxima Nova"/>
                <a:ea typeface="Proxima Nova"/>
                <a:cs typeface="Proxima Nova"/>
                <a:sym typeface="Proxima Nova"/>
              </a:rPr>
              <a:t>.  Whichever has the lowest cart price wins.  </a:t>
            </a:r>
            <a:endParaRPr>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dk1"/>
              </a:solidFill>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In situations where </a:t>
            </a:r>
            <a:r>
              <a:rPr b="1" lang="en">
                <a:solidFill>
                  <a:schemeClr val="dk1"/>
                </a:solidFill>
                <a:latin typeface="Proxima Nova"/>
                <a:ea typeface="Proxima Nova"/>
                <a:cs typeface="Proxima Nova"/>
                <a:sym typeface="Proxima Nova"/>
              </a:rPr>
              <a:t>cart prices are the same or the difference is less than a dollar</a:t>
            </a:r>
            <a:r>
              <a:rPr lang="en">
                <a:solidFill>
                  <a:schemeClr val="dk1"/>
                </a:solidFill>
                <a:latin typeface="Proxima Nova"/>
                <a:ea typeface="Proxima Nova"/>
                <a:cs typeface="Proxima Nova"/>
                <a:sym typeface="Proxima Nova"/>
              </a:rPr>
              <a:t> delivery quality, </a:t>
            </a:r>
            <a:r>
              <a:rPr b="1" lang="en">
                <a:solidFill>
                  <a:schemeClr val="dk1"/>
                </a:solidFill>
                <a:latin typeface="Proxima Nova"/>
                <a:ea typeface="Proxima Nova"/>
                <a:cs typeface="Proxima Nova"/>
                <a:sym typeface="Proxima Nova"/>
              </a:rPr>
              <a:t>past experiences and loyalty are considered</a:t>
            </a:r>
            <a:r>
              <a:rPr lang="en">
                <a:solidFill>
                  <a:schemeClr val="dk1"/>
                </a:solidFill>
                <a:latin typeface="Proxima Nova"/>
                <a:ea typeface="Proxima Nova"/>
                <a:cs typeface="Proxima Nova"/>
                <a:sym typeface="Proxima Nova"/>
              </a:rPr>
              <a:t>.  For some Cx which app was opened last will be used to place the order.</a:t>
            </a:r>
            <a:endParaRPr>
              <a:solidFill>
                <a:schemeClr val="dk1"/>
              </a:solidFill>
              <a:latin typeface="Proxima Nova"/>
              <a:ea typeface="Proxima Nova"/>
              <a:cs typeface="Proxima Nova"/>
              <a:sym typeface="Proxima Nova"/>
            </a:endParaRPr>
          </a:p>
        </p:txBody>
      </p:sp>
      <p:pic>
        <p:nvPicPr>
          <p:cNvPr id="377" name="Google Shape;377;p43"/>
          <p:cNvPicPr preferRelativeResize="0"/>
          <p:nvPr/>
        </p:nvPicPr>
        <p:blipFill>
          <a:blip r:embed="rId3">
            <a:alphaModFix/>
          </a:blip>
          <a:stretch>
            <a:fillRect/>
          </a:stretch>
        </p:blipFill>
        <p:spPr>
          <a:xfrm>
            <a:off x="193600" y="1209050"/>
            <a:ext cx="632676" cy="632676"/>
          </a:xfrm>
          <a:prstGeom prst="rect">
            <a:avLst/>
          </a:prstGeom>
          <a:noFill/>
          <a:ln>
            <a:noFill/>
          </a:ln>
        </p:spPr>
      </p:pic>
      <p:pic>
        <p:nvPicPr>
          <p:cNvPr id="378" name="Google Shape;378;p43"/>
          <p:cNvPicPr preferRelativeResize="0"/>
          <p:nvPr/>
        </p:nvPicPr>
        <p:blipFill>
          <a:blip r:embed="rId4">
            <a:alphaModFix/>
          </a:blip>
          <a:stretch>
            <a:fillRect/>
          </a:stretch>
        </p:blipFill>
        <p:spPr>
          <a:xfrm>
            <a:off x="235588" y="2030476"/>
            <a:ext cx="548700" cy="548700"/>
          </a:xfrm>
          <a:prstGeom prst="rect">
            <a:avLst/>
          </a:prstGeom>
          <a:noFill/>
          <a:ln>
            <a:noFill/>
          </a:ln>
        </p:spPr>
      </p:pic>
      <p:pic>
        <p:nvPicPr>
          <p:cNvPr id="379" name="Google Shape;379;p43"/>
          <p:cNvPicPr preferRelativeResize="0"/>
          <p:nvPr/>
        </p:nvPicPr>
        <p:blipFill>
          <a:blip r:embed="rId5">
            <a:alphaModFix/>
          </a:blip>
          <a:stretch>
            <a:fillRect/>
          </a:stretch>
        </p:blipFill>
        <p:spPr>
          <a:xfrm>
            <a:off x="235588" y="2767925"/>
            <a:ext cx="548700" cy="548700"/>
          </a:xfrm>
          <a:prstGeom prst="rect">
            <a:avLst/>
          </a:prstGeom>
          <a:noFill/>
          <a:ln>
            <a:noFill/>
          </a:ln>
        </p:spPr>
      </p:pic>
      <p:pic>
        <p:nvPicPr>
          <p:cNvPr id="380" name="Google Shape;380;p43"/>
          <p:cNvPicPr preferRelativeResize="0"/>
          <p:nvPr/>
        </p:nvPicPr>
        <p:blipFill>
          <a:blip r:embed="rId6">
            <a:alphaModFix/>
          </a:blip>
          <a:stretch>
            <a:fillRect/>
          </a:stretch>
        </p:blipFill>
        <p:spPr>
          <a:xfrm>
            <a:off x="235588" y="3505375"/>
            <a:ext cx="548700" cy="548700"/>
          </a:xfrm>
          <a:prstGeom prst="rect">
            <a:avLst/>
          </a:prstGeom>
          <a:noFill/>
          <a:ln>
            <a:noFill/>
          </a:ln>
        </p:spPr>
      </p:pic>
      <p:sp>
        <p:nvSpPr>
          <p:cNvPr id="381" name="Google Shape;381;p43"/>
          <p:cNvSpPr txBox="1"/>
          <p:nvPr/>
        </p:nvSpPr>
        <p:spPr>
          <a:xfrm>
            <a:off x="105725" y="4739425"/>
            <a:ext cx="3000000" cy="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6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600">
                <a:solidFill>
                  <a:schemeClr val="dk1"/>
                </a:solidFill>
                <a:latin typeface="Proxima Nova"/>
                <a:ea typeface="Proxima Nova"/>
                <a:cs typeface="Proxima Nova"/>
                <a:sym typeface="Proxima Nova"/>
              </a:rPr>
              <a:t>Source: Comparing Across Apps</a:t>
            </a:r>
            <a:endParaRPr sz="600">
              <a:solidFill>
                <a:schemeClr val="dk1"/>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44"/>
          <p:cNvSpPr txBox="1"/>
          <p:nvPr/>
        </p:nvSpPr>
        <p:spPr>
          <a:xfrm>
            <a:off x="903750" y="11348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What </a:t>
            </a:r>
            <a:r>
              <a:rPr lang="en" sz="5000">
                <a:solidFill>
                  <a:srgbClr val="FFFFFF"/>
                </a:solidFill>
                <a:latin typeface="Proxima Nova"/>
                <a:ea typeface="Proxima Nova"/>
                <a:cs typeface="Proxima Nova"/>
                <a:sym typeface="Proxima Nova"/>
              </a:rPr>
              <a:t>about</a:t>
            </a:r>
            <a:r>
              <a:rPr lang="en" sz="5000">
                <a:solidFill>
                  <a:srgbClr val="FFFFFF"/>
                </a:solidFill>
                <a:latin typeface="Proxima Nova"/>
                <a:ea typeface="Proxima Nova"/>
                <a:cs typeface="Proxima Nova"/>
                <a:sym typeface="Proxima Nova"/>
              </a:rPr>
              <a:t> personalization</a:t>
            </a:r>
            <a:r>
              <a:rPr lang="en" sz="5000">
                <a:solidFill>
                  <a:srgbClr val="FFFFFF"/>
                </a:solidFill>
                <a:latin typeface="Proxima Nova"/>
                <a:ea typeface="Proxima Nova"/>
                <a:cs typeface="Proxima Nova"/>
                <a:sym typeface="Proxima Nova"/>
              </a:rPr>
              <a:t>?</a:t>
            </a:r>
            <a:endParaRPr sz="5000">
              <a:solidFill>
                <a:srgbClr val="FFFFFF"/>
              </a:solidFill>
              <a:latin typeface="Proxima Nova"/>
              <a:ea typeface="Proxima Nova"/>
              <a:cs typeface="Proxima Nova"/>
              <a:sym typeface="Proxima Nova"/>
            </a:endParaRPr>
          </a:p>
        </p:txBody>
      </p:sp>
      <p:sp>
        <p:nvSpPr>
          <p:cNvPr id="388" name="Google Shape;388;p44"/>
          <p:cNvSpPr txBox="1"/>
          <p:nvPr/>
        </p:nvSpPr>
        <p:spPr>
          <a:xfrm>
            <a:off x="145700" y="4728025"/>
            <a:ext cx="1584600" cy="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hlinkClick r:id="rId3"/>
              </a:rPr>
              <a:t>Source</a:t>
            </a:r>
            <a:endParaRPr sz="12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p:nvPr/>
        </p:nvSpPr>
        <p:spPr>
          <a:xfrm>
            <a:off x="0" y="0"/>
            <a:ext cx="3495600" cy="5143500"/>
          </a:xfrm>
          <a:prstGeom prst="rect">
            <a:avLst/>
          </a:prstGeom>
          <a:solidFill>
            <a:srgbClr val="00838A"/>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p:txBody>
      </p:sp>
      <p:sp>
        <p:nvSpPr>
          <p:cNvPr id="394" name="Google Shape;394;p45"/>
          <p:cNvSpPr txBox="1"/>
          <p:nvPr/>
        </p:nvSpPr>
        <p:spPr>
          <a:xfrm>
            <a:off x="190975" y="196075"/>
            <a:ext cx="3323700" cy="2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RELEVANT PROMOS &amp; DEALS</a:t>
            </a:r>
            <a:endParaRPr sz="900">
              <a:solidFill>
                <a:schemeClr val="dk2"/>
              </a:solidFill>
              <a:latin typeface="Proxima Nova"/>
              <a:ea typeface="Proxima Nova"/>
              <a:cs typeface="Proxima Nova"/>
              <a:sym typeface="Proxima Nova"/>
            </a:endParaRPr>
          </a:p>
        </p:txBody>
      </p:sp>
      <p:sp>
        <p:nvSpPr>
          <p:cNvPr id="395" name="Google Shape;395;p45"/>
          <p:cNvSpPr txBox="1"/>
          <p:nvPr/>
        </p:nvSpPr>
        <p:spPr>
          <a:xfrm>
            <a:off x="283475" y="1353286"/>
            <a:ext cx="2955600" cy="281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lang="en" sz="1800">
                <a:solidFill>
                  <a:schemeClr val="lt1"/>
                </a:solidFill>
                <a:latin typeface="Proxima Nova Semibold"/>
                <a:ea typeface="Proxima Nova Semibold"/>
                <a:cs typeface="Proxima Nova Semibold"/>
                <a:sym typeface="Proxima Nova Semibold"/>
              </a:rPr>
              <a:t>While Promos &amp; Deals has more general appeal across segments in MaxDiff, a more nuanced picture emerges among Cx who value it less in Stated Importance. </a:t>
            </a:r>
            <a:endParaRPr sz="1800">
              <a:solidFill>
                <a:schemeClr val="dk1"/>
              </a:solidFill>
              <a:latin typeface="Proxima Nova"/>
              <a:ea typeface="Proxima Nova"/>
              <a:cs typeface="Proxima Nova"/>
              <a:sym typeface="Proxima Nova"/>
            </a:endParaRPr>
          </a:p>
        </p:txBody>
      </p:sp>
      <p:sp>
        <p:nvSpPr>
          <p:cNvPr id="396" name="Google Shape;396;p45"/>
          <p:cNvSpPr txBox="1"/>
          <p:nvPr/>
        </p:nvSpPr>
        <p:spPr>
          <a:xfrm>
            <a:off x="1594275" y="-4802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t/>
            </a:r>
            <a:endParaRPr i="1" sz="1200">
              <a:solidFill>
                <a:schemeClr val="lt1"/>
              </a:solidFill>
              <a:latin typeface="Proxima Nova"/>
              <a:ea typeface="Proxima Nova"/>
              <a:cs typeface="Proxima Nova"/>
              <a:sym typeface="Proxima Nova"/>
            </a:endParaRPr>
          </a:p>
        </p:txBody>
      </p:sp>
      <p:sp>
        <p:nvSpPr>
          <p:cNvPr id="397" name="Google Shape;397;p45"/>
          <p:cNvSpPr txBox="1"/>
          <p:nvPr/>
        </p:nvSpPr>
        <p:spPr>
          <a:xfrm>
            <a:off x="292600" y="540508"/>
            <a:ext cx="2955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lt1"/>
                </a:solidFill>
                <a:latin typeface="Proxima Nova"/>
                <a:ea typeface="Proxima Nova"/>
                <a:cs typeface="Proxima Nova"/>
                <a:sym typeface="Proxima Nova"/>
              </a:rPr>
              <a:t>Relevant Promos &amp; Deals: </a:t>
            </a:r>
            <a:r>
              <a:rPr i="1" lang="en" sz="1200">
                <a:solidFill>
                  <a:schemeClr val="lt1"/>
                </a:solidFill>
                <a:latin typeface="Proxima Nova"/>
                <a:ea typeface="Proxima Nova"/>
                <a:cs typeface="Proxima Nova"/>
                <a:sym typeface="Proxima Nova"/>
              </a:rPr>
              <a:t>Helps me find deals and promos that matter to me.</a:t>
            </a:r>
            <a:endParaRPr i="1"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lt1"/>
              </a:solidFill>
              <a:latin typeface="Proxima Nova"/>
              <a:ea typeface="Proxima Nova"/>
              <a:cs typeface="Proxima Nova"/>
              <a:sym typeface="Proxima Nova"/>
            </a:endParaRPr>
          </a:p>
        </p:txBody>
      </p:sp>
      <p:sp>
        <p:nvSpPr>
          <p:cNvPr id="398" name="Google Shape;398;p45"/>
          <p:cNvSpPr txBox="1"/>
          <p:nvPr/>
        </p:nvSpPr>
        <p:spPr>
          <a:xfrm>
            <a:off x="292600" y="3776625"/>
            <a:ext cx="706800" cy="6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5"/>
          <p:cNvSpPr txBox="1"/>
          <p:nvPr/>
        </p:nvSpPr>
        <p:spPr>
          <a:xfrm>
            <a:off x="3514650" y="142025"/>
            <a:ext cx="2339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000">
                <a:solidFill>
                  <a:schemeClr val="dk1"/>
                </a:solidFill>
                <a:latin typeface="Proxima Nova"/>
                <a:ea typeface="Proxima Nova"/>
                <a:cs typeface="Proxima Nova"/>
                <a:sym typeface="Proxima Nova"/>
              </a:rPr>
              <a:t> 💡</a:t>
            </a:r>
            <a:r>
              <a:rPr b="1" lang="en">
                <a:solidFill>
                  <a:schemeClr val="dk1"/>
                </a:solidFill>
                <a:latin typeface="Proxima Nova"/>
                <a:ea typeface="Proxima Nova"/>
                <a:cs typeface="Proxima Nova"/>
                <a:sym typeface="Proxima Nova"/>
              </a:rPr>
              <a:t>What jumps out</a:t>
            </a:r>
            <a:endParaRPr b="1">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p:txBody>
      </p:sp>
      <p:sp>
        <p:nvSpPr>
          <p:cNvPr id="400" name="Google Shape;400;p45"/>
          <p:cNvSpPr txBox="1"/>
          <p:nvPr/>
        </p:nvSpPr>
        <p:spPr>
          <a:xfrm>
            <a:off x="3666750" y="527769"/>
            <a:ext cx="5275500" cy="2893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Cx who say Promos &amp; Deals is </a:t>
            </a:r>
            <a:r>
              <a:rPr b="1" i="1" lang="en" sz="1100">
                <a:solidFill>
                  <a:schemeClr val="dk1"/>
                </a:solidFill>
                <a:latin typeface="Proxima Nova"/>
                <a:ea typeface="Proxima Nova"/>
                <a:cs typeface="Proxima Nova"/>
                <a:sym typeface="Proxima Nova"/>
              </a:rPr>
              <a:t>more important </a:t>
            </a:r>
            <a:r>
              <a:rPr i="1" lang="en" sz="1100">
                <a:solidFill>
                  <a:schemeClr val="dk1"/>
                </a:solidFill>
                <a:latin typeface="Proxima Nova"/>
                <a:ea typeface="Proxima Nova"/>
                <a:cs typeface="Proxima Nova"/>
                <a:sym typeface="Proxima Nova"/>
              </a:rPr>
              <a:t>(n=374) in Stated Importance </a:t>
            </a:r>
            <a:r>
              <a:rPr lang="en" sz="1100">
                <a:solidFill>
                  <a:schemeClr val="dk1"/>
                </a:solidFill>
                <a:latin typeface="Proxima Nova"/>
                <a:ea typeface="Proxima Nova"/>
                <a:cs typeface="Proxima Nova"/>
                <a:sym typeface="Proxima Nova"/>
              </a:rPr>
              <a:t>are more likely to be:</a:t>
            </a:r>
            <a:r>
              <a:rPr i="1" lang="en" sz="1100">
                <a:solidFill>
                  <a:schemeClr val="dk1"/>
                </a:solidFill>
                <a:latin typeface="Proxima Nova"/>
                <a:ea typeface="Proxima Nova"/>
                <a:cs typeface="Proxima Nova"/>
                <a:sym typeface="Proxima Nova"/>
              </a:rPr>
              <a:t> </a:t>
            </a:r>
            <a:endParaRPr i="1"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Lower income (&lt;$50k)</a:t>
            </a:r>
            <a:br>
              <a:rPr lang="en" sz="1100">
                <a:solidFill>
                  <a:schemeClr val="dk1"/>
                </a:solidFill>
                <a:latin typeface="Proxima Nova"/>
                <a:ea typeface="Proxima Nova"/>
                <a:cs typeface="Proxima Nova"/>
                <a:sym typeface="Proxima Nova"/>
              </a:rPr>
            </a:b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Cx who say Promos &amp; Deals is</a:t>
            </a:r>
            <a:r>
              <a:rPr b="1" lang="en" sz="1100">
                <a:solidFill>
                  <a:schemeClr val="dk1"/>
                </a:solidFill>
                <a:latin typeface="Proxima Nova"/>
                <a:ea typeface="Proxima Nova"/>
                <a:cs typeface="Proxima Nova"/>
                <a:sym typeface="Proxima Nova"/>
              </a:rPr>
              <a:t> </a:t>
            </a:r>
            <a:r>
              <a:rPr b="1" i="1" lang="en" sz="1100">
                <a:solidFill>
                  <a:schemeClr val="dk1"/>
                </a:solidFill>
                <a:latin typeface="Proxima Nova"/>
                <a:ea typeface="Proxima Nova"/>
                <a:cs typeface="Proxima Nova"/>
                <a:sym typeface="Proxima Nova"/>
              </a:rPr>
              <a:t>less</a:t>
            </a:r>
            <a:r>
              <a:rPr b="1" lang="en" sz="1100">
                <a:solidFill>
                  <a:schemeClr val="dk1"/>
                </a:solidFill>
                <a:latin typeface="Proxima Nova"/>
                <a:ea typeface="Proxima Nova"/>
                <a:cs typeface="Proxima Nova"/>
                <a:sym typeface="Proxima Nova"/>
              </a:rPr>
              <a:t> important </a:t>
            </a:r>
            <a:r>
              <a:rPr lang="en" sz="1100">
                <a:solidFill>
                  <a:schemeClr val="dk1"/>
                </a:solidFill>
                <a:latin typeface="Proxima Nova"/>
                <a:ea typeface="Proxima Nova"/>
                <a:cs typeface="Proxima Nova"/>
                <a:sym typeface="Proxima Nova"/>
              </a:rPr>
              <a:t>(n=184) are more likely to be:</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Older, Retired</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Women</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Married</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i="1" lang="en" sz="1100">
                <a:solidFill>
                  <a:schemeClr val="dk1"/>
                </a:solidFill>
                <a:latin typeface="Proxima Nova"/>
                <a:ea typeface="Proxima Nova"/>
                <a:cs typeface="Proxima Nova"/>
                <a:sym typeface="Proxima Nova"/>
              </a:rPr>
              <a:t>Less likely</a:t>
            </a:r>
            <a:r>
              <a:rPr lang="en" sz="1100">
                <a:solidFill>
                  <a:schemeClr val="dk1"/>
                </a:solidFill>
                <a:latin typeface="Proxima Nova"/>
                <a:ea typeface="Proxima Nova"/>
                <a:cs typeface="Proxima Nova"/>
                <a:sym typeface="Proxima Nova"/>
              </a:rPr>
              <a:t> to have children/other mouths to feed</a:t>
            </a:r>
            <a:br>
              <a:rPr lang="en" sz="1100">
                <a:solidFill>
                  <a:schemeClr val="dk1"/>
                </a:solidFill>
                <a:latin typeface="Proxima Nova"/>
                <a:ea typeface="Proxima Nova"/>
                <a:cs typeface="Proxima Nova"/>
                <a:sym typeface="Proxima Nova"/>
              </a:rPr>
            </a:b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a:t>
            </a:r>
            <a:r>
              <a:rPr b="1" lang="en" sz="1100">
                <a:solidFill>
                  <a:schemeClr val="dk1"/>
                </a:solidFill>
                <a:latin typeface="Proxima Nova"/>
                <a:ea typeface="Proxima Nova"/>
                <a:cs typeface="Proxima Nova"/>
                <a:sym typeface="Proxima Nova"/>
              </a:rPr>
              <a:t>matters</a:t>
            </a:r>
            <a:r>
              <a:rPr lang="en" sz="1100">
                <a:solidFill>
                  <a:schemeClr val="dk1"/>
                </a:solidFill>
                <a:latin typeface="Proxima Nova"/>
                <a:ea typeface="Proxima Nova"/>
                <a:cs typeface="Proxima Nova"/>
                <a:sym typeface="Proxima Nova"/>
              </a:rPr>
              <a:t> </a:t>
            </a:r>
            <a:r>
              <a:rPr b="1" i="1" lang="en" sz="1100">
                <a:solidFill>
                  <a:schemeClr val="dk1"/>
                </a:solidFill>
                <a:latin typeface="Proxima Nova"/>
                <a:ea typeface="Proxima Nova"/>
                <a:cs typeface="Proxima Nova"/>
                <a:sym typeface="Proxima Nova"/>
              </a:rPr>
              <a:t>more </a:t>
            </a:r>
            <a:r>
              <a:rPr lang="en" sz="1100">
                <a:solidFill>
                  <a:schemeClr val="dk1"/>
                </a:solidFill>
                <a:latin typeface="Proxima Nova"/>
                <a:ea typeface="Proxima Nova"/>
                <a:cs typeface="Proxima Nova"/>
                <a:sym typeface="Proxima Nova"/>
              </a:rPr>
              <a:t>to Cx who </a:t>
            </a:r>
            <a:r>
              <a:rPr b="1" i="1" lang="en" sz="1100">
                <a:solidFill>
                  <a:schemeClr val="dk1"/>
                </a:solidFill>
                <a:latin typeface="Proxima Nova"/>
                <a:ea typeface="Proxima Nova"/>
                <a:cs typeface="Proxima Nova"/>
                <a:sym typeface="Proxima Nova"/>
              </a:rPr>
              <a:t>care</a:t>
            </a:r>
            <a:r>
              <a:rPr b="1" lang="en" sz="1100">
                <a:solidFill>
                  <a:schemeClr val="dk1"/>
                </a:solidFill>
                <a:latin typeface="Proxima Nova"/>
                <a:ea typeface="Proxima Nova"/>
                <a:cs typeface="Proxima Nova"/>
                <a:sym typeface="Proxima Nova"/>
              </a:rPr>
              <a:t> </a:t>
            </a:r>
            <a:r>
              <a:rPr b="1" i="1" lang="en" sz="1100">
                <a:solidFill>
                  <a:schemeClr val="dk1"/>
                </a:solidFill>
                <a:latin typeface="Proxima Nova"/>
                <a:ea typeface="Proxima Nova"/>
                <a:cs typeface="Proxima Nova"/>
                <a:sym typeface="Proxima Nova"/>
              </a:rPr>
              <a:t>less about Promos &amp; Deals</a:t>
            </a:r>
            <a:r>
              <a:rPr b="1" lang="en" sz="1100">
                <a:solidFill>
                  <a:schemeClr val="dk1"/>
                </a:solidFill>
                <a:latin typeface="Proxima Nova"/>
                <a:ea typeface="Proxima Nova"/>
                <a:cs typeface="Proxima Nova"/>
                <a:sym typeface="Proxima Nova"/>
              </a:rPr>
              <a:t> </a:t>
            </a:r>
            <a:r>
              <a:rPr lang="en" sz="1100">
                <a:solidFill>
                  <a:schemeClr val="dk1"/>
                </a:solidFill>
                <a:latin typeface="Proxima Nova"/>
                <a:ea typeface="Proxima Nova"/>
                <a:cs typeface="Proxima Nova"/>
                <a:sym typeface="Proxima Nova"/>
              </a:rPr>
              <a:t>is</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Control Over My Experience</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Fast Options</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New Restaurant &amp; Cuisine Discovery</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Quick Reorder</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100">
              <a:solidFill>
                <a:schemeClr val="dk1"/>
              </a:solidFill>
              <a:latin typeface="Proxima Nova"/>
              <a:ea typeface="Proxima Nova"/>
              <a:cs typeface="Proxima Nova"/>
              <a:sym typeface="Proxima Nova"/>
            </a:endParaRPr>
          </a:p>
        </p:txBody>
      </p:sp>
      <p:pic>
        <p:nvPicPr>
          <p:cNvPr id="401" name="Google Shape;401;p45"/>
          <p:cNvPicPr preferRelativeResize="0"/>
          <p:nvPr/>
        </p:nvPicPr>
        <p:blipFill>
          <a:blip r:embed="rId3">
            <a:alphaModFix/>
          </a:blip>
          <a:stretch>
            <a:fillRect/>
          </a:stretch>
        </p:blipFill>
        <p:spPr>
          <a:xfrm>
            <a:off x="2838989" y="4480652"/>
            <a:ext cx="492600" cy="492600"/>
          </a:xfrm>
          <a:prstGeom prst="rect">
            <a:avLst/>
          </a:prstGeom>
          <a:noFill/>
          <a:ln>
            <a:noFill/>
          </a:ln>
        </p:spPr>
      </p:pic>
      <p:sp>
        <p:nvSpPr>
          <p:cNvPr id="402" name="Google Shape;402;p45"/>
          <p:cNvSpPr/>
          <p:nvPr/>
        </p:nvSpPr>
        <p:spPr>
          <a:xfrm>
            <a:off x="3495600" y="3429525"/>
            <a:ext cx="5648400" cy="1714500"/>
          </a:xfrm>
          <a:prstGeom prst="rect">
            <a:avLst/>
          </a:prstGeom>
          <a:solidFill>
            <a:srgbClr val="00838A">
              <a:alpha val="259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45"/>
          <p:cNvSpPr txBox="1"/>
          <p:nvPr/>
        </p:nvSpPr>
        <p:spPr>
          <a:xfrm>
            <a:off x="3514650" y="3433119"/>
            <a:ext cx="211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Proxima Nova"/>
                <a:ea typeface="Proxima Nova"/>
                <a:cs typeface="Proxima Nova"/>
                <a:sym typeface="Proxima Nova"/>
              </a:rPr>
              <a:t>⚡</a:t>
            </a:r>
            <a:r>
              <a:rPr b="1" lang="en">
                <a:latin typeface="Proxima Nova"/>
                <a:ea typeface="Proxima Nova"/>
                <a:cs typeface="Proxima Nova"/>
                <a:sym typeface="Proxima Nova"/>
              </a:rPr>
              <a:t>So what?</a:t>
            </a:r>
            <a:endParaRPr b="1">
              <a:latin typeface="Proxima Nova"/>
              <a:ea typeface="Proxima Nova"/>
              <a:cs typeface="Proxima Nova"/>
              <a:sym typeface="Proxima Nova"/>
            </a:endParaRPr>
          </a:p>
        </p:txBody>
      </p:sp>
      <p:sp>
        <p:nvSpPr>
          <p:cNvPr id="404" name="Google Shape;404;p45"/>
          <p:cNvSpPr txBox="1"/>
          <p:nvPr/>
        </p:nvSpPr>
        <p:spPr>
          <a:xfrm>
            <a:off x="3629400" y="3836075"/>
            <a:ext cx="5380800" cy="1150500"/>
          </a:xfrm>
          <a:prstGeom prst="rect">
            <a:avLst/>
          </a:prstGeom>
          <a:noFill/>
          <a:ln>
            <a:noFill/>
          </a:ln>
        </p:spPr>
        <p:txBody>
          <a:bodyPr anchorCtr="0" anchor="t" bIns="91425" lIns="91425" spcFirstLastPara="1" rIns="91425" wrap="square" tIns="91425">
            <a:noAutofit/>
          </a:bodyPr>
          <a:lstStyle/>
          <a:p>
            <a:pPr indent="-298450" lvl="0" marL="457200" rtl="0" algn="l">
              <a:spcBef>
                <a:spcPts val="1200"/>
              </a:spcBef>
              <a:spcAft>
                <a:spcPts val="0"/>
              </a:spcAft>
              <a:buClr>
                <a:schemeClr val="dk1"/>
              </a:buClr>
              <a:buSzPts val="1100"/>
              <a:buChar char="●"/>
            </a:pPr>
            <a:r>
              <a:rPr lang="en" sz="1100">
                <a:solidFill>
                  <a:schemeClr val="dk1"/>
                </a:solidFill>
                <a:latin typeface="Proxima Nova"/>
                <a:ea typeface="Proxima Nova"/>
                <a:cs typeface="Proxima Nova"/>
                <a:sym typeface="Proxima Nova"/>
              </a:rPr>
              <a:t>Relevant Promos &amp; Deals can be a </a:t>
            </a:r>
            <a:r>
              <a:rPr b="1" lang="en" sz="1100">
                <a:solidFill>
                  <a:schemeClr val="dk1"/>
                </a:solidFill>
                <a:latin typeface="Proxima Nova"/>
                <a:ea typeface="Proxima Nova"/>
                <a:cs typeface="Proxima Nova"/>
                <a:sym typeface="Proxima Nova"/>
              </a:rPr>
              <a:t>universal lever </a:t>
            </a:r>
            <a:r>
              <a:rPr lang="en" sz="1100">
                <a:solidFill>
                  <a:schemeClr val="dk1"/>
                </a:solidFill>
                <a:latin typeface="Proxima Nova"/>
                <a:ea typeface="Proxima Nova"/>
                <a:cs typeface="Proxima Nova"/>
                <a:sym typeface="Proxima Nova"/>
              </a:rPr>
              <a:t>since they have general appeal across segments.</a:t>
            </a:r>
            <a:endParaRPr sz="1100">
              <a:solidFill>
                <a:schemeClr val="dk1"/>
              </a:solidFill>
              <a:latin typeface="Proxima Nova"/>
              <a:ea typeface="Proxima Nova"/>
              <a:cs typeface="Proxima Nova"/>
              <a:sym typeface="Proxima Nova"/>
            </a:endParaRPr>
          </a:p>
          <a:p>
            <a:pPr indent="-298450" lvl="0" marL="457200" rtl="0" algn="l">
              <a:spcBef>
                <a:spcPts val="1200"/>
              </a:spcBef>
              <a:spcAft>
                <a:spcPts val="1000"/>
              </a:spcAft>
              <a:buClr>
                <a:schemeClr val="dk1"/>
              </a:buClr>
              <a:buSzPts val="1100"/>
              <a:buFont typeface="Proxima Nova"/>
              <a:buChar char="●"/>
            </a:pPr>
            <a:r>
              <a:rPr lang="en" sz="1100">
                <a:solidFill>
                  <a:schemeClr val="dk1"/>
                </a:solidFill>
                <a:latin typeface="Proxima Nova"/>
                <a:ea typeface="Proxima Nova"/>
                <a:cs typeface="Proxima Nova"/>
                <a:sym typeface="Proxima Nova"/>
              </a:rPr>
              <a:t>However, we could tailor the experience for the </a:t>
            </a:r>
            <a:r>
              <a:rPr b="1" lang="en" sz="1100">
                <a:solidFill>
                  <a:schemeClr val="dk1"/>
                </a:solidFill>
                <a:latin typeface="Proxima Nova"/>
                <a:ea typeface="Proxima Nova"/>
                <a:cs typeface="Proxima Nova"/>
                <a:sym typeface="Proxima Nova"/>
              </a:rPr>
              <a:t>“less promo-driven” segment </a:t>
            </a:r>
            <a:r>
              <a:rPr lang="en" sz="1100">
                <a:solidFill>
                  <a:schemeClr val="dk1"/>
                </a:solidFill>
                <a:latin typeface="Proxima Nova"/>
                <a:ea typeface="Proxima Nova"/>
                <a:cs typeface="Proxima Nova"/>
                <a:sym typeface="Proxima Nova"/>
              </a:rPr>
              <a:t>by more heavily prioritizing </a:t>
            </a:r>
            <a:r>
              <a:rPr b="1" lang="en" sz="1100">
                <a:solidFill>
                  <a:schemeClr val="dk1"/>
                </a:solidFill>
                <a:latin typeface="Proxima Nova"/>
                <a:ea typeface="Proxima Nova"/>
                <a:cs typeface="Proxima Nova"/>
                <a:sym typeface="Proxima Nova"/>
              </a:rPr>
              <a:t>convenience, control, and discovery</a:t>
            </a:r>
            <a:r>
              <a:rPr lang="en" sz="1100">
                <a:solidFill>
                  <a:schemeClr val="dk1"/>
                </a:solidFill>
                <a:latin typeface="Proxima Nova"/>
                <a:ea typeface="Proxima Nova"/>
                <a:cs typeface="Proxima Nova"/>
                <a:sym typeface="Proxima Nova"/>
              </a:rPr>
              <a:t>. </a:t>
            </a:r>
            <a:endParaRPr sz="1100">
              <a:solidFill>
                <a:schemeClr val="dk1"/>
              </a:solidFill>
              <a:latin typeface="Proxima Nova"/>
              <a:ea typeface="Proxima Nova"/>
              <a:cs typeface="Proxima Nova"/>
              <a:sym typeface="Proxima Nov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46"/>
          <p:cNvSpPr txBox="1"/>
          <p:nvPr/>
        </p:nvSpPr>
        <p:spPr>
          <a:xfrm>
            <a:off x="561050" y="19331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Thank you</a:t>
            </a:r>
            <a:r>
              <a:rPr lang="en" sz="5000">
                <a:solidFill>
                  <a:srgbClr val="FFFFFF"/>
                </a:solidFill>
                <a:latin typeface="Proxima Nova"/>
                <a:ea typeface="Proxima Nova"/>
                <a:cs typeface="Proxima Nova"/>
                <a:sym typeface="Proxima Nova"/>
              </a:rPr>
              <a:t>!</a:t>
            </a:r>
            <a:endParaRPr sz="5000">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