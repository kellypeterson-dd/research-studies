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Proxima Nova"/>
      <p:regular r:id="rId38"/>
      <p:bold r:id="rId39"/>
      <p:italic r:id="rId40"/>
      <p:boldItalic r:id="rId41"/>
    </p:embeddedFont>
    <p:embeddedFont>
      <p:font typeface="Poppins SemiBold"/>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9392DBD-4A03-4B5D-ACFE-0B7E5098AC46}">
  <a:tblStyle styleId="{F9392DBD-4A03-4B5D-ACFE-0B7E5098AC4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CDE9DB5-099F-468F-8C3C-A9098C66C0F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roximaNova-italic.fntdata"/><Relationship Id="rId20" Type="http://schemas.openxmlformats.org/officeDocument/2006/relationships/slide" Target="slides/slide15.xml"/><Relationship Id="rId42" Type="http://schemas.openxmlformats.org/officeDocument/2006/relationships/font" Target="fonts/PoppinsSemiBold-regular.fntdata"/><Relationship Id="rId41" Type="http://schemas.openxmlformats.org/officeDocument/2006/relationships/font" Target="fonts/ProximaNova-boldItalic.fntdata"/><Relationship Id="rId22" Type="http://schemas.openxmlformats.org/officeDocument/2006/relationships/slide" Target="slides/slide17.xml"/><Relationship Id="rId44" Type="http://schemas.openxmlformats.org/officeDocument/2006/relationships/font" Target="fonts/PoppinsSemiBold-italic.fntdata"/><Relationship Id="rId21" Type="http://schemas.openxmlformats.org/officeDocument/2006/relationships/slide" Target="slides/slide16.xml"/><Relationship Id="rId43" Type="http://schemas.openxmlformats.org/officeDocument/2006/relationships/font" Target="fonts/PoppinsSemiBold-bold.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PoppinsSemiBold-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ProximaNova-bold.fntdata"/><Relationship Id="rId16" Type="http://schemas.openxmlformats.org/officeDocument/2006/relationships/slide" Target="slides/slide11.xml"/><Relationship Id="rId38" Type="http://schemas.openxmlformats.org/officeDocument/2006/relationships/font" Target="fonts/ProximaNova-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g2c4d88aa37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 name="Google Shape;43;g2c4d88aa3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f23b9ed7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f23b9ed7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d3aff83b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d3aff83b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d3aff83b62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d3aff83b62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048d2382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048d2382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0b7146883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0b714688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0b7146883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0b7146883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f23b9ed74e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f23b9ed74e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0597f04a24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0597f04a24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0597f04a24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0597f04a24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0bab614e9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0bab614e9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096baafa5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096baafa5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05f9ae8d1d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05f9ae8d1d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0bab614e90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0bab614e9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096baafa5a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096baafa5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05f9ae8d1d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05f9ae8d1d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0bab614e90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0bab614e90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0bab614e90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0bab614e90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d53ba846a_0_1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d53ba846a_0_1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f23b9ed74e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f23b9ed74e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0597f04a2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0597f04a2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d3ca032f6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d3ca032f6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0597f04a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0597f04a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0597f04a2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0597f04a2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0597f04a2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0597f04a2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0597f04a2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0597f04a2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0c21cad89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0c21cad89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0597f04a2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0597f04a2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0597f04a2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0597f04a2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0c28f567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0c28f567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0c28f5671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0c28f5671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d53ba846a_0_1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2d53ba846a_0_1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type="title">
  <p:cSld name="TITLE">
    <p:spTree>
      <p:nvGrpSpPr>
        <p:cNvPr id="6" name="Shape 6"/>
        <p:cNvGrpSpPr/>
        <p:nvPr/>
      </p:nvGrpSpPr>
      <p:grpSpPr>
        <a:xfrm>
          <a:off x="0" y="0"/>
          <a:ext cx="0" cy="0"/>
          <a:chOff x="0" y="0"/>
          <a:chExt cx="0" cy="0"/>
        </a:xfrm>
      </p:grpSpPr>
      <p:sp>
        <p:nvSpPr>
          <p:cNvPr id="7" name="Google Shape;7;p2"/>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8" name="Google Shape;8;p2"/>
          <p:cNvPicPr preferRelativeResize="0"/>
          <p:nvPr/>
        </p:nvPicPr>
        <p:blipFill>
          <a:blip r:embed="rId2">
            <a:alphaModFix/>
          </a:blip>
          <a:stretch>
            <a:fillRect/>
          </a:stretch>
        </p:blipFill>
        <p:spPr>
          <a:xfrm>
            <a:off x="8197738" y="269687"/>
            <a:ext cx="297201" cy="168825"/>
          </a:xfrm>
          <a:prstGeom prst="rect">
            <a:avLst/>
          </a:prstGeom>
          <a:noFill/>
          <a:ln>
            <a:noFill/>
          </a:ln>
        </p:spPr>
      </p:pic>
      <p:sp>
        <p:nvSpPr>
          <p:cNvPr id="9" name="Google Shape;9;p2"/>
          <p:cNvSpPr txBox="1"/>
          <p:nvPr/>
        </p:nvSpPr>
        <p:spPr>
          <a:xfrm>
            <a:off x="649063" y="154275"/>
            <a:ext cx="1497600" cy="321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00">
                <a:solidFill>
                  <a:srgbClr val="CCCCCC"/>
                </a:solidFill>
                <a:latin typeface="Proxima Nova"/>
                <a:ea typeface="Proxima Nova"/>
                <a:cs typeface="Proxima Nova"/>
                <a:sym typeface="Proxima Nova"/>
              </a:rPr>
              <a:t>Presentation Subject</a:t>
            </a:r>
            <a:endParaRPr sz="900">
              <a:solidFill>
                <a:srgbClr val="CCCCCC"/>
              </a:solidFill>
              <a:latin typeface="Proxima Nova"/>
              <a:ea typeface="Proxima Nova"/>
              <a:cs typeface="Proxima Nova"/>
              <a:sym typeface="Proxima Nov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without header">
  <p:cSld name="TITLE_2">
    <p:spTree>
      <p:nvGrpSpPr>
        <p:cNvPr id="10" name="Shape 10"/>
        <p:cNvGrpSpPr/>
        <p:nvPr/>
      </p:nvGrpSpPr>
      <p:grpSpPr>
        <a:xfrm>
          <a:off x="0" y="0"/>
          <a:ext cx="0" cy="0"/>
          <a:chOff x="0" y="0"/>
          <a:chExt cx="0" cy="0"/>
        </a:xfrm>
      </p:grpSpPr>
      <p:sp>
        <p:nvSpPr>
          <p:cNvPr id="11" name="Google Shape;11;p3"/>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2" name="Google Shape;12;p3"/>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Master">
  <p:cSld name="TITLE_1">
    <p:bg>
      <p:bgPr>
        <a:solidFill>
          <a:srgbClr val="F3F3F3"/>
        </a:solidFill>
      </p:bgPr>
    </p:bg>
    <p:spTree>
      <p:nvGrpSpPr>
        <p:cNvPr id="13" name="Shape 13"/>
        <p:cNvGrpSpPr/>
        <p:nvPr/>
      </p:nvGrpSpPr>
      <p:grpSpPr>
        <a:xfrm>
          <a:off x="0" y="0"/>
          <a:ext cx="0" cy="0"/>
          <a:chOff x="0" y="0"/>
          <a:chExt cx="0" cy="0"/>
        </a:xfrm>
      </p:grpSpPr>
      <p:sp>
        <p:nvSpPr>
          <p:cNvPr id="14" name="Google Shape;14;p4"/>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5" name="Google Shape;15;p4"/>
          <p:cNvPicPr preferRelativeResize="0"/>
          <p:nvPr/>
        </p:nvPicPr>
        <p:blipFill>
          <a:blip r:embed="rId2">
            <a:alphaModFix/>
          </a:blip>
          <a:stretch>
            <a:fillRect/>
          </a:stretch>
        </p:blipFill>
        <p:spPr>
          <a:xfrm>
            <a:off x="8197738" y="269687"/>
            <a:ext cx="297201" cy="168825"/>
          </a:xfrm>
          <a:prstGeom prst="rect">
            <a:avLst/>
          </a:prstGeom>
          <a:noFill/>
          <a:ln>
            <a:noFill/>
          </a:ln>
        </p:spPr>
      </p:pic>
      <p:sp>
        <p:nvSpPr>
          <p:cNvPr id="16" name="Google Shape;16;p4"/>
          <p:cNvSpPr txBox="1"/>
          <p:nvPr/>
        </p:nvSpPr>
        <p:spPr>
          <a:xfrm>
            <a:off x="649063" y="154275"/>
            <a:ext cx="1497600" cy="321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00">
                <a:solidFill>
                  <a:srgbClr val="CCCCCC"/>
                </a:solidFill>
                <a:latin typeface="Proxima Nova"/>
                <a:ea typeface="Proxima Nova"/>
                <a:cs typeface="Proxima Nova"/>
                <a:sym typeface="Proxima Nova"/>
              </a:rPr>
              <a:t>Presentation Subject</a:t>
            </a:r>
            <a:endParaRPr sz="900">
              <a:solidFill>
                <a:srgbClr val="CCCCCC"/>
              </a:solidFill>
              <a:latin typeface="Proxima Nova"/>
              <a:ea typeface="Proxima Nova"/>
              <a:cs typeface="Proxima Nova"/>
              <a:sym typeface="Proxima Nov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type="secHead">
  <p:cSld name="SECTION_HEADER">
    <p:bg>
      <p:bgPr>
        <a:solidFill>
          <a:srgbClr val="E23208"/>
        </a:solidFill>
      </p:bgPr>
    </p:bg>
    <p:spTree>
      <p:nvGrpSpPr>
        <p:cNvPr id="17" name="Shape 17"/>
        <p:cNvGrpSpPr/>
        <p:nvPr/>
      </p:nvGrpSpPr>
      <p:grpSpPr>
        <a:xfrm>
          <a:off x="0" y="0"/>
          <a:ext cx="0" cy="0"/>
          <a:chOff x="0" y="0"/>
          <a:chExt cx="0" cy="0"/>
        </a:xfrm>
      </p:grpSpPr>
      <p:sp>
        <p:nvSpPr>
          <p:cNvPr id="18" name="Google Shape;18;p5"/>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5"/>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cean">
  <p:cSld name="SECTION_HEADER_2">
    <p:bg>
      <p:bgPr>
        <a:solidFill>
          <a:srgbClr val="518C8F"/>
        </a:solidFill>
      </p:bgPr>
    </p:bg>
    <p:spTree>
      <p:nvGrpSpPr>
        <p:cNvPr id="20" name="Shape 20"/>
        <p:cNvGrpSpPr/>
        <p:nvPr/>
      </p:nvGrpSpPr>
      <p:grpSpPr>
        <a:xfrm>
          <a:off x="0" y="0"/>
          <a:ext cx="0" cy="0"/>
          <a:chOff x="0" y="0"/>
          <a:chExt cx="0" cy="0"/>
        </a:xfrm>
      </p:grpSpPr>
      <p:sp>
        <p:nvSpPr>
          <p:cNvPr id="21" name="Google Shape;21;p6"/>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2" name="Google Shape;22;p6"/>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lush">
  <p:cSld name="SECTION_HEADER_1">
    <p:bg>
      <p:bgPr>
        <a:solidFill>
          <a:srgbClr val="E5BBB7"/>
        </a:solidFill>
      </p:bgPr>
    </p:bg>
    <p:spTree>
      <p:nvGrpSpPr>
        <p:cNvPr id="23" name="Shape 23"/>
        <p:cNvGrpSpPr/>
        <p:nvPr/>
      </p:nvGrpSpPr>
      <p:grpSpPr>
        <a:xfrm>
          <a:off x="0" y="0"/>
          <a:ext cx="0" cy="0"/>
          <a:chOff x="0" y="0"/>
          <a:chExt cx="0" cy="0"/>
        </a:xfrm>
      </p:grpSpPr>
      <p:sp>
        <p:nvSpPr>
          <p:cNvPr id="24" name="Google Shape;24;p7"/>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3F3F3"/>
                </a:solidFill>
                <a:latin typeface="Proxima Nova"/>
                <a:ea typeface="Proxima Nova"/>
                <a:cs typeface="Proxima Nova"/>
                <a:sym typeface="Proxima Nova"/>
              </a:defRPr>
            </a:lvl1pPr>
            <a:lvl2pPr lvl="1" rtl="0" algn="r">
              <a:buNone/>
              <a:defRPr sz="1000">
                <a:solidFill>
                  <a:srgbClr val="F3F3F3"/>
                </a:solidFill>
                <a:latin typeface="Proxima Nova"/>
                <a:ea typeface="Proxima Nova"/>
                <a:cs typeface="Proxima Nova"/>
                <a:sym typeface="Proxima Nova"/>
              </a:defRPr>
            </a:lvl2pPr>
            <a:lvl3pPr lvl="2" rtl="0" algn="r">
              <a:buNone/>
              <a:defRPr sz="1000">
                <a:solidFill>
                  <a:srgbClr val="F3F3F3"/>
                </a:solidFill>
                <a:latin typeface="Proxima Nova"/>
                <a:ea typeface="Proxima Nova"/>
                <a:cs typeface="Proxima Nova"/>
                <a:sym typeface="Proxima Nova"/>
              </a:defRPr>
            </a:lvl3pPr>
            <a:lvl4pPr lvl="3" rtl="0" algn="r">
              <a:buNone/>
              <a:defRPr sz="1000">
                <a:solidFill>
                  <a:srgbClr val="F3F3F3"/>
                </a:solidFill>
                <a:latin typeface="Proxima Nova"/>
                <a:ea typeface="Proxima Nova"/>
                <a:cs typeface="Proxima Nova"/>
                <a:sym typeface="Proxima Nova"/>
              </a:defRPr>
            </a:lvl4pPr>
            <a:lvl5pPr lvl="4" rtl="0" algn="r">
              <a:buNone/>
              <a:defRPr sz="1000">
                <a:solidFill>
                  <a:srgbClr val="F3F3F3"/>
                </a:solidFill>
                <a:latin typeface="Proxima Nova"/>
                <a:ea typeface="Proxima Nova"/>
                <a:cs typeface="Proxima Nova"/>
                <a:sym typeface="Proxima Nova"/>
              </a:defRPr>
            </a:lvl5pPr>
            <a:lvl6pPr lvl="5" rtl="0" algn="r">
              <a:buNone/>
              <a:defRPr sz="1000">
                <a:solidFill>
                  <a:srgbClr val="F3F3F3"/>
                </a:solidFill>
                <a:latin typeface="Proxima Nova"/>
                <a:ea typeface="Proxima Nova"/>
                <a:cs typeface="Proxima Nova"/>
                <a:sym typeface="Proxima Nova"/>
              </a:defRPr>
            </a:lvl6pPr>
            <a:lvl7pPr lvl="6" rtl="0" algn="r">
              <a:buNone/>
              <a:defRPr sz="1000">
                <a:solidFill>
                  <a:srgbClr val="F3F3F3"/>
                </a:solidFill>
                <a:latin typeface="Proxima Nova"/>
                <a:ea typeface="Proxima Nova"/>
                <a:cs typeface="Proxima Nova"/>
                <a:sym typeface="Proxima Nova"/>
              </a:defRPr>
            </a:lvl7pPr>
            <a:lvl8pPr lvl="7" rtl="0" algn="r">
              <a:buNone/>
              <a:defRPr sz="1000">
                <a:solidFill>
                  <a:srgbClr val="F3F3F3"/>
                </a:solidFill>
                <a:latin typeface="Proxima Nova"/>
                <a:ea typeface="Proxima Nova"/>
                <a:cs typeface="Proxima Nova"/>
                <a:sym typeface="Proxima Nova"/>
              </a:defRPr>
            </a:lvl8pPr>
            <a:lvl9pPr lvl="8" rtl="0" algn="r">
              <a:buNone/>
              <a:defRPr sz="1000">
                <a:solidFill>
                  <a:srgbClr val="F3F3F3"/>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5" name="Google Shape;25;p7"/>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ky">
  <p:cSld name="SECTION_HEADER_1_1">
    <p:bg>
      <p:bgPr>
        <a:solidFill>
          <a:srgbClr val="BEDFE9"/>
        </a:solidFill>
      </p:bgPr>
    </p:bg>
    <p:spTree>
      <p:nvGrpSpPr>
        <p:cNvPr id="26" name="Shape 26"/>
        <p:cNvGrpSpPr/>
        <p:nvPr/>
      </p:nvGrpSpPr>
      <p:grpSpPr>
        <a:xfrm>
          <a:off x="0" y="0"/>
          <a:ext cx="0" cy="0"/>
          <a:chOff x="0" y="0"/>
          <a:chExt cx="0" cy="0"/>
        </a:xfrm>
      </p:grpSpPr>
      <p:sp>
        <p:nvSpPr>
          <p:cNvPr id="27" name="Google Shape;27;p8"/>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3F3F3"/>
                </a:solidFill>
                <a:latin typeface="Proxima Nova"/>
                <a:ea typeface="Proxima Nova"/>
                <a:cs typeface="Proxima Nova"/>
                <a:sym typeface="Proxima Nova"/>
              </a:defRPr>
            </a:lvl1pPr>
            <a:lvl2pPr lvl="1" rtl="0" algn="r">
              <a:buNone/>
              <a:defRPr sz="1000">
                <a:solidFill>
                  <a:srgbClr val="F3F3F3"/>
                </a:solidFill>
                <a:latin typeface="Proxima Nova"/>
                <a:ea typeface="Proxima Nova"/>
                <a:cs typeface="Proxima Nova"/>
                <a:sym typeface="Proxima Nova"/>
              </a:defRPr>
            </a:lvl2pPr>
            <a:lvl3pPr lvl="2" rtl="0" algn="r">
              <a:buNone/>
              <a:defRPr sz="1000">
                <a:solidFill>
                  <a:srgbClr val="F3F3F3"/>
                </a:solidFill>
                <a:latin typeface="Proxima Nova"/>
                <a:ea typeface="Proxima Nova"/>
                <a:cs typeface="Proxima Nova"/>
                <a:sym typeface="Proxima Nova"/>
              </a:defRPr>
            </a:lvl3pPr>
            <a:lvl4pPr lvl="3" rtl="0" algn="r">
              <a:buNone/>
              <a:defRPr sz="1000">
                <a:solidFill>
                  <a:srgbClr val="F3F3F3"/>
                </a:solidFill>
                <a:latin typeface="Proxima Nova"/>
                <a:ea typeface="Proxima Nova"/>
                <a:cs typeface="Proxima Nova"/>
                <a:sym typeface="Proxima Nova"/>
              </a:defRPr>
            </a:lvl4pPr>
            <a:lvl5pPr lvl="4" rtl="0" algn="r">
              <a:buNone/>
              <a:defRPr sz="1000">
                <a:solidFill>
                  <a:srgbClr val="F3F3F3"/>
                </a:solidFill>
                <a:latin typeface="Proxima Nova"/>
                <a:ea typeface="Proxima Nova"/>
                <a:cs typeface="Proxima Nova"/>
                <a:sym typeface="Proxima Nova"/>
              </a:defRPr>
            </a:lvl5pPr>
            <a:lvl6pPr lvl="5" rtl="0" algn="r">
              <a:buNone/>
              <a:defRPr sz="1000">
                <a:solidFill>
                  <a:srgbClr val="F3F3F3"/>
                </a:solidFill>
                <a:latin typeface="Proxima Nova"/>
                <a:ea typeface="Proxima Nova"/>
                <a:cs typeface="Proxima Nova"/>
                <a:sym typeface="Proxima Nova"/>
              </a:defRPr>
            </a:lvl6pPr>
            <a:lvl7pPr lvl="6" rtl="0" algn="r">
              <a:buNone/>
              <a:defRPr sz="1000">
                <a:solidFill>
                  <a:srgbClr val="F3F3F3"/>
                </a:solidFill>
                <a:latin typeface="Proxima Nova"/>
                <a:ea typeface="Proxima Nova"/>
                <a:cs typeface="Proxima Nova"/>
                <a:sym typeface="Proxima Nova"/>
              </a:defRPr>
            </a:lvl7pPr>
            <a:lvl8pPr lvl="7" rtl="0" algn="r">
              <a:buNone/>
              <a:defRPr sz="1000">
                <a:solidFill>
                  <a:srgbClr val="F3F3F3"/>
                </a:solidFill>
                <a:latin typeface="Proxima Nova"/>
                <a:ea typeface="Proxima Nova"/>
                <a:cs typeface="Proxima Nova"/>
                <a:sym typeface="Proxima Nova"/>
              </a:defRPr>
            </a:lvl8pPr>
            <a:lvl9pPr lvl="8" rtl="0" algn="r">
              <a:buNone/>
              <a:defRPr sz="1000">
                <a:solidFill>
                  <a:srgbClr val="F3F3F3"/>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8" name="Google Shape;28;p8"/>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mon">
  <p:cSld name="SECTION_HEADER_1_1_2">
    <p:bg>
      <p:bgPr>
        <a:solidFill>
          <a:srgbClr val="F8E500"/>
        </a:solidFill>
      </p:bgPr>
    </p:bg>
    <p:spTree>
      <p:nvGrpSpPr>
        <p:cNvPr id="29" name="Shape 29"/>
        <p:cNvGrpSpPr/>
        <p:nvPr/>
      </p:nvGrpSpPr>
      <p:grpSpPr>
        <a:xfrm>
          <a:off x="0" y="0"/>
          <a:ext cx="0" cy="0"/>
          <a:chOff x="0" y="0"/>
          <a:chExt cx="0" cy="0"/>
        </a:xfrm>
      </p:grpSpPr>
      <p:sp>
        <p:nvSpPr>
          <p:cNvPr id="30" name="Google Shape;30;p9"/>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FFFFF"/>
                </a:solidFill>
                <a:latin typeface="Proxima Nova"/>
                <a:ea typeface="Proxima Nova"/>
                <a:cs typeface="Proxima Nova"/>
                <a:sym typeface="Proxima Nova"/>
              </a:defRPr>
            </a:lvl1pPr>
            <a:lvl2pPr lvl="1" rtl="0" algn="r">
              <a:buNone/>
              <a:defRPr sz="1000">
                <a:solidFill>
                  <a:srgbClr val="FFFFFF"/>
                </a:solidFill>
                <a:latin typeface="Proxima Nova"/>
                <a:ea typeface="Proxima Nova"/>
                <a:cs typeface="Proxima Nova"/>
                <a:sym typeface="Proxima Nova"/>
              </a:defRPr>
            </a:lvl2pPr>
            <a:lvl3pPr lvl="2" rtl="0" algn="r">
              <a:buNone/>
              <a:defRPr sz="1000">
                <a:solidFill>
                  <a:srgbClr val="FFFFFF"/>
                </a:solidFill>
                <a:latin typeface="Proxima Nova"/>
                <a:ea typeface="Proxima Nova"/>
                <a:cs typeface="Proxima Nova"/>
                <a:sym typeface="Proxima Nova"/>
              </a:defRPr>
            </a:lvl3pPr>
            <a:lvl4pPr lvl="3" rtl="0" algn="r">
              <a:buNone/>
              <a:defRPr sz="1000">
                <a:solidFill>
                  <a:srgbClr val="FFFFFF"/>
                </a:solidFill>
                <a:latin typeface="Proxima Nova"/>
                <a:ea typeface="Proxima Nova"/>
                <a:cs typeface="Proxima Nova"/>
                <a:sym typeface="Proxima Nova"/>
              </a:defRPr>
            </a:lvl4pPr>
            <a:lvl5pPr lvl="4" rtl="0" algn="r">
              <a:buNone/>
              <a:defRPr sz="1000">
                <a:solidFill>
                  <a:srgbClr val="FFFFFF"/>
                </a:solidFill>
                <a:latin typeface="Proxima Nova"/>
                <a:ea typeface="Proxima Nova"/>
                <a:cs typeface="Proxima Nova"/>
                <a:sym typeface="Proxima Nova"/>
              </a:defRPr>
            </a:lvl5pPr>
            <a:lvl6pPr lvl="5" rtl="0" algn="r">
              <a:buNone/>
              <a:defRPr sz="1000">
                <a:solidFill>
                  <a:srgbClr val="FFFFFF"/>
                </a:solidFill>
                <a:latin typeface="Proxima Nova"/>
                <a:ea typeface="Proxima Nova"/>
                <a:cs typeface="Proxima Nova"/>
                <a:sym typeface="Proxima Nova"/>
              </a:defRPr>
            </a:lvl6pPr>
            <a:lvl7pPr lvl="6" rtl="0" algn="r">
              <a:buNone/>
              <a:defRPr sz="1000">
                <a:solidFill>
                  <a:srgbClr val="FFFFFF"/>
                </a:solidFill>
                <a:latin typeface="Proxima Nova"/>
                <a:ea typeface="Proxima Nova"/>
                <a:cs typeface="Proxima Nova"/>
                <a:sym typeface="Proxima Nova"/>
              </a:defRPr>
            </a:lvl7pPr>
            <a:lvl8pPr lvl="7" rtl="0" algn="r">
              <a:buNone/>
              <a:defRPr sz="1000">
                <a:solidFill>
                  <a:srgbClr val="FFFFFF"/>
                </a:solidFill>
                <a:latin typeface="Proxima Nova"/>
                <a:ea typeface="Proxima Nova"/>
                <a:cs typeface="Proxima Nova"/>
                <a:sym typeface="Proxima Nova"/>
              </a:defRPr>
            </a:lvl8pPr>
            <a:lvl9pPr lvl="8" rtl="0" algn="r">
              <a:buNone/>
              <a:defRPr sz="1000">
                <a:solidFill>
                  <a:srgbClr val="FFFFFF"/>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31" name="Google Shape;31;p9"/>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est">
  <p:cSld name="SECTION_HEADER_1_1_1">
    <p:bg>
      <p:bgPr>
        <a:solidFill>
          <a:srgbClr val="3A5648"/>
        </a:solidFill>
      </p:bgPr>
    </p:bg>
    <p:spTree>
      <p:nvGrpSpPr>
        <p:cNvPr id="32" name="Shape 32"/>
        <p:cNvGrpSpPr/>
        <p:nvPr/>
      </p:nvGrpSpPr>
      <p:grpSpPr>
        <a:xfrm>
          <a:off x="0" y="0"/>
          <a:ext cx="0" cy="0"/>
          <a:chOff x="0" y="0"/>
          <a:chExt cx="0" cy="0"/>
        </a:xfrm>
      </p:grpSpPr>
      <p:sp>
        <p:nvSpPr>
          <p:cNvPr id="33" name="Google Shape;33;p10"/>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34" name="Google Shape;34;p10"/>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SECTION_HEADER_1_1_1_1">
    <p:bg>
      <p:bgPr>
        <a:solidFill>
          <a:srgbClr val="FFFFFF"/>
        </a:solidFill>
      </p:bgPr>
    </p:bg>
    <p:spTree>
      <p:nvGrpSpPr>
        <p:cNvPr id="35" name="Shape 35"/>
        <p:cNvGrpSpPr/>
        <p:nvPr/>
      </p:nvGrpSpPr>
      <p:grpSpPr>
        <a:xfrm>
          <a:off x="0" y="0"/>
          <a:ext cx="0" cy="0"/>
          <a:chOff x="0" y="0"/>
          <a:chExt cx="0" cy="0"/>
        </a:xfrm>
      </p:grpSpPr>
      <p:sp>
        <p:nvSpPr>
          <p:cNvPr id="36" name="Google Shape;36;p11"/>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37" name="Shape 37"/>
        <p:cNvGrpSpPr/>
        <p:nvPr/>
      </p:nvGrpSpPr>
      <p:grpSpPr>
        <a:xfrm>
          <a:off x="0" y="0"/>
          <a:ext cx="0" cy="0"/>
          <a:chOff x="0" y="0"/>
          <a:chExt cx="0" cy="0"/>
        </a:xfrm>
      </p:grpSpPr>
      <p:sp>
        <p:nvSpPr>
          <p:cNvPr id="38" name="Google Shape;38;p1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39" name="Google Shape;39;p12"/>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0" name="Google Shape;40;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drive.google.com/file/d/1bA7FvZy4dWUnD5AhpT0ZTtorszs_pLr3/view" TargetMode="External"/><Relationship Id="rId4"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14.png"/><Relationship Id="rId5"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drive.google.com/file/d/1Egbp1uUDPkXaAnqkDKFLBMzWH-GKcFh9/view" TargetMode="External"/><Relationship Id="rId4" Type="http://schemas.openxmlformats.org/officeDocument/2006/relationships/image" Target="../media/image1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7.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drive.google.com/file/d/1gLfBV2iaNUR0CCiVIfTbI6r2V11-nylJ/view" TargetMode="External"/><Relationship Id="rId4" Type="http://schemas.openxmlformats.org/officeDocument/2006/relationships/image" Target="../media/image3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1.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 name="Shape 44"/>
        <p:cNvGrpSpPr/>
        <p:nvPr/>
      </p:nvGrpSpPr>
      <p:grpSpPr>
        <a:xfrm>
          <a:off x="0" y="0"/>
          <a:ext cx="0" cy="0"/>
          <a:chOff x="0" y="0"/>
          <a:chExt cx="0" cy="0"/>
        </a:xfrm>
      </p:grpSpPr>
      <p:sp>
        <p:nvSpPr>
          <p:cNvPr id="45" name="Google Shape;45;p13"/>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 name="Google Shape;46;p13"/>
          <p:cNvSpPr txBox="1"/>
          <p:nvPr/>
        </p:nvSpPr>
        <p:spPr>
          <a:xfrm>
            <a:off x="686000" y="3441325"/>
            <a:ext cx="2980200" cy="39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Proxima Nova"/>
                <a:ea typeface="Proxima Nova"/>
                <a:cs typeface="Proxima Nova"/>
                <a:sym typeface="Proxima Nova"/>
              </a:rPr>
              <a:t>Kelly Peterson</a:t>
            </a:r>
            <a:endParaRPr b="1" sz="800">
              <a:solidFill>
                <a:schemeClr val="dk1"/>
              </a:solidFill>
              <a:latin typeface="Proxima Nova"/>
              <a:ea typeface="Proxima Nova"/>
              <a:cs typeface="Proxima Nova"/>
              <a:sym typeface="Proxima Nova"/>
            </a:endParaRPr>
          </a:p>
        </p:txBody>
      </p:sp>
      <p:sp>
        <p:nvSpPr>
          <p:cNvPr id="47" name="Google Shape;47;p13"/>
          <p:cNvSpPr txBox="1"/>
          <p:nvPr/>
        </p:nvSpPr>
        <p:spPr>
          <a:xfrm>
            <a:off x="686000" y="3799625"/>
            <a:ext cx="2980200" cy="5427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1000">
                <a:solidFill>
                  <a:schemeClr val="dk1"/>
                </a:solidFill>
                <a:latin typeface="Proxima Nova"/>
                <a:ea typeface="Proxima Nova"/>
                <a:cs typeface="Proxima Nova"/>
                <a:sym typeface="Proxima Nova"/>
              </a:rPr>
              <a:t>Date: Sept 2024</a:t>
            </a:r>
            <a:endParaRPr sz="1000">
              <a:solidFill>
                <a:schemeClr val="dk1"/>
              </a:solidFill>
              <a:latin typeface="Proxima Nova"/>
              <a:ea typeface="Proxima Nova"/>
              <a:cs typeface="Proxima Nova"/>
              <a:sym typeface="Proxima Nova"/>
            </a:endParaRPr>
          </a:p>
          <a:p>
            <a:pPr indent="0" lvl="0" marL="0" rtl="0" algn="l">
              <a:lnSpc>
                <a:spcPct val="130000"/>
              </a:lnSpc>
              <a:spcBef>
                <a:spcPts val="0"/>
              </a:spcBef>
              <a:spcAft>
                <a:spcPts val="0"/>
              </a:spcAft>
              <a:buNone/>
            </a:pPr>
            <a:r>
              <a:t/>
            </a:r>
            <a:endParaRPr sz="1000">
              <a:solidFill>
                <a:schemeClr val="dk1"/>
              </a:solidFill>
              <a:latin typeface="Proxima Nova"/>
              <a:ea typeface="Proxima Nova"/>
              <a:cs typeface="Proxima Nova"/>
              <a:sym typeface="Proxima Nova"/>
            </a:endParaRPr>
          </a:p>
        </p:txBody>
      </p:sp>
      <p:sp>
        <p:nvSpPr>
          <p:cNvPr id="48" name="Google Shape;48;p13"/>
          <p:cNvSpPr txBox="1"/>
          <p:nvPr/>
        </p:nvSpPr>
        <p:spPr>
          <a:xfrm>
            <a:off x="609750" y="1529300"/>
            <a:ext cx="40971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700">
                <a:solidFill>
                  <a:schemeClr val="dk1"/>
                </a:solidFill>
                <a:latin typeface="Proxima Nova"/>
                <a:ea typeface="Proxima Nova"/>
                <a:cs typeface="Proxima Nova"/>
                <a:sym typeface="Proxima Nova"/>
              </a:rPr>
              <a:t>Understanding Deal Seekers</a:t>
            </a:r>
            <a:endParaRPr b="1" sz="370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800">
                <a:solidFill>
                  <a:schemeClr val="dk1"/>
                </a:solidFill>
                <a:latin typeface="Proxima Nova"/>
                <a:ea typeface="Proxima Nova"/>
                <a:cs typeface="Proxima Nova"/>
                <a:sym typeface="Proxima Nova"/>
              </a:rPr>
              <a:t>And meeting their needs</a:t>
            </a:r>
            <a:endParaRPr b="1" sz="1800">
              <a:solidFill>
                <a:schemeClr val="dk1"/>
              </a:solidFill>
              <a:latin typeface="Proxima Nova"/>
              <a:ea typeface="Proxima Nova"/>
              <a:cs typeface="Proxima Nova"/>
              <a:sym typeface="Proxima Nova"/>
            </a:endParaRPr>
          </a:p>
        </p:txBody>
      </p:sp>
      <p:pic>
        <p:nvPicPr>
          <p:cNvPr id="49" name="Google Shape;49;p13"/>
          <p:cNvPicPr preferRelativeResize="0"/>
          <p:nvPr/>
        </p:nvPicPr>
        <p:blipFill>
          <a:blip r:embed="rId3">
            <a:alphaModFix/>
          </a:blip>
          <a:stretch>
            <a:fillRect/>
          </a:stretch>
        </p:blipFill>
        <p:spPr>
          <a:xfrm>
            <a:off x="723399" y="1284763"/>
            <a:ext cx="1408775" cy="162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4"/>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 name="Google Shape;55;p14"/>
          <p:cNvSpPr txBox="1"/>
          <p:nvPr/>
        </p:nvSpPr>
        <p:spPr>
          <a:xfrm>
            <a:off x="609800" y="609725"/>
            <a:ext cx="4045200" cy="374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000">
                <a:solidFill>
                  <a:schemeClr val="dk1"/>
                </a:solidFill>
                <a:latin typeface="Proxima Nova"/>
                <a:ea typeface="Proxima Nova"/>
                <a:cs typeface="Proxima Nova"/>
                <a:sym typeface="Proxima Nova"/>
              </a:rPr>
              <a:t>Background</a:t>
            </a:r>
            <a:endParaRPr b="1" sz="20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We know that pricing, affordability and availability of deals and promotions are one of the biggest concerns for DoorDash Cx and a huge driver of order conversion.  This research aims to understand the different personas of Cx that are “deal seekers” on DoorDash to better provide features, tooling and personalization to their unique needs.</a:t>
            </a:r>
            <a:endParaRPr sz="11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1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1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rPr b="1" lang="en" sz="2000">
                <a:solidFill>
                  <a:schemeClr val="dk1"/>
                </a:solidFill>
                <a:latin typeface="Proxima Nova"/>
                <a:ea typeface="Proxima Nova"/>
                <a:cs typeface="Proxima Nova"/>
                <a:sym typeface="Proxima Nova"/>
              </a:rPr>
              <a:t>Research Questions</a:t>
            </a:r>
            <a:endParaRPr sz="1100">
              <a:solidFill>
                <a:schemeClr val="dk1"/>
              </a:solidFill>
              <a:latin typeface="Proxima Nova"/>
              <a:ea typeface="Proxima Nova"/>
              <a:cs typeface="Proxima Nova"/>
              <a:sym typeface="Proxima Nova"/>
            </a:endParaRPr>
          </a:p>
          <a:p>
            <a:pPr indent="-298450" lvl="0" marL="457200" rtl="0" algn="l">
              <a:lnSpc>
                <a:spcPct val="115000"/>
              </a:lnSpc>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How many “personas” of Deal Seekers exist and who are they?</a:t>
            </a:r>
            <a:endParaRPr sz="1100">
              <a:solidFill>
                <a:schemeClr val="dk1"/>
              </a:solidFill>
              <a:latin typeface="Proxima Nova"/>
              <a:ea typeface="Proxima Nova"/>
              <a:cs typeface="Proxima Nova"/>
              <a:sym typeface="Proxima Nova"/>
            </a:endParaRPr>
          </a:p>
          <a:p>
            <a:pPr indent="-298450" lvl="0" marL="457200" rtl="0" algn="l">
              <a:lnSpc>
                <a:spcPct val="115000"/>
              </a:lnSpc>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What are the promotion preferences for different deal seeker personas?</a:t>
            </a:r>
            <a:endParaRPr sz="1100">
              <a:solidFill>
                <a:schemeClr val="dk1"/>
              </a:solidFill>
              <a:latin typeface="Proxima Nova"/>
              <a:ea typeface="Proxima Nova"/>
              <a:cs typeface="Proxima Nova"/>
              <a:sym typeface="Proxima Nova"/>
            </a:endParaRPr>
          </a:p>
          <a:p>
            <a:pPr indent="-298450" lvl="0" marL="457200" rtl="0" algn="l">
              <a:lnSpc>
                <a:spcPct val="115000"/>
              </a:lnSpc>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What priorities outside of deals exist for different deal seeking personas?</a:t>
            </a:r>
            <a:endParaRPr sz="1100">
              <a:solidFill>
                <a:schemeClr val="dk1"/>
              </a:solidFill>
              <a:latin typeface="Proxima Nova"/>
              <a:ea typeface="Proxima Nova"/>
              <a:cs typeface="Proxima Nova"/>
              <a:sym typeface="Proxima Nova"/>
            </a:endParaRPr>
          </a:p>
        </p:txBody>
      </p:sp>
      <p:sp>
        <p:nvSpPr>
          <p:cNvPr id="56" name="Google Shape;56;p14"/>
          <p:cNvSpPr txBox="1"/>
          <p:nvPr/>
        </p:nvSpPr>
        <p:spPr>
          <a:xfrm>
            <a:off x="4884125" y="646650"/>
            <a:ext cx="4045200" cy="374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000">
                <a:solidFill>
                  <a:schemeClr val="dk1"/>
                </a:solidFill>
                <a:latin typeface="Proxima Nova"/>
                <a:ea typeface="Proxima Nova"/>
                <a:cs typeface="Proxima Nova"/>
                <a:sym typeface="Proxima Nova"/>
              </a:rPr>
              <a:t>Research Approach</a:t>
            </a:r>
            <a:endParaRPr b="1" sz="20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1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1100">
                <a:solidFill>
                  <a:schemeClr val="dk1"/>
                </a:solidFill>
                <a:latin typeface="Proxima Nova"/>
                <a:ea typeface="Proxima Nova"/>
                <a:cs typeface="Proxima Nova"/>
                <a:sym typeface="Proxima Nova"/>
              </a:rPr>
              <a:t>We conducted this research in two-phases:</a:t>
            </a:r>
            <a:endParaRPr sz="11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100">
              <a:solidFill>
                <a:schemeClr val="dk1"/>
              </a:solidFill>
              <a:latin typeface="Proxima Nova"/>
              <a:ea typeface="Proxima Nova"/>
              <a:cs typeface="Proxima Nova"/>
              <a:sym typeface="Proxima Nova"/>
            </a:endParaRPr>
          </a:p>
          <a:p>
            <a:pPr indent="-292100" lvl="0" marL="457200" rtl="0" algn="l">
              <a:lnSpc>
                <a:spcPct val="115000"/>
              </a:lnSpc>
              <a:spcBef>
                <a:spcPts val="0"/>
              </a:spcBef>
              <a:spcAft>
                <a:spcPts val="0"/>
              </a:spcAft>
              <a:buClr>
                <a:schemeClr val="dk1"/>
              </a:buClr>
              <a:buSzPts val="1000"/>
              <a:buFont typeface="Proxima Nova"/>
              <a:buAutoNum type="arabicPeriod"/>
            </a:pPr>
            <a:r>
              <a:rPr lang="en" sz="1000">
                <a:solidFill>
                  <a:schemeClr val="dk1"/>
                </a:solidFill>
                <a:latin typeface="Proxima Nova"/>
                <a:ea typeface="Proxima Nova"/>
                <a:cs typeface="Proxima Nova"/>
                <a:sym typeface="Proxima Nova"/>
              </a:rPr>
              <a:t>We conducted a 15 min survey among N=300 Cx focused on understanding the role that promos play in the decision making, their priorities when ordering and the factors that are most important to them when comparing deals to one another.  </a:t>
            </a:r>
            <a:endParaRPr sz="10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000">
              <a:solidFill>
                <a:schemeClr val="dk1"/>
              </a:solidFill>
              <a:latin typeface="Proxima Nova"/>
              <a:ea typeface="Proxima Nova"/>
              <a:cs typeface="Proxima Nova"/>
              <a:sym typeface="Proxima Nova"/>
            </a:endParaRPr>
          </a:p>
          <a:p>
            <a:pPr indent="-292100" lvl="0" marL="457200" rtl="0" algn="l">
              <a:lnSpc>
                <a:spcPct val="115000"/>
              </a:lnSpc>
              <a:spcBef>
                <a:spcPts val="0"/>
              </a:spcBef>
              <a:spcAft>
                <a:spcPts val="0"/>
              </a:spcAft>
              <a:buClr>
                <a:schemeClr val="dk1"/>
              </a:buClr>
              <a:buSzPts val="1000"/>
              <a:buFont typeface="Proxima Nova"/>
              <a:buAutoNum type="arabicPeriod"/>
            </a:pPr>
            <a:r>
              <a:rPr lang="en" sz="1000">
                <a:solidFill>
                  <a:schemeClr val="dk1"/>
                </a:solidFill>
                <a:latin typeface="Proxima Nova"/>
                <a:ea typeface="Proxima Nova"/>
                <a:cs typeface="Proxima Nova"/>
                <a:sym typeface="Proxima Nova"/>
              </a:rPr>
              <a:t>20 min 1:1 interviews with 3-4 Cx of each persona to understand more detail around their decision making, promo preferences and navigation pathways on DoorDash.</a:t>
            </a:r>
            <a:endParaRPr sz="1000">
              <a:solidFill>
                <a:schemeClr val="dk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5"/>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 name="Google Shape;62;p15"/>
          <p:cNvSpPr txBox="1"/>
          <p:nvPr/>
        </p:nvSpPr>
        <p:spPr>
          <a:xfrm>
            <a:off x="609800" y="1537775"/>
            <a:ext cx="75516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00">
                <a:solidFill>
                  <a:srgbClr val="FFFFFF"/>
                </a:solidFill>
                <a:latin typeface="Proxima Nova"/>
                <a:ea typeface="Proxima Nova"/>
                <a:cs typeface="Proxima Nova"/>
                <a:sym typeface="Proxima Nova"/>
              </a:rPr>
              <a:t>Building Personas</a:t>
            </a:r>
            <a:endParaRPr sz="41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41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rgbClr val="FFFFFF"/>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6"/>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 name="Google Shape;68;p16"/>
          <p:cNvSpPr txBox="1"/>
          <p:nvPr/>
        </p:nvSpPr>
        <p:spPr>
          <a:xfrm>
            <a:off x="354075" y="2742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Analysis</a:t>
            </a:r>
            <a:r>
              <a:rPr b="1" lang="en" sz="2000">
                <a:solidFill>
                  <a:schemeClr val="dk1"/>
                </a:solidFill>
                <a:latin typeface="Proxima Nova"/>
                <a:ea typeface="Proxima Nova"/>
                <a:cs typeface="Proxima Nova"/>
                <a:sym typeface="Proxima Nova"/>
              </a:rPr>
              <a:t> Approach (1 of 2)</a:t>
            </a:r>
            <a:endParaRPr b="1" sz="2000">
              <a:solidFill>
                <a:schemeClr val="dk1"/>
              </a:solidFill>
              <a:latin typeface="Proxima Nova"/>
              <a:ea typeface="Proxima Nova"/>
              <a:cs typeface="Proxima Nova"/>
              <a:sym typeface="Proxima Nova"/>
            </a:endParaRPr>
          </a:p>
        </p:txBody>
      </p:sp>
      <p:sp>
        <p:nvSpPr>
          <p:cNvPr id="69" name="Google Shape;69;p16"/>
          <p:cNvSpPr txBox="1"/>
          <p:nvPr/>
        </p:nvSpPr>
        <p:spPr>
          <a:xfrm>
            <a:off x="373100" y="941650"/>
            <a:ext cx="7311000" cy="9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We utilized 10 variables from online survey to run a k-means cluster analysis.  The variables included:</a:t>
            </a:r>
            <a:endParaRPr>
              <a:latin typeface="Proxima Nova"/>
              <a:ea typeface="Proxima Nova"/>
              <a:cs typeface="Proxima Nova"/>
              <a:sym typeface="Proxima Nova"/>
            </a:endParaRPr>
          </a:p>
        </p:txBody>
      </p:sp>
      <p:sp>
        <p:nvSpPr>
          <p:cNvPr id="70" name="Google Shape;70;p16"/>
          <p:cNvSpPr txBox="1"/>
          <p:nvPr/>
        </p:nvSpPr>
        <p:spPr>
          <a:xfrm>
            <a:off x="2168950" y="1892050"/>
            <a:ext cx="7389600" cy="9504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SzPts val="1300"/>
              <a:buFont typeface="Proxima Nova"/>
              <a:buChar char="●"/>
            </a:pPr>
            <a:r>
              <a:rPr lang="en" sz="1300">
                <a:latin typeface="Proxima Nova"/>
                <a:ea typeface="Proxima Nova"/>
                <a:cs typeface="Proxima Nova"/>
                <a:sym typeface="Proxima Nova"/>
              </a:rPr>
              <a:t>Frequency of ordering on DoorDash</a:t>
            </a:r>
            <a:endParaRPr sz="1300">
              <a:latin typeface="Proxima Nova"/>
              <a:ea typeface="Proxima Nova"/>
              <a:cs typeface="Proxima Nova"/>
              <a:sym typeface="Proxima Nova"/>
            </a:endParaRPr>
          </a:p>
          <a:p>
            <a:pPr indent="-311150" lvl="0" marL="457200" rtl="0" algn="l">
              <a:spcBef>
                <a:spcPts val="1000"/>
              </a:spcBef>
              <a:spcAft>
                <a:spcPts val="0"/>
              </a:spcAft>
              <a:buSzPts val="1300"/>
              <a:buFont typeface="Proxima Nova"/>
              <a:buChar char="●"/>
            </a:pPr>
            <a:r>
              <a:rPr lang="en" sz="1300">
                <a:latin typeface="Proxima Nova"/>
                <a:ea typeface="Proxima Nova"/>
                <a:cs typeface="Proxima Nova"/>
                <a:sym typeface="Proxima Nova"/>
              </a:rPr>
              <a:t>Frequency of using promos/discounts on DoorDash</a:t>
            </a:r>
            <a:endParaRPr sz="1300">
              <a:latin typeface="Proxima Nova"/>
              <a:ea typeface="Proxima Nova"/>
              <a:cs typeface="Proxima Nova"/>
              <a:sym typeface="Proxima Nova"/>
            </a:endParaRPr>
          </a:p>
          <a:p>
            <a:pPr indent="-311150" lvl="0" marL="457200" rtl="0" algn="l">
              <a:spcBef>
                <a:spcPts val="1000"/>
              </a:spcBef>
              <a:spcAft>
                <a:spcPts val="0"/>
              </a:spcAft>
              <a:buSzPts val="1300"/>
              <a:buFont typeface="Proxima Nova"/>
              <a:buChar char="●"/>
            </a:pPr>
            <a:r>
              <a:rPr lang="en" sz="1300">
                <a:latin typeface="Proxima Nova"/>
                <a:ea typeface="Proxima Nova"/>
                <a:cs typeface="Proxima Nova"/>
                <a:sym typeface="Proxima Nova"/>
              </a:rPr>
              <a:t>Attitudes around budgeting on DoorDash</a:t>
            </a:r>
            <a:endParaRPr sz="1300">
              <a:latin typeface="Proxima Nova"/>
              <a:ea typeface="Proxima Nova"/>
              <a:cs typeface="Proxima Nova"/>
              <a:sym typeface="Proxima Nova"/>
            </a:endParaRPr>
          </a:p>
          <a:p>
            <a:pPr indent="-311150" lvl="0" marL="457200" rtl="0" algn="l">
              <a:spcBef>
                <a:spcPts val="1000"/>
              </a:spcBef>
              <a:spcAft>
                <a:spcPts val="0"/>
              </a:spcAft>
              <a:buSzPts val="1300"/>
              <a:buFont typeface="Proxima Nova"/>
              <a:buChar char="●"/>
            </a:pPr>
            <a:r>
              <a:rPr lang="en" sz="1300">
                <a:latin typeface="Proxima Nova"/>
                <a:ea typeface="Proxima Nova"/>
                <a:cs typeface="Proxima Nova"/>
                <a:sym typeface="Proxima Nova"/>
              </a:rPr>
              <a:t>Attitudes around promos/discounts on DoorDash</a:t>
            </a:r>
            <a:endParaRPr sz="1300">
              <a:latin typeface="Proxima Nova"/>
              <a:ea typeface="Proxima Nova"/>
              <a:cs typeface="Proxima Nova"/>
              <a:sym typeface="Proxima Nova"/>
            </a:endParaRPr>
          </a:p>
          <a:p>
            <a:pPr indent="-311150" lvl="0" marL="457200" rtl="0" algn="l">
              <a:spcBef>
                <a:spcPts val="1000"/>
              </a:spcBef>
              <a:spcAft>
                <a:spcPts val="1000"/>
              </a:spcAft>
              <a:buSzPts val="1300"/>
              <a:buFont typeface="Proxima Nova"/>
              <a:buChar char="●"/>
            </a:pPr>
            <a:r>
              <a:rPr lang="en" sz="1300">
                <a:latin typeface="Proxima Nova"/>
                <a:ea typeface="Proxima Nova"/>
                <a:cs typeface="Proxima Nova"/>
                <a:sym typeface="Proxima Nova"/>
              </a:rPr>
              <a:t>Promotion preferences/avg expected spend</a:t>
            </a:r>
            <a:endParaRPr sz="1300">
              <a:latin typeface="Proxima Nova"/>
              <a:ea typeface="Proxima Nova"/>
              <a:cs typeface="Proxima Nova"/>
              <a:sym typeface="Proxima Nova"/>
            </a:endParaRPr>
          </a:p>
        </p:txBody>
      </p:sp>
      <p:pic>
        <p:nvPicPr>
          <p:cNvPr id="71" name="Google Shape;71;p16"/>
          <p:cNvPicPr preferRelativeResize="0"/>
          <p:nvPr/>
        </p:nvPicPr>
        <p:blipFill>
          <a:blip r:embed="rId3">
            <a:alphaModFix/>
          </a:blip>
          <a:stretch>
            <a:fillRect/>
          </a:stretch>
        </p:blipFill>
        <p:spPr>
          <a:xfrm>
            <a:off x="465850" y="1997525"/>
            <a:ext cx="1532925" cy="1532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 name="Google Shape;77;p17"/>
          <p:cNvSpPr txBox="1"/>
          <p:nvPr/>
        </p:nvSpPr>
        <p:spPr>
          <a:xfrm>
            <a:off x="354075" y="2742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Analysis Approach (2 of 2)</a:t>
            </a:r>
            <a:endParaRPr b="1" sz="2000">
              <a:solidFill>
                <a:schemeClr val="dk1"/>
              </a:solidFill>
              <a:latin typeface="Proxima Nova"/>
              <a:ea typeface="Proxima Nova"/>
              <a:cs typeface="Proxima Nova"/>
              <a:sym typeface="Proxima Nova"/>
            </a:endParaRPr>
          </a:p>
        </p:txBody>
      </p:sp>
      <p:sp>
        <p:nvSpPr>
          <p:cNvPr id="78" name="Google Shape;78;p17"/>
          <p:cNvSpPr txBox="1"/>
          <p:nvPr/>
        </p:nvSpPr>
        <p:spPr>
          <a:xfrm>
            <a:off x="5075250" y="1264075"/>
            <a:ext cx="3553500" cy="9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roxima Nova"/>
                <a:ea typeface="Proxima Nova"/>
                <a:cs typeface="Proxima Nova"/>
                <a:sym typeface="Proxima Nova"/>
              </a:rPr>
              <a:t>Clusters/personas are evaluated for:  </a:t>
            </a:r>
            <a:endParaRPr b="1">
              <a:latin typeface="Proxima Nova"/>
              <a:ea typeface="Proxima Nova"/>
              <a:cs typeface="Proxima Nova"/>
              <a:sym typeface="Proxima Nova"/>
            </a:endParaRPr>
          </a:p>
        </p:txBody>
      </p:sp>
      <p:sp>
        <p:nvSpPr>
          <p:cNvPr id="79" name="Google Shape;79;p17"/>
          <p:cNvSpPr txBox="1"/>
          <p:nvPr/>
        </p:nvSpPr>
        <p:spPr>
          <a:xfrm>
            <a:off x="5796775" y="3598975"/>
            <a:ext cx="2251500" cy="43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pPr>
            <a:r>
              <a:rPr b="1" lang="en" sz="1300">
                <a:latin typeface="Proxima Nova"/>
                <a:ea typeface="Proxima Nova"/>
                <a:cs typeface="Proxima Nova"/>
                <a:sym typeface="Proxima Nova"/>
              </a:rPr>
              <a:t>Target: </a:t>
            </a:r>
            <a:r>
              <a:rPr lang="en" sz="1300">
                <a:latin typeface="Proxima Nova"/>
                <a:ea typeface="Proxima Nova"/>
                <a:cs typeface="Proxima Nova"/>
                <a:sym typeface="Proxima Nova"/>
              </a:rPr>
              <a:t> Is it understandable and actionable?</a:t>
            </a:r>
            <a:endParaRPr sz="1300">
              <a:latin typeface="Proxima Nova"/>
              <a:ea typeface="Proxima Nova"/>
              <a:cs typeface="Proxima Nova"/>
              <a:sym typeface="Proxima Nova"/>
            </a:endParaRPr>
          </a:p>
        </p:txBody>
      </p:sp>
      <p:pic>
        <p:nvPicPr>
          <p:cNvPr id="80" name="Google Shape;80;p17"/>
          <p:cNvPicPr preferRelativeResize="0"/>
          <p:nvPr/>
        </p:nvPicPr>
        <p:blipFill>
          <a:blip r:embed="rId3">
            <a:alphaModFix/>
          </a:blip>
          <a:stretch>
            <a:fillRect/>
          </a:stretch>
        </p:blipFill>
        <p:spPr>
          <a:xfrm>
            <a:off x="1493775" y="1354150"/>
            <a:ext cx="1729749" cy="1729749"/>
          </a:xfrm>
          <a:prstGeom prst="rect">
            <a:avLst/>
          </a:prstGeom>
          <a:noFill/>
          <a:ln>
            <a:noFill/>
          </a:ln>
        </p:spPr>
      </p:pic>
      <p:sp>
        <p:nvSpPr>
          <p:cNvPr id="81" name="Google Shape;81;p17"/>
          <p:cNvSpPr txBox="1"/>
          <p:nvPr/>
        </p:nvSpPr>
        <p:spPr>
          <a:xfrm>
            <a:off x="634925" y="3379725"/>
            <a:ext cx="3553500" cy="9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From the analysis output, we use a </a:t>
            </a:r>
            <a:r>
              <a:rPr b="1" lang="en">
                <a:latin typeface="Proxima Nova"/>
                <a:ea typeface="Proxima Nova"/>
                <a:cs typeface="Proxima Nova"/>
                <a:sym typeface="Proxima Nova"/>
              </a:rPr>
              <a:t>mix of art and science</a:t>
            </a:r>
            <a:r>
              <a:rPr lang="en">
                <a:latin typeface="Proxima Nova"/>
                <a:ea typeface="Proxima Nova"/>
                <a:cs typeface="Proxima Nova"/>
                <a:sym typeface="Proxima Nova"/>
              </a:rPr>
              <a:t> to select the appropriate set of clusters/personas.</a:t>
            </a:r>
            <a:endParaRPr>
              <a:latin typeface="Proxima Nova"/>
              <a:ea typeface="Proxima Nova"/>
              <a:cs typeface="Proxima Nova"/>
              <a:sym typeface="Proxima Nova"/>
            </a:endParaRPr>
          </a:p>
        </p:txBody>
      </p:sp>
      <p:sp>
        <p:nvSpPr>
          <p:cNvPr id="82" name="Google Shape;82;p17"/>
          <p:cNvSpPr txBox="1"/>
          <p:nvPr/>
        </p:nvSpPr>
        <p:spPr>
          <a:xfrm>
            <a:off x="5796775" y="1872713"/>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en" sz="1300">
                <a:solidFill>
                  <a:schemeClr val="dk1"/>
                </a:solidFill>
                <a:latin typeface="Proxima Nova"/>
                <a:ea typeface="Proxima Nova"/>
                <a:cs typeface="Proxima Nova"/>
                <a:sym typeface="Proxima Nova"/>
              </a:rPr>
              <a:t>Size: </a:t>
            </a:r>
            <a:r>
              <a:rPr lang="en" sz="1300">
                <a:solidFill>
                  <a:schemeClr val="dk1"/>
                </a:solidFill>
                <a:latin typeface="Proxima Nova"/>
                <a:ea typeface="Proxima Nova"/>
                <a:cs typeface="Proxima Nova"/>
                <a:sym typeface="Proxima Nova"/>
              </a:rPr>
              <a:t> Is it viable?</a:t>
            </a:r>
            <a:endParaRPr/>
          </a:p>
        </p:txBody>
      </p:sp>
      <p:pic>
        <p:nvPicPr>
          <p:cNvPr id="83" name="Google Shape;83;p17"/>
          <p:cNvPicPr preferRelativeResize="0"/>
          <p:nvPr/>
        </p:nvPicPr>
        <p:blipFill>
          <a:blip r:embed="rId4">
            <a:alphaModFix/>
          </a:blip>
          <a:stretch>
            <a:fillRect/>
          </a:stretch>
        </p:blipFill>
        <p:spPr>
          <a:xfrm>
            <a:off x="5252957" y="2765482"/>
            <a:ext cx="361437" cy="361437"/>
          </a:xfrm>
          <a:prstGeom prst="rect">
            <a:avLst/>
          </a:prstGeom>
          <a:noFill/>
          <a:ln>
            <a:noFill/>
          </a:ln>
        </p:spPr>
      </p:pic>
      <p:sp>
        <p:nvSpPr>
          <p:cNvPr id="84" name="Google Shape;84;p17"/>
          <p:cNvSpPr txBox="1"/>
          <p:nvPr/>
        </p:nvSpPr>
        <p:spPr>
          <a:xfrm>
            <a:off x="5796775" y="2653700"/>
            <a:ext cx="25005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en" sz="1300">
                <a:solidFill>
                  <a:schemeClr val="dk1"/>
                </a:solidFill>
                <a:latin typeface="Proxima Nova"/>
                <a:ea typeface="Proxima Nova"/>
                <a:cs typeface="Proxima Nova"/>
                <a:sym typeface="Proxima Nova"/>
              </a:rPr>
              <a:t>Number:</a:t>
            </a:r>
            <a:r>
              <a:rPr lang="en" sz="1300">
                <a:solidFill>
                  <a:schemeClr val="dk1"/>
                </a:solidFill>
                <a:latin typeface="Proxima Nova"/>
                <a:ea typeface="Proxima Nova"/>
                <a:cs typeface="Proxima Nova"/>
                <a:sym typeface="Proxima Nova"/>
              </a:rPr>
              <a:t> Is it detailed enough, but manageable?</a:t>
            </a:r>
            <a:endParaRPr/>
          </a:p>
        </p:txBody>
      </p:sp>
      <p:pic>
        <p:nvPicPr>
          <p:cNvPr id="85" name="Google Shape;85;p17"/>
          <p:cNvPicPr preferRelativeResize="0"/>
          <p:nvPr/>
        </p:nvPicPr>
        <p:blipFill>
          <a:blip r:embed="rId5">
            <a:alphaModFix/>
          </a:blip>
          <a:stretch>
            <a:fillRect/>
          </a:stretch>
        </p:blipFill>
        <p:spPr>
          <a:xfrm>
            <a:off x="5268975" y="3634774"/>
            <a:ext cx="481800" cy="481800"/>
          </a:xfrm>
          <a:prstGeom prst="rect">
            <a:avLst/>
          </a:prstGeom>
          <a:noFill/>
          <a:ln>
            <a:noFill/>
          </a:ln>
        </p:spPr>
      </p:pic>
      <p:pic>
        <p:nvPicPr>
          <p:cNvPr id="86" name="Google Shape;86;p17"/>
          <p:cNvPicPr preferRelativeResize="0"/>
          <p:nvPr/>
        </p:nvPicPr>
        <p:blipFill>
          <a:blip r:embed="rId6">
            <a:alphaModFix/>
          </a:blip>
          <a:stretch>
            <a:fillRect/>
          </a:stretch>
        </p:blipFill>
        <p:spPr>
          <a:xfrm>
            <a:off x="5214649" y="1895775"/>
            <a:ext cx="438051" cy="4380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This led to the identification of 3 key personas of deal seekers…</a:t>
            </a:r>
            <a:endParaRPr b="1" sz="2000">
              <a:solidFill>
                <a:schemeClr val="dk1"/>
              </a:solidFill>
              <a:latin typeface="Proxima Nova"/>
              <a:ea typeface="Proxima Nova"/>
              <a:cs typeface="Proxima Nova"/>
              <a:sym typeface="Proxima Nova"/>
            </a:endParaRPr>
          </a:p>
        </p:txBody>
      </p:sp>
      <p:cxnSp>
        <p:nvCxnSpPr>
          <p:cNvPr id="92" name="Google Shape;92;p18"/>
          <p:cNvCxnSpPr/>
          <p:nvPr/>
        </p:nvCxnSpPr>
        <p:spPr>
          <a:xfrm>
            <a:off x="1119300" y="2876550"/>
            <a:ext cx="6905400" cy="0"/>
          </a:xfrm>
          <a:prstGeom prst="straightConnector1">
            <a:avLst/>
          </a:prstGeom>
          <a:noFill/>
          <a:ln cap="flat" cmpd="sng" w="9525">
            <a:solidFill>
              <a:schemeClr val="dk2"/>
            </a:solidFill>
            <a:prstDash val="solid"/>
            <a:round/>
            <a:headEnd len="med" w="med" type="none"/>
            <a:tailEnd len="med" w="med" type="none"/>
          </a:ln>
        </p:spPr>
      </p:cxnSp>
      <p:cxnSp>
        <p:nvCxnSpPr>
          <p:cNvPr id="93" name="Google Shape;93;p18"/>
          <p:cNvCxnSpPr/>
          <p:nvPr/>
        </p:nvCxnSpPr>
        <p:spPr>
          <a:xfrm flipH="1" rot="10800000">
            <a:off x="4567500" y="1003675"/>
            <a:ext cx="9000" cy="3737700"/>
          </a:xfrm>
          <a:prstGeom prst="straightConnector1">
            <a:avLst/>
          </a:prstGeom>
          <a:noFill/>
          <a:ln cap="flat" cmpd="sng" w="9525">
            <a:solidFill>
              <a:schemeClr val="dk2"/>
            </a:solidFill>
            <a:prstDash val="solid"/>
            <a:round/>
            <a:headEnd len="med" w="med" type="none"/>
            <a:tailEnd len="med" w="med" type="none"/>
          </a:ln>
        </p:spPr>
      </p:cxnSp>
      <p:sp>
        <p:nvSpPr>
          <p:cNvPr id="94" name="Google Shape;94;p18"/>
          <p:cNvSpPr txBox="1"/>
          <p:nvPr/>
        </p:nvSpPr>
        <p:spPr>
          <a:xfrm>
            <a:off x="304800" y="2432400"/>
            <a:ext cx="1119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latin typeface="Proxima Nova"/>
                <a:ea typeface="Proxima Nova"/>
                <a:cs typeface="Proxima Nova"/>
                <a:sym typeface="Proxima Nova"/>
              </a:rPr>
              <a:t>0% of orders on average use promos</a:t>
            </a:r>
            <a:endParaRPr sz="800">
              <a:solidFill>
                <a:schemeClr val="dk1"/>
              </a:solidFill>
              <a:latin typeface="Proxima Nova"/>
              <a:ea typeface="Proxima Nova"/>
              <a:cs typeface="Proxima Nova"/>
              <a:sym typeface="Proxima Nova"/>
            </a:endParaRPr>
          </a:p>
        </p:txBody>
      </p:sp>
      <p:sp>
        <p:nvSpPr>
          <p:cNvPr id="95" name="Google Shape;95;p18"/>
          <p:cNvSpPr txBox="1"/>
          <p:nvPr/>
        </p:nvSpPr>
        <p:spPr>
          <a:xfrm>
            <a:off x="4103700" y="697300"/>
            <a:ext cx="936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Proxima Nova"/>
                <a:ea typeface="Proxima Nova"/>
                <a:cs typeface="Proxima Nova"/>
                <a:sym typeface="Proxima Nova"/>
              </a:rPr>
              <a:t>High cost sensitivity</a:t>
            </a:r>
            <a:endParaRPr sz="800">
              <a:solidFill>
                <a:schemeClr val="dk1"/>
              </a:solidFill>
              <a:latin typeface="Proxima Nova"/>
              <a:ea typeface="Proxima Nova"/>
              <a:cs typeface="Proxima Nova"/>
              <a:sym typeface="Proxima Nova"/>
            </a:endParaRPr>
          </a:p>
        </p:txBody>
      </p:sp>
      <p:sp>
        <p:nvSpPr>
          <p:cNvPr id="96" name="Google Shape;96;p18"/>
          <p:cNvSpPr txBox="1"/>
          <p:nvPr/>
        </p:nvSpPr>
        <p:spPr>
          <a:xfrm>
            <a:off x="4103700" y="4665175"/>
            <a:ext cx="936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Proxima Nova"/>
                <a:ea typeface="Proxima Nova"/>
                <a:cs typeface="Proxima Nova"/>
                <a:sym typeface="Proxima Nova"/>
              </a:rPr>
              <a:t>Low cost sensitivity</a:t>
            </a:r>
            <a:endParaRPr sz="800">
              <a:solidFill>
                <a:schemeClr val="dk1"/>
              </a:solidFill>
              <a:latin typeface="Proxima Nova"/>
              <a:ea typeface="Proxima Nova"/>
              <a:cs typeface="Proxima Nova"/>
              <a:sym typeface="Proxima Nova"/>
            </a:endParaRPr>
          </a:p>
        </p:txBody>
      </p:sp>
      <p:sp>
        <p:nvSpPr>
          <p:cNvPr id="97" name="Google Shape;97;p18"/>
          <p:cNvSpPr txBox="1"/>
          <p:nvPr/>
        </p:nvSpPr>
        <p:spPr>
          <a:xfrm>
            <a:off x="7643700" y="2508600"/>
            <a:ext cx="1119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latin typeface="Proxima Nova"/>
                <a:ea typeface="Proxima Nova"/>
                <a:cs typeface="Proxima Nova"/>
                <a:sym typeface="Proxima Nova"/>
              </a:rPr>
              <a:t>100% of orders on average use promos</a:t>
            </a:r>
            <a:endParaRPr sz="800">
              <a:solidFill>
                <a:schemeClr val="dk1"/>
              </a:solidFill>
              <a:latin typeface="Proxima Nova"/>
              <a:ea typeface="Proxima Nova"/>
              <a:cs typeface="Proxima Nova"/>
              <a:sym typeface="Proxima Nova"/>
            </a:endParaRPr>
          </a:p>
        </p:txBody>
      </p:sp>
      <p:sp>
        <p:nvSpPr>
          <p:cNvPr id="98" name="Google Shape;98;p18"/>
          <p:cNvSpPr/>
          <p:nvPr/>
        </p:nvSpPr>
        <p:spPr>
          <a:xfrm>
            <a:off x="5356700" y="2721300"/>
            <a:ext cx="826200" cy="701700"/>
          </a:xfrm>
          <a:prstGeom prst="ellipse">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8"/>
          <p:cNvSpPr/>
          <p:nvPr/>
        </p:nvSpPr>
        <p:spPr>
          <a:xfrm>
            <a:off x="2792950" y="1555600"/>
            <a:ext cx="518400" cy="495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8"/>
          <p:cNvSpPr/>
          <p:nvPr/>
        </p:nvSpPr>
        <p:spPr>
          <a:xfrm>
            <a:off x="2039225" y="3437375"/>
            <a:ext cx="619500" cy="603900"/>
          </a:xfrm>
          <a:prstGeom prst="ellipse">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8"/>
          <p:cNvSpPr txBox="1"/>
          <p:nvPr/>
        </p:nvSpPr>
        <p:spPr>
          <a:xfrm>
            <a:off x="5040100" y="3377000"/>
            <a:ext cx="1596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4A86E8"/>
                </a:solidFill>
                <a:latin typeface="Proxima Nova"/>
                <a:ea typeface="Proxima Nova"/>
                <a:cs typeface="Proxima Nova"/>
                <a:sym typeface="Proxima Nova"/>
              </a:rPr>
              <a:t>Deal Hunters</a:t>
            </a:r>
            <a:endParaRPr sz="1000"/>
          </a:p>
        </p:txBody>
      </p:sp>
      <p:sp>
        <p:nvSpPr>
          <p:cNvPr id="102" name="Google Shape;102;p18"/>
          <p:cNvSpPr txBox="1"/>
          <p:nvPr/>
        </p:nvSpPr>
        <p:spPr>
          <a:xfrm>
            <a:off x="2430900" y="2051400"/>
            <a:ext cx="1731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F9900"/>
                </a:solidFill>
                <a:latin typeface="Proxima Nova"/>
                <a:ea typeface="Proxima Nova"/>
                <a:cs typeface="Proxima Nova"/>
                <a:sym typeface="Proxima Nova"/>
              </a:rPr>
              <a:t>Budget Minders</a:t>
            </a:r>
            <a:endParaRPr sz="1000">
              <a:solidFill>
                <a:srgbClr val="FF9900"/>
              </a:solidFill>
            </a:endParaRPr>
          </a:p>
        </p:txBody>
      </p:sp>
      <p:sp>
        <p:nvSpPr>
          <p:cNvPr id="103" name="Google Shape;103;p18"/>
          <p:cNvSpPr txBox="1"/>
          <p:nvPr/>
        </p:nvSpPr>
        <p:spPr>
          <a:xfrm>
            <a:off x="1815425" y="4016700"/>
            <a:ext cx="1495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8E7CC3"/>
                </a:solidFill>
                <a:latin typeface="Proxima Nova"/>
                <a:ea typeface="Proxima Nova"/>
                <a:cs typeface="Proxima Nova"/>
                <a:sym typeface="Proxima Nova"/>
              </a:rPr>
              <a:t>Thrill Seekers</a:t>
            </a:r>
            <a:endParaRPr sz="1000">
              <a:solidFill>
                <a:srgbClr val="8E7CC3"/>
              </a:solidFill>
            </a:endParaRPr>
          </a:p>
        </p:txBody>
      </p:sp>
      <p:sp>
        <p:nvSpPr>
          <p:cNvPr id="104" name="Google Shape;104;p18"/>
          <p:cNvSpPr txBox="1"/>
          <p:nvPr/>
        </p:nvSpPr>
        <p:spPr>
          <a:xfrm>
            <a:off x="304800" y="794825"/>
            <a:ext cx="3988500" cy="2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roxima Nova"/>
                <a:ea typeface="Proxima Nova"/>
                <a:cs typeface="Proxima Nova"/>
                <a:sym typeface="Proxima Nova"/>
              </a:rPr>
              <a:t>Promo usage by cost sensitivity:</a:t>
            </a:r>
            <a:endParaRPr sz="1100">
              <a:latin typeface="Proxima Nova"/>
              <a:ea typeface="Proxima Nova"/>
              <a:cs typeface="Proxima Nova"/>
              <a:sym typeface="Proxima Nova"/>
            </a:endParaRPr>
          </a:p>
        </p:txBody>
      </p:sp>
      <p:sp>
        <p:nvSpPr>
          <p:cNvPr id="105" name="Google Shape;105;p18"/>
          <p:cNvSpPr txBox="1"/>
          <p:nvPr/>
        </p:nvSpPr>
        <p:spPr>
          <a:xfrm>
            <a:off x="5401000" y="2825850"/>
            <a:ext cx="701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chemeClr val="lt1"/>
                </a:solidFill>
                <a:latin typeface="Proxima Nova"/>
                <a:ea typeface="Proxima Nova"/>
                <a:cs typeface="Proxima Nova"/>
                <a:sym typeface="Proxima Nova"/>
              </a:rPr>
              <a:t>47%</a:t>
            </a:r>
            <a:endParaRPr>
              <a:solidFill>
                <a:schemeClr val="lt1"/>
              </a:solidFill>
            </a:endParaRPr>
          </a:p>
        </p:txBody>
      </p:sp>
      <p:sp>
        <p:nvSpPr>
          <p:cNvPr id="106" name="Google Shape;106;p18"/>
          <p:cNvSpPr txBox="1"/>
          <p:nvPr/>
        </p:nvSpPr>
        <p:spPr>
          <a:xfrm>
            <a:off x="1998275" y="3513575"/>
            <a:ext cx="701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lt1"/>
                </a:solidFill>
                <a:latin typeface="Proxima Nova"/>
                <a:ea typeface="Proxima Nova"/>
                <a:cs typeface="Proxima Nova"/>
                <a:sym typeface="Proxima Nova"/>
              </a:rPr>
              <a:t>31%</a:t>
            </a:r>
            <a:endParaRPr sz="1200">
              <a:solidFill>
                <a:schemeClr val="lt1"/>
              </a:solidFill>
            </a:endParaRPr>
          </a:p>
        </p:txBody>
      </p:sp>
      <p:sp>
        <p:nvSpPr>
          <p:cNvPr id="107" name="Google Shape;107;p18"/>
          <p:cNvSpPr txBox="1"/>
          <p:nvPr/>
        </p:nvSpPr>
        <p:spPr>
          <a:xfrm>
            <a:off x="2734925" y="1581125"/>
            <a:ext cx="7014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lt1"/>
                </a:solidFill>
                <a:latin typeface="Proxima Nova"/>
                <a:ea typeface="Proxima Nova"/>
                <a:cs typeface="Proxima Nova"/>
                <a:sym typeface="Proxima Nova"/>
              </a:rPr>
              <a:t>22%</a:t>
            </a:r>
            <a:endParaRPr sz="9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nvSpPr>
        <p:spPr>
          <a:xfrm>
            <a:off x="1348725" y="1071700"/>
            <a:ext cx="17721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4A86E8"/>
                </a:solidFill>
                <a:latin typeface="Poppins SemiBold"/>
                <a:ea typeface="Poppins SemiBold"/>
                <a:cs typeface="Poppins SemiBold"/>
                <a:sym typeface="Poppins SemiBold"/>
              </a:rPr>
              <a:t>Deal Hunters</a:t>
            </a:r>
            <a:endParaRPr>
              <a:latin typeface="Poppins SemiBold"/>
              <a:ea typeface="Poppins SemiBold"/>
              <a:cs typeface="Poppins SemiBold"/>
              <a:sym typeface="Poppins SemiBold"/>
            </a:endParaRPr>
          </a:p>
        </p:txBody>
      </p:sp>
      <p:sp>
        <p:nvSpPr>
          <p:cNvPr id="113" name="Google Shape;113;p19"/>
          <p:cNvSpPr txBox="1"/>
          <p:nvPr/>
        </p:nvSpPr>
        <p:spPr>
          <a:xfrm>
            <a:off x="1348725" y="2256750"/>
            <a:ext cx="19143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FF9900"/>
                </a:solidFill>
                <a:latin typeface="Poppins SemiBold"/>
                <a:ea typeface="Poppins SemiBold"/>
                <a:cs typeface="Poppins SemiBold"/>
                <a:sym typeface="Poppins SemiBold"/>
              </a:rPr>
              <a:t>Budget Minders</a:t>
            </a:r>
            <a:endParaRPr>
              <a:latin typeface="Poppins SemiBold"/>
              <a:ea typeface="Poppins SemiBold"/>
              <a:cs typeface="Poppins SemiBold"/>
              <a:sym typeface="Poppins SemiBold"/>
            </a:endParaRPr>
          </a:p>
        </p:txBody>
      </p:sp>
      <p:sp>
        <p:nvSpPr>
          <p:cNvPr id="114" name="Google Shape;114;p19"/>
          <p:cNvSpPr txBox="1"/>
          <p:nvPr/>
        </p:nvSpPr>
        <p:spPr>
          <a:xfrm>
            <a:off x="1348725" y="3614175"/>
            <a:ext cx="16923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674EA7"/>
                </a:solidFill>
                <a:latin typeface="Poppins SemiBold"/>
                <a:ea typeface="Poppins SemiBold"/>
                <a:cs typeface="Poppins SemiBold"/>
                <a:sym typeface="Poppins SemiBold"/>
              </a:rPr>
              <a:t>Thrill Seekers</a:t>
            </a:r>
            <a:endParaRPr>
              <a:latin typeface="Poppins SemiBold"/>
              <a:ea typeface="Poppins SemiBold"/>
              <a:cs typeface="Poppins SemiBold"/>
              <a:sym typeface="Poppins SemiBold"/>
            </a:endParaRPr>
          </a:p>
        </p:txBody>
      </p:sp>
      <p:sp>
        <p:nvSpPr>
          <p:cNvPr id="115" name="Google Shape;115;p19"/>
          <p:cNvSpPr txBox="1"/>
          <p:nvPr/>
        </p:nvSpPr>
        <p:spPr>
          <a:xfrm>
            <a:off x="3089025" y="1206275"/>
            <a:ext cx="5300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4A86E8"/>
                </a:solidFill>
                <a:latin typeface="Poppins SemiBold"/>
                <a:ea typeface="Poppins SemiBold"/>
                <a:cs typeface="Poppins SemiBold"/>
                <a:sym typeface="Poppins SemiBold"/>
              </a:rPr>
              <a:t>I want to make sure I’m getting the best possible deal on every order I place.</a:t>
            </a:r>
            <a:endParaRPr sz="1500">
              <a:latin typeface="Poppins SemiBold"/>
              <a:ea typeface="Poppins SemiBold"/>
              <a:cs typeface="Poppins SemiBold"/>
              <a:sym typeface="Poppins SemiBold"/>
            </a:endParaRPr>
          </a:p>
        </p:txBody>
      </p:sp>
      <p:sp>
        <p:nvSpPr>
          <p:cNvPr id="116" name="Google Shape;116;p19"/>
          <p:cNvSpPr txBox="1"/>
          <p:nvPr/>
        </p:nvSpPr>
        <p:spPr>
          <a:xfrm>
            <a:off x="3089025" y="2331450"/>
            <a:ext cx="5300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FF9900"/>
                </a:solidFill>
                <a:latin typeface="Poppins SemiBold"/>
                <a:ea typeface="Poppins SemiBold"/>
                <a:cs typeface="Poppins SemiBold"/>
                <a:sym typeface="Poppins SemiBold"/>
              </a:rPr>
              <a:t>I need quality food within my cost range, a promo is helpful but not the only way to save</a:t>
            </a:r>
            <a:endParaRPr sz="1500">
              <a:solidFill>
                <a:srgbClr val="FF9900"/>
              </a:solidFill>
              <a:latin typeface="Poppins SemiBold"/>
              <a:ea typeface="Poppins SemiBold"/>
              <a:cs typeface="Poppins SemiBold"/>
              <a:sym typeface="Poppins SemiBold"/>
            </a:endParaRPr>
          </a:p>
        </p:txBody>
      </p:sp>
      <p:sp>
        <p:nvSpPr>
          <p:cNvPr id="117" name="Google Shape;117;p19"/>
          <p:cNvSpPr txBox="1"/>
          <p:nvPr/>
        </p:nvSpPr>
        <p:spPr>
          <a:xfrm>
            <a:off x="3089025" y="3609025"/>
            <a:ext cx="5300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674EA7"/>
                </a:solidFill>
                <a:latin typeface="Poppins SemiBold"/>
                <a:ea typeface="Poppins SemiBold"/>
                <a:cs typeface="Poppins SemiBold"/>
                <a:sym typeface="Poppins SemiBold"/>
              </a:rPr>
              <a:t>I am going to order what I want regardless of promotions, but it is exciting when I get a good deal</a:t>
            </a:r>
            <a:endParaRPr sz="1500">
              <a:solidFill>
                <a:srgbClr val="674EA7"/>
              </a:solidFill>
              <a:latin typeface="Poppins SemiBold"/>
              <a:ea typeface="Poppins SemiBold"/>
              <a:cs typeface="Poppins SemiBold"/>
              <a:sym typeface="Poppins SemiBold"/>
            </a:endParaRPr>
          </a:p>
        </p:txBody>
      </p:sp>
      <p:pic>
        <p:nvPicPr>
          <p:cNvPr id="118" name="Google Shape;118;p19"/>
          <p:cNvPicPr preferRelativeResize="0"/>
          <p:nvPr/>
        </p:nvPicPr>
        <p:blipFill>
          <a:blip r:embed="rId3">
            <a:alphaModFix/>
          </a:blip>
          <a:stretch>
            <a:fillRect/>
          </a:stretch>
        </p:blipFill>
        <p:spPr>
          <a:xfrm>
            <a:off x="593300" y="1106300"/>
            <a:ext cx="646500" cy="646500"/>
          </a:xfrm>
          <a:prstGeom prst="rect">
            <a:avLst/>
          </a:prstGeom>
          <a:noFill/>
          <a:ln>
            <a:noFill/>
          </a:ln>
        </p:spPr>
      </p:pic>
      <p:pic>
        <p:nvPicPr>
          <p:cNvPr id="119" name="Google Shape;119;p19"/>
          <p:cNvPicPr preferRelativeResize="0"/>
          <p:nvPr/>
        </p:nvPicPr>
        <p:blipFill>
          <a:blip r:embed="rId4">
            <a:alphaModFix/>
          </a:blip>
          <a:stretch>
            <a:fillRect/>
          </a:stretch>
        </p:blipFill>
        <p:spPr>
          <a:xfrm>
            <a:off x="670250" y="2408399"/>
            <a:ext cx="492600" cy="492600"/>
          </a:xfrm>
          <a:prstGeom prst="rect">
            <a:avLst/>
          </a:prstGeom>
          <a:noFill/>
          <a:ln>
            <a:noFill/>
          </a:ln>
        </p:spPr>
      </p:pic>
      <p:pic>
        <p:nvPicPr>
          <p:cNvPr id="120" name="Google Shape;120;p19"/>
          <p:cNvPicPr preferRelativeResize="0"/>
          <p:nvPr/>
        </p:nvPicPr>
        <p:blipFill>
          <a:blip r:embed="rId5">
            <a:alphaModFix/>
          </a:blip>
          <a:stretch>
            <a:fillRect/>
          </a:stretch>
        </p:blipFill>
        <p:spPr>
          <a:xfrm>
            <a:off x="593300" y="3690375"/>
            <a:ext cx="492600" cy="492600"/>
          </a:xfrm>
          <a:prstGeom prst="rect">
            <a:avLst/>
          </a:prstGeom>
          <a:noFill/>
          <a:ln>
            <a:noFill/>
          </a:ln>
        </p:spPr>
      </p:pic>
      <p:sp>
        <p:nvSpPr>
          <p:cNvPr id="121" name="Google Shape;121;p19"/>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2" name="Google Shape;122;p19"/>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…with unique experiences and preferences</a:t>
            </a:r>
            <a:endParaRPr b="1" sz="2000">
              <a:solidFill>
                <a:schemeClr val="dk1"/>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8" name="Google Shape;128;p20"/>
          <p:cNvSpPr txBox="1"/>
          <p:nvPr/>
        </p:nvSpPr>
        <p:spPr>
          <a:xfrm>
            <a:off x="609800" y="1537775"/>
            <a:ext cx="75516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00">
                <a:solidFill>
                  <a:srgbClr val="FFFFFF"/>
                </a:solidFill>
                <a:latin typeface="Proxima Nova"/>
                <a:ea typeface="Proxima Nova"/>
                <a:cs typeface="Proxima Nova"/>
                <a:sym typeface="Proxima Nova"/>
              </a:rPr>
              <a:t>Meet the Personas</a:t>
            </a:r>
            <a:endParaRPr sz="41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41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rgbClr val="FFFFFF"/>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Who are</a:t>
            </a:r>
            <a:r>
              <a:rPr b="1" lang="en" sz="2000">
                <a:solidFill>
                  <a:srgbClr val="4A86E8"/>
                </a:solidFill>
                <a:latin typeface="Proxima Nova"/>
                <a:ea typeface="Proxima Nova"/>
                <a:cs typeface="Proxima Nova"/>
                <a:sym typeface="Proxima Nova"/>
              </a:rPr>
              <a:t> </a:t>
            </a:r>
            <a:r>
              <a:rPr b="1" lang="en" sz="2000">
                <a:solidFill>
                  <a:srgbClr val="4A86E8"/>
                </a:solidFill>
                <a:latin typeface="Proxima Nova"/>
                <a:ea typeface="Proxima Nova"/>
                <a:cs typeface="Proxima Nova"/>
                <a:sym typeface="Proxima Nova"/>
              </a:rPr>
              <a:t>Deal Hunters? (47%)</a:t>
            </a:r>
            <a:endParaRPr b="1" sz="2000">
              <a:solidFill>
                <a:srgbClr val="4A86E8"/>
              </a:solidFill>
              <a:latin typeface="Proxima Nova"/>
              <a:ea typeface="Proxima Nova"/>
              <a:cs typeface="Proxima Nova"/>
              <a:sym typeface="Proxima Nova"/>
            </a:endParaRPr>
          </a:p>
        </p:txBody>
      </p:sp>
      <p:sp>
        <p:nvSpPr>
          <p:cNvPr id="134" name="Google Shape;134;p21"/>
          <p:cNvSpPr txBox="1"/>
          <p:nvPr/>
        </p:nvSpPr>
        <p:spPr>
          <a:xfrm>
            <a:off x="1617400" y="1777350"/>
            <a:ext cx="21135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Proxima Nova"/>
                <a:ea typeface="Proxima Nova"/>
                <a:cs typeface="Proxima Nova"/>
                <a:sym typeface="Proxima Nova"/>
              </a:rPr>
              <a:t>Deal Hunters tend to be younger, educated individuals living in metropolitan areas or cities</a:t>
            </a:r>
            <a:endParaRPr sz="1200">
              <a:latin typeface="Proxima Nova"/>
              <a:ea typeface="Proxima Nova"/>
              <a:cs typeface="Proxima Nova"/>
              <a:sym typeface="Proxima Nova"/>
            </a:endParaRPr>
          </a:p>
        </p:txBody>
      </p:sp>
      <p:sp>
        <p:nvSpPr>
          <p:cNvPr id="135" name="Google Shape;135;p21"/>
          <p:cNvSpPr txBox="1"/>
          <p:nvPr/>
        </p:nvSpPr>
        <p:spPr>
          <a:xfrm>
            <a:off x="442900" y="3670625"/>
            <a:ext cx="3988500" cy="2931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SzPts val="1100"/>
              <a:buFont typeface="Proxima Nova"/>
              <a:buChar char="●"/>
            </a:pPr>
            <a:r>
              <a:rPr lang="en" sz="1100">
                <a:latin typeface="Proxima Nova"/>
                <a:ea typeface="Proxima Nova"/>
                <a:cs typeface="Proxima Nova"/>
                <a:sym typeface="Proxima Nova"/>
              </a:rPr>
              <a:t>More likely to order monthly or a few times a month</a:t>
            </a:r>
            <a:endParaRPr sz="1100">
              <a:latin typeface="Proxima Nova"/>
              <a:ea typeface="Proxima Nova"/>
              <a:cs typeface="Proxima Nova"/>
              <a:sym typeface="Proxima Nova"/>
            </a:endParaRPr>
          </a:p>
          <a:p>
            <a:pPr indent="-298450" lvl="0" marL="457200" rtl="0" algn="l">
              <a:spcBef>
                <a:spcPts val="0"/>
              </a:spcBef>
              <a:spcAft>
                <a:spcPts val="0"/>
              </a:spcAft>
              <a:buSzPts val="1100"/>
              <a:buFont typeface="Proxima Nova"/>
              <a:buChar char="●"/>
            </a:pPr>
            <a:r>
              <a:rPr lang="en" sz="1100">
                <a:latin typeface="Proxima Nova"/>
                <a:ea typeface="Proxima Nova"/>
                <a:cs typeface="Proxima Nova"/>
                <a:sym typeface="Proxima Nova"/>
              </a:rPr>
              <a:t>More than half use promos on every order and compare across apps</a:t>
            </a:r>
            <a:endParaRPr sz="1100">
              <a:latin typeface="Proxima Nova"/>
              <a:ea typeface="Proxima Nova"/>
              <a:cs typeface="Proxima Nova"/>
              <a:sym typeface="Proxima Nova"/>
            </a:endParaRPr>
          </a:p>
          <a:p>
            <a:pPr indent="-298450" lvl="0" marL="457200" rtl="0" algn="l">
              <a:spcBef>
                <a:spcPts val="0"/>
              </a:spcBef>
              <a:spcAft>
                <a:spcPts val="0"/>
              </a:spcAft>
              <a:buSzPts val="1100"/>
              <a:buFont typeface="Proxima Nova"/>
              <a:buChar char="●"/>
            </a:pPr>
            <a:r>
              <a:rPr lang="en" sz="1100">
                <a:latin typeface="Proxima Nova"/>
                <a:ea typeface="Proxima Nova"/>
                <a:cs typeface="Proxima Nova"/>
                <a:sym typeface="Proxima Nova"/>
              </a:rPr>
              <a:t>63% of DoorDash orders on average use a promotion(stated)</a:t>
            </a:r>
            <a:endParaRPr sz="1100">
              <a:latin typeface="Proxima Nova"/>
              <a:ea typeface="Proxima Nova"/>
              <a:cs typeface="Proxima Nova"/>
              <a:sym typeface="Proxima Nova"/>
            </a:endParaRPr>
          </a:p>
        </p:txBody>
      </p:sp>
      <p:sp>
        <p:nvSpPr>
          <p:cNvPr id="136" name="Google Shape;136;p21"/>
          <p:cNvSpPr/>
          <p:nvPr/>
        </p:nvSpPr>
        <p:spPr>
          <a:xfrm>
            <a:off x="511425" y="1096175"/>
            <a:ext cx="3637200" cy="368100"/>
          </a:xfrm>
          <a:prstGeom prst="rect">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Proxima Nova"/>
                <a:ea typeface="Proxima Nova"/>
                <a:cs typeface="Proxima Nova"/>
                <a:sym typeface="Proxima Nova"/>
              </a:rPr>
              <a:t>Who are they?</a:t>
            </a:r>
            <a:endParaRPr b="1" sz="1300">
              <a:solidFill>
                <a:schemeClr val="lt1"/>
              </a:solidFill>
              <a:latin typeface="Proxima Nova"/>
              <a:ea typeface="Proxima Nova"/>
              <a:cs typeface="Proxima Nova"/>
              <a:sym typeface="Proxima Nova"/>
            </a:endParaRPr>
          </a:p>
        </p:txBody>
      </p:sp>
      <p:pic>
        <p:nvPicPr>
          <p:cNvPr id="137" name="Google Shape;137;p21"/>
          <p:cNvPicPr preferRelativeResize="0"/>
          <p:nvPr/>
        </p:nvPicPr>
        <p:blipFill>
          <a:blip r:embed="rId3">
            <a:alphaModFix/>
          </a:blip>
          <a:stretch>
            <a:fillRect/>
          </a:stretch>
        </p:blipFill>
        <p:spPr>
          <a:xfrm>
            <a:off x="511425" y="1608575"/>
            <a:ext cx="976599" cy="976599"/>
          </a:xfrm>
          <a:prstGeom prst="rect">
            <a:avLst/>
          </a:prstGeom>
          <a:noFill/>
          <a:ln>
            <a:noFill/>
          </a:ln>
        </p:spPr>
      </p:pic>
      <p:sp>
        <p:nvSpPr>
          <p:cNvPr id="138" name="Google Shape;138;p21"/>
          <p:cNvSpPr/>
          <p:nvPr/>
        </p:nvSpPr>
        <p:spPr>
          <a:xfrm>
            <a:off x="511425" y="3271150"/>
            <a:ext cx="3637200" cy="336900"/>
          </a:xfrm>
          <a:prstGeom prst="rect">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Proxima Nova"/>
                <a:ea typeface="Proxima Nova"/>
                <a:cs typeface="Proxima Nova"/>
                <a:sym typeface="Proxima Nova"/>
              </a:rPr>
              <a:t>What are their ordering behaviors</a:t>
            </a:r>
            <a:r>
              <a:rPr b="1" lang="en" sz="1300">
                <a:solidFill>
                  <a:schemeClr val="lt1"/>
                </a:solidFill>
                <a:latin typeface="Proxima Nova"/>
                <a:ea typeface="Proxima Nova"/>
                <a:cs typeface="Proxima Nova"/>
                <a:sym typeface="Proxima Nova"/>
              </a:rPr>
              <a:t>?</a:t>
            </a:r>
            <a:endParaRPr b="1" sz="1300">
              <a:solidFill>
                <a:schemeClr val="lt1"/>
              </a:solidFill>
              <a:latin typeface="Proxima Nova"/>
              <a:ea typeface="Proxima Nova"/>
              <a:cs typeface="Proxima Nova"/>
              <a:sym typeface="Proxima Nova"/>
            </a:endParaRPr>
          </a:p>
        </p:txBody>
      </p:sp>
      <p:sp>
        <p:nvSpPr>
          <p:cNvPr id="139" name="Google Shape;139;p21"/>
          <p:cNvSpPr txBox="1"/>
          <p:nvPr/>
        </p:nvSpPr>
        <p:spPr>
          <a:xfrm>
            <a:off x="4448800" y="1171075"/>
            <a:ext cx="4371000" cy="2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a:latin typeface="Proxima Nova"/>
              <a:ea typeface="Proxima Nova"/>
              <a:cs typeface="Proxima Nova"/>
              <a:sym typeface="Proxima Nova"/>
            </a:endParaRPr>
          </a:p>
          <a:p>
            <a:pPr indent="0" lvl="0" marL="0" rtl="0" algn="l">
              <a:spcBef>
                <a:spcPts val="0"/>
              </a:spcBef>
              <a:spcAft>
                <a:spcPts val="0"/>
              </a:spcAft>
              <a:buNone/>
            </a:pPr>
            <a:r>
              <a:t/>
            </a:r>
            <a:endParaRPr b="1">
              <a:latin typeface="Proxima Nova"/>
              <a:ea typeface="Proxima Nova"/>
              <a:cs typeface="Proxima Nova"/>
              <a:sym typeface="Proxima Nova"/>
            </a:endParaRPr>
          </a:p>
          <a:p>
            <a:pPr indent="-298450" lvl="0" marL="457200" rtl="0" algn="l">
              <a:spcBef>
                <a:spcPts val="0"/>
              </a:spcBef>
              <a:spcAft>
                <a:spcPts val="0"/>
              </a:spcAft>
              <a:buSzPts val="1100"/>
              <a:buFont typeface="Proxima Nova"/>
              <a:buChar char="●"/>
            </a:pPr>
            <a:r>
              <a:rPr lang="en" sz="1100">
                <a:latin typeface="Proxima Nova"/>
                <a:ea typeface="Proxima Nova"/>
                <a:cs typeface="Proxima Nova"/>
                <a:sym typeface="Proxima Nova"/>
              </a:rPr>
              <a:t>Least likely of any persona to have a strict budget, though most Cx have a range they like to stay within</a:t>
            </a:r>
            <a:endParaRPr sz="1100">
              <a:latin typeface="Proxima Nova"/>
              <a:ea typeface="Proxima Nova"/>
              <a:cs typeface="Proxima Nova"/>
              <a:sym typeface="Proxima Nova"/>
            </a:endParaRPr>
          </a:p>
          <a:p>
            <a:pPr indent="-298450" lvl="0" marL="457200" rtl="0" algn="l">
              <a:spcBef>
                <a:spcPts val="0"/>
              </a:spcBef>
              <a:spcAft>
                <a:spcPts val="0"/>
              </a:spcAft>
              <a:buSzPts val="1100"/>
              <a:buFont typeface="Proxima Nova"/>
              <a:buChar char="●"/>
            </a:pPr>
            <a:r>
              <a:rPr lang="en" sz="1100">
                <a:latin typeface="Proxima Nova"/>
                <a:ea typeface="Proxima Nova"/>
                <a:cs typeface="Proxima Nova"/>
                <a:sym typeface="Proxima Nova"/>
              </a:rPr>
              <a:t>54% T2B agree that they will not place on order on any app unless there is a promo or discount </a:t>
            </a:r>
            <a:endParaRPr sz="1100">
              <a:latin typeface="Proxima Nova"/>
              <a:ea typeface="Proxima Nova"/>
              <a:cs typeface="Proxima Nova"/>
              <a:sym typeface="Proxima Nova"/>
            </a:endParaRPr>
          </a:p>
          <a:p>
            <a:pPr indent="-298450" lvl="0" marL="457200" rtl="0" algn="l">
              <a:spcBef>
                <a:spcPts val="0"/>
              </a:spcBef>
              <a:spcAft>
                <a:spcPts val="0"/>
              </a:spcAft>
              <a:buSzPts val="1100"/>
              <a:buFont typeface="Proxima Nova"/>
              <a:buChar char="●"/>
            </a:pPr>
            <a:r>
              <a:rPr lang="en" sz="1100">
                <a:latin typeface="Proxima Nova"/>
                <a:ea typeface="Proxima Nova"/>
                <a:cs typeface="Proxima Nova"/>
                <a:sym typeface="Proxima Nova"/>
              </a:rPr>
              <a:t>28% want to make sure they are spending the least amount across potential ordering experiences (vs 15% Total)</a:t>
            </a:r>
            <a:endParaRPr sz="1100">
              <a:latin typeface="Proxima Nova"/>
              <a:ea typeface="Proxima Nova"/>
              <a:cs typeface="Proxima Nova"/>
              <a:sym typeface="Proxima Nova"/>
            </a:endParaRPr>
          </a:p>
          <a:p>
            <a:pPr indent="-298450" lvl="0" marL="457200" rtl="0" algn="l">
              <a:spcBef>
                <a:spcPts val="0"/>
              </a:spcBef>
              <a:spcAft>
                <a:spcPts val="0"/>
              </a:spcAft>
              <a:buSzPts val="1100"/>
              <a:buFont typeface="Proxima Nova"/>
              <a:buChar char="●"/>
            </a:pPr>
            <a:r>
              <a:rPr lang="en" sz="1100">
                <a:latin typeface="Proxima Nova"/>
                <a:ea typeface="Proxima Nova"/>
                <a:cs typeface="Proxima Nova"/>
                <a:sym typeface="Proxima Nova"/>
              </a:rPr>
              <a:t>They do not feel it is fair to spend more than $25 for a promo and expect at least $10 in value from promos</a:t>
            </a:r>
            <a:endParaRPr sz="1100">
              <a:latin typeface="Proxima Nova"/>
              <a:ea typeface="Proxima Nova"/>
              <a:cs typeface="Proxima Nova"/>
              <a:sym typeface="Proxima Nova"/>
            </a:endParaRPr>
          </a:p>
        </p:txBody>
      </p:sp>
      <p:sp>
        <p:nvSpPr>
          <p:cNvPr id="140" name="Google Shape;140;p21"/>
          <p:cNvSpPr/>
          <p:nvPr/>
        </p:nvSpPr>
        <p:spPr>
          <a:xfrm>
            <a:off x="4562275" y="1096175"/>
            <a:ext cx="4161300" cy="368100"/>
          </a:xfrm>
          <a:prstGeom prst="rect">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300">
                <a:solidFill>
                  <a:schemeClr val="lt1"/>
                </a:solidFill>
                <a:latin typeface="Proxima Nova"/>
                <a:ea typeface="Proxima Nova"/>
                <a:cs typeface="Proxima Nova"/>
                <a:sym typeface="Proxima Nova"/>
              </a:rPr>
              <a:t>What are their thoughts on budgeting/spending?</a:t>
            </a:r>
            <a:endParaRPr b="1" sz="1200">
              <a:solidFill>
                <a:schemeClr val="lt1"/>
              </a:solidFill>
              <a:latin typeface="Proxima Nova"/>
              <a:ea typeface="Proxima Nova"/>
              <a:cs typeface="Proxima Nova"/>
              <a:sym typeface="Proxima Nova"/>
            </a:endParaRPr>
          </a:p>
        </p:txBody>
      </p:sp>
      <p:sp>
        <p:nvSpPr>
          <p:cNvPr id="141" name="Google Shape;141;p21"/>
          <p:cNvSpPr/>
          <p:nvPr/>
        </p:nvSpPr>
        <p:spPr>
          <a:xfrm>
            <a:off x="4562275" y="3271151"/>
            <a:ext cx="4161300" cy="336900"/>
          </a:xfrm>
          <a:prstGeom prst="rect">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300">
                <a:solidFill>
                  <a:schemeClr val="lt1"/>
                </a:solidFill>
                <a:latin typeface="Proxima Nova"/>
                <a:ea typeface="Proxima Nova"/>
                <a:cs typeface="Proxima Nova"/>
                <a:sym typeface="Proxima Nova"/>
              </a:rPr>
              <a:t>What are their promotion preferences?</a:t>
            </a:r>
            <a:endParaRPr b="1" sz="1200">
              <a:solidFill>
                <a:schemeClr val="lt1"/>
              </a:solidFill>
              <a:latin typeface="Proxima Nova"/>
              <a:ea typeface="Proxima Nova"/>
              <a:cs typeface="Proxima Nova"/>
              <a:sym typeface="Proxima Nova"/>
            </a:endParaRPr>
          </a:p>
        </p:txBody>
      </p:sp>
      <p:sp>
        <p:nvSpPr>
          <p:cNvPr id="142" name="Google Shape;142;p21"/>
          <p:cNvSpPr txBox="1"/>
          <p:nvPr/>
        </p:nvSpPr>
        <p:spPr>
          <a:xfrm>
            <a:off x="4409875" y="3670625"/>
            <a:ext cx="4255200" cy="692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Prefer to see % off order, or $ off order deals without minimum spend requirements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Also strong interest in BOGO compared to other personas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How can we reach </a:t>
            </a:r>
            <a:r>
              <a:rPr b="1" lang="en" sz="2000">
                <a:solidFill>
                  <a:srgbClr val="4A86E8"/>
                </a:solidFill>
                <a:latin typeface="Proxima Nova"/>
                <a:ea typeface="Proxima Nova"/>
                <a:cs typeface="Proxima Nova"/>
                <a:sym typeface="Proxima Nova"/>
              </a:rPr>
              <a:t>Deal Hunters?</a:t>
            </a:r>
            <a:endParaRPr b="1" sz="2000">
              <a:solidFill>
                <a:srgbClr val="4A86E8"/>
              </a:solidFill>
              <a:latin typeface="Proxima Nova"/>
              <a:ea typeface="Proxima Nova"/>
              <a:cs typeface="Proxima Nova"/>
              <a:sym typeface="Proxima Nova"/>
            </a:endParaRPr>
          </a:p>
        </p:txBody>
      </p:sp>
      <p:sp>
        <p:nvSpPr>
          <p:cNvPr id="148" name="Google Shape;148;p22"/>
          <p:cNvSpPr txBox="1"/>
          <p:nvPr/>
        </p:nvSpPr>
        <p:spPr>
          <a:xfrm>
            <a:off x="1561800" y="988500"/>
            <a:ext cx="6899700" cy="364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Proxima Nova"/>
                <a:ea typeface="Proxima Nova"/>
                <a:cs typeface="Proxima Nova"/>
                <a:sym typeface="Proxima Nova"/>
              </a:rPr>
              <a:t>Deal Hunters require further discussion to </a:t>
            </a:r>
            <a:r>
              <a:rPr lang="en" sz="1500">
                <a:solidFill>
                  <a:schemeClr val="dk1"/>
                </a:solidFill>
                <a:latin typeface="Proxima Nova"/>
                <a:ea typeface="Proxima Nova"/>
                <a:cs typeface="Proxima Nova"/>
                <a:sym typeface="Proxima Nova"/>
              </a:rPr>
              <a:t>understand</a:t>
            </a:r>
            <a:r>
              <a:rPr lang="en" sz="1500">
                <a:solidFill>
                  <a:schemeClr val="dk1"/>
                </a:solidFill>
                <a:latin typeface="Proxima Nova"/>
                <a:ea typeface="Proxima Nova"/>
                <a:cs typeface="Proxima Nova"/>
                <a:sym typeface="Proxima Nova"/>
              </a:rPr>
              <a:t> how </a:t>
            </a:r>
            <a:r>
              <a:rPr lang="en" sz="1500">
                <a:solidFill>
                  <a:schemeClr val="dk1"/>
                </a:solidFill>
                <a:latin typeface="Proxima Nova"/>
                <a:ea typeface="Proxima Nova"/>
                <a:cs typeface="Proxima Nova"/>
                <a:sym typeface="Proxima Nova"/>
              </a:rPr>
              <a:t>much we want to encourage and reward these behaviors.  This is a very large segment so additional behavioral analysis may be needed to identify </a:t>
            </a:r>
            <a:r>
              <a:rPr b="1" lang="en" sz="1500">
                <a:solidFill>
                  <a:schemeClr val="dk1"/>
                </a:solidFill>
                <a:latin typeface="Proxima Nova"/>
                <a:ea typeface="Proxima Nova"/>
                <a:cs typeface="Proxima Nova"/>
                <a:sym typeface="Proxima Nova"/>
              </a:rPr>
              <a:t>which Cx are truly loss leaders</a:t>
            </a:r>
            <a:endParaRPr b="1" sz="1500">
              <a:solidFill>
                <a:schemeClr val="dk1"/>
              </a:solidFill>
              <a:latin typeface="Proxima Nova"/>
              <a:ea typeface="Proxima Nova"/>
              <a:cs typeface="Proxima Nova"/>
              <a:sym typeface="Proxima Nova"/>
            </a:endParaRPr>
          </a:p>
          <a:p>
            <a:pPr indent="0" lvl="0" marL="457200" rtl="0" algn="l">
              <a:spcBef>
                <a:spcPts val="0"/>
              </a:spcBef>
              <a:spcAft>
                <a:spcPts val="0"/>
              </a:spcAft>
              <a:buNone/>
            </a:pPr>
            <a:r>
              <a:t/>
            </a:r>
            <a:endParaRPr sz="1500">
              <a:solidFill>
                <a:schemeClr val="dk1"/>
              </a:solidFill>
              <a:latin typeface="Proxima Nova"/>
              <a:ea typeface="Proxima Nova"/>
              <a:cs typeface="Proxima Nova"/>
              <a:sym typeface="Proxima Nova"/>
            </a:endParaRPr>
          </a:p>
          <a:p>
            <a:pPr indent="0" lvl="0" marL="457200" rtl="0" algn="l">
              <a:spcBef>
                <a:spcPts val="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dk1"/>
                </a:solidFill>
                <a:latin typeface="Proxima Nova"/>
                <a:ea typeface="Proxima Nova"/>
                <a:cs typeface="Proxima Nova"/>
                <a:sym typeface="Proxima Nova"/>
              </a:rPr>
              <a:t>Deal Hunters </a:t>
            </a:r>
            <a:r>
              <a:rPr lang="en" sz="1500">
                <a:solidFill>
                  <a:schemeClr val="dk1"/>
                </a:solidFill>
                <a:latin typeface="Proxima Nova"/>
                <a:ea typeface="Proxima Nova"/>
                <a:cs typeface="Proxima Nova"/>
                <a:sym typeface="Proxima Nova"/>
              </a:rPr>
              <a:t>gravitate</a:t>
            </a:r>
            <a:r>
              <a:rPr lang="en" sz="1500">
                <a:solidFill>
                  <a:schemeClr val="dk1"/>
                </a:solidFill>
                <a:latin typeface="Proxima Nova"/>
                <a:ea typeface="Proxima Nova"/>
                <a:cs typeface="Proxima Nova"/>
                <a:sym typeface="Proxima Nova"/>
              </a:rPr>
              <a:t> towards deals with low or no minimum spend and bogo.  </a:t>
            </a:r>
            <a:r>
              <a:rPr b="1" lang="en" sz="1500">
                <a:solidFill>
                  <a:schemeClr val="dk1"/>
                </a:solidFill>
                <a:latin typeface="Proxima Nova"/>
                <a:ea typeface="Proxima Nova"/>
                <a:cs typeface="Proxima Nova"/>
                <a:sym typeface="Proxima Nova"/>
              </a:rPr>
              <a:t>Prioritize BOGO for these Cx </a:t>
            </a:r>
            <a:r>
              <a:rPr lang="en" sz="1500">
                <a:solidFill>
                  <a:schemeClr val="dk1"/>
                </a:solidFill>
                <a:latin typeface="Proxima Nova"/>
                <a:ea typeface="Proxima Nova"/>
                <a:cs typeface="Proxima Nova"/>
                <a:sym typeface="Proxima Nova"/>
              </a:rPr>
              <a:t>as it is the greatest </a:t>
            </a:r>
            <a:r>
              <a:rPr lang="en" sz="1500">
                <a:solidFill>
                  <a:schemeClr val="dk1"/>
                </a:solidFill>
                <a:latin typeface="Proxima Nova"/>
                <a:ea typeface="Proxima Nova"/>
                <a:cs typeface="Proxima Nova"/>
                <a:sym typeface="Proxima Nova"/>
              </a:rPr>
              <a:t>opportunity</a:t>
            </a:r>
            <a:r>
              <a:rPr lang="en" sz="1500">
                <a:solidFill>
                  <a:schemeClr val="dk1"/>
                </a:solidFill>
                <a:latin typeface="Proxima Nova"/>
                <a:ea typeface="Proxima Nova"/>
                <a:cs typeface="Proxima Nova"/>
                <a:sym typeface="Proxima Nova"/>
              </a:rPr>
              <a:t> for both Cx and Mx </a:t>
            </a:r>
            <a:r>
              <a:rPr lang="en" sz="1500">
                <a:solidFill>
                  <a:schemeClr val="dk1"/>
                </a:solidFill>
                <a:latin typeface="Proxima Nova"/>
                <a:ea typeface="Proxima Nova"/>
                <a:cs typeface="Proxima Nova"/>
                <a:sym typeface="Proxima Nova"/>
              </a:rPr>
              <a:t>satisfaction.  They are also most likely to be in single individual HH where the concerns around ordering “the exact same thing” are reduced.</a:t>
            </a:r>
            <a:endParaRPr sz="15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dk1"/>
                </a:solidFill>
                <a:latin typeface="Proxima Nova"/>
                <a:ea typeface="Proxima Nova"/>
                <a:cs typeface="Proxima Nova"/>
                <a:sym typeface="Proxima Nova"/>
              </a:rPr>
              <a:t>Deal Hunters are likely to compare across multiple apps, including UE.  </a:t>
            </a:r>
            <a:r>
              <a:rPr b="1" lang="en" sz="1500">
                <a:solidFill>
                  <a:schemeClr val="dk1"/>
                </a:solidFill>
                <a:latin typeface="Proxima Nova"/>
                <a:ea typeface="Proxima Nova"/>
                <a:cs typeface="Proxima Nova"/>
                <a:sym typeface="Proxima Nova"/>
              </a:rPr>
              <a:t>Education on the location, value and use of the deal hub</a:t>
            </a:r>
            <a:r>
              <a:rPr lang="en" sz="1500">
                <a:solidFill>
                  <a:schemeClr val="dk1"/>
                </a:solidFill>
                <a:latin typeface="Proxima Nova"/>
                <a:ea typeface="Proxima Nova"/>
                <a:cs typeface="Proxima Nova"/>
                <a:sym typeface="Proxima Nova"/>
              </a:rPr>
              <a:t> will be important for this segment as they will know how to quickly identify all deals available on UE.  </a:t>
            </a:r>
            <a:endParaRPr sz="1500">
              <a:solidFill>
                <a:schemeClr val="dk1"/>
              </a:solidFill>
              <a:latin typeface="Proxima Nova"/>
              <a:ea typeface="Proxima Nova"/>
              <a:cs typeface="Proxima Nova"/>
              <a:sym typeface="Proxima Nova"/>
            </a:endParaRPr>
          </a:p>
        </p:txBody>
      </p:sp>
      <p:pic>
        <p:nvPicPr>
          <p:cNvPr id="149" name="Google Shape;149;p22"/>
          <p:cNvPicPr preferRelativeResize="0"/>
          <p:nvPr/>
        </p:nvPicPr>
        <p:blipFill>
          <a:blip r:embed="rId3">
            <a:alphaModFix/>
          </a:blip>
          <a:stretch>
            <a:fillRect/>
          </a:stretch>
        </p:blipFill>
        <p:spPr>
          <a:xfrm>
            <a:off x="719900" y="1144050"/>
            <a:ext cx="619875" cy="619875"/>
          </a:xfrm>
          <a:prstGeom prst="rect">
            <a:avLst/>
          </a:prstGeom>
          <a:noFill/>
          <a:ln>
            <a:noFill/>
          </a:ln>
        </p:spPr>
      </p:pic>
      <p:pic>
        <p:nvPicPr>
          <p:cNvPr id="150" name="Google Shape;150;p22"/>
          <p:cNvPicPr preferRelativeResize="0"/>
          <p:nvPr/>
        </p:nvPicPr>
        <p:blipFill>
          <a:blip r:embed="rId4">
            <a:alphaModFix/>
          </a:blip>
          <a:stretch>
            <a:fillRect/>
          </a:stretch>
        </p:blipFill>
        <p:spPr>
          <a:xfrm>
            <a:off x="654800" y="2541575"/>
            <a:ext cx="750075" cy="750075"/>
          </a:xfrm>
          <a:prstGeom prst="rect">
            <a:avLst/>
          </a:prstGeom>
          <a:noFill/>
          <a:ln>
            <a:noFill/>
          </a:ln>
        </p:spPr>
      </p:pic>
      <p:pic>
        <p:nvPicPr>
          <p:cNvPr id="151" name="Google Shape;151;p22"/>
          <p:cNvPicPr preferRelativeResize="0"/>
          <p:nvPr/>
        </p:nvPicPr>
        <p:blipFill>
          <a:blip r:embed="rId5">
            <a:alphaModFix/>
          </a:blip>
          <a:stretch>
            <a:fillRect/>
          </a:stretch>
        </p:blipFill>
        <p:spPr>
          <a:xfrm>
            <a:off x="719900" y="3882900"/>
            <a:ext cx="619875" cy="6198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7" name="Google Shape;157;p23"/>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3C78D8"/>
                </a:solidFill>
                <a:latin typeface="Proxima Nova"/>
                <a:ea typeface="Proxima Nova"/>
                <a:cs typeface="Proxima Nova"/>
                <a:sym typeface="Proxima Nova"/>
              </a:rPr>
              <a:t>Let’s hear from a Deal Hunter…</a:t>
            </a:r>
            <a:endParaRPr b="1" sz="2000">
              <a:solidFill>
                <a:srgbClr val="3C78D8"/>
              </a:solidFill>
              <a:latin typeface="Proxima Nova"/>
              <a:ea typeface="Proxima Nova"/>
              <a:cs typeface="Proxima Nova"/>
              <a:sym typeface="Proxima Nova"/>
            </a:endParaRPr>
          </a:p>
        </p:txBody>
      </p:sp>
      <p:pic>
        <p:nvPicPr>
          <p:cNvPr id="158" name="Google Shape;158;p23" title="Deal_Hunter.mp4">
            <a:hlinkClick r:id="rId3"/>
          </p:cNvPr>
          <p:cNvPicPr preferRelativeResize="0"/>
          <p:nvPr/>
        </p:nvPicPr>
        <p:blipFill>
          <a:blip r:embed="rId4">
            <a:alphaModFix/>
          </a:blip>
          <a:stretch>
            <a:fillRect/>
          </a:stretch>
        </p:blipFill>
        <p:spPr>
          <a:xfrm>
            <a:off x="870375" y="747400"/>
            <a:ext cx="7273421" cy="40912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1000"/>
                                        <p:tgtEl>
                                          <p:spTgt spid="1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4"/>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Who are</a:t>
            </a:r>
            <a:r>
              <a:rPr b="1" lang="en" sz="2000">
                <a:solidFill>
                  <a:srgbClr val="4A86E8"/>
                </a:solidFill>
                <a:latin typeface="Proxima Nova"/>
                <a:ea typeface="Proxima Nova"/>
                <a:cs typeface="Proxima Nova"/>
                <a:sym typeface="Proxima Nova"/>
              </a:rPr>
              <a:t> </a:t>
            </a:r>
            <a:r>
              <a:rPr b="1" lang="en" sz="2000">
                <a:solidFill>
                  <a:srgbClr val="FF9900"/>
                </a:solidFill>
                <a:latin typeface="Proxima Nova"/>
                <a:ea typeface="Proxima Nova"/>
                <a:cs typeface="Proxima Nova"/>
                <a:sym typeface="Proxima Nova"/>
              </a:rPr>
              <a:t>Budget Minders (22%)?</a:t>
            </a:r>
            <a:endParaRPr b="1" sz="2000">
              <a:solidFill>
                <a:srgbClr val="4A86E8"/>
              </a:solidFill>
              <a:latin typeface="Proxima Nova"/>
              <a:ea typeface="Proxima Nova"/>
              <a:cs typeface="Proxima Nova"/>
              <a:sym typeface="Proxima Nova"/>
            </a:endParaRPr>
          </a:p>
        </p:txBody>
      </p:sp>
      <p:sp>
        <p:nvSpPr>
          <p:cNvPr id="164" name="Google Shape;164;p24"/>
          <p:cNvSpPr txBox="1"/>
          <p:nvPr/>
        </p:nvSpPr>
        <p:spPr>
          <a:xfrm>
            <a:off x="1599625" y="1661875"/>
            <a:ext cx="21135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Proxima Nova"/>
                <a:ea typeface="Proxima Nova"/>
                <a:cs typeface="Proxima Nova"/>
                <a:sym typeface="Proxima Nova"/>
              </a:rPr>
              <a:t>Budget minders tend to be in their late 30s-40s with children in the HH.  They live in a mix of city and suburban areas.  They skew towards single parents.</a:t>
            </a:r>
            <a:endParaRPr sz="1200">
              <a:latin typeface="Proxima Nova"/>
              <a:ea typeface="Proxima Nova"/>
              <a:cs typeface="Proxima Nova"/>
              <a:sym typeface="Proxima Nova"/>
            </a:endParaRPr>
          </a:p>
        </p:txBody>
      </p:sp>
      <p:sp>
        <p:nvSpPr>
          <p:cNvPr id="165" name="Google Shape;165;p24"/>
          <p:cNvSpPr txBox="1"/>
          <p:nvPr/>
        </p:nvSpPr>
        <p:spPr>
          <a:xfrm>
            <a:off x="442900" y="3670625"/>
            <a:ext cx="3465900" cy="2931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They tend to order frequently, typically weekly are more often</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They look for deals/and discounts every few orders and will also compare to other apps every few orders</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They tend to look for value in meals around portion size or combo/family meals</a:t>
            </a:r>
            <a:endParaRPr sz="1100">
              <a:latin typeface="Proxima Nova"/>
              <a:ea typeface="Proxima Nova"/>
              <a:cs typeface="Proxima Nova"/>
              <a:sym typeface="Proxima Nova"/>
            </a:endParaRPr>
          </a:p>
        </p:txBody>
      </p:sp>
      <p:sp>
        <p:nvSpPr>
          <p:cNvPr id="166" name="Google Shape;166;p24"/>
          <p:cNvSpPr/>
          <p:nvPr/>
        </p:nvSpPr>
        <p:spPr>
          <a:xfrm>
            <a:off x="511425" y="1096175"/>
            <a:ext cx="3672600" cy="368100"/>
          </a:xfrm>
          <a:prstGeom prst="rect">
            <a:avLst/>
          </a:prstGeom>
          <a:solidFill>
            <a:srgbClr val="FF9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Proxima Nova"/>
                <a:ea typeface="Proxima Nova"/>
                <a:cs typeface="Proxima Nova"/>
                <a:sym typeface="Proxima Nova"/>
              </a:rPr>
              <a:t>Who are they?</a:t>
            </a:r>
            <a:endParaRPr b="1" sz="1300">
              <a:solidFill>
                <a:schemeClr val="lt1"/>
              </a:solidFill>
              <a:latin typeface="Proxima Nova"/>
              <a:ea typeface="Proxima Nova"/>
              <a:cs typeface="Proxima Nova"/>
              <a:sym typeface="Proxima Nova"/>
            </a:endParaRPr>
          </a:p>
        </p:txBody>
      </p:sp>
      <p:sp>
        <p:nvSpPr>
          <p:cNvPr id="167" name="Google Shape;167;p24"/>
          <p:cNvSpPr/>
          <p:nvPr/>
        </p:nvSpPr>
        <p:spPr>
          <a:xfrm>
            <a:off x="511425" y="3271150"/>
            <a:ext cx="3672600" cy="336900"/>
          </a:xfrm>
          <a:prstGeom prst="rect">
            <a:avLst/>
          </a:prstGeom>
          <a:solidFill>
            <a:srgbClr val="FF9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Proxima Nova"/>
                <a:ea typeface="Proxima Nova"/>
                <a:cs typeface="Proxima Nova"/>
                <a:sym typeface="Proxima Nova"/>
              </a:rPr>
              <a:t>What are their ordering behaviors?</a:t>
            </a:r>
            <a:endParaRPr b="1" sz="1300">
              <a:solidFill>
                <a:schemeClr val="lt1"/>
              </a:solidFill>
              <a:latin typeface="Proxima Nova"/>
              <a:ea typeface="Proxima Nova"/>
              <a:cs typeface="Proxima Nova"/>
              <a:sym typeface="Proxima Nova"/>
            </a:endParaRPr>
          </a:p>
        </p:txBody>
      </p:sp>
      <p:sp>
        <p:nvSpPr>
          <p:cNvPr id="168" name="Google Shape;168;p24"/>
          <p:cNvSpPr txBox="1"/>
          <p:nvPr/>
        </p:nvSpPr>
        <p:spPr>
          <a:xfrm>
            <a:off x="4372600" y="1399675"/>
            <a:ext cx="4371000" cy="2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They do not necessarily have a strict budget in mind but instead have a range of comfort</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They are focused on keeping spend under a threshold that they feel comfortable with (45% T2B agree).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They care more about food prices, speed and quality then they do about finding a promotion or discount</a:t>
            </a:r>
            <a:endParaRPr b="1">
              <a:latin typeface="Proxima Nova"/>
              <a:ea typeface="Proxima Nova"/>
              <a:cs typeface="Proxima Nova"/>
              <a:sym typeface="Proxima Nova"/>
            </a:endParaRPr>
          </a:p>
        </p:txBody>
      </p:sp>
      <p:sp>
        <p:nvSpPr>
          <p:cNvPr id="169" name="Google Shape;169;p24"/>
          <p:cNvSpPr/>
          <p:nvPr/>
        </p:nvSpPr>
        <p:spPr>
          <a:xfrm>
            <a:off x="4486075" y="1096174"/>
            <a:ext cx="3937800" cy="368100"/>
          </a:xfrm>
          <a:prstGeom prst="rect">
            <a:avLst/>
          </a:prstGeom>
          <a:solidFill>
            <a:srgbClr val="FF9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Proxima Nova"/>
                <a:ea typeface="Proxima Nova"/>
                <a:cs typeface="Proxima Nova"/>
                <a:sym typeface="Proxima Nova"/>
              </a:rPr>
              <a:t>What are their thoughts on budgeting/spending?</a:t>
            </a:r>
            <a:endParaRPr b="1" sz="1200">
              <a:solidFill>
                <a:schemeClr val="lt1"/>
              </a:solidFill>
              <a:latin typeface="Proxima Nova"/>
              <a:ea typeface="Proxima Nova"/>
              <a:cs typeface="Proxima Nova"/>
              <a:sym typeface="Proxima Nova"/>
            </a:endParaRPr>
          </a:p>
        </p:txBody>
      </p:sp>
      <p:sp>
        <p:nvSpPr>
          <p:cNvPr id="170" name="Google Shape;170;p24"/>
          <p:cNvSpPr/>
          <p:nvPr/>
        </p:nvSpPr>
        <p:spPr>
          <a:xfrm>
            <a:off x="4486075" y="3271156"/>
            <a:ext cx="3937800" cy="336900"/>
          </a:xfrm>
          <a:prstGeom prst="rect">
            <a:avLst/>
          </a:prstGeom>
          <a:solidFill>
            <a:srgbClr val="FF9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Proxima Nova"/>
                <a:ea typeface="Proxima Nova"/>
                <a:cs typeface="Proxima Nova"/>
                <a:sym typeface="Proxima Nova"/>
              </a:rPr>
              <a:t>What are their promotion preferences?</a:t>
            </a:r>
            <a:endParaRPr b="1" sz="1200">
              <a:solidFill>
                <a:schemeClr val="lt1"/>
              </a:solidFill>
              <a:latin typeface="Proxima Nova"/>
              <a:ea typeface="Proxima Nova"/>
              <a:cs typeface="Proxima Nova"/>
              <a:sym typeface="Proxima Nova"/>
            </a:endParaRPr>
          </a:p>
        </p:txBody>
      </p:sp>
      <p:sp>
        <p:nvSpPr>
          <p:cNvPr id="171" name="Google Shape;171;p24"/>
          <p:cNvSpPr txBox="1"/>
          <p:nvPr/>
        </p:nvSpPr>
        <p:spPr>
          <a:xfrm>
            <a:off x="4486075" y="3670625"/>
            <a:ext cx="4255200" cy="692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most interested in getting $ off their order or a free item.  Prefer to see clear value.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Not swayed by BOGO or % off order unlike other personas </a:t>
            </a:r>
            <a:endParaRPr sz="1100">
              <a:solidFill>
                <a:schemeClr val="dk1"/>
              </a:solidFill>
              <a:latin typeface="Proxima Nova"/>
              <a:ea typeface="Proxima Nova"/>
              <a:cs typeface="Proxima Nova"/>
              <a:sym typeface="Proxima Nova"/>
            </a:endParaRPr>
          </a:p>
        </p:txBody>
      </p:sp>
      <p:pic>
        <p:nvPicPr>
          <p:cNvPr id="172" name="Google Shape;172;p24"/>
          <p:cNvPicPr preferRelativeResize="0"/>
          <p:nvPr/>
        </p:nvPicPr>
        <p:blipFill>
          <a:blip r:embed="rId3">
            <a:alphaModFix/>
          </a:blip>
          <a:stretch>
            <a:fillRect/>
          </a:stretch>
        </p:blipFill>
        <p:spPr>
          <a:xfrm>
            <a:off x="442900" y="1769025"/>
            <a:ext cx="1022124" cy="10221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5"/>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How can we reach </a:t>
            </a:r>
            <a:r>
              <a:rPr b="1" lang="en" sz="2000">
                <a:solidFill>
                  <a:srgbClr val="FF9900"/>
                </a:solidFill>
                <a:latin typeface="Proxima Nova"/>
                <a:ea typeface="Proxima Nova"/>
                <a:cs typeface="Proxima Nova"/>
                <a:sym typeface="Proxima Nova"/>
              </a:rPr>
              <a:t>Budget Min</a:t>
            </a:r>
            <a:r>
              <a:rPr b="1" lang="en" sz="2000">
                <a:solidFill>
                  <a:srgbClr val="FF9900"/>
                </a:solidFill>
                <a:latin typeface="Proxima Nova"/>
                <a:ea typeface="Proxima Nova"/>
                <a:cs typeface="Proxima Nova"/>
                <a:sym typeface="Proxima Nova"/>
              </a:rPr>
              <a:t>ders?</a:t>
            </a:r>
            <a:endParaRPr b="1" sz="2000">
              <a:solidFill>
                <a:srgbClr val="FF9900"/>
              </a:solidFill>
              <a:latin typeface="Proxima Nova"/>
              <a:ea typeface="Proxima Nova"/>
              <a:cs typeface="Proxima Nova"/>
              <a:sym typeface="Proxima Nova"/>
            </a:endParaRPr>
          </a:p>
        </p:txBody>
      </p:sp>
      <p:sp>
        <p:nvSpPr>
          <p:cNvPr id="178" name="Google Shape;178;p25"/>
          <p:cNvSpPr txBox="1"/>
          <p:nvPr/>
        </p:nvSpPr>
        <p:spPr>
          <a:xfrm>
            <a:off x="1561800" y="973425"/>
            <a:ext cx="6899700" cy="364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Proxima Nova"/>
                <a:ea typeface="Proxima Nova"/>
                <a:cs typeface="Proxima Nova"/>
                <a:sym typeface="Proxima Nova"/>
              </a:rPr>
              <a:t>Budget Minders are strict about a cost range they want to stay within, and focus more on quality and experience than getting a deal it’s self.  They may be best served by </a:t>
            </a:r>
            <a:r>
              <a:rPr b="1" lang="en" sz="1500">
                <a:solidFill>
                  <a:schemeClr val="dk1"/>
                </a:solidFill>
                <a:latin typeface="Proxima Nova"/>
                <a:ea typeface="Proxima Nova"/>
                <a:cs typeface="Proxima Nova"/>
                <a:sym typeface="Proxima Nova"/>
              </a:rPr>
              <a:t>more consistent saving opportunities such as affordable meals or happy hour</a:t>
            </a:r>
            <a:r>
              <a:rPr lang="en" sz="1500">
                <a:solidFill>
                  <a:schemeClr val="dk1"/>
                </a:solidFill>
                <a:latin typeface="Proxima Nova"/>
                <a:ea typeface="Proxima Nova"/>
                <a:cs typeface="Proxima Nova"/>
                <a:sym typeface="Proxima Nova"/>
              </a:rPr>
              <a:t>.</a:t>
            </a:r>
            <a:endParaRPr b="1" sz="15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dk1"/>
              </a:solidFill>
              <a:latin typeface="Proxima Nova"/>
              <a:ea typeface="Proxima Nova"/>
              <a:cs typeface="Proxima Nova"/>
              <a:sym typeface="Proxima Nova"/>
            </a:endParaRPr>
          </a:p>
          <a:p>
            <a:pPr indent="0" lvl="0" marL="457200" rtl="0" algn="l">
              <a:spcBef>
                <a:spcPts val="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dk1"/>
                </a:solidFill>
                <a:latin typeface="Proxima Nova"/>
                <a:ea typeface="Proxima Nova"/>
                <a:cs typeface="Proxima Nova"/>
                <a:sym typeface="Proxima Nova"/>
              </a:rPr>
              <a:t>Additionally, Budget Minders are likely to have kids in the HH.  They often look for ways to save with </a:t>
            </a:r>
            <a:r>
              <a:rPr lang="en" sz="1500">
                <a:solidFill>
                  <a:schemeClr val="dk1"/>
                </a:solidFill>
                <a:latin typeface="Proxima Nova"/>
                <a:ea typeface="Proxima Nova"/>
                <a:cs typeface="Proxima Nova"/>
                <a:sym typeface="Proxima Nova"/>
              </a:rPr>
              <a:t>quantity</a:t>
            </a:r>
            <a:r>
              <a:rPr lang="en" sz="1500">
                <a:solidFill>
                  <a:schemeClr val="dk1"/>
                </a:solidFill>
                <a:latin typeface="Proxima Nova"/>
                <a:ea typeface="Proxima Nova"/>
                <a:cs typeface="Proxima Nova"/>
                <a:sym typeface="Proxima Nova"/>
              </a:rPr>
              <a:t> and combo meals.  Providing them with opportunities to </a:t>
            </a:r>
            <a:r>
              <a:rPr b="1" lang="en" sz="1500">
                <a:solidFill>
                  <a:schemeClr val="dk1"/>
                </a:solidFill>
                <a:latin typeface="Proxima Nova"/>
                <a:ea typeface="Proxima Nova"/>
                <a:cs typeface="Proxima Nova"/>
                <a:sym typeface="Proxima Nova"/>
              </a:rPr>
              <a:t>find family/combo meals</a:t>
            </a:r>
            <a:r>
              <a:rPr lang="en" sz="1500">
                <a:solidFill>
                  <a:schemeClr val="dk1"/>
                </a:solidFill>
                <a:latin typeface="Proxima Nova"/>
                <a:ea typeface="Proxima Nova"/>
                <a:cs typeface="Proxima Nova"/>
                <a:sym typeface="Proxima Nova"/>
              </a:rPr>
              <a:t> within their deals experience may help better entice them to place an order or try a new Mx.</a:t>
            </a:r>
            <a:endParaRPr sz="15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dk1"/>
                </a:solidFill>
                <a:latin typeface="Proxima Nova"/>
                <a:ea typeface="Proxima Nova"/>
                <a:cs typeface="Proxima Nova"/>
                <a:sym typeface="Proxima Nova"/>
              </a:rPr>
              <a:t>Budget Minders tend to think restaurant before deal and are therefore more likely to get their information from the USI vs. the deal hub.  The team </a:t>
            </a:r>
            <a:r>
              <a:rPr lang="en" sz="1500">
                <a:solidFill>
                  <a:schemeClr val="dk1"/>
                </a:solidFill>
                <a:latin typeface="Proxima Nova"/>
                <a:ea typeface="Proxima Nova"/>
                <a:cs typeface="Proxima Nova"/>
                <a:sym typeface="Proxima Nova"/>
              </a:rPr>
              <a:t>should</a:t>
            </a:r>
            <a:r>
              <a:rPr lang="en" sz="1500">
                <a:solidFill>
                  <a:schemeClr val="dk1"/>
                </a:solidFill>
                <a:latin typeface="Proxima Nova"/>
                <a:ea typeface="Proxima Nova"/>
                <a:cs typeface="Proxima Nova"/>
                <a:sym typeface="Proxima Nova"/>
              </a:rPr>
              <a:t> </a:t>
            </a:r>
            <a:r>
              <a:rPr b="1" lang="en" sz="1500">
                <a:solidFill>
                  <a:schemeClr val="dk1"/>
                </a:solidFill>
                <a:latin typeface="Proxima Nova"/>
                <a:ea typeface="Proxima Nova"/>
                <a:cs typeface="Proxima Nova"/>
                <a:sym typeface="Proxima Nova"/>
              </a:rPr>
              <a:t>explore the value of including affordability efforts in the USI</a:t>
            </a:r>
            <a:r>
              <a:rPr lang="en" sz="1500">
                <a:solidFill>
                  <a:schemeClr val="dk1"/>
                </a:solidFill>
                <a:latin typeface="Proxima Nova"/>
                <a:ea typeface="Proxima Nova"/>
                <a:cs typeface="Proxima Nova"/>
                <a:sym typeface="Proxima Nova"/>
              </a:rPr>
              <a:t> for these Cx.</a:t>
            </a:r>
            <a:endParaRPr sz="1500">
              <a:solidFill>
                <a:schemeClr val="dk1"/>
              </a:solidFill>
              <a:latin typeface="Proxima Nova"/>
              <a:ea typeface="Proxima Nova"/>
              <a:cs typeface="Proxima Nova"/>
              <a:sym typeface="Proxima Nova"/>
            </a:endParaRPr>
          </a:p>
        </p:txBody>
      </p:sp>
      <p:pic>
        <p:nvPicPr>
          <p:cNvPr id="179" name="Google Shape;179;p25"/>
          <p:cNvPicPr preferRelativeResize="0"/>
          <p:nvPr/>
        </p:nvPicPr>
        <p:blipFill>
          <a:blip r:embed="rId3">
            <a:alphaModFix/>
          </a:blip>
          <a:stretch>
            <a:fillRect/>
          </a:stretch>
        </p:blipFill>
        <p:spPr>
          <a:xfrm>
            <a:off x="584275" y="1099025"/>
            <a:ext cx="789225" cy="789225"/>
          </a:xfrm>
          <a:prstGeom prst="rect">
            <a:avLst/>
          </a:prstGeom>
          <a:noFill/>
          <a:ln>
            <a:noFill/>
          </a:ln>
        </p:spPr>
      </p:pic>
      <p:pic>
        <p:nvPicPr>
          <p:cNvPr id="180" name="Google Shape;180;p25"/>
          <p:cNvPicPr preferRelativeResize="0"/>
          <p:nvPr/>
        </p:nvPicPr>
        <p:blipFill>
          <a:blip r:embed="rId4">
            <a:alphaModFix/>
          </a:blip>
          <a:stretch>
            <a:fillRect/>
          </a:stretch>
        </p:blipFill>
        <p:spPr>
          <a:xfrm>
            <a:off x="641650" y="2507100"/>
            <a:ext cx="674475" cy="674475"/>
          </a:xfrm>
          <a:prstGeom prst="rect">
            <a:avLst/>
          </a:prstGeom>
          <a:noFill/>
          <a:ln>
            <a:noFill/>
          </a:ln>
        </p:spPr>
      </p:pic>
      <p:pic>
        <p:nvPicPr>
          <p:cNvPr id="181" name="Google Shape;181;p25"/>
          <p:cNvPicPr preferRelativeResize="0"/>
          <p:nvPr/>
        </p:nvPicPr>
        <p:blipFill>
          <a:blip r:embed="rId5">
            <a:alphaModFix/>
          </a:blip>
          <a:stretch>
            <a:fillRect/>
          </a:stretch>
        </p:blipFill>
        <p:spPr>
          <a:xfrm>
            <a:off x="641650" y="3800425"/>
            <a:ext cx="674475" cy="674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Let’s hear from a </a:t>
            </a:r>
            <a:r>
              <a:rPr b="1" lang="en" sz="2000">
                <a:solidFill>
                  <a:srgbClr val="FF9900"/>
                </a:solidFill>
                <a:latin typeface="Proxima Nova"/>
                <a:ea typeface="Proxima Nova"/>
                <a:cs typeface="Proxima Nova"/>
                <a:sym typeface="Proxima Nova"/>
              </a:rPr>
              <a:t>Budget Minder…</a:t>
            </a:r>
            <a:endParaRPr b="1" sz="2000">
              <a:solidFill>
                <a:srgbClr val="FF9900"/>
              </a:solidFill>
              <a:latin typeface="Proxima Nova"/>
              <a:ea typeface="Proxima Nova"/>
              <a:cs typeface="Proxima Nova"/>
              <a:sym typeface="Proxima Nova"/>
            </a:endParaRPr>
          </a:p>
        </p:txBody>
      </p:sp>
      <p:pic>
        <p:nvPicPr>
          <p:cNvPr id="187" name="Google Shape;187;p26" title="Budget_Minder.mp4">
            <a:hlinkClick r:id="rId3"/>
          </p:cNvPr>
          <p:cNvPicPr preferRelativeResize="0"/>
          <p:nvPr/>
        </p:nvPicPr>
        <p:blipFill>
          <a:blip r:embed="rId4">
            <a:alphaModFix/>
          </a:blip>
          <a:stretch>
            <a:fillRect/>
          </a:stretch>
        </p:blipFill>
        <p:spPr>
          <a:xfrm>
            <a:off x="1108263" y="747400"/>
            <a:ext cx="6927475" cy="38966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1000"/>
                                        <p:tgtEl>
                                          <p:spTgt spid="1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Who are</a:t>
            </a:r>
            <a:r>
              <a:rPr b="1" lang="en" sz="2000">
                <a:solidFill>
                  <a:srgbClr val="4A86E8"/>
                </a:solidFill>
                <a:latin typeface="Proxima Nova"/>
                <a:ea typeface="Proxima Nova"/>
                <a:cs typeface="Proxima Nova"/>
                <a:sym typeface="Proxima Nova"/>
              </a:rPr>
              <a:t> </a:t>
            </a:r>
            <a:r>
              <a:rPr b="1" lang="en" sz="2000">
                <a:solidFill>
                  <a:srgbClr val="674EA7"/>
                </a:solidFill>
                <a:latin typeface="Proxima Nova"/>
                <a:ea typeface="Proxima Nova"/>
                <a:cs typeface="Proxima Nova"/>
                <a:sym typeface="Proxima Nova"/>
              </a:rPr>
              <a:t>Thrill Seekers (31%)?</a:t>
            </a:r>
            <a:endParaRPr b="1" sz="2000">
              <a:solidFill>
                <a:srgbClr val="674EA7"/>
              </a:solidFill>
              <a:latin typeface="Proxima Nova"/>
              <a:ea typeface="Proxima Nova"/>
              <a:cs typeface="Proxima Nova"/>
              <a:sym typeface="Proxima Nova"/>
            </a:endParaRPr>
          </a:p>
          <a:p>
            <a:pPr indent="0" lvl="0" marL="0" rtl="0" algn="l">
              <a:spcBef>
                <a:spcPts val="0"/>
              </a:spcBef>
              <a:spcAft>
                <a:spcPts val="0"/>
              </a:spcAft>
              <a:buNone/>
            </a:pPr>
            <a:r>
              <a:t/>
            </a:r>
            <a:endParaRPr b="1" sz="2000">
              <a:solidFill>
                <a:srgbClr val="FF9900"/>
              </a:solidFill>
              <a:latin typeface="Proxima Nova"/>
              <a:ea typeface="Proxima Nova"/>
              <a:cs typeface="Proxima Nova"/>
              <a:sym typeface="Proxima Nova"/>
            </a:endParaRPr>
          </a:p>
        </p:txBody>
      </p:sp>
      <p:sp>
        <p:nvSpPr>
          <p:cNvPr id="193" name="Google Shape;193;p27"/>
          <p:cNvSpPr txBox="1"/>
          <p:nvPr/>
        </p:nvSpPr>
        <p:spPr>
          <a:xfrm>
            <a:off x="1670700" y="1728325"/>
            <a:ext cx="21135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Proxima Nova"/>
                <a:ea typeface="Proxima Nova"/>
                <a:cs typeface="Proxima Nova"/>
                <a:sym typeface="Proxima Nova"/>
              </a:rPr>
              <a:t>Tend to be educated and living in suburbs or towns.  Skew older but also include a large portion of younger members</a:t>
            </a:r>
            <a:endParaRPr sz="1200">
              <a:latin typeface="Proxima Nova"/>
              <a:ea typeface="Proxima Nova"/>
              <a:cs typeface="Proxima Nova"/>
              <a:sym typeface="Proxima Nova"/>
            </a:endParaRPr>
          </a:p>
        </p:txBody>
      </p:sp>
      <p:sp>
        <p:nvSpPr>
          <p:cNvPr id="194" name="Google Shape;194;p27"/>
          <p:cNvSpPr txBox="1"/>
          <p:nvPr/>
        </p:nvSpPr>
        <p:spPr>
          <a:xfrm>
            <a:off x="442900" y="3670625"/>
            <a:ext cx="3465900" cy="10377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Typically order weekly or several times per week</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Look for deals frequently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Loyal to DoorDash- never/rarely compare deals across apps</a:t>
            </a:r>
            <a:endParaRPr sz="1100">
              <a:solidFill>
                <a:schemeClr val="dk1"/>
              </a:solidFill>
              <a:latin typeface="Proxima Nova"/>
              <a:ea typeface="Proxima Nova"/>
              <a:cs typeface="Proxima Nova"/>
              <a:sym typeface="Proxima Nova"/>
            </a:endParaRPr>
          </a:p>
        </p:txBody>
      </p:sp>
      <p:sp>
        <p:nvSpPr>
          <p:cNvPr id="195" name="Google Shape;195;p27"/>
          <p:cNvSpPr/>
          <p:nvPr/>
        </p:nvSpPr>
        <p:spPr>
          <a:xfrm>
            <a:off x="511425" y="1096175"/>
            <a:ext cx="3672600" cy="368100"/>
          </a:xfrm>
          <a:prstGeom prst="rect">
            <a:avLst/>
          </a:prstGeom>
          <a:solidFill>
            <a:srgbClr val="674E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Proxima Nova"/>
                <a:ea typeface="Proxima Nova"/>
                <a:cs typeface="Proxima Nova"/>
                <a:sym typeface="Proxima Nova"/>
              </a:rPr>
              <a:t>Who are they?</a:t>
            </a:r>
            <a:endParaRPr b="1" sz="1300">
              <a:solidFill>
                <a:schemeClr val="lt1"/>
              </a:solidFill>
              <a:latin typeface="Proxima Nova"/>
              <a:ea typeface="Proxima Nova"/>
              <a:cs typeface="Proxima Nova"/>
              <a:sym typeface="Proxima Nova"/>
            </a:endParaRPr>
          </a:p>
        </p:txBody>
      </p:sp>
      <p:sp>
        <p:nvSpPr>
          <p:cNvPr id="196" name="Google Shape;196;p27"/>
          <p:cNvSpPr/>
          <p:nvPr/>
        </p:nvSpPr>
        <p:spPr>
          <a:xfrm>
            <a:off x="511425" y="3271150"/>
            <a:ext cx="3672600" cy="336900"/>
          </a:xfrm>
          <a:prstGeom prst="rect">
            <a:avLst/>
          </a:prstGeom>
          <a:solidFill>
            <a:srgbClr val="674E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Proxima Nova"/>
                <a:ea typeface="Proxima Nova"/>
                <a:cs typeface="Proxima Nova"/>
                <a:sym typeface="Proxima Nova"/>
              </a:rPr>
              <a:t>What are their ordering behaviors?</a:t>
            </a:r>
            <a:endParaRPr b="1" sz="1300">
              <a:solidFill>
                <a:schemeClr val="lt1"/>
              </a:solidFill>
              <a:latin typeface="Proxima Nova"/>
              <a:ea typeface="Proxima Nova"/>
              <a:cs typeface="Proxima Nova"/>
              <a:sym typeface="Proxima Nova"/>
            </a:endParaRPr>
          </a:p>
        </p:txBody>
      </p:sp>
      <p:sp>
        <p:nvSpPr>
          <p:cNvPr id="197" name="Google Shape;197;p27"/>
          <p:cNvSpPr txBox="1"/>
          <p:nvPr/>
        </p:nvSpPr>
        <p:spPr>
          <a:xfrm>
            <a:off x="4372600" y="1399675"/>
            <a:ext cx="4371000" cy="2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They are likely to have a set budget or range to stay within for their orders</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Care more about the thrill of the deal then staying within a strict budget</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79% T2B agree that they are not price sensitive, but just like the feeling of finding a good deal</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Also place a high importance on food quality, speed and convenience</a:t>
            </a:r>
            <a:endParaRPr sz="1100">
              <a:solidFill>
                <a:schemeClr val="dk1"/>
              </a:solidFill>
              <a:latin typeface="Proxima Nova"/>
              <a:ea typeface="Proxima Nova"/>
              <a:cs typeface="Proxima Nova"/>
              <a:sym typeface="Proxima Nova"/>
            </a:endParaRPr>
          </a:p>
        </p:txBody>
      </p:sp>
      <p:sp>
        <p:nvSpPr>
          <p:cNvPr id="198" name="Google Shape;198;p27"/>
          <p:cNvSpPr/>
          <p:nvPr/>
        </p:nvSpPr>
        <p:spPr>
          <a:xfrm>
            <a:off x="4486075" y="1096174"/>
            <a:ext cx="3937800" cy="368100"/>
          </a:xfrm>
          <a:prstGeom prst="rect">
            <a:avLst/>
          </a:prstGeom>
          <a:solidFill>
            <a:srgbClr val="674E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Proxima Nova"/>
                <a:ea typeface="Proxima Nova"/>
                <a:cs typeface="Proxima Nova"/>
                <a:sym typeface="Proxima Nova"/>
              </a:rPr>
              <a:t>What are their thoughts on budgeting/spending?</a:t>
            </a:r>
            <a:endParaRPr b="1" sz="1200">
              <a:solidFill>
                <a:schemeClr val="lt1"/>
              </a:solidFill>
              <a:latin typeface="Proxima Nova"/>
              <a:ea typeface="Proxima Nova"/>
              <a:cs typeface="Proxima Nova"/>
              <a:sym typeface="Proxima Nova"/>
            </a:endParaRPr>
          </a:p>
        </p:txBody>
      </p:sp>
      <p:sp>
        <p:nvSpPr>
          <p:cNvPr id="199" name="Google Shape;199;p27"/>
          <p:cNvSpPr/>
          <p:nvPr/>
        </p:nvSpPr>
        <p:spPr>
          <a:xfrm>
            <a:off x="4486075" y="3271156"/>
            <a:ext cx="3937800" cy="336900"/>
          </a:xfrm>
          <a:prstGeom prst="rect">
            <a:avLst/>
          </a:prstGeom>
          <a:solidFill>
            <a:srgbClr val="674E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Proxima Nova"/>
                <a:ea typeface="Proxima Nova"/>
                <a:cs typeface="Proxima Nova"/>
                <a:sym typeface="Proxima Nova"/>
              </a:rPr>
              <a:t>What are their promotion preferences?</a:t>
            </a:r>
            <a:endParaRPr b="1" sz="1200">
              <a:solidFill>
                <a:schemeClr val="lt1"/>
              </a:solidFill>
              <a:latin typeface="Proxima Nova"/>
              <a:ea typeface="Proxima Nova"/>
              <a:cs typeface="Proxima Nova"/>
              <a:sym typeface="Proxima Nova"/>
            </a:endParaRPr>
          </a:p>
        </p:txBody>
      </p:sp>
      <p:sp>
        <p:nvSpPr>
          <p:cNvPr id="200" name="Google Shape;200;p27"/>
          <p:cNvSpPr txBox="1"/>
          <p:nvPr/>
        </p:nvSpPr>
        <p:spPr>
          <a:xfrm>
            <a:off x="4486075" y="3670625"/>
            <a:ext cx="4255200" cy="5232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Promo interests are similar to DHs with interest in % off an off, $ off an order, BOGO and free items</a:t>
            </a:r>
            <a:endParaRPr sz="1100">
              <a:solidFill>
                <a:schemeClr val="dk1"/>
              </a:solidFill>
              <a:latin typeface="Proxima Nova"/>
              <a:ea typeface="Proxima Nova"/>
              <a:cs typeface="Proxima Nova"/>
              <a:sym typeface="Proxima Nova"/>
            </a:endParaRPr>
          </a:p>
        </p:txBody>
      </p:sp>
      <p:pic>
        <p:nvPicPr>
          <p:cNvPr id="201" name="Google Shape;201;p27"/>
          <p:cNvPicPr preferRelativeResize="0"/>
          <p:nvPr/>
        </p:nvPicPr>
        <p:blipFill>
          <a:blip r:embed="rId3">
            <a:alphaModFix/>
          </a:blip>
          <a:stretch>
            <a:fillRect/>
          </a:stretch>
        </p:blipFill>
        <p:spPr>
          <a:xfrm>
            <a:off x="649950" y="1865525"/>
            <a:ext cx="835050" cy="835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8"/>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How can we reach </a:t>
            </a:r>
            <a:r>
              <a:rPr b="1" lang="en" sz="2000">
                <a:solidFill>
                  <a:srgbClr val="674EA7"/>
                </a:solidFill>
                <a:latin typeface="Proxima Nova"/>
                <a:ea typeface="Proxima Nova"/>
                <a:cs typeface="Proxima Nova"/>
                <a:sym typeface="Proxima Nova"/>
              </a:rPr>
              <a:t>Thrill Seekers?</a:t>
            </a:r>
            <a:endParaRPr b="1" sz="2000">
              <a:solidFill>
                <a:srgbClr val="674EA7"/>
              </a:solidFill>
              <a:latin typeface="Proxima Nova"/>
              <a:ea typeface="Proxima Nova"/>
              <a:cs typeface="Proxima Nova"/>
              <a:sym typeface="Proxima Nova"/>
            </a:endParaRPr>
          </a:p>
        </p:txBody>
      </p:sp>
      <p:sp>
        <p:nvSpPr>
          <p:cNvPr id="207" name="Google Shape;207;p28"/>
          <p:cNvSpPr txBox="1"/>
          <p:nvPr/>
        </p:nvSpPr>
        <p:spPr>
          <a:xfrm>
            <a:off x="1561800" y="1369500"/>
            <a:ext cx="68997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Proxima Nova"/>
                <a:ea typeface="Proxima Nova"/>
                <a:cs typeface="Proxima Nova"/>
                <a:sym typeface="Proxima Nova"/>
              </a:rPr>
              <a:t>Thrill Seekers</a:t>
            </a:r>
            <a:r>
              <a:rPr lang="en" sz="1500">
                <a:solidFill>
                  <a:schemeClr val="dk1"/>
                </a:solidFill>
                <a:latin typeface="Proxima Nova"/>
                <a:ea typeface="Proxima Nova"/>
                <a:cs typeface="Proxima Nova"/>
                <a:sym typeface="Proxima Nova"/>
              </a:rPr>
              <a:t> are most likely to respond to experiences that require them to “earn” their rewards.  </a:t>
            </a:r>
            <a:r>
              <a:rPr b="1" lang="en" sz="1500">
                <a:solidFill>
                  <a:schemeClr val="dk1"/>
                </a:solidFill>
                <a:latin typeface="Proxima Nova"/>
                <a:ea typeface="Proxima Nova"/>
                <a:cs typeface="Proxima Nova"/>
                <a:sym typeface="Proxima Nova"/>
              </a:rPr>
              <a:t>Prioritize spend X get Y and loyalty promotions for this persona.</a:t>
            </a:r>
            <a:endParaRPr b="1" sz="1900">
              <a:solidFill>
                <a:schemeClr val="dk1"/>
              </a:solidFill>
              <a:latin typeface="Proxima Nova"/>
              <a:ea typeface="Proxima Nova"/>
              <a:cs typeface="Proxima Nova"/>
              <a:sym typeface="Proxima Nova"/>
            </a:endParaRPr>
          </a:p>
          <a:p>
            <a:pPr indent="0" lvl="0" marL="457200" rtl="0" algn="l">
              <a:spcBef>
                <a:spcPts val="0"/>
              </a:spcBef>
              <a:spcAft>
                <a:spcPts val="0"/>
              </a:spcAft>
              <a:buNone/>
            </a:pPr>
            <a:r>
              <a:t/>
            </a:r>
            <a:endParaRPr sz="1500">
              <a:solidFill>
                <a:schemeClr val="dk1"/>
              </a:solidFill>
              <a:latin typeface="Proxima Nova"/>
              <a:ea typeface="Proxima Nova"/>
              <a:cs typeface="Proxima Nova"/>
              <a:sym typeface="Proxima Nova"/>
            </a:endParaRPr>
          </a:p>
          <a:p>
            <a:pPr indent="0" lvl="0" marL="457200" rtl="0" algn="l">
              <a:spcBef>
                <a:spcPts val="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dk1"/>
                </a:solidFill>
                <a:latin typeface="Proxima Nova"/>
                <a:ea typeface="Proxima Nova"/>
                <a:cs typeface="Proxima Nova"/>
                <a:sym typeface="Proxima Nova"/>
              </a:rPr>
              <a:t>Thrill Seekers enjoy the hunt of the deal, introducing them to </a:t>
            </a:r>
            <a:r>
              <a:rPr b="1" lang="en" sz="1500">
                <a:solidFill>
                  <a:schemeClr val="dk1"/>
                </a:solidFill>
                <a:latin typeface="Proxima Nova"/>
                <a:ea typeface="Proxima Nova"/>
                <a:cs typeface="Proxima Nova"/>
                <a:sym typeface="Proxima Nova"/>
              </a:rPr>
              <a:t>the deals hub may act a catalyst to increased browsing</a:t>
            </a:r>
            <a:r>
              <a:rPr lang="en" sz="1500">
                <a:solidFill>
                  <a:schemeClr val="dk1"/>
                </a:solidFill>
                <a:latin typeface="Proxima Nova"/>
                <a:ea typeface="Proxima Nova"/>
                <a:cs typeface="Proxima Nova"/>
                <a:sym typeface="Proxima Nova"/>
              </a:rPr>
              <a:t> and new Mx exploration.  They tend to </a:t>
            </a:r>
            <a:r>
              <a:rPr lang="en" sz="1500">
                <a:solidFill>
                  <a:schemeClr val="dk1"/>
                </a:solidFill>
                <a:latin typeface="Proxima Nova"/>
                <a:ea typeface="Proxima Nova"/>
                <a:cs typeface="Proxima Nova"/>
                <a:sym typeface="Proxima Nova"/>
              </a:rPr>
              <a:t>prioritize</a:t>
            </a:r>
            <a:r>
              <a:rPr lang="en" sz="1500">
                <a:solidFill>
                  <a:schemeClr val="dk1"/>
                </a:solidFill>
                <a:latin typeface="Proxima Nova"/>
                <a:ea typeface="Proxima Nova"/>
                <a:cs typeface="Proxima Nova"/>
                <a:sym typeface="Proxima Nova"/>
              </a:rPr>
              <a:t> quality and convenience over just the use of a promotion; </a:t>
            </a:r>
            <a:r>
              <a:rPr b="1" lang="en" sz="1500">
                <a:solidFill>
                  <a:schemeClr val="dk1"/>
                </a:solidFill>
                <a:latin typeface="Proxima Nova"/>
                <a:ea typeface="Proxima Nova"/>
                <a:cs typeface="Proxima Nova"/>
                <a:sym typeface="Proxima Nova"/>
              </a:rPr>
              <a:t>tools helping them search for quality Rx </a:t>
            </a:r>
            <a:r>
              <a:rPr lang="en" sz="1500">
                <a:solidFill>
                  <a:schemeClr val="dk1"/>
                </a:solidFill>
                <a:latin typeface="Proxima Nova"/>
                <a:ea typeface="Proxima Nova"/>
                <a:cs typeface="Proxima Nova"/>
                <a:sym typeface="Proxima Nova"/>
              </a:rPr>
              <a:t>are likely to be helpful.</a:t>
            </a:r>
            <a:endParaRPr sz="15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dk1"/>
              </a:solidFill>
              <a:latin typeface="Proxima Nova"/>
              <a:ea typeface="Proxima Nova"/>
              <a:cs typeface="Proxima Nova"/>
              <a:sym typeface="Proxima Nova"/>
            </a:endParaRPr>
          </a:p>
        </p:txBody>
      </p:sp>
      <p:pic>
        <p:nvPicPr>
          <p:cNvPr id="208" name="Google Shape;208;p28"/>
          <p:cNvPicPr preferRelativeResize="0"/>
          <p:nvPr/>
        </p:nvPicPr>
        <p:blipFill>
          <a:blip r:embed="rId3">
            <a:alphaModFix/>
          </a:blip>
          <a:stretch>
            <a:fillRect/>
          </a:stretch>
        </p:blipFill>
        <p:spPr>
          <a:xfrm>
            <a:off x="476900" y="1369500"/>
            <a:ext cx="810549" cy="810549"/>
          </a:xfrm>
          <a:prstGeom prst="rect">
            <a:avLst/>
          </a:prstGeom>
          <a:noFill/>
          <a:ln>
            <a:noFill/>
          </a:ln>
        </p:spPr>
      </p:pic>
      <p:pic>
        <p:nvPicPr>
          <p:cNvPr id="209" name="Google Shape;209;p28"/>
          <p:cNvPicPr preferRelativeResize="0"/>
          <p:nvPr/>
        </p:nvPicPr>
        <p:blipFill>
          <a:blip r:embed="rId4">
            <a:alphaModFix/>
          </a:blip>
          <a:stretch>
            <a:fillRect/>
          </a:stretch>
        </p:blipFill>
        <p:spPr>
          <a:xfrm>
            <a:off x="382900" y="2616750"/>
            <a:ext cx="998550" cy="998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Let’s hear from a </a:t>
            </a:r>
            <a:r>
              <a:rPr b="1" lang="en" sz="2000">
                <a:solidFill>
                  <a:srgbClr val="674EA7"/>
                </a:solidFill>
                <a:latin typeface="Proxima Nova"/>
                <a:ea typeface="Proxima Nova"/>
                <a:cs typeface="Proxima Nova"/>
                <a:sym typeface="Proxima Nova"/>
              </a:rPr>
              <a:t>Thrill Seeker…</a:t>
            </a:r>
            <a:endParaRPr b="1" sz="2000">
              <a:solidFill>
                <a:srgbClr val="674EA7"/>
              </a:solidFill>
              <a:latin typeface="Proxima Nova"/>
              <a:ea typeface="Proxima Nova"/>
              <a:cs typeface="Proxima Nova"/>
              <a:sym typeface="Proxima Nova"/>
            </a:endParaRPr>
          </a:p>
        </p:txBody>
      </p:sp>
      <p:pic>
        <p:nvPicPr>
          <p:cNvPr id="215" name="Google Shape;215;p29" title="Thrill_Seeker.mp4">
            <a:hlinkClick r:id="rId3"/>
          </p:cNvPr>
          <p:cNvPicPr preferRelativeResize="0"/>
          <p:nvPr/>
        </p:nvPicPr>
        <p:blipFill>
          <a:blip r:embed="rId4">
            <a:alphaModFix/>
          </a:blip>
          <a:stretch>
            <a:fillRect/>
          </a:stretch>
        </p:blipFill>
        <p:spPr>
          <a:xfrm>
            <a:off x="1146713" y="787050"/>
            <a:ext cx="6850576" cy="38534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1000"/>
                                        <p:tgtEl>
                                          <p:spTgt spid="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0"/>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1" name="Google Shape;221;p30"/>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Persona cheat sheet:</a:t>
            </a:r>
            <a:endParaRPr b="1" sz="20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2000">
              <a:solidFill>
                <a:schemeClr val="dk1"/>
              </a:solidFill>
              <a:latin typeface="Proxima Nova"/>
              <a:ea typeface="Proxima Nova"/>
              <a:cs typeface="Proxima Nova"/>
              <a:sym typeface="Proxima Nova"/>
            </a:endParaRPr>
          </a:p>
        </p:txBody>
      </p:sp>
      <p:sp>
        <p:nvSpPr>
          <p:cNvPr id="222" name="Google Shape;222;p30"/>
          <p:cNvSpPr txBox="1"/>
          <p:nvPr/>
        </p:nvSpPr>
        <p:spPr>
          <a:xfrm>
            <a:off x="940100" y="1763625"/>
            <a:ext cx="17721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4A86E8"/>
                </a:solidFill>
                <a:latin typeface="Poppins SemiBold"/>
                <a:ea typeface="Poppins SemiBold"/>
                <a:cs typeface="Poppins SemiBold"/>
                <a:sym typeface="Poppins SemiBold"/>
              </a:rPr>
              <a:t>Deal Hunters</a:t>
            </a:r>
            <a:endParaRPr>
              <a:latin typeface="Poppins SemiBold"/>
              <a:ea typeface="Poppins SemiBold"/>
              <a:cs typeface="Poppins SemiBold"/>
              <a:sym typeface="Poppins SemiBold"/>
            </a:endParaRPr>
          </a:p>
        </p:txBody>
      </p:sp>
      <p:sp>
        <p:nvSpPr>
          <p:cNvPr id="223" name="Google Shape;223;p30"/>
          <p:cNvSpPr txBox="1"/>
          <p:nvPr/>
        </p:nvSpPr>
        <p:spPr>
          <a:xfrm>
            <a:off x="940100" y="2872475"/>
            <a:ext cx="19143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FF9900"/>
                </a:solidFill>
                <a:latin typeface="Poppins SemiBold"/>
                <a:ea typeface="Poppins SemiBold"/>
                <a:cs typeface="Poppins SemiBold"/>
                <a:sym typeface="Poppins SemiBold"/>
              </a:rPr>
              <a:t>Budget Minders</a:t>
            </a:r>
            <a:endParaRPr>
              <a:latin typeface="Poppins SemiBold"/>
              <a:ea typeface="Poppins SemiBold"/>
              <a:cs typeface="Poppins SemiBold"/>
              <a:sym typeface="Poppins SemiBold"/>
            </a:endParaRPr>
          </a:p>
        </p:txBody>
      </p:sp>
      <p:sp>
        <p:nvSpPr>
          <p:cNvPr id="224" name="Google Shape;224;p30"/>
          <p:cNvSpPr txBox="1"/>
          <p:nvPr/>
        </p:nvSpPr>
        <p:spPr>
          <a:xfrm>
            <a:off x="940100" y="3925100"/>
            <a:ext cx="16923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674EA7"/>
                </a:solidFill>
                <a:latin typeface="Poppins SemiBold"/>
                <a:ea typeface="Poppins SemiBold"/>
                <a:cs typeface="Poppins SemiBold"/>
                <a:sym typeface="Poppins SemiBold"/>
              </a:rPr>
              <a:t>Thrill Seekers</a:t>
            </a:r>
            <a:endParaRPr>
              <a:latin typeface="Poppins SemiBold"/>
              <a:ea typeface="Poppins SemiBold"/>
              <a:cs typeface="Poppins SemiBold"/>
              <a:sym typeface="Poppins SemiBold"/>
            </a:endParaRPr>
          </a:p>
        </p:txBody>
      </p:sp>
      <p:pic>
        <p:nvPicPr>
          <p:cNvPr id="225" name="Google Shape;225;p30"/>
          <p:cNvPicPr preferRelativeResize="0"/>
          <p:nvPr/>
        </p:nvPicPr>
        <p:blipFill>
          <a:blip r:embed="rId3">
            <a:alphaModFix/>
          </a:blip>
          <a:stretch>
            <a:fillRect/>
          </a:stretch>
        </p:blipFill>
        <p:spPr>
          <a:xfrm>
            <a:off x="337075" y="1798225"/>
            <a:ext cx="646500" cy="646500"/>
          </a:xfrm>
          <a:prstGeom prst="rect">
            <a:avLst/>
          </a:prstGeom>
          <a:noFill/>
          <a:ln>
            <a:noFill/>
          </a:ln>
        </p:spPr>
      </p:pic>
      <p:pic>
        <p:nvPicPr>
          <p:cNvPr id="226" name="Google Shape;226;p30"/>
          <p:cNvPicPr preferRelativeResize="0"/>
          <p:nvPr/>
        </p:nvPicPr>
        <p:blipFill>
          <a:blip r:embed="rId4">
            <a:alphaModFix/>
          </a:blip>
          <a:stretch>
            <a:fillRect/>
          </a:stretch>
        </p:blipFill>
        <p:spPr>
          <a:xfrm>
            <a:off x="414025" y="3024124"/>
            <a:ext cx="492600" cy="492600"/>
          </a:xfrm>
          <a:prstGeom prst="rect">
            <a:avLst/>
          </a:prstGeom>
          <a:noFill/>
          <a:ln>
            <a:noFill/>
          </a:ln>
        </p:spPr>
      </p:pic>
      <p:pic>
        <p:nvPicPr>
          <p:cNvPr id="227" name="Google Shape;227;p30"/>
          <p:cNvPicPr preferRelativeResize="0"/>
          <p:nvPr/>
        </p:nvPicPr>
        <p:blipFill>
          <a:blip r:embed="rId5">
            <a:alphaModFix/>
          </a:blip>
          <a:stretch>
            <a:fillRect/>
          </a:stretch>
        </p:blipFill>
        <p:spPr>
          <a:xfrm>
            <a:off x="337075" y="4001300"/>
            <a:ext cx="492600" cy="492600"/>
          </a:xfrm>
          <a:prstGeom prst="rect">
            <a:avLst/>
          </a:prstGeom>
          <a:noFill/>
          <a:ln>
            <a:noFill/>
          </a:ln>
        </p:spPr>
      </p:pic>
      <p:graphicFrame>
        <p:nvGraphicFramePr>
          <p:cNvPr id="228" name="Google Shape;228;p30"/>
          <p:cNvGraphicFramePr/>
          <p:nvPr/>
        </p:nvGraphicFramePr>
        <p:xfrm>
          <a:off x="2318475" y="978475"/>
          <a:ext cx="3000000" cy="3000000"/>
        </p:xfrm>
        <a:graphic>
          <a:graphicData uri="http://schemas.openxmlformats.org/drawingml/2006/table">
            <a:tbl>
              <a:tblPr>
                <a:noFill/>
                <a:tableStyleId>{F9392DBD-4A03-4B5D-ACFE-0B7E5098AC46}</a:tableStyleId>
              </a:tblPr>
              <a:tblGrid>
                <a:gridCol w="1039450"/>
                <a:gridCol w="1039450"/>
                <a:gridCol w="1039450"/>
                <a:gridCol w="1039450"/>
                <a:gridCol w="1039450"/>
                <a:gridCol w="1039450"/>
              </a:tblGrid>
              <a:tr h="404150">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Price sensitivity</a:t>
                      </a:r>
                      <a:endParaRPr b="1" sz="1200">
                        <a:solidFill>
                          <a:schemeClr val="lt1"/>
                        </a:solidFill>
                        <a:latin typeface="Proxima Nova"/>
                        <a:ea typeface="Proxima Nova"/>
                        <a:cs typeface="Proxima Nova"/>
                        <a:sym typeface="Proxima Nova"/>
                      </a:endParaRPr>
                    </a:p>
                  </a:txBody>
                  <a:tcPr marT="91425" marB="91425" marR="91425" marL="91425" anchor="ctr">
                    <a:solidFill>
                      <a:srgbClr val="FF3008"/>
                    </a:solidFill>
                  </a:tcPr>
                </a:tc>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Promo usage</a:t>
                      </a:r>
                      <a:endParaRPr b="1" sz="1200">
                        <a:solidFill>
                          <a:schemeClr val="lt1"/>
                        </a:solidFill>
                        <a:latin typeface="Proxima Nova"/>
                        <a:ea typeface="Proxima Nova"/>
                        <a:cs typeface="Proxima Nova"/>
                        <a:sym typeface="Proxima Nova"/>
                      </a:endParaRPr>
                    </a:p>
                  </a:txBody>
                  <a:tcPr marT="91425" marB="91425" marR="91425" marL="91425" anchor="ctr">
                    <a:solidFill>
                      <a:srgbClr val="FF3008"/>
                    </a:solidFill>
                  </a:tcPr>
                </a:tc>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Promo emotions</a:t>
                      </a:r>
                      <a:endParaRPr b="1" sz="1200">
                        <a:solidFill>
                          <a:schemeClr val="lt1"/>
                        </a:solidFill>
                        <a:latin typeface="Proxima Nova"/>
                        <a:ea typeface="Proxima Nova"/>
                        <a:cs typeface="Proxima Nova"/>
                        <a:sym typeface="Proxima Nova"/>
                      </a:endParaRPr>
                    </a:p>
                  </a:txBody>
                  <a:tcPr marT="91425" marB="91425" marR="91425" marL="91425" anchor="ctr">
                    <a:solidFill>
                      <a:srgbClr val="FF3008"/>
                    </a:solidFill>
                  </a:tcPr>
                </a:tc>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Frequency of order</a:t>
                      </a:r>
                      <a:endParaRPr b="1" sz="1200">
                        <a:solidFill>
                          <a:schemeClr val="lt1"/>
                        </a:solidFill>
                        <a:latin typeface="Proxima Nova"/>
                        <a:ea typeface="Proxima Nova"/>
                        <a:cs typeface="Proxima Nova"/>
                        <a:sym typeface="Proxima Nova"/>
                      </a:endParaRPr>
                    </a:p>
                  </a:txBody>
                  <a:tcPr marT="91425" marB="91425" marR="91425" marL="91425" anchor="ctr">
                    <a:solidFill>
                      <a:srgbClr val="FF3008"/>
                    </a:solidFill>
                  </a:tcPr>
                </a:tc>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 of ppl typical ordering for</a:t>
                      </a:r>
                      <a:endParaRPr b="1" sz="1200">
                        <a:solidFill>
                          <a:schemeClr val="lt1"/>
                        </a:solidFill>
                        <a:latin typeface="Proxima Nova"/>
                        <a:ea typeface="Proxima Nova"/>
                        <a:cs typeface="Proxima Nova"/>
                        <a:sym typeface="Proxima Nova"/>
                      </a:endParaRPr>
                    </a:p>
                  </a:txBody>
                  <a:tcPr marT="91425" marB="91425" marR="91425" marL="91425" anchor="ctr">
                    <a:solidFill>
                      <a:srgbClr val="FF3008"/>
                    </a:solidFill>
                  </a:tcPr>
                </a:tc>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Preferred promo type</a:t>
                      </a:r>
                      <a:endParaRPr b="1" sz="1200">
                        <a:solidFill>
                          <a:schemeClr val="lt1"/>
                        </a:solidFill>
                        <a:latin typeface="Proxima Nova"/>
                        <a:ea typeface="Proxima Nova"/>
                        <a:cs typeface="Proxima Nova"/>
                        <a:sym typeface="Proxima Nova"/>
                      </a:endParaRPr>
                    </a:p>
                  </a:txBody>
                  <a:tcPr marT="91425" marB="91425" marR="91425" marL="91425" anchor="ctr">
                    <a:solidFill>
                      <a:srgbClr val="FF3008"/>
                    </a:solidFill>
                  </a:tcPr>
                </a:tc>
              </a:tr>
              <a:tr h="1093525">
                <a:tc>
                  <a:txBody>
                    <a:bodyPr/>
                    <a:lstStyle/>
                    <a:p>
                      <a:pPr indent="0" lvl="0" marL="0" rtl="0" algn="ctr">
                        <a:spcBef>
                          <a:spcPts val="0"/>
                        </a:spcBef>
                        <a:spcAft>
                          <a:spcPts val="0"/>
                        </a:spcAft>
                        <a:buNone/>
                      </a:pPr>
                      <a:r>
                        <a:rPr lang="en" sz="1000">
                          <a:latin typeface="Proxima Nova"/>
                          <a:ea typeface="Proxima Nova"/>
                          <a:cs typeface="Proxima Nova"/>
                          <a:sym typeface="Proxima Nova"/>
                        </a:rPr>
                        <a:t>Medium</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Almost every order</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Must-have</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1-2 times per month</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1</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No minimum &amp; BOGO</a:t>
                      </a:r>
                      <a:endParaRPr sz="1000">
                        <a:latin typeface="Proxima Nova"/>
                        <a:ea typeface="Proxima Nova"/>
                        <a:cs typeface="Proxima Nova"/>
                        <a:sym typeface="Proxima Nova"/>
                      </a:endParaRPr>
                    </a:p>
                  </a:txBody>
                  <a:tcPr marT="91425" marB="91425" marR="91425" marL="91425" anchor="ctr"/>
                </a:tc>
              </a:tr>
              <a:tr h="1093525">
                <a:tc>
                  <a:txBody>
                    <a:bodyPr/>
                    <a:lstStyle/>
                    <a:p>
                      <a:pPr indent="0" lvl="0" marL="0" rtl="0" algn="ctr">
                        <a:spcBef>
                          <a:spcPts val="0"/>
                        </a:spcBef>
                        <a:spcAft>
                          <a:spcPts val="0"/>
                        </a:spcAft>
                        <a:buNone/>
                      </a:pPr>
                      <a:r>
                        <a:rPr lang="en" sz="1000">
                          <a:latin typeface="Proxima Nova"/>
                          <a:ea typeface="Proxima Nova"/>
                          <a:cs typeface="Proxima Nova"/>
                          <a:sym typeface="Proxima Nova"/>
                        </a:rPr>
                        <a:t>High</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Rarely</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Functional</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Weekly</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2+</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 off or Free item</a:t>
                      </a:r>
                      <a:endParaRPr sz="1000">
                        <a:latin typeface="Proxima Nova"/>
                        <a:ea typeface="Proxima Nova"/>
                        <a:cs typeface="Proxima Nova"/>
                        <a:sym typeface="Proxima Nova"/>
                      </a:endParaRPr>
                    </a:p>
                  </a:txBody>
                  <a:tcPr marT="91425" marB="91425" marR="91425" marL="91425" anchor="ctr"/>
                </a:tc>
              </a:tr>
              <a:tr h="1093525">
                <a:tc>
                  <a:txBody>
                    <a:bodyPr/>
                    <a:lstStyle/>
                    <a:p>
                      <a:pPr indent="0" lvl="0" marL="0" rtl="0" algn="ctr">
                        <a:spcBef>
                          <a:spcPts val="0"/>
                        </a:spcBef>
                        <a:spcAft>
                          <a:spcPts val="0"/>
                        </a:spcAft>
                        <a:buNone/>
                      </a:pPr>
                      <a:r>
                        <a:rPr lang="en" sz="1000">
                          <a:latin typeface="Proxima Nova"/>
                          <a:ea typeface="Proxima Nova"/>
                          <a:cs typeface="Proxima Nova"/>
                          <a:sym typeface="Proxima Nova"/>
                        </a:rPr>
                        <a:t>Low</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Every few orders</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Exciting</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Weekly or more often</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2+</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Free item, BOGO, loyalty</a:t>
                      </a:r>
                      <a:endParaRPr sz="1000">
                        <a:latin typeface="Proxima Nova"/>
                        <a:ea typeface="Proxima Nova"/>
                        <a:cs typeface="Proxima Nova"/>
                        <a:sym typeface="Proxima Nova"/>
                      </a:endParaRPr>
                    </a:p>
                  </a:txBody>
                  <a:tcPr marT="91425" marB="91425" marR="91425" marL="91425" anchor="ct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4" name="Google Shape;234;p31"/>
          <p:cNvSpPr txBox="1"/>
          <p:nvPr/>
        </p:nvSpPr>
        <p:spPr>
          <a:xfrm>
            <a:off x="609800" y="1537775"/>
            <a:ext cx="75516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00">
                <a:solidFill>
                  <a:srgbClr val="FFFFFF"/>
                </a:solidFill>
                <a:latin typeface="Proxima Nova"/>
                <a:ea typeface="Proxima Nova"/>
                <a:cs typeface="Proxima Nova"/>
                <a:sym typeface="Proxima Nova"/>
              </a:rPr>
              <a:t>Detailed Insights</a:t>
            </a:r>
            <a:endParaRPr sz="4100">
              <a:solidFill>
                <a:srgbClr val="FFFFFF"/>
              </a:solidFill>
              <a:latin typeface="Proxima Nova"/>
              <a:ea typeface="Proxima Nova"/>
              <a:cs typeface="Proxima Nova"/>
              <a:sym typeface="Proxima Nova"/>
            </a:endParaRPr>
          </a:p>
        </p:txBody>
      </p:sp>
      <p:sp>
        <p:nvSpPr>
          <p:cNvPr id="235" name="Google Shape;235;p31"/>
          <p:cNvSpPr txBox="1"/>
          <p:nvPr/>
        </p:nvSpPr>
        <p:spPr>
          <a:xfrm>
            <a:off x="-891875" y="-744675"/>
            <a:ext cx="484800" cy="27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32"/>
          <p:cNvPicPr preferRelativeResize="0"/>
          <p:nvPr/>
        </p:nvPicPr>
        <p:blipFill>
          <a:blip r:embed="rId3">
            <a:alphaModFix/>
          </a:blip>
          <a:stretch>
            <a:fillRect/>
          </a:stretch>
        </p:blipFill>
        <p:spPr>
          <a:xfrm>
            <a:off x="323700" y="1522827"/>
            <a:ext cx="5038048" cy="3439093"/>
          </a:xfrm>
          <a:prstGeom prst="rect">
            <a:avLst/>
          </a:prstGeom>
          <a:noFill/>
          <a:ln>
            <a:noFill/>
          </a:ln>
        </p:spPr>
      </p:pic>
      <p:sp>
        <p:nvSpPr>
          <p:cNvPr id="241" name="Google Shape;241;p32"/>
          <p:cNvSpPr txBox="1"/>
          <p:nvPr>
            <p:ph idx="12" type="sldNum"/>
          </p:nvPr>
        </p:nvSpPr>
        <p:spPr>
          <a:xfrm>
            <a:off x="7641458" y="45108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2" name="Google Shape;242;p32"/>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A86E8"/>
                </a:solidFill>
                <a:latin typeface="Proxima Nova"/>
                <a:ea typeface="Proxima Nova"/>
                <a:cs typeface="Proxima Nova"/>
                <a:sym typeface="Proxima Nova"/>
              </a:rPr>
              <a:t>DHs</a:t>
            </a:r>
            <a:r>
              <a:rPr b="1" lang="en" sz="2000">
                <a:solidFill>
                  <a:schemeClr val="dk1"/>
                </a:solidFill>
                <a:latin typeface="Proxima Nova"/>
                <a:ea typeface="Proxima Nova"/>
                <a:cs typeface="Proxima Nova"/>
                <a:sym typeface="Proxima Nova"/>
              </a:rPr>
              <a:t> tend order takeout the least frequent in addition to searching for promos and comparing promos across apps</a:t>
            </a:r>
            <a:endParaRPr b="1" sz="2000">
              <a:solidFill>
                <a:schemeClr val="dk1"/>
              </a:solidFill>
              <a:latin typeface="Proxima Nova"/>
              <a:ea typeface="Proxima Nova"/>
              <a:cs typeface="Proxima Nova"/>
              <a:sym typeface="Proxima Nova"/>
            </a:endParaRPr>
          </a:p>
        </p:txBody>
      </p:sp>
      <p:sp>
        <p:nvSpPr>
          <p:cNvPr id="243" name="Google Shape;243;p32"/>
          <p:cNvSpPr txBox="1"/>
          <p:nvPr/>
        </p:nvSpPr>
        <p:spPr>
          <a:xfrm>
            <a:off x="586275" y="1015075"/>
            <a:ext cx="4512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1F1F1F"/>
                </a:solidFill>
                <a:highlight>
                  <a:srgbClr val="FFFFFF"/>
                </a:highlight>
                <a:latin typeface="Proxima Nova"/>
                <a:ea typeface="Proxima Nova"/>
                <a:cs typeface="Proxima Nova"/>
                <a:sym typeface="Proxima Nova"/>
              </a:rPr>
              <a:t>How frequently do you order food delivery using third-party apps or websites?</a:t>
            </a:r>
            <a:endParaRPr b="1" sz="1200">
              <a:latin typeface="Proxima Nova"/>
              <a:ea typeface="Proxima Nova"/>
              <a:cs typeface="Proxima Nova"/>
              <a:sym typeface="Proxima Nova"/>
            </a:endParaRPr>
          </a:p>
        </p:txBody>
      </p:sp>
      <p:sp>
        <p:nvSpPr>
          <p:cNvPr id="244" name="Google Shape;244;p32"/>
          <p:cNvSpPr txBox="1"/>
          <p:nvPr/>
        </p:nvSpPr>
        <p:spPr>
          <a:xfrm>
            <a:off x="5630700" y="1015075"/>
            <a:ext cx="3054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1F1F1F"/>
                </a:solidFill>
                <a:highlight>
                  <a:srgbClr val="FFFFFF"/>
                </a:highlight>
                <a:latin typeface="Proxima Nova"/>
                <a:ea typeface="Proxima Nova"/>
                <a:cs typeface="Proxima Nova"/>
                <a:sym typeface="Proxima Nova"/>
              </a:rPr>
              <a:t>How frequently do you look for promotions/discounts when ordering on DoorDash</a:t>
            </a:r>
            <a:r>
              <a:rPr b="1" lang="en" sz="1200">
                <a:solidFill>
                  <a:srgbClr val="1F1F1F"/>
                </a:solidFill>
                <a:highlight>
                  <a:srgbClr val="FFFFFF"/>
                </a:highlight>
                <a:latin typeface="Proxima Nova"/>
                <a:ea typeface="Proxima Nova"/>
                <a:cs typeface="Proxima Nova"/>
                <a:sym typeface="Proxima Nova"/>
              </a:rPr>
              <a:t>?</a:t>
            </a:r>
            <a:endParaRPr b="1" sz="1200">
              <a:latin typeface="Proxima Nova"/>
              <a:ea typeface="Proxima Nova"/>
              <a:cs typeface="Proxima Nova"/>
              <a:sym typeface="Proxima Nova"/>
            </a:endParaRPr>
          </a:p>
        </p:txBody>
      </p:sp>
      <p:sp>
        <p:nvSpPr>
          <p:cNvPr id="245" name="Google Shape;245;p32"/>
          <p:cNvSpPr txBox="1"/>
          <p:nvPr/>
        </p:nvSpPr>
        <p:spPr>
          <a:xfrm>
            <a:off x="5559650" y="2922650"/>
            <a:ext cx="3054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1F1F1F"/>
                </a:solidFill>
                <a:highlight>
                  <a:srgbClr val="FFFFFF"/>
                </a:highlight>
                <a:latin typeface="Proxima Nova"/>
                <a:ea typeface="Proxima Nova"/>
                <a:cs typeface="Proxima Nova"/>
                <a:sym typeface="Proxima Nova"/>
              </a:rPr>
              <a:t>How frequently do you compare deals on DoorDash to other third-party services when placing a takeout order?</a:t>
            </a:r>
            <a:endParaRPr b="1" sz="1200">
              <a:latin typeface="Proxima Nova"/>
              <a:ea typeface="Proxima Nova"/>
              <a:cs typeface="Proxima Nova"/>
              <a:sym typeface="Proxima Nova"/>
            </a:endParaRPr>
          </a:p>
        </p:txBody>
      </p:sp>
      <p:graphicFrame>
        <p:nvGraphicFramePr>
          <p:cNvPr id="246" name="Google Shape;246;p32"/>
          <p:cNvGraphicFramePr/>
          <p:nvPr/>
        </p:nvGraphicFramePr>
        <p:xfrm>
          <a:off x="5630675" y="1829975"/>
          <a:ext cx="3000000" cy="3000000"/>
        </p:xfrm>
        <a:graphic>
          <a:graphicData uri="http://schemas.openxmlformats.org/drawingml/2006/table">
            <a:tbl>
              <a:tblPr>
                <a:noFill/>
                <a:tableStyleId>{4CDE9DB5-099F-468F-8C3C-A9098C66C0F4}</a:tableStyleId>
              </a:tblPr>
              <a:tblGrid>
                <a:gridCol w="1536525"/>
                <a:gridCol w="458675"/>
                <a:gridCol w="458675"/>
                <a:gridCol w="458675"/>
              </a:tblGrid>
              <a:tr h="200025">
                <a:tc>
                  <a:txBody>
                    <a:bodyPr/>
                    <a:lstStyle/>
                    <a:p>
                      <a:pPr indent="0" lvl="0" marL="0" rtl="0" algn="l">
                        <a:spcBef>
                          <a:spcPts val="0"/>
                        </a:spcBef>
                        <a:spcAft>
                          <a:spcPts val="0"/>
                        </a:spcAft>
                        <a:buNone/>
                      </a:pPr>
                      <a:r>
                        <a:t/>
                      </a:r>
                      <a:endParaRPr>
                        <a:solidFill>
                          <a:schemeClr val="dk1"/>
                        </a:solidFill>
                        <a:latin typeface="Proxima Nova"/>
                        <a:ea typeface="Proxima Nova"/>
                        <a:cs typeface="Proxima Nova"/>
                        <a:sym typeface="Proxima Nova"/>
                      </a:endParaRPr>
                    </a:p>
                  </a:txBody>
                  <a:tcPr marT="19050" marB="19050" marR="28575" marL="28575" anchor="b">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152935"/>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chemeClr val="lt1"/>
                          </a:solidFill>
                          <a:latin typeface="Proxima Nova"/>
                          <a:ea typeface="Proxima Nova"/>
                          <a:cs typeface="Proxima Nova"/>
                          <a:sym typeface="Proxima Nova"/>
                        </a:rPr>
                        <a:t>DH</a:t>
                      </a:r>
                      <a:endParaRPr sz="1000">
                        <a:solidFill>
                          <a:schemeClr val="lt1"/>
                        </a:solidFill>
                        <a:latin typeface="Proxima Nova"/>
                        <a:ea typeface="Proxima Nova"/>
                        <a:cs typeface="Proxima Nova"/>
                        <a:sym typeface="Proxima Nova"/>
                      </a:endParaRPr>
                    </a:p>
                  </a:txBody>
                  <a:tcPr marT="19050" marB="19050" marR="28575" marL="28575" anchor="b">
                    <a:lnL cap="flat" cmpd="sng" w="9525">
                      <a:solidFill>
                        <a:srgbClr val="BFBFBF"/>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152935"/>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lang="en" sz="1000">
                          <a:solidFill>
                            <a:schemeClr val="lt1"/>
                          </a:solidFill>
                          <a:latin typeface="Proxima Nova"/>
                          <a:ea typeface="Proxima Nova"/>
                          <a:cs typeface="Proxima Nova"/>
                          <a:sym typeface="Proxima Nova"/>
                        </a:rPr>
                        <a:t>BM</a:t>
                      </a:r>
                      <a:endParaRPr sz="1000">
                        <a:solidFill>
                          <a:schemeClr val="lt1"/>
                        </a:solidFill>
                        <a:latin typeface="Proxima Nova"/>
                        <a:ea typeface="Proxima Nova"/>
                        <a:cs typeface="Proxima Nova"/>
                        <a:sym typeface="Proxima Nova"/>
                      </a:endParaRPr>
                    </a:p>
                  </a:txBody>
                  <a:tcPr marT="19050" marB="19050" marR="28575" marL="28575" anchor="b">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152935"/>
                      </a:solidFill>
                      <a:prstDash val="solid"/>
                      <a:round/>
                      <a:headEnd len="sm" w="sm" type="none"/>
                      <a:tailEnd len="sm" w="sm" type="none"/>
                    </a:lnB>
                    <a:solidFill>
                      <a:srgbClr val="FF9900"/>
                    </a:solidFill>
                  </a:tcPr>
                </a:tc>
                <a:tc>
                  <a:txBody>
                    <a:bodyPr/>
                    <a:lstStyle/>
                    <a:p>
                      <a:pPr indent="0" lvl="0" marL="0" rtl="0" algn="ctr">
                        <a:lnSpc>
                          <a:spcPct val="115000"/>
                        </a:lnSpc>
                        <a:spcBef>
                          <a:spcPts val="0"/>
                        </a:spcBef>
                        <a:spcAft>
                          <a:spcPts val="0"/>
                        </a:spcAft>
                        <a:buNone/>
                      </a:pPr>
                      <a:r>
                        <a:rPr lang="en" sz="1000">
                          <a:solidFill>
                            <a:schemeClr val="lt1"/>
                          </a:solidFill>
                          <a:latin typeface="Proxima Nova"/>
                          <a:ea typeface="Proxima Nova"/>
                          <a:cs typeface="Proxima Nova"/>
                          <a:sym typeface="Proxima Nova"/>
                        </a:rPr>
                        <a:t>TS</a:t>
                      </a:r>
                      <a:endParaRPr sz="1000">
                        <a:solidFill>
                          <a:schemeClr val="lt1"/>
                        </a:solidFill>
                        <a:latin typeface="Proxima Nova"/>
                        <a:ea typeface="Proxima Nova"/>
                        <a:cs typeface="Proxima Nova"/>
                        <a:sym typeface="Proxima Nova"/>
                      </a:endParaRPr>
                    </a:p>
                  </a:txBody>
                  <a:tcPr marT="19050" marB="19050" marR="28575" marL="28575" anchor="b">
                    <a:lnL cap="flat" cmpd="sng" w="9525">
                      <a:solidFill>
                        <a:srgbClr val="E0E0E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AEAEAE"/>
                      </a:solidFill>
                      <a:prstDash val="solid"/>
                      <a:round/>
                      <a:headEnd len="sm" w="sm" type="none"/>
                      <a:tailEnd len="sm" w="sm" type="none"/>
                    </a:lnB>
                    <a:solidFill>
                      <a:srgbClr val="674EA7"/>
                    </a:solidFill>
                  </a:tcPr>
                </a:tc>
              </a:tr>
              <a:tr h="2000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Rarely</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152935"/>
                      </a:solidFill>
                      <a:prstDash val="solid"/>
                      <a:round/>
                      <a:headEnd len="sm" w="sm" type="none"/>
                      <a:tailEnd len="sm" w="sm" type="none"/>
                    </a:lnT>
                    <a:lnB cap="flat" cmpd="sng" w="9525">
                      <a:solidFill>
                        <a:srgbClr val="AEAEA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6%</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152935"/>
                      </a:solidFill>
                      <a:prstDash val="solid"/>
                      <a:round/>
                      <a:headEnd len="sm" w="sm" type="none"/>
                      <a:tailEnd len="sm" w="sm" type="none"/>
                    </a:lnT>
                    <a:lnB cap="flat" cmpd="sng" w="9525">
                      <a:solidFill>
                        <a:srgbClr val="AEAEAE"/>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22%</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152935"/>
                      </a:solidFill>
                      <a:prstDash val="solid"/>
                      <a:round/>
                      <a:headEnd len="sm" w="sm" type="none"/>
                      <a:tailEnd len="sm" w="sm" type="none"/>
                    </a:lnT>
                    <a:lnB cap="flat" cmpd="sng" w="9525">
                      <a:solidFill>
                        <a:srgbClr val="AEAEAE"/>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17%</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AEAEAE"/>
                      </a:solidFill>
                      <a:prstDash val="solid"/>
                      <a:round/>
                      <a:headEnd len="sm" w="sm" type="none"/>
                      <a:tailEnd len="sm" w="sm" type="none"/>
                    </a:lnB>
                    <a:solidFill>
                      <a:srgbClr val="F9F9FB"/>
                    </a:solidFill>
                  </a:tcPr>
                </a:tc>
              </a:tr>
              <a:tr h="2000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Every few orders</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AEAEA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22%</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AEAEAE"/>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48%</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AEAEAE"/>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28%</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AEAEAE"/>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Every Order</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71%</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BFBFBF"/>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30%</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BFBFBF"/>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55%</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BFBFBF"/>
                      </a:solidFill>
                      <a:prstDash val="solid"/>
                      <a:round/>
                      <a:headEnd len="sm" w="sm" type="none"/>
                      <a:tailEnd len="sm" w="sm" type="none"/>
                    </a:lnB>
                  </a:tcPr>
                </a:tc>
              </a:tr>
            </a:tbl>
          </a:graphicData>
        </a:graphic>
      </p:graphicFrame>
      <p:graphicFrame>
        <p:nvGraphicFramePr>
          <p:cNvPr id="247" name="Google Shape;247;p32"/>
          <p:cNvGraphicFramePr/>
          <p:nvPr/>
        </p:nvGraphicFramePr>
        <p:xfrm>
          <a:off x="5675125" y="3615350"/>
          <a:ext cx="3000000" cy="3000000"/>
        </p:xfrm>
        <a:graphic>
          <a:graphicData uri="http://schemas.openxmlformats.org/drawingml/2006/table">
            <a:tbl>
              <a:tblPr>
                <a:noFill/>
                <a:tableStyleId>{4CDE9DB5-099F-468F-8C3C-A9098C66C0F4}</a:tableStyleId>
              </a:tblPr>
              <a:tblGrid>
                <a:gridCol w="1536550"/>
                <a:gridCol w="458675"/>
                <a:gridCol w="458675"/>
                <a:gridCol w="458675"/>
              </a:tblGrid>
              <a:tr h="200025">
                <a:tc>
                  <a:txBody>
                    <a:bodyPr/>
                    <a:lstStyle/>
                    <a:p>
                      <a:pPr indent="0" lvl="0" marL="0" rtl="0" algn="l">
                        <a:spcBef>
                          <a:spcPts val="0"/>
                        </a:spcBef>
                        <a:spcAft>
                          <a:spcPts val="0"/>
                        </a:spcAft>
                        <a:buNone/>
                      </a:pPr>
                      <a:r>
                        <a:t/>
                      </a:r>
                      <a:endParaRPr>
                        <a:solidFill>
                          <a:schemeClr val="dk1"/>
                        </a:solidFill>
                        <a:latin typeface="Proxima Nova"/>
                        <a:ea typeface="Proxima Nova"/>
                        <a:cs typeface="Proxima Nova"/>
                        <a:sym typeface="Proxima Nova"/>
                      </a:endParaRPr>
                    </a:p>
                  </a:txBody>
                  <a:tcPr marT="19050" marB="19050" marR="28575" marL="28575" anchor="b">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15293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lt1"/>
                          </a:solidFill>
                          <a:latin typeface="Proxima Nova"/>
                          <a:ea typeface="Proxima Nova"/>
                          <a:cs typeface="Proxima Nova"/>
                          <a:sym typeface="Proxima Nova"/>
                        </a:rPr>
                        <a:t>DH</a:t>
                      </a:r>
                      <a:endParaRPr sz="1000">
                        <a:solidFill>
                          <a:schemeClr val="lt1"/>
                        </a:solidFill>
                        <a:latin typeface="Proxima Nova"/>
                        <a:ea typeface="Proxima Nova"/>
                        <a:cs typeface="Proxima Nova"/>
                        <a:sym typeface="Proxima Nova"/>
                      </a:endParaRPr>
                    </a:p>
                  </a:txBody>
                  <a:tcPr marT="19050" marB="19050" marR="28575" marL="28575" anchor="b">
                    <a:lnL cap="flat" cmpd="sng" w="9525">
                      <a:solidFill>
                        <a:srgbClr val="BFBFBF"/>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152935"/>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lang="en" sz="1000">
                          <a:solidFill>
                            <a:schemeClr val="lt1"/>
                          </a:solidFill>
                          <a:latin typeface="Proxima Nova"/>
                          <a:ea typeface="Proxima Nova"/>
                          <a:cs typeface="Proxima Nova"/>
                          <a:sym typeface="Proxima Nova"/>
                        </a:rPr>
                        <a:t>BM</a:t>
                      </a:r>
                      <a:endParaRPr sz="1000">
                        <a:solidFill>
                          <a:schemeClr val="lt1"/>
                        </a:solidFill>
                        <a:latin typeface="Proxima Nova"/>
                        <a:ea typeface="Proxima Nova"/>
                        <a:cs typeface="Proxima Nova"/>
                        <a:sym typeface="Proxima Nova"/>
                      </a:endParaRPr>
                    </a:p>
                  </a:txBody>
                  <a:tcPr marT="19050" marB="19050" marR="28575" marL="28575" anchor="b">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152935"/>
                      </a:solidFill>
                      <a:prstDash val="solid"/>
                      <a:round/>
                      <a:headEnd len="sm" w="sm" type="none"/>
                      <a:tailEnd len="sm" w="sm" type="none"/>
                    </a:lnB>
                    <a:solidFill>
                      <a:srgbClr val="FF9900"/>
                    </a:solidFill>
                  </a:tcPr>
                </a:tc>
                <a:tc>
                  <a:txBody>
                    <a:bodyPr/>
                    <a:lstStyle/>
                    <a:p>
                      <a:pPr indent="0" lvl="0" marL="0" rtl="0" algn="ctr">
                        <a:lnSpc>
                          <a:spcPct val="115000"/>
                        </a:lnSpc>
                        <a:spcBef>
                          <a:spcPts val="0"/>
                        </a:spcBef>
                        <a:spcAft>
                          <a:spcPts val="0"/>
                        </a:spcAft>
                        <a:buNone/>
                      </a:pPr>
                      <a:r>
                        <a:rPr lang="en" sz="1000">
                          <a:solidFill>
                            <a:schemeClr val="lt1"/>
                          </a:solidFill>
                          <a:latin typeface="Proxima Nova"/>
                          <a:ea typeface="Proxima Nova"/>
                          <a:cs typeface="Proxima Nova"/>
                          <a:sym typeface="Proxima Nova"/>
                        </a:rPr>
                        <a:t>TS</a:t>
                      </a:r>
                      <a:endParaRPr sz="1000">
                        <a:solidFill>
                          <a:schemeClr val="lt1"/>
                        </a:solidFill>
                        <a:latin typeface="Proxima Nova"/>
                        <a:ea typeface="Proxima Nova"/>
                        <a:cs typeface="Proxima Nova"/>
                        <a:sym typeface="Proxima Nova"/>
                      </a:endParaRPr>
                    </a:p>
                  </a:txBody>
                  <a:tcPr marT="19050" marB="19050" marR="28575" marL="28575" anchor="b">
                    <a:lnL cap="flat" cmpd="sng" w="9525">
                      <a:solidFill>
                        <a:srgbClr val="E0E0E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AEAEAE"/>
                      </a:solidFill>
                      <a:prstDash val="solid"/>
                      <a:round/>
                      <a:headEnd len="sm" w="sm" type="none"/>
                      <a:tailEnd len="sm" w="sm" type="none"/>
                    </a:lnB>
                    <a:solidFill>
                      <a:srgbClr val="674EA7"/>
                    </a:solidFill>
                  </a:tcPr>
                </a:tc>
              </a:tr>
              <a:tr h="2000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Never</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152935"/>
                      </a:solidFill>
                      <a:prstDash val="solid"/>
                      <a:round/>
                      <a:headEnd len="sm" w="sm" type="none"/>
                      <a:tailEnd len="sm" w="sm" type="none"/>
                    </a:lnT>
                    <a:lnB cap="flat" cmpd="sng" w="9525">
                      <a:solidFill>
                        <a:srgbClr val="AEAEA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10</a:t>
                      </a:r>
                      <a:r>
                        <a:rPr lang="en" sz="1000">
                          <a:solidFill>
                            <a:schemeClr val="dk1"/>
                          </a:solidFill>
                          <a:latin typeface="Proxima Nova"/>
                          <a:ea typeface="Proxima Nova"/>
                          <a:cs typeface="Proxima Nova"/>
                          <a:sym typeface="Proxima Nova"/>
                        </a:rPr>
                        <a:t>%</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152935"/>
                      </a:solidFill>
                      <a:prstDash val="solid"/>
                      <a:round/>
                      <a:headEnd len="sm" w="sm" type="none"/>
                      <a:tailEnd len="sm" w="sm" type="none"/>
                    </a:lnT>
                    <a:lnB cap="flat" cmpd="sng" w="9525">
                      <a:solidFill>
                        <a:srgbClr val="AEAEAE"/>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28%</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152935"/>
                      </a:solidFill>
                      <a:prstDash val="solid"/>
                      <a:round/>
                      <a:headEnd len="sm" w="sm" type="none"/>
                      <a:tailEnd len="sm" w="sm" type="none"/>
                    </a:lnT>
                    <a:lnB cap="flat" cmpd="sng" w="9525">
                      <a:solidFill>
                        <a:srgbClr val="AEAEAE"/>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27%</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AEAEAE"/>
                      </a:solidFill>
                      <a:prstDash val="solid"/>
                      <a:round/>
                      <a:headEnd len="sm" w="sm" type="none"/>
                      <a:tailEnd len="sm" w="sm" type="none"/>
                    </a:lnB>
                    <a:solidFill>
                      <a:srgbClr val="F9F9FB"/>
                    </a:solidFill>
                  </a:tcPr>
                </a:tc>
              </a:tr>
              <a:tr h="2000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Rarely</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AEAEA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20</a:t>
                      </a:r>
                      <a:r>
                        <a:rPr lang="en" sz="1000">
                          <a:solidFill>
                            <a:schemeClr val="dk1"/>
                          </a:solidFill>
                          <a:latin typeface="Proxima Nova"/>
                          <a:ea typeface="Proxima Nova"/>
                          <a:cs typeface="Proxima Nova"/>
                          <a:sym typeface="Proxima Nova"/>
                        </a:rPr>
                        <a:t>%</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AEAEAE"/>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23%</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AEAEAE"/>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27%</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AEAEAE"/>
                      </a:solidFill>
                      <a:prstDash val="solid"/>
                      <a:round/>
                      <a:headEnd len="sm" w="sm" type="none"/>
                      <a:tailEnd len="sm" w="sm" type="none"/>
                    </a:lnB>
                    <a:solidFill>
                      <a:srgbClr val="D9D2E9"/>
                    </a:solidFill>
                  </a:tcPr>
                </a:tc>
              </a:tr>
              <a:tr h="2000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Every few orders</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AEAEA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24%</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AEAEAE"/>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33%</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AEAEAE"/>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28%</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AEAEAE"/>
                      </a:solidFill>
                      <a:prstDash val="solid"/>
                      <a:round/>
                      <a:headEnd len="sm" w="sm" type="none"/>
                      <a:tailEnd len="sm" w="sm" type="none"/>
                    </a:lnB>
                    <a:solidFill>
                      <a:srgbClr val="F9F9FB"/>
                    </a:solidFill>
                  </a:tcPr>
                </a:tc>
              </a:tr>
              <a:tr h="2000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Every Order</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47%</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BFBFBF"/>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15%</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BFBFBF"/>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18%</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AEAEAE"/>
                      </a:solidFill>
                      <a:prstDash val="solid"/>
                      <a:round/>
                      <a:headEnd len="sm" w="sm" type="none"/>
                      <a:tailEnd len="sm" w="sm" type="none"/>
                    </a:lnT>
                    <a:lnB cap="flat" cmpd="sng" w="9525">
                      <a:solidFill>
                        <a:srgbClr val="BFBFBF"/>
                      </a:solidFill>
                      <a:prstDash val="solid"/>
                      <a:round/>
                      <a:headEnd len="sm" w="sm" type="none"/>
                      <a:tailEnd len="sm" w="sm" type="none"/>
                    </a:lnB>
                    <a:solidFill>
                      <a:srgbClr val="F9F9FB"/>
                    </a:solidFill>
                  </a:tcPr>
                </a:tc>
              </a:tr>
            </a:tbl>
          </a:graphicData>
        </a:graphic>
      </p:graphicFrame>
      <p:sp>
        <p:nvSpPr>
          <p:cNvPr id="248" name="Google Shape;248;p32"/>
          <p:cNvSpPr/>
          <p:nvPr/>
        </p:nvSpPr>
        <p:spPr>
          <a:xfrm>
            <a:off x="1029325" y="3446525"/>
            <a:ext cx="337500" cy="239700"/>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
        <p:nvSpPr>
          <p:cNvPr id="249" name="Google Shape;249;p32"/>
          <p:cNvSpPr/>
          <p:nvPr/>
        </p:nvSpPr>
        <p:spPr>
          <a:xfrm rot="-940908">
            <a:off x="1648772" y="2037501"/>
            <a:ext cx="635972" cy="239628"/>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
        <p:nvSpPr>
          <p:cNvPr id="250" name="Google Shape;250;p32"/>
          <p:cNvSpPr/>
          <p:nvPr/>
        </p:nvSpPr>
        <p:spPr>
          <a:xfrm>
            <a:off x="2849416" y="2223299"/>
            <a:ext cx="636000" cy="239700"/>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
        <p:nvSpPr>
          <p:cNvPr id="251" name="Google Shape;251;p32"/>
          <p:cNvSpPr/>
          <p:nvPr/>
        </p:nvSpPr>
        <p:spPr>
          <a:xfrm rot="-253225">
            <a:off x="3594336" y="2797230"/>
            <a:ext cx="635924" cy="239754"/>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grpSp>
        <p:nvGrpSpPr>
          <p:cNvPr id="252" name="Google Shape;252;p32"/>
          <p:cNvGrpSpPr/>
          <p:nvPr/>
        </p:nvGrpSpPr>
        <p:grpSpPr>
          <a:xfrm>
            <a:off x="4216075" y="1446625"/>
            <a:ext cx="883100" cy="446700"/>
            <a:chOff x="-1385800" y="2979700"/>
            <a:chExt cx="883100" cy="446700"/>
          </a:xfrm>
        </p:grpSpPr>
        <p:sp>
          <p:nvSpPr>
            <p:cNvPr id="253" name="Google Shape;253;p32"/>
            <p:cNvSpPr/>
            <p:nvPr/>
          </p:nvSpPr>
          <p:spPr>
            <a:xfrm>
              <a:off x="-1385800" y="2979700"/>
              <a:ext cx="142200" cy="1419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32"/>
            <p:cNvSpPr txBox="1"/>
            <p:nvPr/>
          </p:nvSpPr>
          <p:spPr>
            <a:xfrm>
              <a:off x="-1325000" y="2979700"/>
              <a:ext cx="728400" cy="14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latin typeface="Proxima Nova"/>
                  <a:ea typeface="Proxima Nova"/>
                  <a:cs typeface="Proxima Nova"/>
                  <a:sym typeface="Proxima Nova"/>
                </a:rPr>
                <a:t>Deal Hunters</a:t>
              </a:r>
              <a:endParaRPr sz="700">
                <a:latin typeface="Proxima Nova"/>
                <a:ea typeface="Proxima Nova"/>
                <a:cs typeface="Proxima Nova"/>
                <a:sym typeface="Proxima Nova"/>
              </a:endParaRPr>
            </a:p>
          </p:txBody>
        </p:sp>
        <p:sp>
          <p:nvSpPr>
            <p:cNvPr id="255" name="Google Shape;255;p32"/>
            <p:cNvSpPr/>
            <p:nvPr/>
          </p:nvSpPr>
          <p:spPr>
            <a:xfrm>
              <a:off x="-1385800" y="3132100"/>
              <a:ext cx="142200" cy="141900"/>
            </a:xfrm>
            <a:prstGeom prst="rect">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32"/>
            <p:cNvSpPr txBox="1"/>
            <p:nvPr/>
          </p:nvSpPr>
          <p:spPr>
            <a:xfrm>
              <a:off x="-1325000" y="3132100"/>
              <a:ext cx="822300" cy="14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latin typeface="Proxima Nova"/>
                  <a:ea typeface="Proxima Nova"/>
                  <a:cs typeface="Proxima Nova"/>
                  <a:sym typeface="Proxima Nova"/>
                </a:rPr>
                <a:t>Budget Minders</a:t>
              </a:r>
              <a:endParaRPr sz="700">
                <a:latin typeface="Proxima Nova"/>
                <a:ea typeface="Proxima Nova"/>
                <a:cs typeface="Proxima Nova"/>
                <a:sym typeface="Proxima Nova"/>
              </a:endParaRPr>
            </a:p>
          </p:txBody>
        </p:sp>
        <p:sp>
          <p:nvSpPr>
            <p:cNvPr id="257" name="Google Shape;257;p32"/>
            <p:cNvSpPr/>
            <p:nvPr/>
          </p:nvSpPr>
          <p:spPr>
            <a:xfrm>
              <a:off x="-1385800" y="3284500"/>
              <a:ext cx="142200" cy="141900"/>
            </a:xfrm>
            <a:prstGeom prst="rect">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674EA7"/>
                </a:solidFill>
              </a:endParaRPr>
            </a:p>
          </p:txBody>
        </p:sp>
        <p:sp>
          <p:nvSpPr>
            <p:cNvPr id="258" name="Google Shape;258;p32"/>
            <p:cNvSpPr txBox="1"/>
            <p:nvPr/>
          </p:nvSpPr>
          <p:spPr>
            <a:xfrm>
              <a:off x="-1325000" y="3284500"/>
              <a:ext cx="728400" cy="14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latin typeface="Proxima Nova"/>
                  <a:ea typeface="Proxima Nova"/>
                  <a:cs typeface="Proxima Nova"/>
                  <a:sym typeface="Proxima Nova"/>
                </a:rPr>
                <a:t>Thrill Seekers</a:t>
              </a:r>
              <a:endParaRPr sz="700">
                <a:latin typeface="Proxima Nova"/>
                <a:ea typeface="Proxima Nova"/>
                <a:cs typeface="Proxima Nova"/>
                <a:sym typeface="Proxima Nova"/>
              </a:endParaRPr>
            </a:p>
          </p:txBody>
        </p:sp>
      </p:grpSp>
      <p:sp>
        <p:nvSpPr>
          <p:cNvPr id="259" name="Google Shape;259;p32"/>
          <p:cNvSpPr txBox="1"/>
          <p:nvPr/>
        </p:nvSpPr>
        <p:spPr>
          <a:xfrm>
            <a:off x="337575" y="4779275"/>
            <a:ext cx="45573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Proxima Nova"/>
                <a:ea typeface="Proxima Nova"/>
                <a:cs typeface="Proxima Nova"/>
                <a:sym typeface="Proxima Nova"/>
              </a:rPr>
              <a:t>Base: n= 126 Deal Hunters, n=60 Budget Minders, N=85 Thrill Seekers</a:t>
            </a:r>
            <a:endParaRPr sz="600">
              <a:latin typeface="Proxima Nova"/>
              <a:ea typeface="Proxima Nova"/>
              <a:cs typeface="Proxima Nova"/>
              <a:sym typeface="Proxima Nov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3"/>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5" name="Google Shape;265;p33"/>
          <p:cNvSpPr txBox="1"/>
          <p:nvPr/>
        </p:nvSpPr>
        <p:spPr>
          <a:xfrm>
            <a:off x="86100" y="5225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accent1"/>
                </a:solidFill>
                <a:latin typeface="Proxima Nova"/>
                <a:ea typeface="Proxima Nova"/>
                <a:cs typeface="Proxima Nova"/>
                <a:sym typeface="Proxima Nova"/>
              </a:rPr>
              <a:t>BM</a:t>
            </a:r>
            <a:r>
              <a:rPr b="1" lang="en" sz="2000">
                <a:solidFill>
                  <a:schemeClr val="dk1"/>
                </a:solidFill>
                <a:latin typeface="Proxima Nova"/>
                <a:ea typeface="Proxima Nova"/>
                <a:cs typeface="Proxima Nova"/>
                <a:sym typeface="Proxima Nova"/>
              </a:rPr>
              <a:t> and </a:t>
            </a:r>
            <a:r>
              <a:rPr b="1" lang="en" sz="2000">
                <a:solidFill>
                  <a:srgbClr val="9900FF"/>
                </a:solidFill>
                <a:latin typeface="Proxima Nova"/>
                <a:ea typeface="Proxima Nova"/>
                <a:cs typeface="Proxima Nova"/>
                <a:sym typeface="Proxima Nova"/>
              </a:rPr>
              <a:t>TS</a:t>
            </a:r>
            <a:r>
              <a:rPr b="1" lang="en" sz="2000">
                <a:solidFill>
                  <a:schemeClr val="dk1"/>
                </a:solidFill>
                <a:latin typeface="Proxima Nova"/>
                <a:ea typeface="Proxima Nova"/>
                <a:cs typeface="Proxima Nova"/>
                <a:sym typeface="Proxima Nova"/>
              </a:rPr>
              <a:t> tend to focus more on price range while </a:t>
            </a:r>
            <a:r>
              <a:rPr b="1" lang="en" sz="2000">
                <a:solidFill>
                  <a:srgbClr val="4A86E8"/>
                </a:solidFill>
                <a:latin typeface="Proxima Nova"/>
                <a:ea typeface="Proxima Nova"/>
                <a:cs typeface="Proxima Nova"/>
                <a:sym typeface="Proxima Nova"/>
              </a:rPr>
              <a:t>DH </a:t>
            </a:r>
            <a:r>
              <a:rPr b="1" lang="en" sz="2000">
                <a:solidFill>
                  <a:schemeClr val="dk1"/>
                </a:solidFill>
                <a:latin typeface="Proxima Nova"/>
                <a:ea typeface="Proxima Nova"/>
                <a:cs typeface="Proxima Nova"/>
                <a:sym typeface="Proxima Nova"/>
              </a:rPr>
              <a:t>over index on no budget</a:t>
            </a:r>
            <a:endParaRPr b="1" sz="20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2000">
              <a:solidFill>
                <a:schemeClr val="dk1"/>
              </a:solidFill>
              <a:latin typeface="Proxima Nova"/>
              <a:ea typeface="Proxima Nova"/>
              <a:cs typeface="Proxima Nova"/>
              <a:sym typeface="Proxima Nova"/>
            </a:endParaRPr>
          </a:p>
        </p:txBody>
      </p:sp>
      <p:pic>
        <p:nvPicPr>
          <p:cNvPr id="266" name="Google Shape;266;p33" title="Budgeting on DoorDash"/>
          <p:cNvPicPr preferRelativeResize="0"/>
          <p:nvPr/>
        </p:nvPicPr>
        <p:blipFill>
          <a:blip r:embed="rId3">
            <a:alphaModFix/>
          </a:blip>
          <a:stretch>
            <a:fillRect/>
          </a:stretch>
        </p:blipFill>
        <p:spPr>
          <a:xfrm>
            <a:off x="2246625" y="1244025"/>
            <a:ext cx="5970549" cy="3308326"/>
          </a:xfrm>
          <a:prstGeom prst="rect">
            <a:avLst/>
          </a:prstGeom>
          <a:noFill/>
          <a:ln>
            <a:noFill/>
          </a:ln>
        </p:spPr>
      </p:pic>
      <p:sp>
        <p:nvSpPr>
          <p:cNvPr id="267" name="Google Shape;267;p33"/>
          <p:cNvSpPr txBox="1"/>
          <p:nvPr/>
        </p:nvSpPr>
        <p:spPr>
          <a:xfrm>
            <a:off x="1188600" y="1915000"/>
            <a:ext cx="11295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latin typeface="Proxima Nova"/>
                <a:ea typeface="Proxima Nova"/>
                <a:cs typeface="Proxima Nova"/>
                <a:sym typeface="Proxima Nova"/>
              </a:rPr>
              <a:t>I have a set amount that I am willing to spend and will not go over</a:t>
            </a:r>
            <a:endParaRPr sz="800">
              <a:solidFill>
                <a:schemeClr val="dk1"/>
              </a:solidFill>
              <a:latin typeface="Proxima Nova"/>
              <a:ea typeface="Proxima Nova"/>
              <a:cs typeface="Proxima Nova"/>
              <a:sym typeface="Proxima Nova"/>
            </a:endParaRPr>
          </a:p>
        </p:txBody>
      </p:sp>
      <p:sp>
        <p:nvSpPr>
          <p:cNvPr id="268" name="Google Shape;268;p33"/>
          <p:cNvSpPr txBox="1"/>
          <p:nvPr/>
        </p:nvSpPr>
        <p:spPr>
          <a:xfrm>
            <a:off x="1188600" y="2822100"/>
            <a:ext cx="1129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latin typeface="Proxima Nova"/>
                <a:ea typeface="Proxima Nova"/>
                <a:cs typeface="Proxima Nova"/>
                <a:sym typeface="Proxima Nova"/>
              </a:rPr>
              <a:t>I have a range that I am willing to spend</a:t>
            </a:r>
            <a:endParaRPr sz="800">
              <a:solidFill>
                <a:schemeClr val="dk1"/>
              </a:solidFill>
              <a:latin typeface="Proxima Nova"/>
              <a:ea typeface="Proxima Nova"/>
              <a:cs typeface="Proxima Nova"/>
              <a:sym typeface="Proxima Nova"/>
            </a:endParaRPr>
          </a:p>
        </p:txBody>
      </p:sp>
      <p:sp>
        <p:nvSpPr>
          <p:cNvPr id="269" name="Google Shape;269;p33"/>
          <p:cNvSpPr txBox="1"/>
          <p:nvPr/>
        </p:nvSpPr>
        <p:spPr>
          <a:xfrm>
            <a:off x="1188600" y="3588838"/>
            <a:ext cx="1129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latin typeface="Proxima Nova"/>
                <a:ea typeface="Proxima Nova"/>
                <a:cs typeface="Proxima Nova"/>
                <a:sym typeface="Proxima Nova"/>
              </a:rPr>
              <a:t>I do not have a budget in mind when I order on DoorDash</a:t>
            </a:r>
            <a:endParaRPr sz="800">
              <a:solidFill>
                <a:schemeClr val="dk1"/>
              </a:solidFill>
              <a:latin typeface="Proxima Nova"/>
              <a:ea typeface="Proxima Nova"/>
              <a:cs typeface="Proxima Nova"/>
              <a:sym typeface="Proxima Nova"/>
            </a:endParaRPr>
          </a:p>
        </p:txBody>
      </p:sp>
      <p:cxnSp>
        <p:nvCxnSpPr>
          <p:cNvPr id="270" name="Google Shape;270;p33"/>
          <p:cNvCxnSpPr/>
          <p:nvPr/>
        </p:nvCxnSpPr>
        <p:spPr>
          <a:xfrm>
            <a:off x="1109550" y="1914175"/>
            <a:ext cx="9000" cy="2229600"/>
          </a:xfrm>
          <a:prstGeom prst="straightConnector1">
            <a:avLst/>
          </a:prstGeom>
          <a:noFill/>
          <a:ln cap="flat" cmpd="sng" w="9525">
            <a:solidFill>
              <a:schemeClr val="dk2"/>
            </a:solidFill>
            <a:prstDash val="solid"/>
            <a:round/>
            <a:headEnd len="med" w="med" type="none"/>
            <a:tailEnd len="med" w="med" type="triangle"/>
          </a:ln>
        </p:spPr>
      </p:cxnSp>
      <p:sp>
        <p:nvSpPr>
          <p:cNvPr id="271" name="Google Shape;271;p33"/>
          <p:cNvSpPr txBox="1"/>
          <p:nvPr/>
        </p:nvSpPr>
        <p:spPr>
          <a:xfrm>
            <a:off x="887475" y="1542450"/>
            <a:ext cx="675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latin typeface="Proxima Nova"/>
                <a:ea typeface="Proxima Nova"/>
                <a:cs typeface="Proxima Nova"/>
                <a:sym typeface="Proxima Nova"/>
              </a:rPr>
              <a:t>Strict budget</a:t>
            </a:r>
            <a:endParaRPr b="1" sz="800">
              <a:solidFill>
                <a:schemeClr val="dk1"/>
              </a:solidFill>
              <a:latin typeface="Proxima Nova"/>
              <a:ea typeface="Proxima Nova"/>
              <a:cs typeface="Proxima Nova"/>
              <a:sym typeface="Proxima Nova"/>
            </a:endParaRPr>
          </a:p>
        </p:txBody>
      </p:sp>
      <p:sp>
        <p:nvSpPr>
          <p:cNvPr id="272" name="Google Shape;272;p33"/>
          <p:cNvSpPr txBox="1"/>
          <p:nvPr/>
        </p:nvSpPr>
        <p:spPr>
          <a:xfrm>
            <a:off x="887475" y="4143775"/>
            <a:ext cx="6753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latin typeface="Proxima Nova"/>
                <a:ea typeface="Proxima Nova"/>
                <a:cs typeface="Proxima Nova"/>
                <a:sym typeface="Proxima Nova"/>
              </a:rPr>
              <a:t>No budget</a:t>
            </a:r>
            <a:endParaRPr b="1" sz="800">
              <a:solidFill>
                <a:schemeClr val="dk1"/>
              </a:solidFill>
              <a:latin typeface="Proxima Nova"/>
              <a:ea typeface="Proxima Nova"/>
              <a:cs typeface="Proxima Nova"/>
              <a:sym typeface="Proxima Nova"/>
            </a:endParaRPr>
          </a:p>
        </p:txBody>
      </p:sp>
      <p:sp>
        <p:nvSpPr>
          <p:cNvPr id="273" name="Google Shape;273;p33"/>
          <p:cNvSpPr txBox="1"/>
          <p:nvPr/>
        </p:nvSpPr>
        <p:spPr>
          <a:xfrm>
            <a:off x="3350700" y="4399650"/>
            <a:ext cx="861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264A60"/>
                </a:solidFill>
                <a:latin typeface="Proxima Nova"/>
                <a:ea typeface="Proxima Nova"/>
                <a:cs typeface="Proxima Nova"/>
                <a:sym typeface="Proxima Nova"/>
              </a:rPr>
              <a:t>Deal Hunters</a:t>
            </a:r>
            <a:endParaRPr sz="800">
              <a:latin typeface="Proxima Nova"/>
              <a:ea typeface="Proxima Nova"/>
              <a:cs typeface="Proxima Nova"/>
              <a:sym typeface="Proxima Nova"/>
            </a:endParaRPr>
          </a:p>
        </p:txBody>
      </p:sp>
      <p:sp>
        <p:nvSpPr>
          <p:cNvPr id="274" name="Google Shape;274;p33"/>
          <p:cNvSpPr txBox="1"/>
          <p:nvPr/>
        </p:nvSpPr>
        <p:spPr>
          <a:xfrm>
            <a:off x="4933925" y="4399650"/>
            <a:ext cx="949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264A60"/>
                </a:solidFill>
                <a:latin typeface="Proxima Nova"/>
                <a:ea typeface="Proxima Nova"/>
                <a:cs typeface="Proxima Nova"/>
                <a:sym typeface="Proxima Nova"/>
              </a:rPr>
              <a:t>Budget Minders</a:t>
            </a:r>
            <a:endParaRPr sz="800">
              <a:latin typeface="Proxima Nova"/>
              <a:ea typeface="Proxima Nova"/>
              <a:cs typeface="Proxima Nova"/>
              <a:sym typeface="Proxima Nova"/>
            </a:endParaRPr>
          </a:p>
        </p:txBody>
      </p:sp>
      <p:sp>
        <p:nvSpPr>
          <p:cNvPr id="275" name="Google Shape;275;p33"/>
          <p:cNvSpPr txBox="1"/>
          <p:nvPr/>
        </p:nvSpPr>
        <p:spPr>
          <a:xfrm>
            <a:off x="6517150" y="4399650"/>
            <a:ext cx="861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264A60"/>
                </a:solidFill>
                <a:latin typeface="Proxima Nova"/>
                <a:ea typeface="Proxima Nova"/>
                <a:cs typeface="Proxima Nova"/>
                <a:sym typeface="Proxima Nova"/>
              </a:rPr>
              <a:t>Thrill Seekers</a:t>
            </a:r>
            <a:endParaRPr sz="800">
              <a:latin typeface="Proxima Nova"/>
              <a:ea typeface="Proxima Nova"/>
              <a:cs typeface="Proxima Nova"/>
              <a:sym typeface="Proxima Nova"/>
            </a:endParaRPr>
          </a:p>
        </p:txBody>
      </p:sp>
      <p:sp>
        <p:nvSpPr>
          <p:cNvPr id="276" name="Google Shape;276;p33"/>
          <p:cNvSpPr txBox="1"/>
          <p:nvPr/>
        </p:nvSpPr>
        <p:spPr>
          <a:xfrm>
            <a:off x="2755250" y="912500"/>
            <a:ext cx="4324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Proxima Nova"/>
                <a:ea typeface="Proxima Nova"/>
                <a:cs typeface="Proxima Nova"/>
                <a:sym typeface="Proxima Nova"/>
              </a:rPr>
              <a:t>Budgeting on DoorDash</a:t>
            </a:r>
            <a:endParaRPr sz="1200"/>
          </a:p>
        </p:txBody>
      </p:sp>
      <p:sp>
        <p:nvSpPr>
          <p:cNvPr id="277" name="Google Shape;277;p33"/>
          <p:cNvSpPr txBox="1"/>
          <p:nvPr/>
        </p:nvSpPr>
        <p:spPr>
          <a:xfrm>
            <a:off x="32775" y="4855475"/>
            <a:ext cx="45573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Proxima Nova"/>
                <a:ea typeface="Proxima Nova"/>
                <a:cs typeface="Proxima Nova"/>
                <a:sym typeface="Proxima Nova"/>
              </a:rPr>
              <a:t>Base: n= 126 Deal Hunters, n=60 Budget Minders, N=85 Thrill Seekers</a:t>
            </a:r>
            <a:endParaRPr sz="600">
              <a:latin typeface="Proxima Nova"/>
              <a:ea typeface="Proxima Nova"/>
              <a:cs typeface="Proxima Nova"/>
              <a:sym typeface="Proxima Nov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4"/>
          <p:cNvSpPr txBox="1"/>
          <p:nvPr>
            <p:ph idx="12" type="sldNum"/>
          </p:nvPr>
        </p:nvSpPr>
        <p:spPr>
          <a:xfrm>
            <a:off x="82510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3" name="Google Shape;283;p34"/>
          <p:cNvSpPr txBox="1"/>
          <p:nvPr/>
        </p:nvSpPr>
        <p:spPr>
          <a:xfrm>
            <a:off x="86100" y="5225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accent1"/>
                </a:solidFill>
                <a:latin typeface="Proxima Nova"/>
                <a:ea typeface="Proxima Nova"/>
                <a:cs typeface="Proxima Nova"/>
                <a:sym typeface="Proxima Nova"/>
              </a:rPr>
              <a:t>BM </a:t>
            </a:r>
            <a:r>
              <a:rPr b="1" lang="en" sz="2000">
                <a:solidFill>
                  <a:schemeClr val="dk1"/>
                </a:solidFill>
                <a:latin typeface="Proxima Nova"/>
                <a:ea typeface="Proxima Nova"/>
                <a:cs typeface="Proxima Nova"/>
                <a:sym typeface="Proxima Nova"/>
              </a:rPr>
              <a:t>are most focused on keeping under a budget threshold while </a:t>
            </a:r>
            <a:r>
              <a:rPr b="1" lang="en" sz="2000">
                <a:solidFill>
                  <a:srgbClr val="674EA7"/>
                </a:solidFill>
                <a:latin typeface="Proxima Nova"/>
                <a:ea typeface="Proxima Nova"/>
                <a:cs typeface="Proxima Nova"/>
                <a:sym typeface="Proxima Nova"/>
              </a:rPr>
              <a:t>TS </a:t>
            </a:r>
            <a:r>
              <a:rPr b="1" lang="en" sz="2000">
                <a:solidFill>
                  <a:schemeClr val="dk1"/>
                </a:solidFill>
                <a:latin typeface="Proxima Nova"/>
                <a:ea typeface="Proxima Nova"/>
                <a:cs typeface="Proxima Nova"/>
                <a:sym typeface="Proxima Nova"/>
              </a:rPr>
              <a:t>and </a:t>
            </a:r>
            <a:r>
              <a:rPr b="1" lang="en" sz="2000">
                <a:solidFill>
                  <a:srgbClr val="4A86E8"/>
                </a:solidFill>
                <a:latin typeface="Proxima Nova"/>
                <a:ea typeface="Proxima Nova"/>
                <a:cs typeface="Proxima Nova"/>
                <a:sym typeface="Proxima Nova"/>
              </a:rPr>
              <a:t>DH</a:t>
            </a:r>
            <a:r>
              <a:rPr b="1" lang="en" sz="2000">
                <a:solidFill>
                  <a:schemeClr val="dk1"/>
                </a:solidFill>
                <a:latin typeface="Proxima Nova"/>
                <a:ea typeface="Proxima Nova"/>
                <a:cs typeface="Proxima Nova"/>
                <a:sym typeface="Proxima Nova"/>
              </a:rPr>
              <a:t> are more focused on the amount of savings </a:t>
            </a:r>
            <a:endParaRPr b="1" sz="2000">
              <a:solidFill>
                <a:srgbClr val="4A86E8"/>
              </a:solidFill>
              <a:latin typeface="Proxima Nova"/>
              <a:ea typeface="Proxima Nova"/>
              <a:cs typeface="Proxima Nova"/>
              <a:sym typeface="Proxima Nova"/>
            </a:endParaRPr>
          </a:p>
          <a:p>
            <a:pPr indent="0" lvl="0" marL="0" rtl="0" algn="l">
              <a:spcBef>
                <a:spcPts val="0"/>
              </a:spcBef>
              <a:spcAft>
                <a:spcPts val="0"/>
              </a:spcAft>
              <a:buNone/>
            </a:pPr>
            <a:r>
              <a:t/>
            </a:r>
            <a:endParaRPr b="1" sz="2000">
              <a:solidFill>
                <a:schemeClr val="dk1"/>
              </a:solidFill>
              <a:latin typeface="Proxima Nova"/>
              <a:ea typeface="Proxima Nova"/>
              <a:cs typeface="Proxima Nova"/>
              <a:sym typeface="Proxima Nova"/>
            </a:endParaRPr>
          </a:p>
        </p:txBody>
      </p:sp>
      <p:sp>
        <p:nvSpPr>
          <p:cNvPr id="284" name="Google Shape;284;p34"/>
          <p:cNvSpPr txBox="1"/>
          <p:nvPr/>
        </p:nvSpPr>
        <p:spPr>
          <a:xfrm>
            <a:off x="4385150" y="1523975"/>
            <a:ext cx="1407900" cy="615600"/>
          </a:xfrm>
          <a:prstGeom prst="rect">
            <a:avLst/>
          </a:prstGeom>
          <a:solidFill>
            <a:srgbClr val="4A86E8"/>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Deal </a:t>
            </a:r>
            <a:endParaRPr b="1">
              <a:solidFill>
                <a:schemeClr val="lt1"/>
              </a:solidFill>
              <a:latin typeface="Proxima Nova"/>
              <a:ea typeface="Proxima Nova"/>
              <a:cs typeface="Proxima Nova"/>
              <a:sym typeface="Proxima Nova"/>
            </a:endParaRPr>
          </a:p>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Hunters</a:t>
            </a:r>
            <a:endParaRPr b="1">
              <a:solidFill>
                <a:schemeClr val="lt1"/>
              </a:solidFill>
              <a:latin typeface="Proxima Nova"/>
              <a:ea typeface="Proxima Nova"/>
              <a:cs typeface="Proxima Nova"/>
              <a:sym typeface="Proxima Nova"/>
            </a:endParaRPr>
          </a:p>
        </p:txBody>
      </p:sp>
      <p:sp>
        <p:nvSpPr>
          <p:cNvPr id="285" name="Google Shape;285;p34"/>
          <p:cNvSpPr txBox="1"/>
          <p:nvPr/>
        </p:nvSpPr>
        <p:spPr>
          <a:xfrm>
            <a:off x="5793050" y="1523975"/>
            <a:ext cx="1334700" cy="615600"/>
          </a:xfrm>
          <a:prstGeom prst="rect">
            <a:avLst/>
          </a:prstGeom>
          <a:solidFill>
            <a:srgbClr val="FF990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Budget Minders</a:t>
            </a:r>
            <a:endParaRPr b="1">
              <a:solidFill>
                <a:schemeClr val="lt1"/>
              </a:solidFill>
              <a:latin typeface="Proxima Nova"/>
              <a:ea typeface="Proxima Nova"/>
              <a:cs typeface="Proxima Nova"/>
              <a:sym typeface="Proxima Nova"/>
            </a:endParaRPr>
          </a:p>
        </p:txBody>
      </p:sp>
      <p:graphicFrame>
        <p:nvGraphicFramePr>
          <p:cNvPr id="286" name="Google Shape;286;p34"/>
          <p:cNvGraphicFramePr/>
          <p:nvPr/>
        </p:nvGraphicFramePr>
        <p:xfrm>
          <a:off x="1947375" y="2266988"/>
          <a:ext cx="3000000" cy="3000000"/>
        </p:xfrm>
        <a:graphic>
          <a:graphicData uri="http://schemas.openxmlformats.org/drawingml/2006/table">
            <a:tbl>
              <a:tblPr>
                <a:noFill/>
                <a:tableStyleId>{4CDE9DB5-099F-468F-8C3C-A9098C66C0F4}</a:tableStyleId>
              </a:tblPr>
              <a:tblGrid>
                <a:gridCol w="2437775"/>
                <a:gridCol w="1407825"/>
                <a:gridCol w="1372325"/>
                <a:gridCol w="1508050"/>
              </a:tblGrid>
              <a:tr h="715250">
                <a:tc>
                  <a:txBody>
                    <a:bodyPr/>
                    <a:lstStyle/>
                    <a:p>
                      <a:pPr indent="0" lvl="0" marL="0" rtl="0" algn="l">
                        <a:lnSpc>
                          <a:spcPct val="115000"/>
                        </a:lnSpc>
                        <a:spcBef>
                          <a:spcPts val="0"/>
                        </a:spcBef>
                        <a:spcAft>
                          <a:spcPts val="0"/>
                        </a:spcAft>
                        <a:buNone/>
                      </a:pPr>
                      <a:r>
                        <a:rPr lang="en" sz="1200">
                          <a:solidFill>
                            <a:schemeClr val="dk1"/>
                          </a:solidFill>
                          <a:latin typeface="Proxima Nova"/>
                          <a:ea typeface="Proxima Nova"/>
                          <a:cs typeface="Proxima Nova"/>
                          <a:sym typeface="Proxima Nova"/>
                        </a:rPr>
                        <a:t>Keeping my </a:t>
                      </a:r>
                      <a:r>
                        <a:rPr b="1" lang="en" sz="1200">
                          <a:solidFill>
                            <a:schemeClr val="dk1"/>
                          </a:solidFill>
                          <a:latin typeface="Proxima Nova"/>
                          <a:ea typeface="Proxima Nova"/>
                          <a:cs typeface="Proxima Nova"/>
                          <a:sym typeface="Proxima Nova"/>
                        </a:rPr>
                        <a:t>total spend under a threshold</a:t>
                      </a:r>
                      <a:r>
                        <a:rPr lang="en" sz="1200">
                          <a:solidFill>
                            <a:schemeClr val="dk1"/>
                          </a:solidFill>
                          <a:latin typeface="Proxima Nova"/>
                          <a:ea typeface="Proxima Nova"/>
                          <a:cs typeface="Proxima Nova"/>
                          <a:sym typeface="Proxima Nova"/>
                        </a:rPr>
                        <a:t> I feel comfortable with</a:t>
                      </a:r>
                      <a:endParaRPr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latin typeface="Proxima Nova"/>
                          <a:ea typeface="Proxima Nova"/>
                          <a:cs typeface="Proxima Nova"/>
                          <a:sym typeface="Proxima Nova"/>
                        </a:rPr>
                        <a:t>33%</a:t>
                      </a:r>
                      <a:endParaRPr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200">
                          <a:solidFill>
                            <a:schemeClr val="lt1"/>
                          </a:solidFill>
                          <a:latin typeface="Proxima Nova"/>
                          <a:ea typeface="Proxima Nova"/>
                          <a:cs typeface="Proxima Nova"/>
                          <a:sym typeface="Proxima Nova"/>
                        </a:rPr>
                        <a:t>45%</a:t>
                      </a:r>
                      <a:endParaRPr sz="1200">
                        <a:solidFill>
                          <a:schemeClr val="lt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F9900"/>
                    </a:solidFill>
                  </a:tcPr>
                </a:tc>
                <a:tc>
                  <a:txBody>
                    <a:bodyPr/>
                    <a:lstStyle/>
                    <a:p>
                      <a:pPr indent="0" lvl="0" marL="0" rtl="0" algn="ctr">
                        <a:lnSpc>
                          <a:spcPct val="115000"/>
                        </a:lnSpc>
                        <a:spcBef>
                          <a:spcPts val="0"/>
                        </a:spcBef>
                        <a:spcAft>
                          <a:spcPts val="0"/>
                        </a:spcAft>
                        <a:buNone/>
                      </a:pPr>
                      <a:r>
                        <a:rPr lang="en" sz="1200">
                          <a:solidFill>
                            <a:schemeClr val="dk1"/>
                          </a:solidFill>
                          <a:latin typeface="Proxima Nova"/>
                          <a:ea typeface="Proxima Nova"/>
                          <a:cs typeface="Proxima Nova"/>
                          <a:sym typeface="Proxima Nova"/>
                        </a:rPr>
                        <a:t>35%</a:t>
                      </a:r>
                      <a:endParaRPr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715250">
                <a:tc>
                  <a:txBody>
                    <a:bodyPr/>
                    <a:lstStyle/>
                    <a:p>
                      <a:pPr indent="0" lvl="0" marL="0" rtl="0" algn="l">
                        <a:lnSpc>
                          <a:spcPct val="115000"/>
                        </a:lnSpc>
                        <a:spcBef>
                          <a:spcPts val="0"/>
                        </a:spcBef>
                        <a:spcAft>
                          <a:spcPts val="0"/>
                        </a:spcAft>
                        <a:buNone/>
                      </a:pPr>
                      <a:r>
                        <a:rPr lang="en" sz="1200">
                          <a:solidFill>
                            <a:schemeClr val="dk1"/>
                          </a:solidFill>
                          <a:latin typeface="Proxima Nova"/>
                          <a:ea typeface="Proxima Nova"/>
                          <a:cs typeface="Proxima Nova"/>
                          <a:sym typeface="Proxima Nova"/>
                        </a:rPr>
                        <a:t>Getting a</a:t>
                      </a:r>
                      <a:r>
                        <a:rPr b="1" lang="en" sz="1200">
                          <a:solidFill>
                            <a:schemeClr val="dk1"/>
                          </a:solidFill>
                          <a:latin typeface="Proxima Nova"/>
                          <a:ea typeface="Proxima Nova"/>
                          <a:cs typeface="Proxima Nova"/>
                          <a:sym typeface="Proxima Nova"/>
                        </a:rPr>
                        <a:t> good deal for my order</a:t>
                      </a:r>
                      <a:endParaRPr b="1"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latin typeface="Proxima Nova"/>
                          <a:ea typeface="Proxima Nova"/>
                          <a:cs typeface="Proxima Nova"/>
                          <a:sym typeface="Proxima Nova"/>
                        </a:rPr>
                        <a:t>40%</a:t>
                      </a:r>
                      <a:endParaRPr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latin typeface="Proxima Nova"/>
                          <a:ea typeface="Proxima Nova"/>
                          <a:cs typeface="Proxima Nova"/>
                          <a:sym typeface="Proxima Nova"/>
                        </a:rPr>
                        <a:t>43%</a:t>
                      </a:r>
                      <a:endParaRPr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200">
                          <a:solidFill>
                            <a:schemeClr val="lt1"/>
                          </a:solidFill>
                          <a:latin typeface="Proxima Nova"/>
                          <a:ea typeface="Proxima Nova"/>
                          <a:cs typeface="Proxima Nova"/>
                          <a:sym typeface="Proxima Nova"/>
                        </a:rPr>
                        <a:t>46%</a:t>
                      </a:r>
                      <a:endParaRPr sz="1200">
                        <a:solidFill>
                          <a:schemeClr val="lt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674EA7"/>
                    </a:solidFill>
                  </a:tcPr>
                </a:tc>
              </a:tr>
              <a:tr h="715250">
                <a:tc>
                  <a:txBody>
                    <a:bodyPr/>
                    <a:lstStyle/>
                    <a:p>
                      <a:pPr indent="0" lvl="0" marL="0" rtl="0" algn="l">
                        <a:lnSpc>
                          <a:spcPct val="115000"/>
                        </a:lnSpc>
                        <a:spcBef>
                          <a:spcPts val="0"/>
                        </a:spcBef>
                        <a:spcAft>
                          <a:spcPts val="0"/>
                        </a:spcAft>
                        <a:buNone/>
                      </a:pPr>
                      <a:r>
                        <a:rPr lang="en" sz="1200">
                          <a:solidFill>
                            <a:schemeClr val="dk1"/>
                          </a:solidFill>
                          <a:latin typeface="Proxima Nova"/>
                          <a:ea typeface="Proxima Nova"/>
                          <a:cs typeface="Proxima Nova"/>
                          <a:sym typeface="Proxima Nova"/>
                        </a:rPr>
                        <a:t>Making sure I am spending the least amount possible </a:t>
                      </a:r>
                      <a:r>
                        <a:rPr b="1" lang="en" sz="1200">
                          <a:solidFill>
                            <a:schemeClr val="dk1"/>
                          </a:solidFill>
                          <a:latin typeface="Proxima Nova"/>
                          <a:ea typeface="Proxima Nova"/>
                          <a:cs typeface="Proxima Nova"/>
                          <a:sym typeface="Proxima Nova"/>
                        </a:rPr>
                        <a:t>across ordering options</a:t>
                      </a:r>
                      <a:endParaRPr b="1"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lt1"/>
                          </a:solidFill>
                          <a:latin typeface="Proxima Nova"/>
                          <a:ea typeface="Proxima Nova"/>
                          <a:cs typeface="Proxima Nova"/>
                          <a:sym typeface="Proxima Nova"/>
                        </a:rPr>
                        <a:t>28%</a:t>
                      </a:r>
                      <a:endParaRPr sz="1200">
                        <a:solidFill>
                          <a:schemeClr val="lt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lang="en" sz="1200">
                          <a:solidFill>
                            <a:schemeClr val="dk1"/>
                          </a:solidFill>
                          <a:latin typeface="Proxima Nova"/>
                          <a:ea typeface="Proxima Nova"/>
                          <a:cs typeface="Proxima Nova"/>
                          <a:sym typeface="Proxima Nova"/>
                        </a:rPr>
                        <a:t>12%</a:t>
                      </a:r>
                      <a:endParaRPr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200">
                          <a:solidFill>
                            <a:schemeClr val="dk1"/>
                          </a:solidFill>
                          <a:latin typeface="Proxima Nova"/>
                          <a:ea typeface="Proxima Nova"/>
                          <a:cs typeface="Proxima Nova"/>
                          <a:sym typeface="Proxima Nova"/>
                        </a:rPr>
                        <a:t>19%</a:t>
                      </a:r>
                      <a:endParaRPr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solidFill>
                      <a:srgbClr val="F9F9FB"/>
                    </a:solidFill>
                  </a:tcPr>
                </a:tc>
              </a:tr>
            </a:tbl>
          </a:graphicData>
        </a:graphic>
      </p:graphicFrame>
      <p:sp>
        <p:nvSpPr>
          <p:cNvPr id="287" name="Google Shape;287;p34"/>
          <p:cNvSpPr txBox="1"/>
          <p:nvPr/>
        </p:nvSpPr>
        <p:spPr>
          <a:xfrm>
            <a:off x="271600" y="937100"/>
            <a:ext cx="5300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1"/>
                </a:solidFill>
                <a:latin typeface="Proxima Nova"/>
                <a:ea typeface="Proxima Nova"/>
                <a:cs typeface="Proxima Nova"/>
                <a:sym typeface="Proxima Nova"/>
              </a:rPr>
              <a:t>F</a:t>
            </a:r>
            <a:r>
              <a:rPr b="1" lang="en">
                <a:solidFill>
                  <a:schemeClr val="dk1"/>
                </a:solidFill>
                <a:latin typeface="Proxima Nova"/>
                <a:ea typeface="Proxima Nova"/>
                <a:cs typeface="Proxima Nova"/>
                <a:sym typeface="Proxima Nova"/>
              </a:rPr>
              <a:t>inancial goals when ordering </a:t>
            </a:r>
            <a:r>
              <a:rPr b="1" lang="en">
                <a:solidFill>
                  <a:schemeClr val="dk1"/>
                </a:solidFill>
                <a:latin typeface="Proxima Nova"/>
                <a:ea typeface="Proxima Nova"/>
                <a:cs typeface="Proxima Nova"/>
                <a:sym typeface="Proxima Nova"/>
              </a:rPr>
              <a:t>(%T2B agree with statement)</a:t>
            </a:r>
            <a:endParaRPr/>
          </a:p>
        </p:txBody>
      </p:sp>
      <p:sp>
        <p:nvSpPr>
          <p:cNvPr id="288" name="Google Shape;288;p34"/>
          <p:cNvSpPr txBox="1"/>
          <p:nvPr/>
        </p:nvSpPr>
        <p:spPr>
          <a:xfrm>
            <a:off x="32775" y="4855475"/>
            <a:ext cx="45573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Proxima Nova"/>
                <a:ea typeface="Proxima Nova"/>
                <a:cs typeface="Proxima Nova"/>
                <a:sym typeface="Proxima Nova"/>
              </a:rPr>
              <a:t>Base: n= 126 Deal Hunters, n=60 Budget Minders, N=85 Thrill Seekers</a:t>
            </a:r>
            <a:endParaRPr sz="600">
              <a:latin typeface="Proxima Nova"/>
              <a:ea typeface="Proxima Nova"/>
              <a:cs typeface="Proxima Nova"/>
              <a:sym typeface="Proxima Nova"/>
            </a:endParaRPr>
          </a:p>
        </p:txBody>
      </p:sp>
      <p:sp>
        <p:nvSpPr>
          <p:cNvPr id="289" name="Google Shape;289;p34"/>
          <p:cNvSpPr txBox="1"/>
          <p:nvPr/>
        </p:nvSpPr>
        <p:spPr>
          <a:xfrm>
            <a:off x="7127750" y="1523975"/>
            <a:ext cx="1545600" cy="615600"/>
          </a:xfrm>
          <a:prstGeom prst="rect">
            <a:avLst/>
          </a:prstGeom>
          <a:solidFill>
            <a:srgbClr val="674EA7"/>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Thrill </a:t>
            </a:r>
            <a:endParaRPr b="1">
              <a:solidFill>
                <a:schemeClr val="lt1"/>
              </a:solidFill>
              <a:latin typeface="Proxima Nova"/>
              <a:ea typeface="Proxima Nova"/>
              <a:cs typeface="Proxima Nova"/>
              <a:sym typeface="Proxima Nova"/>
            </a:endParaRPr>
          </a:p>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Seekers</a:t>
            </a:r>
            <a:endParaRPr b="1">
              <a:solidFill>
                <a:schemeClr val="lt1"/>
              </a:solidFill>
              <a:latin typeface="Proxima Nova"/>
              <a:ea typeface="Proxima Nova"/>
              <a:cs typeface="Proxima Nova"/>
              <a:sym typeface="Proxima Nova"/>
            </a:endParaRPr>
          </a:p>
        </p:txBody>
      </p:sp>
      <p:pic>
        <p:nvPicPr>
          <p:cNvPr id="290" name="Google Shape;290;p34"/>
          <p:cNvPicPr preferRelativeResize="0"/>
          <p:nvPr/>
        </p:nvPicPr>
        <p:blipFill>
          <a:blip r:embed="rId3">
            <a:alphaModFix/>
          </a:blip>
          <a:stretch>
            <a:fillRect/>
          </a:stretch>
        </p:blipFill>
        <p:spPr>
          <a:xfrm>
            <a:off x="395975" y="2654850"/>
            <a:ext cx="1168350" cy="11683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5"/>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6" name="Google Shape;296;p35"/>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Speed, ease of placing order &amp; selection are all important to </a:t>
            </a:r>
            <a:r>
              <a:rPr b="1" lang="en" sz="2000">
                <a:solidFill>
                  <a:srgbClr val="674EA7"/>
                </a:solidFill>
                <a:latin typeface="Proxima Nova"/>
                <a:ea typeface="Proxima Nova"/>
                <a:cs typeface="Proxima Nova"/>
                <a:sym typeface="Proxima Nova"/>
              </a:rPr>
              <a:t>TS</a:t>
            </a:r>
            <a:endParaRPr b="1" sz="2000">
              <a:solidFill>
                <a:srgbClr val="674EA7"/>
              </a:solidFill>
              <a:latin typeface="Proxima Nova"/>
              <a:ea typeface="Proxima Nova"/>
              <a:cs typeface="Proxima Nova"/>
              <a:sym typeface="Proxima Nova"/>
            </a:endParaRPr>
          </a:p>
          <a:p>
            <a:pPr indent="0" lvl="0" marL="0" rtl="0" algn="l">
              <a:spcBef>
                <a:spcPts val="0"/>
              </a:spcBef>
              <a:spcAft>
                <a:spcPts val="0"/>
              </a:spcAft>
              <a:buNone/>
            </a:pPr>
            <a:r>
              <a:t/>
            </a:r>
            <a:endParaRPr b="1" sz="2000">
              <a:solidFill>
                <a:schemeClr val="dk1"/>
              </a:solidFill>
              <a:latin typeface="Proxima Nova"/>
              <a:ea typeface="Proxima Nova"/>
              <a:cs typeface="Proxima Nova"/>
              <a:sym typeface="Proxima Nova"/>
            </a:endParaRPr>
          </a:p>
        </p:txBody>
      </p:sp>
      <p:pic>
        <p:nvPicPr>
          <p:cNvPr id="297" name="Google Shape;297;p35"/>
          <p:cNvPicPr preferRelativeResize="0"/>
          <p:nvPr/>
        </p:nvPicPr>
        <p:blipFill>
          <a:blip r:embed="rId3">
            <a:alphaModFix/>
          </a:blip>
          <a:stretch>
            <a:fillRect/>
          </a:stretch>
        </p:blipFill>
        <p:spPr>
          <a:xfrm>
            <a:off x="99100" y="1124838"/>
            <a:ext cx="8839204" cy="3465762"/>
          </a:xfrm>
          <a:prstGeom prst="rect">
            <a:avLst/>
          </a:prstGeom>
          <a:noFill/>
          <a:ln>
            <a:noFill/>
          </a:ln>
        </p:spPr>
      </p:pic>
      <p:sp>
        <p:nvSpPr>
          <p:cNvPr id="298" name="Google Shape;298;p35"/>
          <p:cNvSpPr txBox="1"/>
          <p:nvPr/>
        </p:nvSpPr>
        <p:spPr>
          <a:xfrm>
            <a:off x="354075" y="8189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Proxima Nova"/>
                <a:ea typeface="Proxima Nova"/>
                <a:cs typeface="Proxima Nova"/>
                <a:sym typeface="Proxima Nova"/>
              </a:rPr>
              <a:t>Most important factors when selecting where to order</a:t>
            </a:r>
            <a:endParaRPr b="1"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1200">
              <a:solidFill>
                <a:schemeClr val="dk1"/>
              </a:solidFill>
              <a:latin typeface="Proxima Nova"/>
              <a:ea typeface="Proxima Nova"/>
              <a:cs typeface="Proxima Nova"/>
              <a:sym typeface="Proxima Nova"/>
            </a:endParaRPr>
          </a:p>
        </p:txBody>
      </p:sp>
      <p:grpSp>
        <p:nvGrpSpPr>
          <p:cNvPr id="299" name="Google Shape;299;p35"/>
          <p:cNvGrpSpPr/>
          <p:nvPr/>
        </p:nvGrpSpPr>
        <p:grpSpPr>
          <a:xfrm>
            <a:off x="7671725" y="842850"/>
            <a:ext cx="883100" cy="446700"/>
            <a:chOff x="-1385800" y="2979700"/>
            <a:chExt cx="883100" cy="446700"/>
          </a:xfrm>
        </p:grpSpPr>
        <p:sp>
          <p:nvSpPr>
            <p:cNvPr id="300" name="Google Shape;300;p35"/>
            <p:cNvSpPr/>
            <p:nvPr/>
          </p:nvSpPr>
          <p:spPr>
            <a:xfrm>
              <a:off x="-1385800" y="2979700"/>
              <a:ext cx="142200" cy="1419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35"/>
            <p:cNvSpPr txBox="1"/>
            <p:nvPr/>
          </p:nvSpPr>
          <p:spPr>
            <a:xfrm>
              <a:off x="-1325000" y="2979700"/>
              <a:ext cx="728400" cy="14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latin typeface="Proxima Nova"/>
                  <a:ea typeface="Proxima Nova"/>
                  <a:cs typeface="Proxima Nova"/>
                  <a:sym typeface="Proxima Nova"/>
                </a:rPr>
                <a:t>Deal Hunters</a:t>
              </a:r>
              <a:endParaRPr sz="700">
                <a:latin typeface="Proxima Nova"/>
                <a:ea typeface="Proxima Nova"/>
                <a:cs typeface="Proxima Nova"/>
                <a:sym typeface="Proxima Nova"/>
              </a:endParaRPr>
            </a:p>
          </p:txBody>
        </p:sp>
        <p:sp>
          <p:nvSpPr>
            <p:cNvPr id="302" name="Google Shape;302;p35"/>
            <p:cNvSpPr/>
            <p:nvPr/>
          </p:nvSpPr>
          <p:spPr>
            <a:xfrm>
              <a:off x="-1385800" y="3132100"/>
              <a:ext cx="142200" cy="141900"/>
            </a:xfrm>
            <a:prstGeom prst="rect">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3" name="Google Shape;303;p35"/>
            <p:cNvSpPr txBox="1"/>
            <p:nvPr/>
          </p:nvSpPr>
          <p:spPr>
            <a:xfrm>
              <a:off x="-1325000" y="3132100"/>
              <a:ext cx="822300" cy="14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latin typeface="Proxima Nova"/>
                  <a:ea typeface="Proxima Nova"/>
                  <a:cs typeface="Proxima Nova"/>
                  <a:sym typeface="Proxima Nova"/>
                </a:rPr>
                <a:t>Budget Minders</a:t>
              </a:r>
              <a:endParaRPr sz="700">
                <a:latin typeface="Proxima Nova"/>
                <a:ea typeface="Proxima Nova"/>
                <a:cs typeface="Proxima Nova"/>
                <a:sym typeface="Proxima Nova"/>
              </a:endParaRPr>
            </a:p>
          </p:txBody>
        </p:sp>
        <p:sp>
          <p:nvSpPr>
            <p:cNvPr id="304" name="Google Shape;304;p35"/>
            <p:cNvSpPr/>
            <p:nvPr/>
          </p:nvSpPr>
          <p:spPr>
            <a:xfrm>
              <a:off x="-1385800" y="3284500"/>
              <a:ext cx="142200" cy="141900"/>
            </a:xfrm>
            <a:prstGeom prst="rect">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674EA7"/>
                </a:solidFill>
              </a:endParaRPr>
            </a:p>
          </p:txBody>
        </p:sp>
        <p:sp>
          <p:nvSpPr>
            <p:cNvPr id="305" name="Google Shape;305;p35"/>
            <p:cNvSpPr txBox="1"/>
            <p:nvPr/>
          </p:nvSpPr>
          <p:spPr>
            <a:xfrm>
              <a:off x="-1325000" y="3284500"/>
              <a:ext cx="728400" cy="14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latin typeface="Proxima Nova"/>
                  <a:ea typeface="Proxima Nova"/>
                  <a:cs typeface="Proxima Nova"/>
                  <a:sym typeface="Proxima Nova"/>
                </a:rPr>
                <a:t>Thrill Seekers</a:t>
              </a:r>
              <a:endParaRPr sz="700">
                <a:latin typeface="Proxima Nova"/>
                <a:ea typeface="Proxima Nova"/>
                <a:cs typeface="Proxima Nova"/>
                <a:sym typeface="Proxima Nova"/>
              </a:endParaRPr>
            </a:p>
          </p:txBody>
        </p:sp>
      </p:grpSp>
      <p:sp>
        <p:nvSpPr>
          <p:cNvPr id="306" name="Google Shape;306;p35"/>
          <p:cNvSpPr txBox="1"/>
          <p:nvPr/>
        </p:nvSpPr>
        <p:spPr>
          <a:xfrm>
            <a:off x="337575" y="4779275"/>
            <a:ext cx="45573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Proxima Nova"/>
                <a:ea typeface="Proxima Nova"/>
                <a:cs typeface="Proxima Nova"/>
                <a:sym typeface="Proxima Nova"/>
              </a:rPr>
              <a:t>Base: n= 126 Deal Hunters, n=60 Budget Minders, N=85 Thrill Seekers</a:t>
            </a:r>
            <a:endParaRPr sz="600">
              <a:latin typeface="Proxima Nova"/>
              <a:ea typeface="Proxima Nova"/>
              <a:cs typeface="Proxima Nova"/>
              <a:sym typeface="Proxima Nova"/>
            </a:endParaRPr>
          </a:p>
        </p:txBody>
      </p:sp>
      <p:sp>
        <p:nvSpPr>
          <p:cNvPr id="307" name="Google Shape;307;p35"/>
          <p:cNvSpPr/>
          <p:nvPr/>
        </p:nvSpPr>
        <p:spPr>
          <a:xfrm>
            <a:off x="2005491" y="1803399"/>
            <a:ext cx="636000" cy="239700"/>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
        <p:nvSpPr>
          <p:cNvPr id="308" name="Google Shape;308;p35"/>
          <p:cNvSpPr/>
          <p:nvPr/>
        </p:nvSpPr>
        <p:spPr>
          <a:xfrm>
            <a:off x="5213791" y="2293374"/>
            <a:ext cx="636000" cy="239700"/>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
        <p:nvSpPr>
          <p:cNvPr id="309" name="Google Shape;309;p35"/>
          <p:cNvSpPr/>
          <p:nvPr/>
        </p:nvSpPr>
        <p:spPr>
          <a:xfrm>
            <a:off x="6636516" y="2978799"/>
            <a:ext cx="636000" cy="239700"/>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
        <p:nvSpPr>
          <p:cNvPr id="310" name="Google Shape;310;p35"/>
          <p:cNvSpPr/>
          <p:nvPr/>
        </p:nvSpPr>
        <p:spPr>
          <a:xfrm rot="598663">
            <a:off x="3528759" y="2451966"/>
            <a:ext cx="690849" cy="239702"/>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
        <p:nvSpPr>
          <p:cNvPr id="311" name="Google Shape;311;p35"/>
          <p:cNvSpPr/>
          <p:nvPr/>
        </p:nvSpPr>
        <p:spPr>
          <a:xfrm>
            <a:off x="2710053" y="1681801"/>
            <a:ext cx="843300" cy="393600"/>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
        <p:nvSpPr>
          <p:cNvPr id="312" name="Google Shape;312;p35"/>
          <p:cNvSpPr/>
          <p:nvPr/>
        </p:nvSpPr>
        <p:spPr>
          <a:xfrm>
            <a:off x="478916" y="1227349"/>
            <a:ext cx="636000" cy="239700"/>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6"/>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8" name="Google Shape;318;p36"/>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accent1"/>
                </a:solidFill>
                <a:latin typeface="Proxima Nova"/>
                <a:ea typeface="Proxima Nova"/>
                <a:cs typeface="Proxima Nova"/>
                <a:sym typeface="Proxima Nova"/>
              </a:rPr>
              <a:t>BM </a:t>
            </a:r>
            <a:r>
              <a:rPr b="1" lang="en" sz="2000">
                <a:solidFill>
                  <a:schemeClr val="dk1"/>
                </a:solidFill>
                <a:latin typeface="Proxima Nova"/>
                <a:ea typeface="Proxima Nova"/>
                <a:cs typeface="Proxima Nova"/>
                <a:sym typeface="Proxima Nova"/>
              </a:rPr>
              <a:t>and </a:t>
            </a:r>
            <a:r>
              <a:rPr b="1" lang="en" sz="2000">
                <a:solidFill>
                  <a:srgbClr val="674EA7"/>
                </a:solidFill>
                <a:latin typeface="Proxima Nova"/>
                <a:ea typeface="Proxima Nova"/>
                <a:cs typeface="Proxima Nova"/>
                <a:sym typeface="Proxima Nova"/>
              </a:rPr>
              <a:t>TS</a:t>
            </a:r>
            <a:r>
              <a:rPr b="1" lang="en" sz="2000">
                <a:solidFill>
                  <a:schemeClr val="dk1"/>
                </a:solidFill>
                <a:latin typeface="Proxima Nova"/>
                <a:ea typeface="Proxima Nova"/>
                <a:cs typeface="Proxima Nova"/>
                <a:sym typeface="Proxima Nova"/>
              </a:rPr>
              <a:t> put a greater importance on food timeliness quality and </a:t>
            </a:r>
            <a:r>
              <a:rPr b="1" lang="en" sz="2000">
                <a:solidFill>
                  <a:schemeClr val="dk1"/>
                </a:solidFill>
                <a:latin typeface="Proxima Nova"/>
                <a:ea typeface="Proxima Nova"/>
                <a:cs typeface="Proxima Nova"/>
                <a:sym typeface="Proxima Nova"/>
              </a:rPr>
              <a:t>convenience</a:t>
            </a:r>
            <a:r>
              <a:rPr b="1" lang="en" sz="2000">
                <a:solidFill>
                  <a:schemeClr val="dk1"/>
                </a:solidFill>
                <a:latin typeface="Proxima Nova"/>
                <a:ea typeface="Proxima Nova"/>
                <a:cs typeface="Proxima Nova"/>
                <a:sym typeface="Proxima Nova"/>
              </a:rPr>
              <a:t> while </a:t>
            </a:r>
            <a:r>
              <a:rPr b="1" lang="en" sz="2000">
                <a:solidFill>
                  <a:srgbClr val="4A86E8"/>
                </a:solidFill>
                <a:latin typeface="Proxima Nova"/>
                <a:ea typeface="Proxima Nova"/>
                <a:cs typeface="Proxima Nova"/>
                <a:sym typeface="Proxima Nova"/>
              </a:rPr>
              <a:t>DH</a:t>
            </a:r>
            <a:r>
              <a:rPr b="1" lang="en" sz="2000">
                <a:solidFill>
                  <a:schemeClr val="dk1"/>
                </a:solidFill>
                <a:latin typeface="Proxima Nova"/>
                <a:ea typeface="Proxima Nova"/>
                <a:cs typeface="Proxima Nova"/>
                <a:sym typeface="Proxima Nova"/>
              </a:rPr>
              <a:t> focus more heavily on the deal.</a:t>
            </a:r>
            <a:endParaRPr b="1" sz="20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2000">
              <a:solidFill>
                <a:schemeClr val="dk1"/>
              </a:solidFill>
              <a:latin typeface="Proxima Nova"/>
              <a:ea typeface="Proxima Nova"/>
              <a:cs typeface="Proxima Nova"/>
              <a:sym typeface="Proxima Nova"/>
            </a:endParaRPr>
          </a:p>
        </p:txBody>
      </p:sp>
      <p:graphicFrame>
        <p:nvGraphicFramePr>
          <p:cNvPr id="319" name="Google Shape;319;p36"/>
          <p:cNvGraphicFramePr/>
          <p:nvPr/>
        </p:nvGraphicFramePr>
        <p:xfrm>
          <a:off x="800875" y="1013675"/>
          <a:ext cx="3000000" cy="3000000"/>
        </p:xfrm>
        <a:graphic>
          <a:graphicData uri="http://schemas.openxmlformats.org/drawingml/2006/table">
            <a:tbl>
              <a:tblPr>
                <a:noFill/>
                <a:tableStyleId>{4CDE9DB5-099F-468F-8C3C-A9098C66C0F4}</a:tableStyleId>
              </a:tblPr>
              <a:tblGrid>
                <a:gridCol w="4291225"/>
                <a:gridCol w="1114600"/>
                <a:gridCol w="1114600"/>
                <a:gridCol w="1114600"/>
              </a:tblGrid>
              <a:tr h="200025">
                <a:tc>
                  <a:txBody>
                    <a:bodyPr/>
                    <a:lstStyle/>
                    <a:p>
                      <a:pPr indent="0" lvl="0" marL="0" rtl="0" algn="l">
                        <a:lnSpc>
                          <a:spcPct val="115000"/>
                        </a:lnSpc>
                        <a:spcBef>
                          <a:spcPts val="0"/>
                        </a:spcBef>
                        <a:spcAft>
                          <a:spcPts val="0"/>
                        </a:spcAft>
                        <a:buNone/>
                      </a:pPr>
                      <a:r>
                        <a:t/>
                      </a:r>
                      <a:endParaRPr b="1" sz="1000">
                        <a:latin typeface="Proxima Nova"/>
                        <a:ea typeface="Proxima Nova"/>
                        <a:cs typeface="Proxima Nova"/>
                        <a:sym typeface="Proxima Nova"/>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Deal </a:t>
                      </a:r>
                      <a:endParaRPr b="1"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Hunters</a:t>
                      </a:r>
                      <a:endParaRPr b="1" sz="1200">
                        <a:solidFill>
                          <a:schemeClr val="lt1"/>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Budget Minders</a:t>
                      </a:r>
                      <a:endParaRPr b="1" sz="1200">
                        <a:solidFill>
                          <a:schemeClr val="lt1"/>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9900"/>
                    </a:solidFill>
                  </a:tcPr>
                </a:tc>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Thrill </a:t>
                      </a:r>
                      <a:endParaRPr b="1"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Seekers</a:t>
                      </a:r>
                      <a:endParaRPr b="1" sz="1200">
                        <a:solidFill>
                          <a:schemeClr val="lt1"/>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74EA7"/>
                    </a:solidFill>
                  </a:tcPr>
                </a:tc>
              </a:tr>
              <a:tr h="200025">
                <a:tc>
                  <a:txBody>
                    <a:bodyPr/>
                    <a:lstStyle/>
                    <a:p>
                      <a:pPr indent="0" lvl="0" marL="0" rtl="0" algn="l">
                        <a:lnSpc>
                          <a:spcPct val="115000"/>
                        </a:lnSpc>
                        <a:spcBef>
                          <a:spcPts val="0"/>
                        </a:spcBef>
                        <a:spcAft>
                          <a:spcPts val="0"/>
                        </a:spcAft>
                        <a:buNone/>
                      </a:pPr>
                      <a:r>
                        <a:rPr b="1" lang="en" sz="1000">
                          <a:latin typeface="Proxima Nova"/>
                          <a:ea typeface="Proxima Nova"/>
                          <a:cs typeface="Proxima Nova"/>
                          <a:sym typeface="Proxima Nova"/>
                        </a:rPr>
                        <a:t>Promos are a must:</a:t>
                      </a:r>
                      <a:endParaRPr b="1"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D9D9"/>
                    </a:solidFill>
                  </a:tcPr>
                </a:tc>
              </a:tr>
              <a:tr h="314325">
                <a:tc>
                  <a:txBody>
                    <a:bodyPr/>
                    <a:lstStyle/>
                    <a:p>
                      <a:pPr indent="0" lvl="0" marL="0" rtl="0" algn="l">
                        <a:lnSpc>
                          <a:spcPct val="115000"/>
                        </a:lnSpc>
                        <a:spcBef>
                          <a:spcPts val="0"/>
                        </a:spcBef>
                        <a:spcAft>
                          <a:spcPts val="0"/>
                        </a:spcAft>
                        <a:buNone/>
                      </a:pPr>
                      <a:r>
                        <a:rPr lang="en" sz="900">
                          <a:solidFill>
                            <a:srgbClr val="1F1F1F"/>
                          </a:solidFill>
                          <a:latin typeface="Proxima Nova"/>
                          <a:ea typeface="Proxima Nova"/>
                          <a:cs typeface="Proxima Nova"/>
                          <a:sym typeface="Proxima Nova"/>
                        </a:rPr>
                        <a:t>I will not place an order on any app unless there is a promotion or discount code I can use</a:t>
                      </a:r>
                      <a:endParaRPr sz="900">
                        <a:solidFill>
                          <a:srgbClr val="1F1F1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54%</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7%</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2%</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lang="en" sz="900">
                          <a:latin typeface="Proxima Nova"/>
                          <a:ea typeface="Proxima Nova"/>
                          <a:cs typeface="Proxima Nova"/>
                          <a:sym typeface="Proxima Nova"/>
                        </a:rPr>
                        <a:t>I feel guilty when I place an order without a promotion because of the extra costs for delivery</a:t>
                      </a:r>
                      <a:endParaRPr sz="9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90%</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12%</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41%</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900">
                          <a:solidFill>
                            <a:srgbClr val="1F1F1F"/>
                          </a:solidFill>
                          <a:latin typeface="Proxima Nova"/>
                          <a:ea typeface="Proxima Nova"/>
                          <a:cs typeface="Proxima Nova"/>
                          <a:sym typeface="Proxima Nova"/>
                        </a:rPr>
                        <a:t>I like to shop around for the best deal and that includes when ordering takeout</a:t>
                      </a:r>
                      <a:endParaRPr b="1" sz="900">
                        <a:solidFill>
                          <a:srgbClr val="1F1F1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94%</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15%</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64%</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r>
              <a:tr h="200025">
                <a:tc>
                  <a:txBody>
                    <a:bodyPr/>
                    <a:lstStyle/>
                    <a:p>
                      <a:pPr indent="0" lvl="0" marL="0" rtl="0" algn="l">
                        <a:lnSpc>
                          <a:spcPct val="115000"/>
                        </a:lnSpc>
                        <a:spcBef>
                          <a:spcPts val="0"/>
                        </a:spcBef>
                        <a:spcAft>
                          <a:spcPts val="0"/>
                        </a:spcAft>
                        <a:buNone/>
                      </a:pPr>
                      <a:r>
                        <a:rPr b="1" lang="en" sz="1000">
                          <a:latin typeface="Proxima Nova"/>
                          <a:ea typeface="Proxima Nova"/>
                          <a:cs typeface="Proxima Nova"/>
                          <a:sym typeface="Proxima Nova"/>
                        </a:rPr>
                        <a:t>Deal seeking is emotional:</a:t>
                      </a:r>
                      <a:endParaRPr b="1" sz="1000">
                        <a:latin typeface="Proxima Nova"/>
                        <a:ea typeface="Proxima Nova"/>
                        <a:cs typeface="Proxima Nova"/>
                        <a:sym typeface="Proxima Nova"/>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r>
              <a:tr h="200025">
                <a:tc>
                  <a:txBody>
                    <a:bodyPr/>
                    <a:lstStyle/>
                    <a:p>
                      <a:pPr indent="0" lvl="0" marL="0" rtl="0" algn="l">
                        <a:lnSpc>
                          <a:spcPct val="115000"/>
                        </a:lnSpc>
                        <a:spcBef>
                          <a:spcPts val="0"/>
                        </a:spcBef>
                        <a:spcAft>
                          <a:spcPts val="0"/>
                        </a:spcAft>
                        <a:buNone/>
                      </a:pPr>
                      <a:r>
                        <a:rPr lang="en" sz="900">
                          <a:solidFill>
                            <a:srgbClr val="1F1F1F"/>
                          </a:solidFill>
                          <a:latin typeface="Proxima Nova"/>
                          <a:ea typeface="Proxima Nova"/>
                          <a:cs typeface="Proxima Nova"/>
                          <a:sym typeface="Proxima Nova"/>
                        </a:rPr>
                        <a:t>I generally am not price sensitive, but like the feeling of getting a good deal</a:t>
                      </a:r>
                      <a:endParaRPr sz="900">
                        <a:solidFill>
                          <a:srgbClr val="1F1F1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31%</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17%</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79%</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r>
              <a:tr h="200025">
                <a:tc>
                  <a:txBody>
                    <a:bodyPr/>
                    <a:lstStyle/>
                    <a:p>
                      <a:pPr indent="0" lvl="0" marL="0" rtl="0" algn="l">
                        <a:lnSpc>
                          <a:spcPct val="115000"/>
                        </a:lnSpc>
                        <a:spcBef>
                          <a:spcPts val="0"/>
                        </a:spcBef>
                        <a:spcAft>
                          <a:spcPts val="0"/>
                        </a:spcAft>
                        <a:buNone/>
                      </a:pPr>
                      <a:r>
                        <a:rPr lang="en" sz="900">
                          <a:solidFill>
                            <a:srgbClr val="1F1F1F"/>
                          </a:solidFill>
                          <a:latin typeface="Proxima Nova"/>
                          <a:ea typeface="Proxima Nova"/>
                          <a:cs typeface="Proxima Nova"/>
                          <a:sym typeface="Proxima Nova"/>
                        </a:rPr>
                        <a:t>I enjoy the thrill of finding a good deal</a:t>
                      </a:r>
                      <a:endParaRPr sz="900">
                        <a:solidFill>
                          <a:srgbClr val="1F1F1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91%</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EFEFEF"/>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33%</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75%</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EFEFEF"/>
                      </a:solidFill>
                      <a:prstDash val="solid"/>
                      <a:round/>
                      <a:headEnd len="sm" w="sm" type="none"/>
                      <a:tailEnd len="sm" w="sm" type="none"/>
                    </a:lnB>
                    <a:solidFill>
                      <a:srgbClr val="B4A7D6"/>
                    </a:solidFill>
                  </a:tcPr>
                </a:tc>
              </a:tr>
              <a:tr h="200025">
                <a:tc>
                  <a:txBody>
                    <a:bodyPr/>
                    <a:lstStyle/>
                    <a:p>
                      <a:pPr indent="0" lvl="0" marL="0" rtl="0" algn="l">
                        <a:lnSpc>
                          <a:spcPct val="115000"/>
                        </a:lnSpc>
                        <a:spcBef>
                          <a:spcPts val="0"/>
                        </a:spcBef>
                        <a:spcAft>
                          <a:spcPts val="0"/>
                        </a:spcAft>
                        <a:buNone/>
                      </a:pPr>
                      <a:r>
                        <a:rPr b="1" lang="en" sz="1000">
                          <a:latin typeface="Proxima Nova"/>
                          <a:ea typeface="Proxima Nova"/>
                          <a:cs typeface="Proxima Nova"/>
                          <a:sym typeface="Proxima Nova"/>
                        </a:rPr>
                        <a:t>Deals are not the #1 priority:</a:t>
                      </a:r>
                      <a:endParaRPr b="1" sz="1000">
                        <a:latin typeface="Proxima Nova"/>
                        <a:ea typeface="Proxima Nova"/>
                        <a:cs typeface="Proxima Nova"/>
                        <a:sym typeface="Proxima Nova"/>
                      </a:endParaRPr>
                    </a:p>
                  </a:txBody>
                  <a:tcPr marT="19050" marB="19050"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D9D9D9"/>
                    </a:solidFill>
                  </a:tcPr>
                </a:tc>
              </a:tr>
              <a:tr h="314325">
                <a:tc>
                  <a:txBody>
                    <a:bodyPr/>
                    <a:lstStyle/>
                    <a:p>
                      <a:pPr indent="0" lvl="0" marL="0" rtl="0" algn="l">
                        <a:lnSpc>
                          <a:spcPct val="115000"/>
                        </a:lnSpc>
                        <a:spcBef>
                          <a:spcPts val="0"/>
                        </a:spcBef>
                        <a:spcAft>
                          <a:spcPts val="0"/>
                        </a:spcAft>
                        <a:buNone/>
                      </a:pPr>
                      <a:r>
                        <a:rPr lang="en" sz="900">
                          <a:solidFill>
                            <a:srgbClr val="1F1F1F"/>
                          </a:solidFill>
                          <a:latin typeface="Proxima Nova"/>
                          <a:ea typeface="Proxima Nova"/>
                          <a:cs typeface="Proxima Nova"/>
                          <a:sym typeface="Proxima Nova"/>
                        </a:rPr>
                        <a:t>The convenience of ordering on DoorDash is more important than the amount that I spend</a:t>
                      </a:r>
                      <a:endParaRPr sz="900">
                        <a:solidFill>
                          <a:srgbClr val="1F1F1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11%</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27%</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52%</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r>
              <a:tr h="314325">
                <a:tc>
                  <a:txBody>
                    <a:bodyPr/>
                    <a:lstStyle/>
                    <a:p>
                      <a:pPr indent="0" lvl="0" marL="0" rtl="0" algn="l">
                        <a:lnSpc>
                          <a:spcPct val="115000"/>
                        </a:lnSpc>
                        <a:spcBef>
                          <a:spcPts val="0"/>
                        </a:spcBef>
                        <a:spcAft>
                          <a:spcPts val="0"/>
                        </a:spcAft>
                        <a:buNone/>
                      </a:pPr>
                      <a:r>
                        <a:rPr lang="en" sz="900">
                          <a:solidFill>
                            <a:srgbClr val="1F1F1F"/>
                          </a:solidFill>
                          <a:latin typeface="Proxima Nova"/>
                          <a:ea typeface="Proxima Nova"/>
                          <a:cs typeface="Proxima Nova"/>
                          <a:sym typeface="Proxima Nova"/>
                        </a:rPr>
                        <a:t>I care more about food prices and fees than about getting promotions and discounts</a:t>
                      </a:r>
                      <a:endParaRPr sz="900">
                        <a:solidFill>
                          <a:srgbClr val="1F1F1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51%</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53%</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62%</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r>
              <a:tr h="314325">
                <a:tc>
                  <a:txBody>
                    <a:bodyPr/>
                    <a:lstStyle/>
                    <a:p>
                      <a:pPr indent="0" lvl="0" marL="0" rtl="0" algn="l">
                        <a:lnSpc>
                          <a:spcPct val="115000"/>
                        </a:lnSpc>
                        <a:spcBef>
                          <a:spcPts val="0"/>
                        </a:spcBef>
                        <a:spcAft>
                          <a:spcPts val="0"/>
                        </a:spcAft>
                        <a:buNone/>
                      </a:pPr>
                      <a:r>
                        <a:rPr lang="en" sz="900">
                          <a:solidFill>
                            <a:srgbClr val="1F1F1F"/>
                          </a:solidFill>
                          <a:latin typeface="Proxima Nova"/>
                          <a:ea typeface="Proxima Nova"/>
                          <a:cs typeface="Proxima Nova"/>
                          <a:sym typeface="Proxima Nova"/>
                        </a:rPr>
                        <a:t>I care more about speed and food quality than promotions when placing an order on DoorDash</a:t>
                      </a:r>
                      <a:endParaRPr sz="900">
                        <a:solidFill>
                          <a:srgbClr val="1F1F1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29%</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40%</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55%</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r>
            </a:tbl>
          </a:graphicData>
        </a:graphic>
      </p:graphicFrame>
      <p:sp>
        <p:nvSpPr>
          <p:cNvPr id="320" name="Google Shape;320;p36"/>
          <p:cNvSpPr txBox="1"/>
          <p:nvPr/>
        </p:nvSpPr>
        <p:spPr>
          <a:xfrm>
            <a:off x="337575" y="4779275"/>
            <a:ext cx="45573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Proxima Nova"/>
                <a:ea typeface="Proxima Nova"/>
                <a:cs typeface="Proxima Nova"/>
                <a:sym typeface="Proxima Nova"/>
              </a:rPr>
              <a:t>Base: n= 126 Deal Hunters, n=60 Budget Minders, N=85 Thrill Seekers</a:t>
            </a:r>
            <a:endParaRPr sz="600">
              <a:latin typeface="Proxima Nova"/>
              <a:ea typeface="Proxima Nova"/>
              <a:cs typeface="Proxima Nova"/>
              <a:sym typeface="Proxima Nov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7"/>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6" name="Google Shape;326;p37"/>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A86E8"/>
                </a:solidFill>
                <a:latin typeface="Proxima Nova"/>
                <a:ea typeface="Proxima Nova"/>
                <a:cs typeface="Proxima Nova"/>
                <a:sym typeface="Proxima Nova"/>
              </a:rPr>
              <a:t>DH</a:t>
            </a:r>
            <a:r>
              <a:rPr b="1" lang="en" sz="2000">
                <a:solidFill>
                  <a:schemeClr val="dk1"/>
                </a:solidFill>
                <a:latin typeface="Proxima Nova"/>
                <a:ea typeface="Proxima Nova"/>
                <a:cs typeface="Proxima Nova"/>
                <a:sym typeface="Proxima Nova"/>
              </a:rPr>
              <a:t> have a strong preference for % off; </a:t>
            </a:r>
            <a:r>
              <a:rPr b="1" lang="en" sz="2000">
                <a:solidFill>
                  <a:srgbClr val="FF9900"/>
                </a:solidFill>
                <a:latin typeface="Proxima Nova"/>
                <a:ea typeface="Proxima Nova"/>
                <a:cs typeface="Proxima Nova"/>
                <a:sym typeface="Proxima Nova"/>
              </a:rPr>
              <a:t>BM</a:t>
            </a:r>
            <a:r>
              <a:rPr b="1" lang="en" sz="2000">
                <a:solidFill>
                  <a:schemeClr val="dk1"/>
                </a:solidFill>
                <a:latin typeface="Proxima Nova"/>
                <a:ea typeface="Proxima Nova"/>
                <a:cs typeface="Proxima Nova"/>
                <a:sym typeface="Proxima Nova"/>
              </a:rPr>
              <a:t> and </a:t>
            </a:r>
            <a:r>
              <a:rPr b="1" lang="en" sz="2000">
                <a:solidFill>
                  <a:srgbClr val="674EA7"/>
                </a:solidFill>
                <a:latin typeface="Proxima Nova"/>
                <a:ea typeface="Proxima Nova"/>
                <a:cs typeface="Proxima Nova"/>
                <a:sym typeface="Proxima Nova"/>
              </a:rPr>
              <a:t>TS</a:t>
            </a:r>
            <a:r>
              <a:rPr b="1" lang="en" sz="2000">
                <a:solidFill>
                  <a:schemeClr val="dk1"/>
                </a:solidFill>
                <a:latin typeface="Proxima Nova"/>
                <a:ea typeface="Proxima Nova"/>
                <a:cs typeface="Proxima Nova"/>
                <a:sym typeface="Proxima Nova"/>
              </a:rPr>
              <a:t> prefer a mix of % off, $ off and free items.  </a:t>
            </a:r>
            <a:r>
              <a:rPr b="1" lang="en" sz="2000">
                <a:solidFill>
                  <a:srgbClr val="FF9900"/>
                </a:solidFill>
                <a:latin typeface="Proxima Nova"/>
                <a:ea typeface="Proxima Nova"/>
                <a:cs typeface="Proxima Nova"/>
                <a:sym typeface="Proxima Nova"/>
              </a:rPr>
              <a:t>BM</a:t>
            </a:r>
            <a:r>
              <a:rPr b="1" lang="en" sz="2000">
                <a:solidFill>
                  <a:schemeClr val="dk1"/>
                </a:solidFill>
                <a:latin typeface="Proxima Nova"/>
                <a:ea typeface="Proxima Nova"/>
                <a:cs typeface="Proxima Nova"/>
                <a:sym typeface="Proxima Nova"/>
              </a:rPr>
              <a:t> are not a fan of BOGO.</a:t>
            </a:r>
            <a:endParaRPr b="1" sz="20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2000">
              <a:solidFill>
                <a:schemeClr val="dk1"/>
              </a:solidFill>
              <a:latin typeface="Proxima Nova"/>
              <a:ea typeface="Proxima Nova"/>
              <a:cs typeface="Proxima Nova"/>
              <a:sym typeface="Proxima Nova"/>
            </a:endParaRPr>
          </a:p>
        </p:txBody>
      </p:sp>
      <p:pic>
        <p:nvPicPr>
          <p:cNvPr id="327" name="Google Shape;327;p37"/>
          <p:cNvPicPr preferRelativeResize="0"/>
          <p:nvPr/>
        </p:nvPicPr>
        <p:blipFill>
          <a:blip r:embed="rId3">
            <a:alphaModFix/>
          </a:blip>
          <a:stretch>
            <a:fillRect/>
          </a:stretch>
        </p:blipFill>
        <p:spPr>
          <a:xfrm>
            <a:off x="152400" y="1369125"/>
            <a:ext cx="8642175" cy="3385700"/>
          </a:xfrm>
          <a:prstGeom prst="rect">
            <a:avLst/>
          </a:prstGeom>
          <a:noFill/>
          <a:ln>
            <a:noFill/>
          </a:ln>
        </p:spPr>
      </p:pic>
      <p:sp>
        <p:nvSpPr>
          <p:cNvPr id="328" name="Google Shape;328;p37"/>
          <p:cNvSpPr txBox="1"/>
          <p:nvPr/>
        </p:nvSpPr>
        <p:spPr>
          <a:xfrm>
            <a:off x="293275" y="8886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Proxima Nova"/>
                <a:ea typeface="Proxima Nova"/>
                <a:cs typeface="Proxima Nova"/>
                <a:sym typeface="Proxima Nova"/>
              </a:rPr>
              <a:t>Preferred promotion type by cluster</a:t>
            </a:r>
            <a:endParaRPr b="1">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a:solidFill>
                <a:schemeClr val="dk1"/>
              </a:solidFill>
              <a:latin typeface="Proxima Nova"/>
              <a:ea typeface="Proxima Nova"/>
              <a:cs typeface="Proxima Nova"/>
              <a:sym typeface="Proxima Nova"/>
            </a:endParaRPr>
          </a:p>
        </p:txBody>
      </p:sp>
      <p:sp>
        <p:nvSpPr>
          <p:cNvPr id="329" name="Google Shape;329;p37"/>
          <p:cNvSpPr/>
          <p:nvPr/>
        </p:nvSpPr>
        <p:spPr>
          <a:xfrm rot="-940908">
            <a:off x="686247" y="1363726"/>
            <a:ext cx="635972" cy="239628"/>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
        <p:nvSpPr>
          <p:cNvPr id="330" name="Google Shape;330;p37"/>
          <p:cNvSpPr/>
          <p:nvPr/>
        </p:nvSpPr>
        <p:spPr>
          <a:xfrm rot="-940908">
            <a:off x="3733097" y="2759401"/>
            <a:ext cx="635972" cy="239628"/>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
        <p:nvSpPr>
          <p:cNvPr id="331" name="Google Shape;331;p37"/>
          <p:cNvSpPr/>
          <p:nvPr/>
        </p:nvSpPr>
        <p:spPr>
          <a:xfrm rot="-940908">
            <a:off x="1620697" y="1532051"/>
            <a:ext cx="635972" cy="239628"/>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grpSp>
        <p:nvGrpSpPr>
          <p:cNvPr id="332" name="Google Shape;332;p37"/>
          <p:cNvGrpSpPr/>
          <p:nvPr/>
        </p:nvGrpSpPr>
        <p:grpSpPr>
          <a:xfrm>
            <a:off x="7547375" y="1082400"/>
            <a:ext cx="883100" cy="446700"/>
            <a:chOff x="-1385800" y="2979700"/>
            <a:chExt cx="883100" cy="446700"/>
          </a:xfrm>
        </p:grpSpPr>
        <p:sp>
          <p:nvSpPr>
            <p:cNvPr id="333" name="Google Shape;333;p37"/>
            <p:cNvSpPr/>
            <p:nvPr/>
          </p:nvSpPr>
          <p:spPr>
            <a:xfrm>
              <a:off x="-1385800" y="2979700"/>
              <a:ext cx="142200" cy="1419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4" name="Google Shape;334;p37"/>
            <p:cNvSpPr txBox="1"/>
            <p:nvPr/>
          </p:nvSpPr>
          <p:spPr>
            <a:xfrm>
              <a:off x="-1325000" y="2979700"/>
              <a:ext cx="728400" cy="14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latin typeface="Proxima Nova"/>
                  <a:ea typeface="Proxima Nova"/>
                  <a:cs typeface="Proxima Nova"/>
                  <a:sym typeface="Proxima Nova"/>
                </a:rPr>
                <a:t>Deal Hunters</a:t>
              </a:r>
              <a:endParaRPr sz="700">
                <a:latin typeface="Proxima Nova"/>
                <a:ea typeface="Proxima Nova"/>
                <a:cs typeface="Proxima Nova"/>
                <a:sym typeface="Proxima Nova"/>
              </a:endParaRPr>
            </a:p>
          </p:txBody>
        </p:sp>
        <p:sp>
          <p:nvSpPr>
            <p:cNvPr id="335" name="Google Shape;335;p37"/>
            <p:cNvSpPr/>
            <p:nvPr/>
          </p:nvSpPr>
          <p:spPr>
            <a:xfrm>
              <a:off x="-1385800" y="3132100"/>
              <a:ext cx="142200" cy="141900"/>
            </a:xfrm>
            <a:prstGeom prst="rect">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37"/>
            <p:cNvSpPr txBox="1"/>
            <p:nvPr/>
          </p:nvSpPr>
          <p:spPr>
            <a:xfrm>
              <a:off x="-1325000" y="3132100"/>
              <a:ext cx="822300" cy="14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latin typeface="Proxima Nova"/>
                  <a:ea typeface="Proxima Nova"/>
                  <a:cs typeface="Proxima Nova"/>
                  <a:sym typeface="Proxima Nova"/>
                </a:rPr>
                <a:t>Budget Minders</a:t>
              </a:r>
              <a:endParaRPr sz="700">
                <a:latin typeface="Proxima Nova"/>
                <a:ea typeface="Proxima Nova"/>
                <a:cs typeface="Proxima Nova"/>
                <a:sym typeface="Proxima Nova"/>
              </a:endParaRPr>
            </a:p>
          </p:txBody>
        </p:sp>
        <p:sp>
          <p:nvSpPr>
            <p:cNvPr id="337" name="Google Shape;337;p37"/>
            <p:cNvSpPr/>
            <p:nvPr/>
          </p:nvSpPr>
          <p:spPr>
            <a:xfrm>
              <a:off x="-1385800" y="3284500"/>
              <a:ext cx="142200" cy="141900"/>
            </a:xfrm>
            <a:prstGeom prst="rect">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674EA7"/>
                </a:solidFill>
              </a:endParaRPr>
            </a:p>
          </p:txBody>
        </p:sp>
        <p:sp>
          <p:nvSpPr>
            <p:cNvPr id="338" name="Google Shape;338;p37"/>
            <p:cNvSpPr txBox="1"/>
            <p:nvPr/>
          </p:nvSpPr>
          <p:spPr>
            <a:xfrm>
              <a:off x="-1325000" y="3284500"/>
              <a:ext cx="728400" cy="14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latin typeface="Proxima Nova"/>
                  <a:ea typeface="Proxima Nova"/>
                  <a:cs typeface="Proxima Nova"/>
                  <a:sym typeface="Proxima Nova"/>
                </a:rPr>
                <a:t>Thrill Seekers</a:t>
              </a:r>
              <a:endParaRPr sz="700">
                <a:latin typeface="Proxima Nova"/>
                <a:ea typeface="Proxima Nova"/>
                <a:cs typeface="Proxima Nova"/>
                <a:sym typeface="Proxima Nova"/>
              </a:endParaRPr>
            </a:p>
          </p:txBody>
        </p:sp>
      </p:grpSp>
      <p:sp>
        <p:nvSpPr>
          <p:cNvPr id="339" name="Google Shape;339;p37"/>
          <p:cNvSpPr txBox="1"/>
          <p:nvPr/>
        </p:nvSpPr>
        <p:spPr>
          <a:xfrm>
            <a:off x="337575" y="4779275"/>
            <a:ext cx="45573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Proxima Nova"/>
                <a:ea typeface="Proxima Nova"/>
                <a:cs typeface="Proxima Nova"/>
                <a:sym typeface="Proxima Nova"/>
              </a:rPr>
              <a:t>Base: n= 126 Deal Hunters, n=60 Budget Minders, N=85 Thrill Seekers</a:t>
            </a:r>
            <a:endParaRPr sz="600">
              <a:latin typeface="Proxima Nova"/>
              <a:ea typeface="Proxima Nova"/>
              <a:cs typeface="Proxima Nova"/>
              <a:sym typeface="Proxima Nov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8"/>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5" name="Google Shape;345;p38"/>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All clusters find a minimum of $10 as </a:t>
            </a:r>
            <a:r>
              <a:rPr b="1" lang="en" sz="2000">
                <a:solidFill>
                  <a:schemeClr val="dk1"/>
                </a:solidFill>
                <a:latin typeface="Proxima Nova"/>
                <a:ea typeface="Proxima Nova"/>
                <a:cs typeface="Proxima Nova"/>
                <a:sym typeface="Proxima Nova"/>
              </a:rPr>
              <a:t>valuable</a:t>
            </a:r>
            <a:r>
              <a:rPr b="1" lang="en" sz="2000">
                <a:solidFill>
                  <a:schemeClr val="dk1"/>
                </a:solidFill>
                <a:latin typeface="Proxima Nova"/>
                <a:ea typeface="Proxima Nova"/>
                <a:cs typeface="Proxima Nova"/>
                <a:sym typeface="Proxima Nova"/>
              </a:rPr>
              <a:t>, but </a:t>
            </a:r>
            <a:r>
              <a:rPr b="1" lang="en" sz="2000">
                <a:solidFill>
                  <a:srgbClr val="4A86E8"/>
                </a:solidFill>
                <a:latin typeface="Proxima Nova"/>
                <a:ea typeface="Proxima Nova"/>
                <a:cs typeface="Proxima Nova"/>
                <a:sym typeface="Proxima Nova"/>
              </a:rPr>
              <a:t>DH</a:t>
            </a:r>
            <a:r>
              <a:rPr b="1" lang="en" sz="2000">
                <a:solidFill>
                  <a:schemeClr val="dk1"/>
                </a:solidFill>
                <a:latin typeface="Proxima Nova"/>
                <a:ea typeface="Proxima Nova"/>
                <a:cs typeface="Proxima Nova"/>
                <a:sym typeface="Proxima Nova"/>
              </a:rPr>
              <a:t> expect to spend the least to get that amount</a:t>
            </a:r>
            <a:endParaRPr b="1" sz="20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2000">
              <a:solidFill>
                <a:schemeClr val="dk1"/>
              </a:solidFill>
              <a:latin typeface="Proxima Nova"/>
              <a:ea typeface="Proxima Nova"/>
              <a:cs typeface="Proxima Nova"/>
              <a:sym typeface="Proxima Nova"/>
            </a:endParaRPr>
          </a:p>
        </p:txBody>
      </p:sp>
      <p:sp>
        <p:nvSpPr>
          <p:cNvPr id="346" name="Google Shape;346;p38"/>
          <p:cNvSpPr txBox="1"/>
          <p:nvPr/>
        </p:nvSpPr>
        <p:spPr>
          <a:xfrm>
            <a:off x="799500" y="1246950"/>
            <a:ext cx="31983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1F1F1F"/>
                </a:solidFill>
                <a:highlight>
                  <a:srgbClr val="FFFFFF"/>
                </a:highlight>
                <a:latin typeface="Proxima Nova"/>
                <a:ea typeface="Proxima Nova"/>
                <a:cs typeface="Proxima Nova"/>
                <a:sym typeface="Proxima Nova"/>
              </a:rPr>
              <a:t>Max amount of spend that feels fair to get a discount</a:t>
            </a:r>
            <a:r>
              <a:rPr b="1" lang="en" sz="1600">
                <a:solidFill>
                  <a:srgbClr val="1F1F1F"/>
                </a:solidFill>
                <a:highlight>
                  <a:srgbClr val="FFFFFF"/>
                </a:highlight>
                <a:latin typeface="Proxima Nova"/>
                <a:ea typeface="Proxima Nova"/>
                <a:cs typeface="Proxima Nova"/>
                <a:sym typeface="Proxima Nova"/>
              </a:rPr>
              <a:t>:</a:t>
            </a:r>
            <a:endParaRPr b="1" sz="1600">
              <a:solidFill>
                <a:srgbClr val="000000"/>
              </a:solidFill>
              <a:latin typeface="Proxima Nova"/>
              <a:ea typeface="Proxima Nova"/>
              <a:cs typeface="Proxima Nova"/>
              <a:sym typeface="Proxima Nova"/>
            </a:endParaRPr>
          </a:p>
        </p:txBody>
      </p:sp>
      <p:sp>
        <p:nvSpPr>
          <p:cNvPr id="347" name="Google Shape;347;p38"/>
          <p:cNvSpPr txBox="1"/>
          <p:nvPr/>
        </p:nvSpPr>
        <p:spPr>
          <a:xfrm>
            <a:off x="271392" y="2595988"/>
            <a:ext cx="19995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4A86E8"/>
                </a:solidFill>
                <a:highlight>
                  <a:srgbClr val="FFFFFF"/>
                </a:highlight>
                <a:latin typeface="Proxima Nova"/>
                <a:ea typeface="Proxima Nova"/>
                <a:cs typeface="Proxima Nova"/>
                <a:sym typeface="Proxima Nova"/>
              </a:rPr>
              <a:t>Deal Hunters</a:t>
            </a:r>
            <a:endParaRPr b="1" sz="1600">
              <a:solidFill>
                <a:srgbClr val="4A86E8"/>
              </a:solidFill>
              <a:latin typeface="Proxima Nova"/>
              <a:ea typeface="Proxima Nova"/>
              <a:cs typeface="Proxima Nova"/>
              <a:sym typeface="Proxima Nova"/>
            </a:endParaRPr>
          </a:p>
        </p:txBody>
      </p:sp>
      <p:sp>
        <p:nvSpPr>
          <p:cNvPr id="348" name="Google Shape;348;p38"/>
          <p:cNvSpPr txBox="1"/>
          <p:nvPr/>
        </p:nvSpPr>
        <p:spPr>
          <a:xfrm>
            <a:off x="1811538" y="2595988"/>
            <a:ext cx="19995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4A86E8"/>
                </a:solidFill>
                <a:highlight>
                  <a:srgbClr val="FFFFFF"/>
                </a:highlight>
                <a:latin typeface="Proxima Nova"/>
                <a:ea typeface="Proxima Nova"/>
                <a:cs typeface="Proxima Nova"/>
                <a:sym typeface="Proxima Nova"/>
              </a:rPr>
              <a:t>$25.66</a:t>
            </a:r>
            <a:endParaRPr b="1" sz="1600">
              <a:solidFill>
                <a:srgbClr val="4A86E8"/>
              </a:solidFill>
              <a:latin typeface="Proxima Nova"/>
              <a:ea typeface="Proxima Nova"/>
              <a:cs typeface="Proxima Nova"/>
              <a:sym typeface="Proxima Nova"/>
            </a:endParaRPr>
          </a:p>
        </p:txBody>
      </p:sp>
      <p:sp>
        <p:nvSpPr>
          <p:cNvPr id="349" name="Google Shape;349;p38"/>
          <p:cNvSpPr txBox="1"/>
          <p:nvPr/>
        </p:nvSpPr>
        <p:spPr>
          <a:xfrm>
            <a:off x="271392" y="3205588"/>
            <a:ext cx="19995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9900"/>
                </a:solidFill>
                <a:highlight>
                  <a:srgbClr val="FFFFFF"/>
                </a:highlight>
                <a:latin typeface="Proxima Nova"/>
                <a:ea typeface="Proxima Nova"/>
                <a:cs typeface="Proxima Nova"/>
                <a:sym typeface="Proxima Nova"/>
              </a:rPr>
              <a:t>Budget Minders</a:t>
            </a:r>
            <a:endParaRPr b="1" sz="1600">
              <a:solidFill>
                <a:srgbClr val="FF9900"/>
              </a:solidFill>
              <a:latin typeface="Proxima Nova"/>
              <a:ea typeface="Proxima Nova"/>
              <a:cs typeface="Proxima Nova"/>
              <a:sym typeface="Proxima Nova"/>
            </a:endParaRPr>
          </a:p>
        </p:txBody>
      </p:sp>
      <p:sp>
        <p:nvSpPr>
          <p:cNvPr id="350" name="Google Shape;350;p38"/>
          <p:cNvSpPr txBox="1"/>
          <p:nvPr/>
        </p:nvSpPr>
        <p:spPr>
          <a:xfrm>
            <a:off x="1811538" y="3205588"/>
            <a:ext cx="19995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9900"/>
                </a:solidFill>
                <a:highlight>
                  <a:srgbClr val="FFFFFF"/>
                </a:highlight>
                <a:latin typeface="Proxima Nova"/>
                <a:ea typeface="Proxima Nova"/>
                <a:cs typeface="Proxima Nova"/>
                <a:sym typeface="Proxima Nova"/>
              </a:rPr>
              <a:t>$35.52</a:t>
            </a:r>
            <a:endParaRPr b="1" sz="1600">
              <a:solidFill>
                <a:srgbClr val="FF9900"/>
              </a:solidFill>
              <a:latin typeface="Proxima Nova"/>
              <a:ea typeface="Proxima Nova"/>
              <a:cs typeface="Proxima Nova"/>
              <a:sym typeface="Proxima Nova"/>
            </a:endParaRPr>
          </a:p>
        </p:txBody>
      </p:sp>
      <p:sp>
        <p:nvSpPr>
          <p:cNvPr id="351" name="Google Shape;351;p38"/>
          <p:cNvSpPr txBox="1"/>
          <p:nvPr/>
        </p:nvSpPr>
        <p:spPr>
          <a:xfrm>
            <a:off x="271392" y="3815188"/>
            <a:ext cx="19995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674EA7"/>
                </a:solidFill>
                <a:highlight>
                  <a:srgbClr val="FFFFFF"/>
                </a:highlight>
                <a:latin typeface="Proxima Nova"/>
                <a:ea typeface="Proxima Nova"/>
                <a:cs typeface="Proxima Nova"/>
                <a:sym typeface="Proxima Nova"/>
              </a:rPr>
              <a:t>Thrill Seekers</a:t>
            </a:r>
            <a:endParaRPr b="1" sz="1600">
              <a:solidFill>
                <a:srgbClr val="674EA7"/>
              </a:solidFill>
              <a:latin typeface="Proxima Nova"/>
              <a:ea typeface="Proxima Nova"/>
              <a:cs typeface="Proxima Nova"/>
              <a:sym typeface="Proxima Nova"/>
            </a:endParaRPr>
          </a:p>
        </p:txBody>
      </p:sp>
      <p:sp>
        <p:nvSpPr>
          <p:cNvPr id="352" name="Google Shape;352;p38"/>
          <p:cNvSpPr txBox="1"/>
          <p:nvPr/>
        </p:nvSpPr>
        <p:spPr>
          <a:xfrm>
            <a:off x="1811538" y="3815188"/>
            <a:ext cx="19995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674EA7"/>
                </a:solidFill>
                <a:highlight>
                  <a:srgbClr val="FFFFFF"/>
                </a:highlight>
                <a:latin typeface="Proxima Nova"/>
                <a:ea typeface="Proxima Nova"/>
                <a:cs typeface="Proxima Nova"/>
                <a:sym typeface="Proxima Nova"/>
              </a:rPr>
              <a:t>$31.56</a:t>
            </a:r>
            <a:endParaRPr b="1" sz="1600">
              <a:solidFill>
                <a:srgbClr val="674EA7"/>
              </a:solidFill>
              <a:latin typeface="Proxima Nova"/>
              <a:ea typeface="Proxima Nova"/>
              <a:cs typeface="Proxima Nova"/>
              <a:sym typeface="Proxima Nova"/>
            </a:endParaRPr>
          </a:p>
        </p:txBody>
      </p:sp>
      <p:sp>
        <p:nvSpPr>
          <p:cNvPr id="353" name="Google Shape;353;p38"/>
          <p:cNvSpPr txBox="1"/>
          <p:nvPr/>
        </p:nvSpPr>
        <p:spPr>
          <a:xfrm>
            <a:off x="4747950" y="1246950"/>
            <a:ext cx="31983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1F1F1F"/>
                </a:solidFill>
                <a:highlight>
                  <a:srgbClr val="FFFFFF"/>
                </a:highlight>
                <a:latin typeface="Proxima Nova"/>
                <a:ea typeface="Proxima Nova"/>
                <a:cs typeface="Proxima Nova"/>
                <a:sym typeface="Proxima Nova"/>
              </a:rPr>
              <a:t>Min discount </a:t>
            </a:r>
            <a:r>
              <a:rPr b="1" lang="en" sz="1600">
                <a:solidFill>
                  <a:srgbClr val="1F1F1F"/>
                </a:solidFill>
                <a:highlight>
                  <a:srgbClr val="FFFFFF"/>
                </a:highlight>
                <a:latin typeface="Proxima Nova"/>
                <a:ea typeface="Proxima Nova"/>
                <a:cs typeface="Proxima Nova"/>
                <a:sym typeface="Proxima Nova"/>
              </a:rPr>
              <a:t>amount</a:t>
            </a:r>
            <a:r>
              <a:rPr b="1" lang="en" sz="1600">
                <a:solidFill>
                  <a:srgbClr val="1F1F1F"/>
                </a:solidFill>
                <a:highlight>
                  <a:srgbClr val="FFFFFF"/>
                </a:highlight>
                <a:latin typeface="Proxima Nova"/>
                <a:ea typeface="Proxima Nova"/>
                <a:cs typeface="Proxima Nova"/>
                <a:sym typeface="Proxima Nova"/>
              </a:rPr>
              <a:t> that feels valuable</a:t>
            </a:r>
            <a:r>
              <a:rPr b="1" lang="en" sz="1600">
                <a:solidFill>
                  <a:srgbClr val="1F1F1F"/>
                </a:solidFill>
                <a:highlight>
                  <a:srgbClr val="FFFFFF"/>
                </a:highlight>
                <a:latin typeface="Proxima Nova"/>
                <a:ea typeface="Proxima Nova"/>
                <a:cs typeface="Proxima Nova"/>
                <a:sym typeface="Proxima Nova"/>
              </a:rPr>
              <a:t>:</a:t>
            </a:r>
            <a:endParaRPr b="1" sz="1600">
              <a:solidFill>
                <a:srgbClr val="000000"/>
              </a:solidFill>
              <a:latin typeface="Proxima Nova"/>
              <a:ea typeface="Proxima Nova"/>
              <a:cs typeface="Proxima Nova"/>
              <a:sym typeface="Proxima Nova"/>
            </a:endParaRPr>
          </a:p>
        </p:txBody>
      </p:sp>
      <p:sp>
        <p:nvSpPr>
          <p:cNvPr id="354" name="Google Shape;354;p38"/>
          <p:cNvSpPr txBox="1"/>
          <p:nvPr/>
        </p:nvSpPr>
        <p:spPr>
          <a:xfrm>
            <a:off x="4275442" y="2595988"/>
            <a:ext cx="19995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4A86E8"/>
                </a:solidFill>
                <a:highlight>
                  <a:schemeClr val="lt1"/>
                </a:highlight>
                <a:latin typeface="Proxima Nova"/>
                <a:ea typeface="Proxima Nova"/>
                <a:cs typeface="Proxima Nova"/>
                <a:sym typeface="Proxima Nova"/>
              </a:rPr>
              <a:t>Deal Hunters</a:t>
            </a:r>
            <a:endParaRPr b="1" sz="1600">
              <a:solidFill>
                <a:srgbClr val="4A86E8"/>
              </a:solidFill>
              <a:highlight>
                <a:srgbClr val="FFFFFF"/>
              </a:highlight>
              <a:latin typeface="Proxima Nova"/>
              <a:ea typeface="Proxima Nova"/>
              <a:cs typeface="Proxima Nova"/>
              <a:sym typeface="Proxima Nova"/>
            </a:endParaRPr>
          </a:p>
        </p:txBody>
      </p:sp>
      <p:sp>
        <p:nvSpPr>
          <p:cNvPr id="355" name="Google Shape;355;p38"/>
          <p:cNvSpPr txBox="1"/>
          <p:nvPr/>
        </p:nvSpPr>
        <p:spPr>
          <a:xfrm>
            <a:off x="5815588" y="2595988"/>
            <a:ext cx="19995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4A86E8"/>
                </a:solidFill>
                <a:highlight>
                  <a:srgbClr val="FFFFFF"/>
                </a:highlight>
                <a:latin typeface="Proxima Nova"/>
                <a:ea typeface="Proxima Nova"/>
                <a:cs typeface="Proxima Nova"/>
                <a:sym typeface="Proxima Nova"/>
              </a:rPr>
              <a:t>$9.77</a:t>
            </a:r>
            <a:endParaRPr b="1" sz="1600">
              <a:solidFill>
                <a:srgbClr val="4A86E8"/>
              </a:solidFill>
              <a:latin typeface="Proxima Nova"/>
              <a:ea typeface="Proxima Nova"/>
              <a:cs typeface="Proxima Nova"/>
              <a:sym typeface="Proxima Nova"/>
            </a:endParaRPr>
          </a:p>
        </p:txBody>
      </p:sp>
      <p:sp>
        <p:nvSpPr>
          <p:cNvPr id="356" name="Google Shape;356;p38"/>
          <p:cNvSpPr txBox="1"/>
          <p:nvPr/>
        </p:nvSpPr>
        <p:spPr>
          <a:xfrm>
            <a:off x="4275442" y="3205588"/>
            <a:ext cx="19995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9900"/>
                </a:solidFill>
                <a:highlight>
                  <a:schemeClr val="lt1"/>
                </a:highlight>
                <a:latin typeface="Proxima Nova"/>
                <a:ea typeface="Proxima Nova"/>
                <a:cs typeface="Proxima Nova"/>
                <a:sym typeface="Proxima Nova"/>
              </a:rPr>
              <a:t>Budget Minders</a:t>
            </a:r>
            <a:endParaRPr b="1" sz="1600">
              <a:solidFill>
                <a:srgbClr val="FF9900"/>
              </a:solidFill>
              <a:highlight>
                <a:srgbClr val="FFFFFF"/>
              </a:highlight>
              <a:latin typeface="Proxima Nova"/>
              <a:ea typeface="Proxima Nova"/>
              <a:cs typeface="Proxima Nova"/>
              <a:sym typeface="Proxima Nova"/>
            </a:endParaRPr>
          </a:p>
        </p:txBody>
      </p:sp>
      <p:sp>
        <p:nvSpPr>
          <p:cNvPr id="357" name="Google Shape;357;p38"/>
          <p:cNvSpPr txBox="1"/>
          <p:nvPr/>
        </p:nvSpPr>
        <p:spPr>
          <a:xfrm>
            <a:off x="5815588" y="3205588"/>
            <a:ext cx="19995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9900"/>
                </a:solidFill>
                <a:highlight>
                  <a:srgbClr val="FFFFFF"/>
                </a:highlight>
                <a:latin typeface="Proxima Nova"/>
                <a:ea typeface="Proxima Nova"/>
                <a:cs typeface="Proxima Nova"/>
                <a:sym typeface="Proxima Nova"/>
              </a:rPr>
              <a:t>$13.50</a:t>
            </a:r>
            <a:endParaRPr b="1" sz="1600">
              <a:solidFill>
                <a:srgbClr val="FF9900"/>
              </a:solidFill>
              <a:latin typeface="Proxima Nova"/>
              <a:ea typeface="Proxima Nova"/>
              <a:cs typeface="Proxima Nova"/>
              <a:sym typeface="Proxima Nova"/>
            </a:endParaRPr>
          </a:p>
        </p:txBody>
      </p:sp>
      <p:sp>
        <p:nvSpPr>
          <p:cNvPr id="358" name="Google Shape;358;p38"/>
          <p:cNvSpPr txBox="1"/>
          <p:nvPr/>
        </p:nvSpPr>
        <p:spPr>
          <a:xfrm>
            <a:off x="4275442" y="3815188"/>
            <a:ext cx="19995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674EA7"/>
                </a:solidFill>
                <a:highlight>
                  <a:schemeClr val="lt1"/>
                </a:highlight>
                <a:latin typeface="Proxima Nova"/>
                <a:ea typeface="Proxima Nova"/>
                <a:cs typeface="Proxima Nova"/>
                <a:sym typeface="Proxima Nova"/>
              </a:rPr>
              <a:t>Thrill Seekers</a:t>
            </a:r>
            <a:endParaRPr b="1" sz="1600">
              <a:solidFill>
                <a:srgbClr val="674EA7"/>
              </a:solidFill>
              <a:highlight>
                <a:srgbClr val="FFFFFF"/>
              </a:highlight>
              <a:latin typeface="Proxima Nova"/>
              <a:ea typeface="Proxima Nova"/>
              <a:cs typeface="Proxima Nova"/>
              <a:sym typeface="Proxima Nova"/>
            </a:endParaRPr>
          </a:p>
        </p:txBody>
      </p:sp>
      <p:sp>
        <p:nvSpPr>
          <p:cNvPr id="359" name="Google Shape;359;p38"/>
          <p:cNvSpPr txBox="1"/>
          <p:nvPr/>
        </p:nvSpPr>
        <p:spPr>
          <a:xfrm>
            <a:off x="5815588" y="3815188"/>
            <a:ext cx="19995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674EA7"/>
                </a:solidFill>
                <a:highlight>
                  <a:srgbClr val="FFFFFF"/>
                </a:highlight>
                <a:latin typeface="Proxima Nova"/>
                <a:ea typeface="Proxima Nova"/>
                <a:cs typeface="Proxima Nova"/>
                <a:sym typeface="Proxima Nova"/>
              </a:rPr>
              <a:t>$10.80</a:t>
            </a:r>
            <a:endParaRPr b="1" sz="1600">
              <a:solidFill>
                <a:srgbClr val="674EA7"/>
              </a:solidFill>
              <a:latin typeface="Proxima Nova"/>
              <a:ea typeface="Proxima Nova"/>
              <a:cs typeface="Proxima Nova"/>
              <a:sym typeface="Proxima Nova"/>
            </a:endParaRPr>
          </a:p>
        </p:txBody>
      </p:sp>
      <p:pic>
        <p:nvPicPr>
          <p:cNvPr id="360" name="Google Shape;360;p38"/>
          <p:cNvPicPr preferRelativeResize="0"/>
          <p:nvPr/>
        </p:nvPicPr>
        <p:blipFill>
          <a:blip r:embed="rId3">
            <a:alphaModFix/>
          </a:blip>
          <a:stretch>
            <a:fillRect/>
          </a:stretch>
        </p:blipFill>
        <p:spPr>
          <a:xfrm>
            <a:off x="1647700" y="1831700"/>
            <a:ext cx="746799" cy="746799"/>
          </a:xfrm>
          <a:prstGeom prst="rect">
            <a:avLst/>
          </a:prstGeom>
          <a:noFill/>
          <a:ln>
            <a:noFill/>
          </a:ln>
        </p:spPr>
      </p:pic>
      <p:pic>
        <p:nvPicPr>
          <p:cNvPr id="361" name="Google Shape;361;p38"/>
          <p:cNvPicPr preferRelativeResize="0"/>
          <p:nvPr/>
        </p:nvPicPr>
        <p:blipFill>
          <a:blip r:embed="rId4">
            <a:alphaModFix/>
          </a:blip>
          <a:stretch>
            <a:fillRect/>
          </a:stretch>
        </p:blipFill>
        <p:spPr>
          <a:xfrm>
            <a:off x="5932250" y="1877450"/>
            <a:ext cx="655299" cy="655299"/>
          </a:xfrm>
          <a:prstGeom prst="rect">
            <a:avLst/>
          </a:prstGeom>
          <a:noFill/>
          <a:ln>
            <a:noFill/>
          </a:ln>
        </p:spPr>
      </p:pic>
      <p:sp>
        <p:nvSpPr>
          <p:cNvPr id="362" name="Google Shape;362;p38"/>
          <p:cNvSpPr txBox="1"/>
          <p:nvPr/>
        </p:nvSpPr>
        <p:spPr>
          <a:xfrm>
            <a:off x="337575" y="4779275"/>
            <a:ext cx="45573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Proxima Nova"/>
                <a:ea typeface="Proxima Nova"/>
                <a:cs typeface="Proxima Nova"/>
                <a:sym typeface="Proxima Nova"/>
              </a:rPr>
              <a:t>Base: n= 126 Deal Hunters, n=60 Budget Minders, N=85 Thrill Seekers</a:t>
            </a:r>
            <a:endParaRPr sz="600">
              <a:latin typeface="Proxima Nova"/>
              <a:ea typeface="Proxima Nova"/>
              <a:cs typeface="Proxima Nova"/>
              <a:sym typeface="Proxima Nov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9"/>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8" name="Google Shape;368;p39"/>
          <p:cNvSpPr txBox="1"/>
          <p:nvPr/>
        </p:nvSpPr>
        <p:spPr>
          <a:xfrm>
            <a:off x="310425" y="9942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In their own words…</a:t>
            </a:r>
            <a:endParaRPr b="1" sz="2000">
              <a:solidFill>
                <a:schemeClr val="dk1"/>
              </a:solidFill>
              <a:latin typeface="Proxima Nova"/>
              <a:ea typeface="Proxima Nova"/>
              <a:cs typeface="Proxima Nova"/>
              <a:sym typeface="Proxima Nova"/>
            </a:endParaRPr>
          </a:p>
        </p:txBody>
      </p:sp>
      <p:sp>
        <p:nvSpPr>
          <p:cNvPr id="369" name="Google Shape;369;p39"/>
          <p:cNvSpPr txBox="1"/>
          <p:nvPr/>
        </p:nvSpPr>
        <p:spPr>
          <a:xfrm>
            <a:off x="347950" y="618150"/>
            <a:ext cx="23403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4A86E8"/>
                </a:solidFill>
                <a:highlight>
                  <a:srgbClr val="FFFFFF"/>
                </a:highlight>
                <a:latin typeface="Proxima Nova"/>
                <a:ea typeface="Proxima Nova"/>
                <a:cs typeface="Proxima Nova"/>
                <a:sym typeface="Proxima Nova"/>
              </a:rPr>
              <a:t>Deal Hunters</a:t>
            </a:r>
            <a:endParaRPr b="1" sz="1600">
              <a:solidFill>
                <a:srgbClr val="4A86E8"/>
              </a:solidFill>
              <a:latin typeface="Proxima Nova"/>
              <a:ea typeface="Proxima Nova"/>
              <a:cs typeface="Proxima Nova"/>
              <a:sym typeface="Proxima Nova"/>
            </a:endParaRPr>
          </a:p>
        </p:txBody>
      </p:sp>
      <p:sp>
        <p:nvSpPr>
          <p:cNvPr id="370" name="Google Shape;370;p39"/>
          <p:cNvSpPr txBox="1"/>
          <p:nvPr/>
        </p:nvSpPr>
        <p:spPr>
          <a:xfrm>
            <a:off x="3355700" y="618150"/>
            <a:ext cx="21549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FF9900"/>
                </a:solidFill>
                <a:highlight>
                  <a:srgbClr val="FFFFFF"/>
                </a:highlight>
                <a:latin typeface="Proxima Nova"/>
                <a:ea typeface="Proxima Nova"/>
                <a:cs typeface="Proxima Nova"/>
                <a:sym typeface="Proxima Nova"/>
              </a:rPr>
              <a:t>Budget Minders</a:t>
            </a:r>
            <a:endParaRPr b="1" sz="1600">
              <a:solidFill>
                <a:srgbClr val="FF9900"/>
              </a:solidFill>
              <a:latin typeface="Proxima Nova"/>
              <a:ea typeface="Proxima Nova"/>
              <a:cs typeface="Proxima Nova"/>
              <a:sym typeface="Proxima Nova"/>
            </a:endParaRPr>
          </a:p>
        </p:txBody>
      </p:sp>
      <p:sp>
        <p:nvSpPr>
          <p:cNvPr id="371" name="Google Shape;371;p39"/>
          <p:cNvSpPr txBox="1"/>
          <p:nvPr/>
        </p:nvSpPr>
        <p:spPr>
          <a:xfrm>
            <a:off x="6313067" y="618138"/>
            <a:ext cx="19995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674EA7"/>
                </a:solidFill>
                <a:highlight>
                  <a:srgbClr val="FFFFFF"/>
                </a:highlight>
                <a:latin typeface="Proxima Nova"/>
                <a:ea typeface="Proxima Nova"/>
                <a:cs typeface="Proxima Nova"/>
                <a:sym typeface="Proxima Nova"/>
              </a:rPr>
              <a:t>Thrill Seekers</a:t>
            </a:r>
            <a:endParaRPr b="1" sz="1600">
              <a:solidFill>
                <a:srgbClr val="674EA7"/>
              </a:solidFill>
              <a:latin typeface="Proxima Nova"/>
              <a:ea typeface="Proxima Nova"/>
              <a:cs typeface="Proxima Nova"/>
              <a:sym typeface="Proxima Nova"/>
            </a:endParaRPr>
          </a:p>
        </p:txBody>
      </p:sp>
      <p:sp>
        <p:nvSpPr>
          <p:cNvPr id="372" name="Google Shape;372;p39"/>
          <p:cNvSpPr txBox="1"/>
          <p:nvPr/>
        </p:nvSpPr>
        <p:spPr>
          <a:xfrm>
            <a:off x="6313075" y="1233150"/>
            <a:ext cx="2245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800">
                <a:solidFill>
                  <a:srgbClr val="674EA7"/>
                </a:solidFill>
                <a:latin typeface="Proxima Nova"/>
                <a:ea typeface="Proxima Nova"/>
                <a:cs typeface="Proxima Nova"/>
                <a:sym typeface="Proxima Nova"/>
              </a:rPr>
              <a:t>“</a:t>
            </a:r>
            <a:r>
              <a:rPr i="1" lang="en" sz="800">
                <a:solidFill>
                  <a:srgbClr val="674EA7"/>
                </a:solidFill>
                <a:latin typeface="Proxima Nova"/>
                <a:ea typeface="Proxima Nova"/>
                <a:cs typeface="Proxima Nova"/>
                <a:sym typeface="Proxima Nova"/>
              </a:rPr>
              <a:t>I guess something like food, I mean, cost, yes, matters, but it is not the deciding factor. The deciding factor is going to be what do I feel like having and what's available.”</a:t>
            </a:r>
            <a:endParaRPr i="1" sz="800">
              <a:solidFill>
                <a:srgbClr val="674EA7"/>
              </a:solidFill>
              <a:latin typeface="Proxima Nova"/>
              <a:ea typeface="Proxima Nova"/>
              <a:cs typeface="Proxima Nova"/>
              <a:sym typeface="Proxima Nova"/>
            </a:endParaRPr>
          </a:p>
        </p:txBody>
      </p:sp>
      <p:sp>
        <p:nvSpPr>
          <p:cNvPr id="373" name="Google Shape;373;p39"/>
          <p:cNvSpPr txBox="1"/>
          <p:nvPr/>
        </p:nvSpPr>
        <p:spPr>
          <a:xfrm>
            <a:off x="6313075" y="1924125"/>
            <a:ext cx="21144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800">
                <a:solidFill>
                  <a:srgbClr val="674EA7"/>
                </a:solidFill>
                <a:latin typeface="Proxima Nova"/>
                <a:ea typeface="Proxima Nova"/>
                <a:cs typeface="Proxima Nova"/>
                <a:sym typeface="Proxima Nova"/>
              </a:rPr>
              <a:t>“</a:t>
            </a:r>
            <a:r>
              <a:rPr i="1" lang="en" sz="800">
                <a:solidFill>
                  <a:srgbClr val="674EA7"/>
                </a:solidFill>
                <a:latin typeface="Proxima Nova"/>
                <a:ea typeface="Proxima Nova"/>
                <a:cs typeface="Proxima Nova"/>
                <a:sym typeface="Proxima Nova"/>
              </a:rPr>
              <a:t>I guess something like food, I mean, cost, yes, matters, but it is not the deciding factor. The deciding factor is going to be what do I feel like having and what's available.”</a:t>
            </a:r>
            <a:endParaRPr i="1" sz="800">
              <a:solidFill>
                <a:srgbClr val="674EA7"/>
              </a:solidFill>
              <a:latin typeface="Proxima Nova"/>
              <a:ea typeface="Proxima Nova"/>
              <a:cs typeface="Proxima Nova"/>
              <a:sym typeface="Proxima Nova"/>
            </a:endParaRPr>
          </a:p>
        </p:txBody>
      </p:sp>
      <p:sp>
        <p:nvSpPr>
          <p:cNvPr id="374" name="Google Shape;374;p39"/>
          <p:cNvSpPr txBox="1"/>
          <p:nvPr/>
        </p:nvSpPr>
        <p:spPr>
          <a:xfrm>
            <a:off x="3257700" y="1233150"/>
            <a:ext cx="2476200" cy="1169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800">
                <a:solidFill>
                  <a:srgbClr val="FF9900"/>
                </a:solidFill>
                <a:latin typeface="Proxima Nova"/>
                <a:ea typeface="Proxima Nova"/>
                <a:cs typeface="Proxima Nova"/>
                <a:sym typeface="Proxima Nova"/>
              </a:rPr>
              <a:t>“</a:t>
            </a:r>
            <a:r>
              <a:rPr i="1" lang="en" sz="800">
                <a:solidFill>
                  <a:srgbClr val="FF9900"/>
                </a:solidFill>
                <a:latin typeface="Proxima Nova"/>
                <a:ea typeface="Proxima Nova"/>
                <a:cs typeface="Proxima Nova"/>
                <a:sym typeface="Proxima Nova"/>
              </a:rPr>
              <a:t>Like, I think right now, so I'm at this restaurant called Guadalajara and there's like a red bar at the bottom. It's like spend ten dollars. So that will kind of like usually help prompt me a little bit. It says spend ten dollars, get 50 percent off, update dollars. So like that'll kind of prompt me a little bit, but it typically is not until I get to like the final checkout page that I'm looking at.”</a:t>
            </a:r>
            <a:endParaRPr i="1" sz="800">
              <a:solidFill>
                <a:srgbClr val="FF9900"/>
              </a:solidFill>
              <a:latin typeface="Proxima Nova"/>
              <a:ea typeface="Proxima Nova"/>
              <a:cs typeface="Proxima Nova"/>
              <a:sym typeface="Proxima Nova"/>
            </a:endParaRPr>
          </a:p>
        </p:txBody>
      </p:sp>
      <p:sp>
        <p:nvSpPr>
          <p:cNvPr id="375" name="Google Shape;375;p39"/>
          <p:cNvSpPr txBox="1"/>
          <p:nvPr/>
        </p:nvSpPr>
        <p:spPr>
          <a:xfrm>
            <a:off x="3257700" y="2457300"/>
            <a:ext cx="24762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800">
                <a:solidFill>
                  <a:srgbClr val="FF9900"/>
                </a:solidFill>
                <a:latin typeface="Proxima Nova"/>
                <a:ea typeface="Proxima Nova"/>
                <a:cs typeface="Proxima Nova"/>
                <a:sym typeface="Proxima Nova"/>
              </a:rPr>
              <a:t>“I guess in my mind, I think about the increased price is attributed to delivery. If they're knocking delivery out, I'm saving a bunch. It may not necessarily make sense, because again, they might add it into the food price or elsewhere, but in my mind, I equate zero delivery fee to a cheaper option. Seeing that zero delivery fee at the bottom is powerful, even if it's a psychological trick in some ways.”</a:t>
            </a:r>
            <a:endParaRPr i="1" sz="800">
              <a:solidFill>
                <a:srgbClr val="FF9900"/>
              </a:solidFill>
              <a:latin typeface="Proxima Nova"/>
              <a:ea typeface="Proxima Nova"/>
              <a:cs typeface="Proxima Nova"/>
              <a:sym typeface="Proxima Nova"/>
            </a:endParaRPr>
          </a:p>
        </p:txBody>
      </p:sp>
      <p:sp>
        <p:nvSpPr>
          <p:cNvPr id="376" name="Google Shape;376;p39"/>
          <p:cNvSpPr txBox="1"/>
          <p:nvPr/>
        </p:nvSpPr>
        <p:spPr>
          <a:xfrm>
            <a:off x="6313075" y="2818800"/>
            <a:ext cx="2114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800">
                <a:solidFill>
                  <a:srgbClr val="674EA7"/>
                </a:solidFill>
                <a:latin typeface="Proxima Nova"/>
                <a:ea typeface="Proxima Nova"/>
                <a:cs typeface="Proxima Nova"/>
                <a:sym typeface="Proxima Nova"/>
              </a:rPr>
              <a:t>“W</a:t>
            </a:r>
            <a:r>
              <a:rPr i="1" lang="en" sz="800">
                <a:solidFill>
                  <a:srgbClr val="674EA7"/>
                </a:solidFill>
                <a:latin typeface="Proxima Nova"/>
                <a:ea typeface="Proxima Nova"/>
                <a:cs typeface="Proxima Nova"/>
                <a:sym typeface="Proxima Nova"/>
              </a:rPr>
              <a:t>hat I've noticed with the two for one is like, it literally has to be that exact item, not an item of a like kind. So you're kind of, it's like if you don't like that particular item or if you do, and then the second person doesn't like it, then it doesn't really work that well.”</a:t>
            </a:r>
            <a:endParaRPr i="1" sz="800">
              <a:solidFill>
                <a:srgbClr val="674EA7"/>
              </a:solidFill>
              <a:latin typeface="Proxima Nova"/>
              <a:ea typeface="Proxima Nova"/>
              <a:cs typeface="Proxima Nova"/>
              <a:sym typeface="Proxima Nova"/>
            </a:endParaRPr>
          </a:p>
        </p:txBody>
      </p:sp>
      <p:sp>
        <p:nvSpPr>
          <p:cNvPr id="377" name="Google Shape;377;p39"/>
          <p:cNvSpPr txBox="1"/>
          <p:nvPr/>
        </p:nvSpPr>
        <p:spPr>
          <a:xfrm>
            <a:off x="347950" y="1309600"/>
            <a:ext cx="24387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800">
                <a:solidFill>
                  <a:srgbClr val="4A86E8"/>
                </a:solidFill>
              </a:rPr>
              <a:t>“</a:t>
            </a:r>
            <a:r>
              <a:rPr i="1" lang="en" sz="800">
                <a:solidFill>
                  <a:srgbClr val="4A86E8"/>
                </a:solidFill>
              </a:rPr>
              <a:t>Sometimes I'll take a look and there's like a restaurant that I typically would go to and it's right down the street here. It's like something will cost $12 when I go in there, but then on the app, it's like $16.  So I typically, I'm like, okay, I'm not gonna go to where I usually would go to because that's just outrageous. I'll probably look at a similar restaurant that has like a price that's a little bit less than that.”</a:t>
            </a:r>
            <a:endParaRPr i="1" sz="800">
              <a:solidFill>
                <a:srgbClr val="4A86E8"/>
              </a:solidFill>
            </a:endParaRPr>
          </a:p>
        </p:txBody>
      </p:sp>
      <p:sp>
        <p:nvSpPr>
          <p:cNvPr id="378" name="Google Shape;378;p39"/>
          <p:cNvSpPr txBox="1"/>
          <p:nvPr/>
        </p:nvSpPr>
        <p:spPr>
          <a:xfrm>
            <a:off x="347950" y="2655950"/>
            <a:ext cx="24387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800">
                <a:solidFill>
                  <a:srgbClr val="4A86E8"/>
                </a:solidFill>
              </a:rPr>
              <a:t>“</a:t>
            </a:r>
            <a:r>
              <a:rPr i="1" lang="en" sz="800">
                <a:solidFill>
                  <a:srgbClr val="4A86E8"/>
                </a:solidFill>
              </a:rPr>
              <a:t>I'll add stuff to the cart and then see how much it costs. And then if I'm kind of like, oh, I don't know, I'll kind of like go to a different place and see what that's like.”</a:t>
            </a:r>
            <a:endParaRPr i="1" sz="800">
              <a:solidFill>
                <a:srgbClr val="4A86E8"/>
              </a:solidFill>
            </a:endParaRPr>
          </a:p>
        </p:txBody>
      </p:sp>
      <p:sp>
        <p:nvSpPr>
          <p:cNvPr id="379" name="Google Shape;379;p39"/>
          <p:cNvSpPr txBox="1"/>
          <p:nvPr/>
        </p:nvSpPr>
        <p:spPr>
          <a:xfrm>
            <a:off x="347950" y="3377975"/>
            <a:ext cx="25821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800">
                <a:solidFill>
                  <a:srgbClr val="4A86E8"/>
                </a:solidFill>
                <a:latin typeface="Proxima Nova"/>
                <a:ea typeface="Proxima Nova"/>
                <a:cs typeface="Proxima Nova"/>
                <a:sym typeface="Proxima Nova"/>
              </a:rPr>
              <a:t>“</a:t>
            </a:r>
            <a:r>
              <a:rPr i="1" lang="en" sz="800">
                <a:solidFill>
                  <a:srgbClr val="4A86E8"/>
                </a:solidFill>
                <a:latin typeface="Proxima Nova"/>
                <a:ea typeface="Proxima Nova"/>
                <a:cs typeface="Proxima Nova"/>
                <a:sym typeface="Proxima Nova"/>
              </a:rPr>
              <a:t>The only apps that I usually compare are honestly DoorDash and Uber Eats. And then if I am craving, for example, a burger, then I'll just look at the different burger option that they do have and then see if there's any difference in the fees. Sometimes they do say you save $30 if you spent $20. So if I can see if anybody else is going to want something, then maybe Jack in the Box will be a better option. And that's how I typically do anything with ordering.”</a:t>
            </a:r>
            <a:endParaRPr i="1" sz="800">
              <a:solidFill>
                <a:srgbClr val="4A86E8"/>
              </a:solidFill>
              <a:latin typeface="Proxima Nova"/>
              <a:ea typeface="Proxima Nova"/>
              <a:cs typeface="Proxima Nova"/>
              <a:sym typeface="Proxima Nova"/>
            </a:endParaRPr>
          </a:p>
        </p:txBody>
      </p:sp>
      <p:sp>
        <p:nvSpPr>
          <p:cNvPr id="380" name="Google Shape;380;p39"/>
          <p:cNvSpPr txBox="1"/>
          <p:nvPr/>
        </p:nvSpPr>
        <p:spPr>
          <a:xfrm>
            <a:off x="3257700" y="3687625"/>
            <a:ext cx="24762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800">
                <a:solidFill>
                  <a:srgbClr val="FF9900"/>
                </a:solidFill>
                <a:latin typeface="Proxima Nova"/>
                <a:ea typeface="Proxima Nova"/>
                <a:cs typeface="Proxima Nova"/>
                <a:sym typeface="Proxima Nova"/>
              </a:rPr>
              <a:t>“</a:t>
            </a:r>
            <a:r>
              <a:rPr i="1" lang="en" sz="800">
                <a:solidFill>
                  <a:srgbClr val="FF9900"/>
                </a:solidFill>
                <a:latin typeface="Proxima Nova"/>
                <a:ea typeface="Proxima Nova"/>
                <a:cs typeface="Proxima Nova"/>
                <a:sym typeface="Proxima Nova"/>
              </a:rPr>
              <a:t>Some of the local non-chain restaurants offer options where you're ordering like a family meal, right, like a larger family meal, a larger meal consisting of like a variety of different options.  So when that happens, I'm not opposed to even spending more if the result is that the amount of food that we're getting delivered, you know is not only enough for dinner, but that there's deliberately some leftovers”</a:t>
            </a:r>
            <a:endParaRPr i="1" sz="800">
              <a:solidFill>
                <a:srgbClr val="FF9900"/>
              </a:solidFill>
              <a:latin typeface="Proxima Nova"/>
              <a:ea typeface="Proxima Nova"/>
              <a:cs typeface="Proxima Nova"/>
              <a:sym typeface="Proxima Nova"/>
            </a:endParaRPr>
          </a:p>
        </p:txBody>
      </p:sp>
      <p:sp>
        <p:nvSpPr>
          <p:cNvPr id="381" name="Google Shape;381;p39"/>
          <p:cNvSpPr txBox="1"/>
          <p:nvPr/>
        </p:nvSpPr>
        <p:spPr>
          <a:xfrm>
            <a:off x="6380825" y="3987325"/>
            <a:ext cx="2046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800">
                <a:solidFill>
                  <a:srgbClr val="674EA7"/>
                </a:solidFill>
                <a:latin typeface="Proxima Nova"/>
                <a:ea typeface="Proxima Nova"/>
                <a:cs typeface="Proxima Nova"/>
                <a:sym typeface="Proxima Nova"/>
              </a:rPr>
              <a:t>Usually it's gonna be something like one of the 20-25% off deals. Things like that. I'm like oh wow you know that really is a great deal. I'm gonna look into this a little bit more.</a:t>
            </a:r>
            <a:endParaRPr i="1" sz="800">
              <a:solidFill>
                <a:srgbClr val="674EA7"/>
              </a:solidFill>
              <a:latin typeface="Proxima Nova"/>
              <a:ea typeface="Proxima Nova"/>
              <a:cs typeface="Proxima Nova"/>
              <a:sym typeface="Proxima Nov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0"/>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7" name="Google Shape;387;p40"/>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DH are more likely to be ordering for a single individual HH while BM and TS are ordering for 2+ individuals</a:t>
            </a:r>
            <a:endParaRPr b="1" sz="20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2000">
              <a:solidFill>
                <a:schemeClr val="dk1"/>
              </a:solidFill>
              <a:latin typeface="Proxima Nova"/>
              <a:ea typeface="Proxima Nova"/>
              <a:cs typeface="Proxima Nova"/>
              <a:sym typeface="Proxima Nova"/>
            </a:endParaRPr>
          </a:p>
        </p:txBody>
      </p:sp>
      <p:sp>
        <p:nvSpPr>
          <p:cNvPr id="388" name="Google Shape;388;p40"/>
          <p:cNvSpPr txBox="1"/>
          <p:nvPr/>
        </p:nvSpPr>
        <p:spPr>
          <a:xfrm>
            <a:off x="2466025" y="1551750"/>
            <a:ext cx="5676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1F1F1F"/>
                </a:solidFill>
                <a:highlight>
                  <a:srgbClr val="FFFFFF"/>
                </a:highlight>
                <a:latin typeface="Proxima Nova"/>
                <a:ea typeface="Proxima Nova"/>
                <a:cs typeface="Proxima Nova"/>
                <a:sym typeface="Proxima Nova"/>
              </a:rPr>
              <a:t>Typically </a:t>
            </a:r>
            <a:r>
              <a:rPr b="1" lang="en" sz="1600">
                <a:solidFill>
                  <a:srgbClr val="1F1F1F"/>
                </a:solidFill>
                <a:highlight>
                  <a:srgbClr val="FFFFFF"/>
                </a:highlight>
                <a:latin typeface="Proxima Nova"/>
                <a:ea typeface="Proxima Nova"/>
                <a:cs typeface="Proxima Nova"/>
                <a:sym typeface="Proxima Nova"/>
              </a:rPr>
              <a:t>order</a:t>
            </a:r>
            <a:r>
              <a:rPr b="1" lang="en" sz="1600">
                <a:solidFill>
                  <a:srgbClr val="1F1F1F"/>
                </a:solidFill>
                <a:highlight>
                  <a:srgbClr val="FFFFFF"/>
                </a:highlight>
                <a:latin typeface="Proxima Nova"/>
                <a:ea typeface="Proxima Nova"/>
                <a:cs typeface="Proxima Nova"/>
                <a:sym typeface="Proxima Nova"/>
              </a:rPr>
              <a:t> “just for me” (single individual orders): </a:t>
            </a:r>
            <a:endParaRPr b="1" sz="1600">
              <a:solidFill>
                <a:srgbClr val="000000"/>
              </a:solidFill>
              <a:latin typeface="Proxima Nova"/>
              <a:ea typeface="Proxima Nova"/>
              <a:cs typeface="Proxima Nova"/>
              <a:sym typeface="Proxima Nova"/>
            </a:endParaRPr>
          </a:p>
        </p:txBody>
      </p:sp>
      <p:grpSp>
        <p:nvGrpSpPr>
          <p:cNvPr id="389" name="Google Shape;389;p40"/>
          <p:cNvGrpSpPr/>
          <p:nvPr/>
        </p:nvGrpSpPr>
        <p:grpSpPr>
          <a:xfrm>
            <a:off x="2652619" y="2168531"/>
            <a:ext cx="1128099" cy="1042454"/>
            <a:chOff x="158700" y="263550"/>
            <a:chExt cx="1327800" cy="1248000"/>
          </a:xfrm>
        </p:grpSpPr>
        <p:sp>
          <p:nvSpPr>
            <p:cNvPr id="390" name="Google Shape;390;p40"/>
            <p:cNvSpPr/>
            <p:nvPr/>
          </p:nvSpPr>
          <p:spPr>
            <a:xfrm>
              <a:off x="163351" y="268207"/>
              <a:ext cx="1318500" cy="1238700"/>
            </a:xfrm>
            <a:prstGeom prst="ellipse">
              <a:avLst/>
            </a:prstGeom>
            <a:noFill/>
            <a:ln cap="flat" cmpd="sng" w="381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0"/>
            <p:cNvSpPr/>
            <p:nvPr/>
          </p:nvSpPr>
          <p:spPr>
            <a:xfrm>
              <a:off x="158700" y="263550"/>
              <a:ext cx="1327800" cy="1248000"/>
            </a:xfrm>
            <a:prstGeom prst="arc">
              <a:avLst>
                <a:gd fmla="val 16329822" name="adj1"/>
                <a:gd fmla="val 3137149" name="adj2"/>
              </a:avLst>
            </a:prstGeom>
            <a:noFill/>
            <a:ln cap="flat" cmpd="sng" w="11430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40"/>
            <p:cNvSpPr txBox="1"/>
            <p:nvPr/>
          </p:nvSpPr>
          <p:spPr>
            <a:xfrm>
              <a:off x="211032" y="649675"/>
              <a:ext cx="11721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2300">
                  <a:solidFill>
                    <a:srgbClr val="4A86E8"/>
                  </a:solidFill>
                  <a:latin typeface="Proxima Nova"/>
                  <a:ea typeface="Proxima Nova"/>
                  <a:cs typeface="Proxima Nova"/>
                  <a:sym typeface="Proxima Nova"/>
                </a:rPr>
                <a:t>40</a:t>
              </a:r>
              <a:r>
                <a:rPr b="1" lang="en" sz="2300">
                  <a:solidFill>
                    <a:srgbClr val="4A86E8"/>
                  </a:solidFill>
                  <a:latin typeface="Proxima Nova"/>
                  <a:ea typeface="Proxima Nova"/>
                  <a:cs typeface="Proxima Nova"/>
                  <a:sym typeface="Proxima Nova"/>
                </a:rPr>
                <a:t>%</a:t>
              </a:r>
              <a:r>
                <a:rPr b="1" lang="en" sz="1000">
                  <a:solidFill>
                    <a:srgbClr val="4A86E8"/>
                  </a:solidFill>
                  <a:latin typeface="Proxima Nova"/>
                  <a:ea typeface="Proxima Nova"/>
                  <a:cs typeface="Proxima Nova"/>
                  <a:sym typeface="Proxima Nova"/>
                </a:rPr>
                <a:t> </a:t>
              </a:r>
              <a:endParaRPr sz="1300">
                <a:solidFill>
                  <a:srgbClr val="4A86E8"/>
                </a:solidFill>
                <a:latin typeface="Proxima Nova"/>
                <a:ea typeface="Proxima Nova"/>
                <a:cs typeface="Proxima Nova"/>
                <a:sym typeface="Proxima Nova"/>
              </a:endParaRPr>
            </a:p>
          </p:txBody>
        </p:sp>
      </p:grpSp>
      <p:grpSp>
        <p:nvGrpSpPr>
          <p:cNvPr id="393" name="Google Shape;393;p40"/>
          <p:cNvGrpSpPr/>
          <p:nvPr/>
        </p:nvGrpSpPr>
        <p:grpSpPr>
          <a:xfrm>
            <a:off x="4144445" y="2172431"/>
            <a:ext cx="1120198" cy="1034686"/>
            <a:chOff x="163351" y="268207"/>
            <a:chExt cx="1318500" cy="1238700"/>
          </a:xfrm>
        </p:grpSpPr>
        <p:sp>
          <p:nvSpPr>
            <p:cNvPr id="394" name="Google Shape;394;p40"/>
            <p:cNvSpPr/>
            <p:nvPr/>
          </p:nvSpPr>
          <p:spPr>
            <a:xfrm>
              <a:off x="163351" y="268207"/>
              <a:ext cx="1318500" cy="1238700"/>
            </a:xfrm>
            <a:prstGeom prst="ellipse">
              <a:avLst/>
            </a:prstGeom>
            <a:noFill/>
            <a:ln cap="flat" cmpd="sng" w="381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40"/>
            <p:cNvSpPr txBox="1"/>
            <p:nvPr/>
          </p:nvSpPr>
          <p:spPr>
            <a:xfrm>
              <a:off x="211032" y="649675"/>
              <a:ext cx="11721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2300">
                  <a:solidFill>
                    <a:srgbClr val="FF9900"/>
                  </a:solidFill>
                  <a:latin typeface="Proxima Nova"/>
                  <a:ea typeface="Proxima Nova"/>
                  <a:cs typeface="Proxima Nova"/>
                  <a:sym typeface="Proxima Nova"/>
                </a:rPr>
                <a:t>27</a:t>
              </a:r>
              <a:r>
                <a:rPr b="1" lang="en" sz="2300">
                  <a:solidFill>
                    <a:srgbClr val="FF9900"/>
                  </a:solidFill>
                  <a:latin typeface="Proxima Nova"/>
                  <a:ea typeface="Proxima Nova"/>
                  <a:cs typeface="Proxima Nova"/>
                  <a:sym typeface="Proxima Nova"/>
                </a:rPr>
                <a:t>%</a:t>
              </a:r>
              <a:r>
                <a:rPr b="1" lang="en" sz="1000">
                  <a:solidFill>
                    <a:srgbClr val="FF9900"/>
                  </a:solidFill>
                  <a:latin typeface="Proxima Nova"/>
                  <a:ea typeface="Proxima Nova"/>
                  <a:cs typeface="Proxima Nova"/>
                  <a:sym typeface="Proxima Nova"/>
                </a:rPr>
                <a:t> </a:t>
              </a:r>
              <a:endParaRPr sz="1300">
                <a:solidFill>
                  <a:srgbClr val="FF9900"/>
                </a:solidFill>
                <a:latin typeface="Proxima Nova"/>
                <a:ea typeface="Proxima Nova"/>
                <a:cs typeface="Proxima Nova"/>
                <a:sym typeface="Proxima Nova"/>
              </a:endParaRPr>
            </a:p>
          </p:txBody>
        </p:sp>
      </p:grpSp>
      <p:grpSp>
        <p:nvGrpSpPr>
          <p:cNvPr id="396" name="Google Shape;396;p40"/>
          <p:cNvGrpSpPr/>
          <p:nvPr/>
        </p:nvGrpSpPr>
        <p:grpSpPr>
          <a:xfrm>
            <a:off x="5628370" y="2172431"/>
            <a:ext cx="1120198" cy="1034686"/>
            <a:chOff x="163351" y="268207"/>
            <a:chExt cx="1318500" cy="1238700"/>
          </a:xfrm>
        </p:grpSpPr>
        <p:sp>
          <p:nvSpPr>
            <p:cNvPr id="397" name="Google Shape;397;p40"/>
            <p:cNvSpPr/>
            <p:nvPr/>
          </p:nvSpPr>
          <p:spPr>
            <a:xfrm>
              <a:off x="163351" y="268207"/>
              <a:ext cx="1318500" cy="1238700"/>
            </a:xfrm>
            <a:prstGeom prst="ellipse">
              <a:avLst/>
            </a:prstGeom>
            <a:noFill/>
            <a:ln cap="flat" cmpd="sng" w="381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0"/>
            <p:cNvSpPr txBox="1"/>
            <p:nvPr/>
          </p:nvSpPr>
          <p:spPr>
            <a:xfrm>
              <a:off x="211032" y="649675"/>
              <a:ext cx="11721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2300">
                  <a:solidFill>
                    <a:srgbClr val="674EA7"/>
                  </a:solidFill>
                  <a:latin typeface="Proxima Nova"/>
                  <a:ea typeface="Proxima Nova"/>
                  <a:cs typeface="Proxima Nova"/>
                  <a:sym typeface="Proxima Nova"/>
                </a:rPr>
                <a:t>27</a:t>
              </a:r>
              <a:r>
                <a:rPr b="1" lang="en" sz="2300">
                  <a:solidFill>
                    <a:srgbClr val="674EA7"/>
                  </a:solidFill>
                  <a:latin typeface="Proxima Nova"/>
                  <a:ea typeface="Proxima Nova"/>
                  <a:cs typeface="Proxima Nova"/>
                  <a:sym typeface="Proxima Nova"/>
                </a:rPr>
                <a:t>%</a:t>
              </a:r>
              <a:r>
                <a:rPr b="1" lang="en" sz="1000">
                  <a:solidFill>
                    <a:srgbClr val="674EA7"/>
                  </a:solidFill>
                  <a:latin typeface="Proxima Nova"/>
                  <a:ea typeface="Proxima Nova"/>
                  <a:cs typeface="Proxima Nova"/>
                  <a:sym typeface="Proxima Nova"/>
                </a:rPr>
                <a:t> </a:t>
              </a:r>
              <a:endParaRPr sz="1300">
                <a:solidFill>
                  <a:srgbClr val="674EA7"/>
                </a:solidFill>
                <a:latin typeface="Proxima Nova"/>
                <a:ea typeface="Proxima Nova"/>
                <a:cs typeface="Proxima Nova"/>
                <a:sym typeface="Proxima Nova"/>
              </a:endParaRPr>
            </a:p>
          </p:txBody>
        </p:sp>
      </p:grpSp>
      <p:sp>
        <p:nvSpPr>
          <p:cNvPr id="399" name="Google Shape;399;p40"/>
          <p:cNvSpPr/>
          <p:nvPr/>
        </p:nvSpPr>
        <p:spPr>
          <a:xfrm>
            <a:off x="4140544" y="2168531"/>
            <a:ext cx="1128000" cy="1042500"/>
          </a:xfrm>
          <a:prstGeom prst="arc">
            <a:avLst>
              <a:gd fmla="val 16329822" name="adj1"/>
              <a:gd fmla="val 20916468" name="adj2"/>
            </a:avLst>
          </a:prstGeom>
          <a:noFill/>
          <a:ln cap="flat" cmpd="sng" w="1143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0"/>
          <p:cNvSpPr/>
          <p:nvPr/>
        </p:nvSpPr>
        <p:spPr>
          <a:xfrm>
            <a:off x="5628369" y="2168531"/>
            <a:ext cx="1128000" cy="1042500"/>
          </a:xfrm>
          <a:prstGeom prst="arc">
            <a:avLst>
              <a:gd fmla="val 16329822" name="adj1"/>
              <a:gd fmla="val 20916468" name="adj2"/>
            </a:avLst>
          </a:prstGeom>
          <a:noFill/>
          <a:ln cap="flat" cmpd="sng" w="1143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40"/>
          <p:cNvSpPr txBox="1"/>
          <p:nvPr/>
        </p:nvSpPr>
        <p:spPr>
          <a:xfrm>
            <a:off x="2252592" y="3205588"/>
            <a:ext cx="19995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A86E8"/>
                </a:solidFill>
                <a:highlight>
                  <a:srgbClr val="FFFFFF"/>
                </a:highlight>
                <a:latin typeface="Proxima Nova"/>
                <a:ea typeface="Proxima Nova"/>
                <a:cs typeface="Proxima Nova"/>
                <a:sym typeface="Proxima Nova"/>
              </a:rPr>
              <a:t>Deal Hunters</a:t>
            </a:r>
            <a:endParaRPr b="1">
              <a:solidFill>
                <a:srgbClr val="4A86E8"/>
              </a:solidFill>
              <a:latin typeface="Proxima Nova"/>
              <a:ea typeface="Proxima Nova"/>
              <a:cs typeface="Proxima Nova"/>
              <a:sym typeface="Proxima Nova"/>
            </a:endParaRPr>
          </a:p>
        </p:txBody>
      </p:sp>
      <p:sp>
        <p:nvSpPr>
          <p:cNvPr id="402" name="Google Shape;402;p40"/>
          <p:cNvSpPr txBox="1"/>
          <p:nvPr/>
        </p:nvSpPr>
        <p:spPr>
          <a:xfrm>
            <a:off x="3780717" y="3205588"/>
            <a:ext cx="19995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9900"/>
                </a:solidFill>
                <a:highlight>
                  <a:srgbClr val="FFFFFF"/>
                </a:highlight>
                <a:latin typeface="Proxima Nova"/>
                <a:ea typeface="Proxima Nova"/>
                <a:cs typeface="Proxima Nova"/>
                <a:sym typeface="Proxima Nova"/>
              </a:rPr>
              <a:t>Budget Minders</a:t>
            </a:r>
            <a:endParaRPr b="1">
              <a:solidFill>
                <a:srgbClr val="FF9900"/>
              </a:solidFill>
              <a:latin typeface="Proxima Nova"/>
              <a:ea typeface="Proxima Nova"/>
              <a:cs typeface="Proxima Nova"/>
              <a:sym typeface="Proxima Nova"/>
            </a:endParaRPr>
          </a:p>
        </p:txBody>
      </p:sp>
      <p:sp>
        <p:nvSpPr>
          <p:cNvPr id="403" name="Google Shape;403;p40"/>
          <p:cNvSpPr txBox="1"/>
          <p:nvPr/>
        </p:nvSpPr>
        <p:spPr>
          <a:xfrm>
            <a:off x="5464642" y="3205588"/>
            <a:ext cx="1999500" cy="56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674EA7"/>
                </a:solidFill>
                <a:highlight>
                  <a:srgbClr val="FFFFFF"/>
                </a:highlight>
                <a:latin typeface="Proxima Nova"/>
                <a:ea typeface="Proxima Nova"/>
                <a:cs typeface="Proxima Nova"/>
                <a:sym typeface="Proxima Nova"/>
              </a:rPr>
              <a:t>Thrill Seekers</a:t>
            </a:r>
            <a:endParaRPr b="1">
              <a:solidFill>
                <a:srgbClr val="674EA7"/>
              </a:solidFill>
              <a:latin typeface="Proxima Nova"/>
              <a:ea typeface="Proxima Nova"/>
              <a:cs typeface="Proxima Nova"/>
              <a:sym typeface="Proxima Nova"/>
            </a:endParaRPr>
          </a:p>
        </p:txBody>
      </p:sp>
      <p:pic>
        <p:nvPicPr>
          <p:cNvPr id="404" name="Google Shape;404;p40"/>
          <p:cNvPicPr preferRelativeResize="0"/>
          <p:nvPr/>
        </p:nvPicPr>
        <p:blipFill>
          <a:blip r:embed="rId3">
            <a:alphaModFix/>
          </a:blip>
          <a:stretch>
            <a:fillRect/>
          </a:stretch>
        </p:blipFill>
        <p:spPr>
          <a:xfrm>
            <a:off x="464700" y="1870013"/>
            <a:ext cx="1639476" cy="1639476"/>
          </a:xfrm>
          <a:prstGeom prst="rect">
            <a:avLst/>
          </a:prstGeom>
          <a:noFill/>
          <a:ln>
            <a:noFill/>
          </a:ln>
        </p:spPr>
      </p:pic>
      <p:sp>
        <p:nvSpPr>
          <p:cNvPr id="405" name="Google Shape;405;p40"/>
          <p:cNvSpPr txBox="1"/>
          <p:nvPr/>
        </p:nvSpPr>
        <p:spPr>
          <a:xfrm>
            <a:off x="2160050" y="1376925"/>
            <a:ext cx="6333900" cy="28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40"/>
          <p:cNvSpPr txBox="1"/>
          <p:nvPr/>
        </p:nvSpPr>
        <p:spPr>
          <a:xfrm>
            <a:off x="337575" y="4779275"/>
            <a:ext cx="45573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Proxima Nova"/>
                <a:ea typeface="Proxima Nova"/>
                <a:cs typeface="Proxima Nova"/>
                <a:sym typeface="Proxima Nova"/>
              </a:rPr>
              <a:t>Base: n= 126 Deal Hunters, n=60 Budget Minders, N=85 Thrill Seekers</a:t>
            </a:r>
            <a:endParaRPr sz="600">
              <a:latin typeface="Proxima Nova"/>
              <a:ea typeface="Proxima Nova"/>
              <a:cs typeface="Proxima Nova"/>
              <a:sym typeface="Proxima Nov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1"/>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2" name="Google Shape;412;p41"/>
          <p:cNvSpPr txBox="1"/>
          <p:nvPr/>
        </p:nvSpPr>
        <p:spPr>
          <a:xfrm>
            <a:off x="354075" y="762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A86E8"/>
                </a:solidFill>
                <a:latin typeface="Proxima Nova"/>
                <a:ea typeface="Proxima Nova"/>
                <a:cs typeface="Proxima Nova"/>
                <a:sym typeface="Proxima Nova"/>
              </a:rPr>
              <a:t>DH</a:t>
            </a:r>
            <a:r>
              <a:rPr b="1" lang="en" sz="2000">
                <a:solidFill>
                  <a:schemeClr val="dk1"/>
                </a:solidFill>
                <a:latin typeface="Proxima Nova"/>
                <a:ea typeface="Proxima Nova"/>
                <a:cs typeface="Proxima Nova"/>
                <a:sym typeface="Proxima Nova"/>
              </a:rPr>
              <a:t> are younger in cities, </a:t>
            </a:r>
            <a:r>
              <a:rPr b="1" lang="en" sz="2000">
                <a:solidFill>
                  <a:srgbClr val="FF9900"/>
                </a:solidFill>
                <a:latin typeface="Proxima Nova"/>
                <a:ea typeface="Proxima Nova"/>
                <a:cs typeface="Proxima Nova"/>
                <a:sym typeface="Proxima Nova"/>
              </a:rPr>
              <a:t>BM</a:t>
            </a:r>
            <a:r>
              <a:rPr b="1" lang="en" sz="2000">
                <a:solidFill>
                  <a:schemeClr val="dk1"/>
                </a:solidFill>
                <a:latin typeface="Proxima Nova"/>
                <a:ea typeface="Proxima Nova"/>
                <a:cs typeface="Proxima Nova"/>
                <a:sym typeface="Proxima Nova"/>
              </a:rPr>
              <a:t> are skew single and </a:t>
            </a:r>
            <a:r>
              <a:rPr b="1" lang="en" sz="2000">
                <a:solidFill>
                  <a:srgbClr val="8E7CC3"/>
                </a:solidFill>
                <a:latin typeface="Proxima Nova"/>
                <a:ea typeface="Proxima Nova"/>
                <a:cs typeface="Proxima Nova"/>
                <a:sym typeface="Proxima Nova"/>
              </a:rPr>
              <a:t>TS</a:t>
            </a:r>
            <a:r>
              <a:rPr b="1" lang="en" sz="2000">
                <a:solidFill>
                  <a:schemeClr val="dk1"/>
                </a:solidFill>
                <a:latin typeface="Proxima Nova"/>
                <a:ea typeface="Proxima Nova"/>
                <a:cs typeface="Proxima Nova"/>
                <a:sym typeface="Proxima Nova"/>
              </a:rPr>
              <a:t> skew the oldest and in more town or rural communities.</a:t>
            </a:r>
            <a:endParaRPr b="1" sz="20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2000">
              <a:solidFill>
                <a:schemeClr val="dk1"/>
              </a:solidFill>
              <a:latin typeface="Proxima Nova"/>
              <a:ea typeface="Proxima Nova"/>
              <a:cs typeface="Proxima Nova"/>
              <a:sym typeface="Proxima Nova"/>
            </a:endParaRPr>
          </a:p>
        </p:txBody>
      </p:sp>
      <p:graphicFrame>
        <p:nvGraphicFramePr>
          <p:cNvPr id="413" name="Google Shape;413;p41"/>
          <p:cNvGraphicFramePr/>
          <p:nvPr/>
        </p:nvGraphicFramePr>
        <p:xfrm>
          <a:off x="576000" y="852063"/>
          <a:ext cx="3000000" cy="3000000"/>
        </p:xfrm>
        <a:graphic>
          <a:graphicData uri="http://schemas.openxmlformats.org/drawingml/2006/table">
            <a:tbl>
              <a:tblPr>
                <a:noFill/>
                <a:tableStyleId>{4CDE9DB5-099F-468F-8C3C-A9098C66C0F4}</a:tableStyleId>
              </a:tblPr>
              <a:tblGrid>
                <a:gridCol w="3567900"/>
                <a:gridCol w="1450350"/>
                <a:gridCol w="1450350"/>
                <a:gridCol w="1450350"/>
              </a:tblGrid>
              <a:tr h="209300">
                <a:tc>
                  <a:txBody>
                    <a:bodyPr/>
                    <a:lstStyle/>
                    <a:p>
                      <a:pPr indent="0" lvl="0" marL="0" rtl="0" algn="l">
                        <a:spcBef>
                          <a:spcPts val="0"/>
                        </a:spcBef>
                        <a:spcAft>
                          <a:spcPts val="0"/>
                        </a:spcAft>
                        <a:buNone/>
                      </a:pPr>
                      <a:r>
                        <a:t/>
                      </a:r>
                      <a:endParaRPr/>
                    </a:p>
                  </a:txBody>
                  <a:tcPr marT="19050" marB="19050" marR="28575" marL="28575" anchor="b">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152935">
                          <a:alpha val="0"/>
                        </a:srgbClr>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1000">
                          <a:solidFill>
                            <a:schemeClr val="lt1"/>
                          </a:solidFill>
                        </a:rPr>
                        <a:t>Deal Hunters</a:t>
                      </a:r>
                      <a:endParaRPr b="1" sz="1000">
                        <a:solidFill>
                          <a:schemeClr val="lt1"/>
                        </a:solidFill>
                      </a:endParaRPr>
                    </a:p>
                  </a:txBody>
                  <a:tcPr marT="19050" marB="19050" marR="28575" marL="28575" anchor="b">
                    <a:lnL cap="flat" cmpd="sng" w="9525">
                      <a:solidFill>
                        <a:srgbClr val="BFBFBF">
                          <a:alpha val="0"/>
                        </a:srgbClr>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152935">
                          <a:alpha val="0"/>
                        </a:srgbClr>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b="1" lang="en" sz="1000">
                          <a:solidFill>
                            <a:schemeClr val="lt1"/>
                          </a:solidFill>
                        </a:rPr>
                        <a:t>Budget Minders</a:t>
                      </a:r>
                      <a:endParaRPr b="1" sz="1000">
                        <a:solidFill>
                          <a:schemeClr val="lt1"/>
                        </a:solidFill>
                      </a:endParaRPr>
                    </a:p>
                  </a:txBody>
                  <a:tcPr marT="19050" marB="19050" marR="28575" marL="28575" anchor="b">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152935">
                          <a:alpha val="0"/>
                        </a:srgbClr>
                      </a:solidFill>
                      <a:prstDash val="solid"/>
                      <a:round/>
                      <a:headEnd len="sm" w="sm" type="none"/>
                      <a:tailEnd len="sm" w="sm" type="none"/>
                    </a:lnB>
                    <a:solidFill>
                      <a:srgbClr val="FF9900"/>
                    </a:solidFill>
                  </a:tcPr>
                </a:tc>
                <a:tc>
                  <a:txBody>
                    <a:bodyPr/>
                    <a:lstStyle/>
                    <a:p>
                      <a:pPr indent="0" lvl="0" marL="0" rtl="0" algn="ctr">
                        <a:lnSpc>
                          <a:spcPct val="115000"/>
                        </a:lnSpc>
                        <a:spcBef>
                          <a:spcPts val="0"/>
                        </a:spcBef>
                        <a:spcAft>
                          <a:spcPts val="0"/>
                        </a:spcAft>
                        <a:buNone/>
                      </a:pPr>
                      <a:r>
                        <a:rPr b="1" lang="en" sz="1000">
                          <a:solidFill>
                            <a:schemeClr val="lt1"/>
                          </a:solidFill>
                        </a:rPr>
                        <a:t>Thrill Seekers</a:t>
                      </a:r>
                      <a:endParaRPr b="1" sz="1000">
                        <a:solidFill>
                          <a:schemeClr val="lt1"/>
                        </a:solidFill>
                      </a:endParaRPr>
                    </a:p>
                  </a:txBody>
                  <a:tcPr marT="19050" marB="19050" marR="28575" marL="28575" anchor="b">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152935">
                          <a:alpha val="0"/>
                        </a:srgbClr>
                      </a:solidFill>
                      <a:prstDash val="solid"/>
                      <a:round/>
                      <a:headEnd len="sm" w="sm" type="none"/>
                      <a:tailEnd len="sm" w="sm" type="none"/>
                    </a:lnB>
                    <a:solidFill>
                      <a:srgbClr val="8E7CC3"/>
                    </a:solidFill>
                  </a:tcPr>
                </a:tc>
              </a:tr>
              <a:tr h="174425">
                <a:tc>
                  <a:txBody>
                    <a:bodyPr/>
                    <a:lstStyle/>
                    <a:p>
                      <a:pPr indent="0" lvl="0" marL="0" rtl="0" algn="l">
                        <a:lnSpc>
                          <a:spcPct val="115000"/>
                        </a:lnSpc>
                        <a:spcBef>
                          <a:spcPts val="0"/>
                        </a:spcBef>
                        <a:spcAft>
                          <a:spcPts val="0"/>
                        </a:spcAft>
                        <a:buNone/>
                      </a:pPr>
                      <a:r>
                        <a:rPr b="1" lang="en" sz="1000">
                          <a:solidFill>
                            <a:schemeClr val="dk1"/>
                          </a:solidFill>
                        </a:rPr>
                        <a:t>Age:</a:t>
                      </a:r>
                      <a:endParaRPr b="1" sz="1000">
                        <a:solidFill>
                          <a:schemeClr val="dk1"/>
                        </a:solidFill>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solidFill>
                      <a:srgbClr val="F3F3F3"/>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3F3F3"/>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3F3F3"/>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3F3F3"/>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18 to 34</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47%</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33%</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40%</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35 to 49</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36%</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42%</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26%</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50+</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152935">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10%</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18%</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24%</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D9D2E9"/>
                    </a:solidFill>
                  </a:tcPr>
                </a:tc>
              </a:tr>
              <a:tr h="174425">
                <a:tc>
                  <a:txBody>
                    <a:bodyPr/>
                    <a:lstStyle/>
                    <a:p>
                      <a:pPr indent="0" lvl="0" marL="0" rtl="0" algn="l">
                        <a:lnSpc>
                          <a:spcPct val="115000"/>
                        </a:lnSpc>
                        <a:spcBef>
                          <a:spcPts val="0"/>
                        </a:spcBef>
                        <a:spcAft>
                          <a:spcPts val="0"/>
                        </a:spcAft>
                        <a:buNone/>
                      </a:pPr>
                      <a:r>
                        <a:rPr b="1" lang="en" sz="1000">
                          <a:solidFill>
                            <a:schemeClr val="dk1"/>
                          </a:solidFill>
                          <a:latin typeface="Proxima Nova"/>
                          <a:ea typeface="Proxima Nova"/>
                          <a:cs typeface="Proxima Nova"/>
                          <a:sym typeface="Proxima Nova"/>
                        </a:rPr>
                        <a:t>Marital</a:t>
                      </a:r>
                      <a:r>
                        <a:rPr b="1" lang="en" sz="1000">
                          <a:solidFill>
                            <a:schemeClr val="dk1"/>
                          </a:solidFill>
                          <a:latin typeface="Proxima Nova"/>
                          <a:ea typeface="Proxima Nova"/>
                          <a:cs typeface="Proxima Nova"/>
                          <a:sym typeface="Proxima Nova"/>
                        </a:rPr>
                        <a:t> Status:</a:t>
                      </a:r>
                      <a:endParaRPr b="1"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3F3F3"/>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3F3F3"/>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3F3F3"/>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3F3F3"/>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Married/Partnered</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43%</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35%</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44%</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Single</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39%</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47%</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37%</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Divorced</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8%</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7%</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6%</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b="1" lang="en" sz="1000">
                          <a:solidFill>
                            <a:schemeClr val="dk1"/>
                          </a:solidFill>
                          <a:latin typeface="Proxima Nova"/>
                          <a:ea typeface="Proxima Nova"/>
                          <a:cs typeface="Proxima Nova"/>
                          <a:sym typeface="Proxima Nova"/>
                        </a:rPr>
                        <a:t>Education:</a:t>
                      </a:r>
                      <a:endParaRPr b="1"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EFEFEF"/>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High school diploma or GED</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16%</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23%</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17%</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Some college, but no degree or </a:t>
                      </a:r>
                      <a:r>
                        <a:rPr lang="en" sz="1000">
                          <a:solidFill>
                            <a:schemeClr val="dk1"/>
                          </a:solidFill>
                          <a:latin typeface="Proxima Nova"/>
                          <a:ea typeface="Proxima Nova"/>
                          <a:cs typeface="Proxima Nova"/>
                          <a:sym typeface="Proxima Nova"/>
                        </a:rPr>
                        <a:t>associate's</a:t>
                      </a:r>
                      <a:r>
                        <a:rPr lang="en" sz="1000">
                          <a:solidFill>
                            <a:schemeClr val="dk1"/>
                          </a:solidFill>
                          <a:latin typeface="Proxima Nova"/>
                          <a:ea typeface="Proxima Nova"/>
                          <a:cs typeface="Proxima Nova"/>
                          <a:sym typeface="Proxima Nova"/>
                        </a:rPr>
                        <a:t> degree</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25%</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31</a:t>
                      </a:r>
                      <a:r>
                        <a:rPr lang="en" sz="1000">
                          <a:solidFill>
                            <a:schemeClr val="dk1"/>
                          </a:solidFill>
                          <a:latin typeface="Proxima Nova"/>
                          <a:ea typeface="Proxima Nova"/>
                          <a:cs typeface="Proxima Nova"/>
                          <a:sym typeface="Proxima Nova"/>
                        </a:rPr>
                        <a:t>%</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30</a:t>
                      </a:r>
                      <a:r>
                        <a:rPr lang="en" sz="1000">
                          <a:solidFill>
                            <a:schemeClr val="dk1"/>
                          </a:solidFill>
                          <a:latin typeface="Proxima Nova"/>
                          <a:ea typeface="Proxima Nova"/>
                          <a:cs typeface="Proxima Nova"/>
                          <a:sym typeface="Proxima Nova"/>
                        </a:rPr>
                        <a:t>%</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Bachelor’s degree +</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Proxima Nova"/>
                          <a:ea typeface="Proxima Nova"/>
                          <a:cs typeface="Proxima Nova"/>
                          <a:sym typeface="Proxima Nova"/>
                        </a:rPr>
                        <a:t>52%</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45</a:t>
                      </a:r>
                      <a:r>
                        <a:rPr lang="en" sz="1000">
                          <a:solidFill>
                            <a:schemeClr val="dk1"/>
                          </a:solidFill>
                          <a:latin typeface="Proxima Nova"/>
                          <a:ea typeface="Proxima Nova"/>
                          <a:cs typeface="Proxima Nova"/>
                          <a:sym typeface="Proxima Nova"/>
                        </a:rPr>
                        <a:t>%</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44</a:t>
                      </a:r>
                      <a:r>
                        <a:rPr lang="en" sz="1000">
                          <a:solidFill>
                            <a:schemeClr val="dk1"/>
                          </a:solidFill>
                          <a:latin typeface="Proxima Nova"/>
                          <a:ea typeface="Proxima Nova"/>
                          <a:cs typeface="Proxima Nova"/>
                          <a:sym typeface="Proxima Nova"/>
                        </a:rPr>
                        <a:t>%</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b="1" lang="en" sz="1000">
                          <a:solidFill>
                            <a:schemeClr val="dk1"/>
                          </a:solidFill>
                          <a:latin typeface="Proxima Nova"/>
                          <a:ea typeface="Proxima Nova"/>
                          <a:cs typeface="Proxima Nova"/>
                          <a:sym typeface="Proxima Nova"/>
                        </a:rPr>
                        <a:t>Area:</a:t>
                      </a:r>
                      <a:endParaRPr b="1"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EFEFEF"/>
                    </a:solidFill>
                  </a:tcPr>
                </a:tc>
              </a:tr>
              <a:tr h="285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Major metropolitan city</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20%</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13%</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13%</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City</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33%</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28%</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26%</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rPr>
                        <a:t>Suburb</a:t>
                      </a:r>
                      <a:endParaRPr sz="1000">
                        <a:solidFill>
                          <a:schemeClr val="dk1"/>
                        </a:solidFill>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29%</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37%</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34%</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rPr>
                        <a:t>Town</a:t>
                      </a:r>
                      <a:endParaRPr sz="1000">
                        <a:solidFill>
                          <a:schemeClr val="dk1"/>
                        </a:solidFill>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8%</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12%</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14%</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rPr>
                        <a:t>Rural area/ Countryside</a:t>
                      </a:r>
                      <a:endParaRPr sz="1000">
                        <a:solidFill>
                          <a:schemeClr val="dk1"/>
                        </a:solidFill>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6%</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solidFill>
                      <a:srgbClr val="D9D2E9"/>
                    </a:solidFill>
                  </a:tcPr>
                </a:tc>
              </a:tr>
            </a:tbl>
          </a:graphicData>
        </a:graphic>
      </p:graphicFrame>
      <p:sp>
        <p:nvSpPr>
          <p:cNvPr id="414" name="Google Shape;414;p41"/>
          <p:cNvSpPr txBox="1"/>
          <p:nvPr/>
        </p:nvSpPr>
        <p:spPr>
          <a:xfrm>
            <a:off x="185175" y="4855475"/>
            <a:ext cx="45573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Proxima Nova"/>
                <a:ea typeface="Proxima Nova"/>
                <a:cs typeface="Proxima Nova"/>
                <a:sym typeface="Proxima Nova"/>
              </a:rPr>
              <a:t>Base: n= 126 Deal Hunters, n=60 Budget Minders, N=85 Thrill Seekers</a:t>
            </a:r>
            <a:endParaRPr sz="600">
              <a:latin typeface="Proxima Nova"/>
              <a:ea typeface="Proxima Nova"/>
              <a:cs typeface="Proxima Nova"/>
              <a:sym typeface="Proxima Nov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2"/>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0" name="Google Shape;420;p42"/>
          <p:cNvSpPr txBox="1"/>
          <p:nvPr/>
        </p:nvSpPr>
        <p:spPr>
          <a:xfrm>
            <a:off x="561050" y="1933125"/>
            <a:ext cx="7336500" cy="9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0">
                <a:solidFill>
                  <a:srgbClr val="FFFFFF"/>
                </a:solidFill>
                <a:latin typeface="Proxima Nova"/>
                <a:ea typeface="Proxima Nova"/>
                <a:cs typeface="Proxima Nova"/>
                <a:sym typeface="Proxima Nova"/>
              </a:rPr>
              <a:t>Next steps</a:t>
            </a:r>
            <a:endParaRPr sz="5000">
              <a:solidFill>
                <a:srgbClr val="FFFFFF"/>
              </a:solidFill>
              <a:latin typeface="Proxima Nova"/>
              <a:ea typeface="Proxima Nova"/>
              <a:cs typeface="Proxima Nova"/>
              <a:sym typeface="Proxima Nov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3"/>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6" name="Google Shape;426;p43"/>
          <p:cNvSpPr txBox="1"/>
          <p:nvPr/>
        </p:nvSpPr>
        <p:spPr>
          <a:xfrm>
            <a:off x="185175" y="778000"/>
            <a:ext cx="7515600" cy="5619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Font typeface="Proxima Nova"/>
              <a:buAutoNum type="arabicPeriod"/>
            </a:pPr>
            <a:r>
              <a:rPr lang="en" sz="2000">
                <a:solidFill>
                  <a:schemeClr val="dk1"/>
                </a:solidFill>
                <a:latin typeface="Proxima Nova"/>
                <a:ea typeface="Proxima Nova"/>
                <a:cs typeface="Proxima Nova"/>
                <a:sym typeface="Proxima Nova"/>
              </a:rPr>
              <a:t>Research to create a draft screener that can be used to identify Cx by persona for future research</a:t>
            </a:r>
            <a:endParaRPr sz="20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2000">
              <a:solidFill>
                <a:schemeClr val="dk1"/>
              </a:solidFill>
              <a:latin typeface="Proxima Nova"/>
              <a:ea typeface="Proxima Nova"/>
              <a:cs typeface="Proxima Nova"/>
              <a:sym typeface="Proxima Nova"/>
            </a:endParaRPr>
          </a:p>
          <a:p>
            <a:pPr indent="-355600" lvl="0" marL="457200" rtl="0" algn="l">
              <a:spcBef>
                <a:spcPts val="0"/>
              </a:spcBef>
              <a:spcAft>
                <a:spcPts val="0"/>
              </a:spcAft>
              <a:buClr>
                <a:schemeClr val="dk1"/>
              </a:buClr>
              <a:buSzPts val="2000"/>
              <a:buFont typeface="Proxima Nova"/>
              <a:buAutoNum type="arabicPeriod"/>
            </a:pPr>
            <a:r>
              <a:rPr lang="en" sz="2000">
                <a:solidFill>
                  <a:schemeClr val="dk1"/>
                </a:solidFill>
                <a:latin typeface="Proxima Nova"/>
                <a:ea typeface="Proxima Nova"/>
                <a:cs typeface="Proxima Nova"/>
                <a:sym typeface="Proxima Nova"/>
              </a:rPr>
              <a:t>Research to share Cx ids from each persona with analytics for deeper behavioral analysis</a:t>
            </a:r>
            <a:endParaRPr sz="20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2000">
              <a:solidFill>
                <a:schemeClr val="dk1"/>
              </a:solidFill>
              <a:latin typeface="Proxima Nova"/>
              <a:ea typeface="Proxima Nova"/>
              <a:cs typeface="Proxima Nova"/>
              <a:sym typeface="Proxima Nov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4"/>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2" name="Google Shape;432;p44"/>
          <p:cNvSpPr txBox="1"/>
          <p:nvPr/>
        </p:nvSpPr>
        <p:spPr>
          <a:xfrm>
            <a:off x="561050" y="1933125"/>
            <a:ext cx="7336500" cy="9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0">
                <a:solidFill>
                  <a:srgbClr val="FFFFFF"/>
                </a:solidFill>
                <a:latin typeface="Proxima Nova"/>
                <a:ea typeface="Proxima Nova"/>
                <a:cs typeface="Proxima Nova"/>
                <a:sym typeface="Proxima Nova"/>
              </a:rPr>
              <a:t>Thank you</a:t>
            </a:r>
            <a:r>
              <a:rPr lang="en" sz="5000">
                <a:solidFill>
                  <a:srgbClr val="FFFFFF"/>
                </a:solidFill>
                <a:latin typeface="Proxima Nova"/>
                <a:ea typeface="Proxima Nova"/>
                <a:cs typeface="Proxima Nova"/>
                <a:sym typeface="Proxima Nova"/>
              </a:rPr>
              <a:t>!</a:t>
            </a:r>
            <a:endParaRPr sz="5000">
              <a:solidFill>
                <a:srgbClr val="FFFFFF"/>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DoorDash">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838A"/>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