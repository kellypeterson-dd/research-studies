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Proxima Nova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373264-216A-41F3-8B4D-C1DF8CF94346}">
  <a:tblStyle styleId="{41373264-216A-41F3-8B4D-C1DF8CF9434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330FFDD-0A41-4670-AE41-543A8A6F0AB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roximaNova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roximaNova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roximaNova-boldItalic.fntdata"/><Relationship Id="rId30" Type="http://schemas.openxmlformats.org/officeDocument/2006/relationships/font" Target="fonts/ProximaNova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89d59627f6_1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" name="Google Shape;42;g89d59627f6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da2e24083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da2e24083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James to link to failed session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da2e24083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da2e24083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493b5b334c_1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493b5b334c_1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5da2e2408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5da2e2408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5da2e2408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5da2e2408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5da2e24083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5da2e24083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5da2e24083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5da2e24083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da2e24083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5da2e2408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5da2e2408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5da2e2408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5da2e2408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5da2e2408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5da2e2408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5da2e2408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5da2e2408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5da2e2408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5da2e24083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5da2e24083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5da2e24083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5da2e24083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5da2e24083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5da2e24083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5da2e24083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5da2e24083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5da2e24083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5da2e24083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5da2e24083_0_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5da2e24083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5da2e24083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5da2e24083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2b16faa057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2b16faa057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/>
        </p:nvSpPr>
        <p:spPr>
          <a:xfrm>
            <a:off x="649063" y="154275"/>
            <a:ext cx="1497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Presentation Subject</a:t>
            </a:r>
            <a:endParaRPr sz="900">
              <a:solidFill>
                <a:srgbClr val="CCCC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without header">
  <p:cSld name="TITLE_2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Master">
  <p:cSld name="TITLE_1">
    <p:bg>
      <p:bgPr>
        <a:solidFill>
          <a:srgbClr val="F3F3F3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4"/>
          <p:cNvSpPr txBox="1"/>
          <p:nvPr/>
        </p:nvSpPr>
        <p:spPr>
          <a:xfrm>
            <a:off x="649063" y="154275"/>
            <a:ext cx="1497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Presentation Subject</a:t>
            </a:r>
            <a:endParaRPr sz="900">
              <a:solidFill>
                <a:srgbClr val="CCCC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" type="secHead">
  <p:cSld name="SECTION_HEADER">
    <p:bg>
      <p:bgPr>
        <a:solidFill>
          <a:srgbClr val="E23208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cean">
  <p:cSld name="SECTION_HEADER_2">
    <p:bg>
      <p:bgPr>
        <a:solidFill>
          <a:srgbClr val="518C8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ush">
  <p:cSld name="SECTION_HEADER_1">
    <p:bg>
      <p:bgPr>
        <a:solidFill>
          <a:srgbClr val="E5BBB7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" name="Google Shape;2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ky">
  <p:cSld name="SECTION_HEADER_1_1">
    <p:bg>
      <p:bgPr>
        <a:solidFill>
          <a:srgbClr val="BEDFE9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" name="Google Shape;2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mon">
  <p:cSld name="SECTION_HEADER_1_1_2">
    <p:bg>
      <p:bgPr>
        <a:solidFill>
          <a:srgbClr val="F8E50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rest">
  <p:cSld name="SECTION_HEADER_1_1_1">
    <p:bg>
      <p:bgPr>
        <a:solidFill>
          <a:srgbClr val="3A5648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" name="Google Shape;3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SECTION_HEADER_1_1_1_1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5 1">
  <p:cSld name="TITLE_6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" name="Google Shape;3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presentation/d/1H98MX8SG55mHEZqFayqgKFC2Spx2baqQSTxk36xJfr4/edit?usp=drive_link" TargetMode="External"/><Relationship Id="rId9" Type="http://schemas.openxmlformats.org/officeDocument/2006/relationships/hyperlink" Target="https://docs.google.com/document/u/0/d/1KHDeIJSuQiS553tGGw4hWGTa8mzIX9lEwpjUQRaDnZE/edit" TargetMode="External"/><Relationship Id="rId5" Type="http://schemas.openxmlformats.org/officeDocument/2006/relationships/image" Target="../media/image4.png"/><Relationship Id="rId6" Type="http://schemas.openxmlformats.org/officeDocument/2006/relationships/hyperlink" Target="https://docs.google.com/document/u/0/d/1DgD8kEuIbjM7DuMhVALB3PVazvvnX7urVGoKu5Wl5xk/edit" TargetMode="External"/><Relationship Id="rId7" Type="http://schemas.openxmlformats.org/officeDocument/2006/relationships/hyperlink" Target="https://docs.google.com/document/u/0/d/1DgD8kEuIbjM7DuMhVALB3PVazvvnX7urVGoKu5Wl5xk/edit" TargetMode="External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31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Relationship Id="rId7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Relationship Id="rId4" Type="http://schemas.openxmlformats.org/officeDocument/2006/relationships/image" Target="../media/image3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google.com/document/d/1Y9vrvKvz5FqA1WaS7WUAQfhyoLbcqCuugiFwAsa0ab8/edit?usp=sharing" TargetMode="External"/><Relationship Id="rId4" Type="http://schemas.openxmlformats.org/officeDocument/2006/relationships/hyperlink" Target="https://docs.google.com/document/u/0/d/1dfXhjMkX7NIUVEbQnvtEpSeajJ7-7TVK-pF41J6qXDY/ed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13"/>
          <p:cNvSpPr txBox="1"/>
          <p:nvPr/>
        </p:nvSpPr>
        <p:spPr>
          <a:xfrm>
            <a:off x="686000" y="3441325"/>
            <a:ext cx="29802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DRI: Kelly Peterson</a:t>
            </a:r>
            <a:endParaRPr b="1" sz="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" name="Google Shape;46;p13"/>
          <p:cNvSpPr txBox="1"/>
          <p:nvPr/>
        </p:nvSpPr>
        <p:spPr>
          <a:xfrm>
            <a:off x="686000" y="3799625"/>
            <a:ext cx="29802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Date: July 31 2023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7" name="Google Shape;47;p13"/>
          <p:cNvSpPr txBox="1"/>
          <p:nvPr/>
        </p:nvSpPr>
        <p:spPr>
          <a:xfrm>
            <a:off x="609750" y="1529300"/>
            <a:ext cx="61353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Understanding OCCx Cart Drop Off</a:t>
            </a:r>
            <a:endParaRPr b="1" sz="4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Phase II Quant</a:t>
            </a:r>
            <a:endParaRPr b="1" sz="2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8" name="Google Shape;4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399" y="1284763"/>
            <a:ext cx="1408775" cy="16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8900" y="2457900"/>
            <a:ext cx="3326050" cy="220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" name="Google Shape;5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 txBox="1"/>
          <p:nvPr/>
        </p:nvSpPr>
        <p:spPr>
          <a:xfrm>
            <a:off x="362900" y="265450"/>
            <a:ext cx="490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Research Approach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498900" y="2393975"/>
            <a:ext cx="37713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Phase I: Qualitative interviews</a:t>
            </a:r>
            <a:endParaRPr b="1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1:1 Interviews with 8 Cx that had dropped off from their cart in the past 24 hours</a:t>
            </a:r>
            <a:endParaRPr sz="13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Insights can be found here</a:t>
            </a:r>
            <a:endParaRPr b="1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8" name="Google Shape;5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8346" y="1333227"/>
            <a:ext cx="972399" cy="9723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/>
        </p:nvSpPr>
        <p:spPr>
          <a:xfrm>
            <a:off x="4690050" y="2393975"/>
            <a:ext cx="37713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Phase II: Online Survey</a:t>
            </a:r>
            <a:endParaRPr b="1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10 min online survey with 249 OCCx who had dropped off from their cart in the past 24 hours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6"/>
              </a:rPr>
              <a:t>Survey </a:t>
            </a:r>
            <a:r>
              <a:rPr b="1" lang="en" sz="12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7"/>
              </a:rPr>
              <a:t>can be found here</a:t>
            </a:r>
            <a:endParaRPr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93800" y="1294251"/>
            <a:ext cx="1050351" cy="10503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03375" y="4485275"/>
            <a:ext cx="53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The research brief can be found </a:t>
            </a:r>
            <a:r>
              <a:rPr lang="en" sz="10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9"/>
              </a:rPr>
              <a:t>here</a:t>
            </a:r>
            <a:r>
              <a:rPr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1090175" y="2989475"/>
            <a:ext cx="17874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What are the top reasons why OCCx drop off from the cart?  How large is each reason?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658700" y="238200"/>
            <a:ext cx="72876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Research Goals</a:t>
            </a:r>
            <a:endParaRPr b="1" sz="2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708250" y="2919125"/>
            <a:ext cx="54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1.</a:t>
            </a:r>
            <a:endParaRPr b="1" sz="2400">
              <a:solidFill>
                <a:srgbClr val="CC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596400" y="2989475"/>
            <a:ext cx="19431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Who are the Cx that are dropping off?  Does their demographic or </a:t>
            </a: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attitudinal</a:t>
            </a: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profile differ by reason for drop off?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176050" y="2919125"/>
            <a:ext cx="58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2.</a:t>
            </a:r>
            <a:endParaRPr b="1" sz="2400">
              <a:solidFill>
                <a:srgbClr val="CC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669100" y="1163100"/>
            <a:ext cx="73518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Understand and size the top reasons for cart drop off to identify ways to maximize affordability efforts</a:t>
            </a:r>
            <a:endParaRPr b="1"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Key questions include…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263400" y="2989475"/>
            <a:ext cx="16413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What can DoorDash do to plug </a:t>
            </a: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</a:t>
            </a: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leaky bucket?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768025" y="2919125"/>
            <a:ext cx="58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3.</a:t>
            </a:r>
            <a:endParaRPr b="1" sz="2400">
              <a:solidFill>
                <a:srgbClr val="CC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189675" y="1571025"/>
            <a:ext cx="7831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Drop Off Experiences</a:t>
            </a:r>
            <a:endParaRPr b="1" sz="3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187075" y="98800"/>
            <a:ext cx="7819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Fees and item prices confirmed as top reason for drop off, overall budget is an important consideration factor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187075" y="1085975"/>
            <a:ext cx="3569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Reasons why OCCx dropped from cart</a:t>
            </a:r>
            <a:endParaRPr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6815750" y="1560700"/>
            <a:ext cx="2141100" cy="5619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29% of OCCx selected fees as most important reason they did not place order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6815750" y="2290800"/>
            <a:ext cx="2141100" cy="561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21% of OCCx overall cost was most important reason they did not place order</a:t>
            </a:r>
            <a:endParaRPr sz="9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75" y="1415425"/>
            <a:ext cx="6456152" cy="3415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17"/>
          <p:cNvCxnSpPr>
            <a:endCxn id="88" idx="1"/>
          </p:cNvCxnSpPr>
          <p:nvPr/>
        </p:nvCxnSpPr>
        <p:spPr>
          <a:xfrm>
            <a:off x="6332150" y="1759450"/>
            <a:ext cx="483600" cy="822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7"/>
          <p:cNvCxnSpPr>
            <a:endCxn id="89" idx="1"/>
          </p:cNvCxnSpPr>
          <p:nvPr/>
        </p:nvCxnSpPr>
        <p:spPr>
          <a:xfrm>
            <a:off x="5216450" y="2173350"/>
            <a:ext cx="1599300" cy="39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7"/>
          <p:cNvCxnSpPr>
            <a:endCxn id="89" idx="1"/>
          </p:cNvCxnSpPr>
          <p:nvPr/>
        </p:nvCxnSpPr>
        <p:spPr>
          <a:xfrm>
            <a:off x="5159450" y="2409150"/>
            <a:ext cx="1656300" cy="16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6297238" y="2479863"/>
            <a:ext cx="27648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1"/>
                </a:solidFill>
              </a:rPr>
              <a:t>It cost too much and I </a:t>
            </a:r>
            <a:r>
              <a:rPr b="1" i="1" lang="en" sz="1100">
                <a:solidFill>
                  <a:schemeClr val="dk2"/>
                </a:solidFill>
              </a:rPr>
              <a:t>decided I was just being lazy</a:t>
            </a:r>
            <a:r>
              <a:rPr b="1" i="1" lang="en" sz="1100">
                <a:solidFill>
                  <a:schemeClr val="dk1"/>
                </a:solidFill>
              </a:rPr>
              <a:t> </a:t>
            </a:r>
            <a:r>
              <a:rPr i="1" lang="en" sz="1100">
                <a:solidFill>
                  <a:schemeClr val="dk1"/>
                </a:solidFill>
              </a:rPr>
              <a:t>and should cook myself.</a:t>
            </a:r>
            <a:endParaRPr i="1" sz="1100"/>
          </a:p>
        </p:txBody>
      </p:sp>
      <p:sp>
        <p:nvSpPr>
          <p:cNvPr id="99" name="Google Shape;99;p18"/>
          <p:cNvSpPr txBox="1"/>
          <p:nvPr/>
        </p:nvSpPr>
        <p:spPr>
          <a:xfrm>
            <a:off x="566750" y="154338"/>
            <a:ext cx="1999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Fees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3635975" y="154338"/>
            <a:ext cx="1999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Items are higher than in-store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6392488" y="216438"/>
            <a:ext cx="1999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Overall cost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368150" y="1928375"/>
            <a:ext cx="2396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Too many fees. </a:t>
            </a:r>
            <a:r>
              <a:rPr b="1" i="1" lang="en" sz="1100">
                <a:solidFill>
                  <a:schemeClr val="accent5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Even with a huge discount it was not worth it.</a:t>
            </a:r>
            <a:endParaRPr b="1" i="1" sz="11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337550" y="2539725"/>
            <a:ext cx="2457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Once the </a:t>
            </a:r>
            <a:r>
              <a:rPr b="1" i="1" lang="en" sz="1100">
                <a:solidFill>
                  <a:schemeClr val="accent5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service fees are equal to or more then I was planning on tipping</a:t>
            </a: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I start to second guess the transaction.</a:t>
            </a:r>
            <a:endParaRPr i="1"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3135725" y="3869225"/>
            <a:ext cx="3000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 placed the order through</a:t>
            </a:r>
            <a:r>
              <a:rPr b="1"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the</a:t>
            </a:r>
            <a:r>
              <a:rPr i="1" lang="en" sz="1100">
                <a:solidFill>
                  <a:srgbClr val="02AEB7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i="1" lang="en" sz="1100">
                <a:solidFill>
                  <a:srgbClr val="02AEB7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restaurants app because it was cheaper</a:t>
            </a:r>
            <a:r>
              <a:rPr i="1" lang="en" sz="1100">
                <a:solidFill>
                  <a:srgbClr val="02AEB7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for the same products compared to ordering through Door Dash.</a:t>
            </a:r>
            <a:endParaRPr i="1"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6297238" y="3436738"/>
            <a:ext cx="2764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thought about it again, and </a:t>
            </a:r>
            <a:r>
              <a:rPr b="1" i="1" lang="en" sz="1100">
                <a:solidFill>
                  <a:schemeClr val="dk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didn't have the funds to actually spend over $30</a:t>
            </a: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for 1 dessert.</a:t>
            </a:r>
            <a:endParaRPr i="1"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3135725" y="2554192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It was </a:t>
            </a:r>
            <a:r>
              <a:rPr b="1" i="1" lang="en" sz="1100">
                <a:solidFill>
                  <a:srgbClr val="02AEB7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cheaper to order straight from the website</a:t>
            </a: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which was also offering free delivery for that day. </a:t>
            </a:r>
            <a:endParaRPr i="1"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6297238" y="1936625"/>
            <a:ext cx="263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Didn't have enough</a:t>
            </a:r>
            <a:r>
              <a:rPr b="1"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on my card to cover it all </a:t>
            </a:r>
            <a:endParaRPr i="1"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403100" y="3489775"/>
            <a:ext cx="232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Too many fees that </a:t>
            </a:r>
            <a:r>
              <a:rPr b="1" lang="en" sz="1100">
                <a:solidFill>
                  <a:schemeClr val="accent5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increased the food about by 15 dollars</a:t>
            </a:r>
            <a:endParaRPr b="1" sz="11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9" name="Google Shape;109;p18"/>
          <p:cNvSpPr txBox="1"/>
          <p:nvPr/>
        </p:nvSpPr>
        <p:spPr>
          <a:xfrm>
            <a:off x="6297238" y="2893500"/>
            <a:ext cx="263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 looked at the final price and decided it </a:t>
            </a:r>
            <a:r>
              <a:rPr b="1" i="1" lang="en" sz="1100">
                <a:solidFill>
                  <a:schemeClr val="dk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wasn't in my budget right now</a:t>
            </a:r>
            <a:endParaRPr b="1" i="1" sz="11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6297238" y="4149475"/>
            <a:ext cx="263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 </a:t>
            </a:r>
            <a:r>
              <a:rPr b="1" i="1" lang="en" sz="1100">
                <a:solidFill>
                  <a:schemeClr val="dk2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didn’t want to pay more than $22</a:t>
            </a: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not including tip</a:t>
            </a:r>
            <a:endParaRPr i="1"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3135725" y="19814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rgbClr val="02AEB7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increased prices on items </a:t>
            </a: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that are </a:t>
            </a:r>
            <a:r>
              <a:rPr b="1" i="1" lang="en" sz="1100">
                <a:solidFill>
                  <a:srgbClr val="02AEB7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higher than other delivery services</a:t>
            </a:r>
            <a:r>
              <a:rPr b="1" i="1" lang="en" sz="1100">
                <a:solidFill>
                  <a:srgbClr val="6FA8DC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were too much</a:t>
            </a:r>
            <a:endParaRPr i="1"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3135725" y="3296458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No coupons and </a:t>
            </a:r>
            <a:r>
              <a:rPr b="1" i="1" lang="en" sz="1100">
                <a:solidFill>
                  <a:srgbClr val="02AEB7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pricing was a lot different that restaurants </a:t>
            </a:r>
            <a:endParaRPr b="1" i="1" sz="1100">
              <a:solidFill>
                <a:srgbClr val="02AE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3" name="Google Shape;113;p18"/>
          <p:cNvSpPr txBox="1"/>
          <p:nvPr/>
        </p:nvSpPr>
        <p:spPr>
          <a:xfrm>
            <a:off x="251300" y="4101125"/>
            <a:ext cx="263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Fees </a:t>
            </a:r>
            <a:r>
              <a:rPr b="1" lang="en" sz="1100">
                <a:solidFill>
                  <a:schemeClr val="accent5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added too much cost to the meal</a:t>
            </a: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, and there were no promotions.</a:t>
            </a:r>
            <a:endParaRPr sz="11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888" y="829700"/>
            <a:ext cx="985224" cy="985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2588" y="875694"/>
            <a:ext cx="946275" cy="94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9150" y="875700"/>
            <a:ext cx="861900" cy="86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187075" y="142900"/>
            <a:ext cx="7819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Overlap between cost related drop reasons is high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2" name="Google Shape;122;p19"/>
          <p:cNvSpPr/>
          <p:nvPr/>
        </p:nvSpPr>
        <p:spPr>
          <a:xfrm>
            <a:off x="1801850" y="807600"/>
            <a:ext cx="3014100" cy="2697300"/>
          </a:xfrm>
          <a:prstGeom prst="ellipse">
            <a:avLst/>
          </a:prstGeom>
          <a:noFill/>
          <a:ln cap="flat" cmpd="sng" w="28575">
            <a:solidFill>
              <a:srgbClr val="0083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9"/>
          <p:cNvSpPr/>
          <p:nvPr/>
        </p:nvSpPr>
        <p:spPr>
          <a:xfrm>
            <a:off x="3243825" y="807600"/>
            <a:ext cx="3014100" cy="2697300"/>
          </a:xfrm>
          <a:prstGeom prst="ellipse">
            <a:avLst/>
          </a:prstGeom>
          <a:noFill/>
          <a:ln cap="flat" cmpd="sng" w="28575">
            <a:solidFill>
              <a:srgbClr val="02AE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/>
          <p:nvPr/>
        </p:nvSpPr>
        <p:spPr>
          <a:xfrm>
            <a:off x="2510700" y="2150325"/>
            <a:ext cx="3014100" cy="26973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 txBox="1"/>
          <p:nvPr/>
        </p:nvSpPr>
        <p:spPr>
          <a:xfrm>
            <a:off x="3680175" y="2446175"/>
            <a:ext cx="8919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41%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3680175" y="1506550"/>
            <a:ext cx="8919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6%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702475" y="1430100"/>
            <a:ext cx="8919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Fees</a:t>
            </a:r>
            <a:endParaRPr b="1" sz="16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1400900" y="3799350"/>
            <a:ext cx="8919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Overall cost</a:t>
            </a:r>
            <a:endParaRPr b="1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9" name="Google Shape;129;p19"/>
          <p:cNvSpPr txBox="1"/>
          <p:nvPr/>
        </p:nvSpPr>
        <p:spPr>
          <a:xfrm>
            <a:off x="6657875" y="1363625"/>
            <a:ext cx="8919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2AEB7"/>
                </a:solidFill>
                <a:latin typeface="Proxima Nova"/>
                <a:ea typeface="Proxima Nova"/>
                <a:cs typeface="Proxima Nova"/>
                <a:sym typeface="Proxima Nova"/>
              </a:rPr>
              <a:t>Item prices</a:t>
            </a:r>
            <a:endParaRPr b="1" sz="1600">
              <a:solidFill>
                <a:srgbClr val="02AEB7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4572000" y="2795150"/>
            <a:ext cx="8919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9%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2682300" y="2795150"/>
            <a:ext cx="8919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11%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2191325" y="1735400"/>
            <a:ext cx="8919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12%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5023425" y="1735400"/>
            <a:ext cx="8919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11%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3515925" y="3799350"/>
            <a:ext cx="8919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0%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0"/>
          <p:cNvSpPr txBox="1"/>
          <p:nvPr/>
        </p:nvSpPr>
        <p:spPr>
          <a:xfrm>
            <a:off x="110875" y="251200"/>
            <a:ext cx="7819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At the end of the day the total matters, regardless if the Cx has a specific budget or not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141" name="Google Shape;141;p20"/>
          <p:cNvGrpSpPr/>
          <p:nvPr/>
        </p:nvGrpSpPr>
        <p:grpSpPr>
          <a:xfrm>
            <a:off x="1357225" y="1735575"/>
            <a:ext cx="1327800" cy="1248000"/>
            <a:chOff x="158700" y="1506975"/>
            <a:chExt cx="1327800" cy="1248000"/>
          </a:xfrm>
        </p:grpSpPr>
        <p:sp>
          <p:nvSpPr>
            <p:cNvPr id="142" name="Google Shape;142;p20"/>
            <p:cNvSpPr/>
            <p:nvPr/>
          </p:nvSpPr>
          <p:spPr>
            <a:xfrm>
              <a:off x="163301" y="1511557"/>
              <a:ext cx="1318500" cy="1238700"/>
            </a:xfrm>
            <a:prstGeom prst="ellipse">
              <a:avLst/>
            </a:prstGeom>
            <a:noFill/>
            <a:ln cap="flat" cmpd="sng" w="3810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0"/>
            <p:cNvSpPr/>
            <p:nvPr/>
          </p:nvSpPr>
          <p:spPr>
            <a:xfrm>
              <a:off x="158700" y="1506975"/>
              <a:ext cx="1327800" cy="1248000"/>
            </a:xfrm>
            <a:prstGeom prst="arc">
              <a:avLst>
                <a:gd fmla="val 16329822" name="adj1"/>
                <a:gd fmla="val 7436526" name="adj2"/>
              </a:avLst>
            </a:prstGeom>
            <a:noFill/>
            <a:ln cap="flat" cmpd="sng" w="114300">
              <a:solidFill>
                <a:srgbClr val="0083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0"/>
            <p:cNvSpPr txBox="1"/>
            <p:nvPr/>
          </p:nvSpPr>
          <p:spPr>
            <a:xfrm>
              <a:off x="211032" y="1893100"/>
              <a:ext cx="1172100" cy="47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rgbClr val="00838A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88</a:t>
              </a:r>
              <a:r>
                <a:rPr b="1" lang="en" sz="2300">
                  <a:solidFill>
                    <a:srgbClr val="00838A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%</a:t>
              </a:r>
              <a:r>
                <a:rPr b="1" lang="en" sz="1000">
                  <a:solidFill>
                    <a:srgbClr val="00838A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</a:t>
              </a:r>
              <a:endParaRPr sz="1300">
                <a:solidFill>
                  <a:srgbClr val="00838A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45" name="Google Shape;145;p20"/>
          <p:cNvSpPr txBox="1"/>
          <p:nvPr/>
        </p:nvSpPr>
        <p:spPr>
          <a:xfrm>
            <a:off x="440000" y="3311775"/>
            <a:ext cx="34983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Of OCCx who dropped off say they have </a:t>
            </a:r>
            <a:r>
              <a:rPr b="1"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a specific budget or general amount of money</a:t>
            </a: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 they aim to keep their order below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6" name="Google Shape;1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0075" y="1291925"/>
            <a:ext cx="3438200" cy="2135300"/>
          </a:xfrm>
          <a:prstGeom prst="rect">
            <a:avLst/>
          </a:prstGeom>
          <a:noFill/>
          <a:ln cap="flat" cmpd="sng" w="9525">
            <a:solidFill>
              <a:srgbClr val="E2320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" name="Google Shape;147;p20"/>
          <p:cNvSpPr txBox="1"/>
          <p:nvPr/>
        </p:nvSpPr>
        <p:spPr>
          <a:xfrm>
            <a:off x="4539975" y="3501450"/>
            <a:ext cx="3498300" cy="9402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E232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Recommendation:  Explore cart totals for converted vs. drop off Cx to </a:t>
            </a:r>
            <a:r>
              <a:rPr b="1" lang="en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define required threshold for target OC, Dormant &amp; Churned Cx.</a:t>
            </a:r>
            <a:endParaRPr b="1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326850" y="1246950"/>
            <a:ext cx="8490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OCCx acceptable total/budget by meal: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1248567" y="1983988"/>
            <a:ext cx="1999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Breakfast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3572250" y="1983988"/>
            <a:ext cx="1999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Lunch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5895933" y="1983988"/>
            <a:ext cx="1999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Dinner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57" name="Google Shape;15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0950" y="2593197"/>
            <a:ext cx="791826" cy="791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2450" y="2667750"/>
            <a:ext cx="642726" cy="6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7651" y="2704731"/>
            <a:ext cx="548700" cy="54869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 txBox="1"/>
          <p:nvPr/>
        </p:nvSpPr>
        <p:spPr>
          <a:xfrm>
            <a:off x="1314063" y="3685563"/>
            <a:ext cx="1999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$12.00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3698475" y="3685563"/>
            <a:ext cx="1999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$19.00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5967100" y="3611038"/>
            <a:ext cx="1999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$28.00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249200" y="220300"/>
            <a:ext cx="7819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Selection for ToDP should include quality Rx that offer options within Cx price range after tip, tax, fees &amp;  discounts are applied </a:t>
            </a:r>
            <a:endParaRPr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218775" y="1165225"/>
            <a:ext cx="4211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How frequently do you put items in your cart on DoorDash and then not place an order?</a:t>
            </a:r>
            <a:endParaRPr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356625" y="1846600"/>
            <a:ext cx="16803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1" name="Google Shape;171;p22"/>
          <p:cNvGraphicFramePr/>
          <p:nvPr/>
        </p:nvGraphicFramePr>
        <p:xfrm>
          <a:off x="356625" y="179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{41373264-216A-41F3-8B4D-C1DF8CF94346}</a:tableStyleId>
              </a:tblPr>
              <a:tblGrid>
                <a:gridCol w="2370525"/>
                <a:gridCol w="579575"/>
              </a:tblGrid>
              <a:tr h="675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Almost every order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15%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5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E23208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Every few orders</a:t>
                      </a:r>
                      <a:endParaRPr b="1" sz="1300">
                        <a:solidFill>
                          <a:srgbClr val="E23208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E23208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59%</a:t>
                      </a:r>
                      <a:endParaRPr b="1" sz="1300">
                        <a:solidFill>
                          <a:srgbClr val="E23208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675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Rarely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26%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75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Never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0%</a:t>
                      </a:r>
                      <a:endParaRPr sz="13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172" name="Google Shape;172;p22"/>
          <p:cNvSpPr txBox="1"/>
          <p:nvPr/>
        </p:nvSpPr>
        <p:spPr>
          <a:xfrm>
            <a:off x="5252075" y="2444750"/>
            <a:ext cx="3479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roxima Nova"/>
                <a:ea typeface="Proxima Nova"/>
                <a:cs typeface="Proxima Nova"/>
                <a:sym typeface="Proxima Nova"/>
              </a:rPr>
              <a:t>Cx who stated that</a:t>
            </a:r>
            <a:r>
              <a:rPr b="1" lang="en" sz="1300">
                <a:latin typeface="Proxima Nova"/>
                <a:ea typeface="Proxima Nova"/>
                <a:cs typeface="Proxima Nova"/>
                <a:sym typeface="Proxima Nova"/>
              </a:rPr>
              <a:t> fees or total cost were their primary reason</a:t>
            </a:r>
            <a:r>
              <a:rPr lang="en" sz="1300">
                <a:latin typeface="Proxima Nova"/>
                <a:ea typeface="Proxima Nova"/>
                <a:cs typeface="Proxima Nova"/>
                <a:sym typeface="Proxima Nova"/>
              </a:rPr>
              <a:t> were </a:t>
            </a:r>
            <a:r>
              <a:rPr b="1" lang="en" sz="1300">
                <a:latin typeface="Proxima Nova"/>
                <a:ea typeface="Proxima Nova"/>
                <a:cs typeface="Proxima Nova"/>
                <a:sym typeface="Proxima Nova"/>
              </a:rPr>
              <a:t>more likely to drop off every few orders </a:t>
            </a:r>
            <a:r>
              <a:rPr lang="en" sz="1300">
                <a:latin typeface="Proxima Nova"/>
                <a:ea typeface="Proxima Nova"/>
                <a:cs typeface="Proxima Nova"/>
                <a:sym typeface="Proxima Nova"/>
              </a:rPr>
              <a:t>(64% and 68%)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5252075" y="3412725"/>
            <a:ext cx="3479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roxima Nova"/>
                <a:ea typeface="Proxima Nova"/>
                <a:cs typeface="Proxima Nova"/>
                <a:sym typeface="Proxima Nova"/>
              </a:rPr>
              <a:t>Cx who stated that </a:t>
            </a:r>
            <a:r>
              <a:rPr b="1" lang="en" sz="1300">
                <a:latin typeface="Proxima Nova"/>
                <a:ea typeface="Proxima Nova"/>
                <a:cs typeface="Proxima Nova"/>
                <a:sym typeface="Proxima Nova"/>
              </a:rPr>
              <a:t>higher item prices</a:t>
            </a:r>
            <a:r>
              <a:rPr lang="en" sz="1300">
                <a:latin typeface="Proxima Nova"/>
                <a:ea typeface="Proxima Nova"/>
                <a:cs typeface="Proxima Nova"/>
                <a:sym typeface="Proxima Nova"/>
              </a:rPr>
              <a:t> were the primary reason for drop off were more likely drop off </a:t>
            </a:r>
            <a:r>
              <a:rPr b="1" lang="en" sz="1300">
                <a:latin typeface="Proxima Nova"/>
                <a:ea typeface="Proxima Nova"/>
                <a:cs typeface="Proxima Nova"/>
                <a:sym typeface="Proxima Nova"/>
              </a:rPr>
              <a:t>almost every order</a:t>
            </a:r>
            <a:r>
              <a:rPr lang="en" sz="1300">
                <a:latin typeface="Proxima Nova"/>
                <a:ea typeface="Proxima Nova"/>
                <a:cs typeface="Proxima Nova"/>
                <a:sym typeface="Proxima Nova"/>
              </a:rPr>
              <a:t> (20%)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187075" y="98800"/>
            <a:ext cx="7819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Cx acknowledge that drop off happens fairly frequently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>
            <a:off x="5252075" y="1718650"/>
            <a:ext cx="3479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Proxima Nova"/>
                <a:ea typeface="Proxima Nova"/>
                <a:cs typeface="Proxima Nova"/>
                <a:sym typeface="Proxima Nova"/>
              </a:rPr>
              <a:t>Top drivers of drop off align with most frequent drivers of drop off</a:t>
            </a:r>
            <a:endParaRPr sz="13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6" name="Google Shape;17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800" y="1718650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8213" y="2548150"/>
            <a:ext cx="543876" cy="543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66788" y="3511900"/>
            <a:ext cx="526749" cy="526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/>
          <p:nvPr/>
        </p:nvSpPr>
        <p:spPr>
          <a:xfrm>
            <a:off x="4199275" y="1018750"/>
            <a:ext cx="4435500" cy="364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3"/>
          <p:cNvSpPr txBox="1"/>
          <p:nvPr/>
        </p:nvSpPr>
        <p:spPr>
          <a:xfrm>
            <a:off x="199500" y="322425"/>
            <a:ext cx="82467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Half of the time Cx cook at home, guilt remains a major factor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428300" y="2688250"/>
            <a:ext cx="284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Proxima Nova"/>
                <a:ea typeface="Proxima Nova"/>
                <a:cs typeface="Proxima Nova"/>
                <a:sym typeface="Proxima Nova"/>
              </a:rPr>
              <a:t>45% </a:t>
            </a:r>
            <a:r>
              <a:rPr lang="en" sz="1500">
                <a:latin typeface="Proxima Nova"/>
                <a:ea typeface="Proxima Nova"/>
                <a:cs typeface="Proxima Nova"/>
                <a:sym typeface="Proxima Nova"/>
              </a:rPr>
              <a:t>o</a:t>
            </a:r>
            <a:r>
              <a:rPr lang="en" sz="1500">
                <a:latin typeface="Proxima Nova"/>
                <a:ea typeface="Proxima Nova"/>
                <a:cs typeface="Proxima Nova"/>
                <a:sym typeface="Proxima Nova"/>
              </a:rPr>
              <a:t>f OCCx who drop off from their cart </a:t>
            </a:r>
            <a:r>
              <a:rPr b="1" lang="en" sz="1500">
                <a:latin typeface="Proxima Nova"/>
                <a:ea typeface="Proxima Nova"/>
                <a:cs typeface="Proxima Nova"/>
                <a:sym typeface="Proxima Nova"/>
              </a:rPr>
              <a:t>end up cooking at home</a:t>
            </a:r>
            <a:endParaRPr b="1" sz="15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87" name="Google Shape;18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150" y="1313500"/>
            <a:ext cx="1242501" cy="1242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 txBox="1"/>
          <p:nvPr/>
        </p:nvSpPr>
        <p:spPr>
          <a:xfrm>
            <a:off x="1102500" y="3561200"/>
            <a:ext cx="28482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Proxima Nova"/>
                <a:ea typeface="Proxima Nova"/>
                <a:cs typeface="Proxima Nova"/>
                <a:sym typeface="Proxima Nova"/>
              </a:rPr>
              <a:t>28</a:t>
            </a:r>
            <a:r>
              <a:rPr b="1" lang="en" sz="1500">
                <a:latin typeface="Proxima Nova"/>
                <a:ea typeface="Proxima Nova"/>
                <a:cs typeface="Proxima Nova"/>
                <a:sym typeface="Proxima Nova"/>
              </a:rPr>
              <a:t>% </a:t>
            </a:r>
            <a:r>
              <a:rPr lang="en" sz="1500">
                <a:latin typeface="Proxima Nova"/>
                <a:ea typeface="Proxima Nova"/>
                <a:cs typeface="Proxima Nova"/>
                <a:sym typeface="Proxima Nova"/>
              </a:rPr>
              <a:t>order directly from Rx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Proxima Nova"/>
                <a:ea typeface="Proxima Nova"/>
                <a:cs typeface="Proxima Nova"/>
                <a:sym typeface="Proxima Nova"/>
              </a:rPr>
              <a:t>19% </a:t>
            </a:r>
            <a:r>
              <a:rPr lang="en" sz="1500">
                <a:latin typeface="Proxima Nova"/>
                <a:ea typeface="Proxima Nova"/>
                <a:cs typeface="Proxima Nova"/>
                <a:sym typeface="Proxima Nova"/>
              </a:rPr>
              <a:t>order from another app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89" name="Google Shape;18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975" y="3630802"/>
            <a:ext cx="307401" cy="307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475" y="4097825"/>
            <a:ext cx="280899" cy="28089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3"/>
          <p:cNvSpPr txBox="1"/>
          <p:nvPr/>
        </p:nvSpPr>
        <p:spPr>
          <a:xfrm>
            <a:off x="4373200" y="1313500"/>
            <a:ext cx="39261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oxima Nova"/>
              <a:buChar char="●"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Cx that drop off due to high fees are more likely to order from an Rx or another app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oxima Nova"/>
              <a:buChar char="●"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Cx that drop off due to item prices or total cost are more likely to cook at home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Proxima Nova"/>
              <a:buChar char="●"/>
            </a:pPr>
            <a:r>
              <a:rPr lang="en" sz="1600">
                <a:latin typeface="Proxima Nova"/>
                <a:ea typeface="Proxima Nova"/>
                <a:cs typeface="Proxima Nova"/>
                <a:sym typeface="Proxima Nova"/>
              </a:rPr>
              <a:t>Few Cx (less than 10%) end up going out to eat at a restaurant</a:t>
            </a:r>
            <a:endParaRPr sz="16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7" name="Google Shape;19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3375"/>
            <a:ext cx="8839204" cy="3163641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 txBox="1"/>
          <p:nvPr/>
        </p:nvSpPr>
        <p:spPr>
          <a:xfrm>
            <a:off x="199500" y="322425"/>
            <a:ext cx="7819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Cx say a discount will help reduce drop off; subtext from qual: the promo has to be worth it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199500" y="1126300"/>
            <a:ext cx="8490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Which of the following would have made you more likely to place the order?</a:t>
            </a:r>
            <a:endParaRPr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0" name="Google Shape;200;p24"/>
          <p:cNvSpPr/>
          <p:nvPr/>
        </p:nvSpPr>
        <p:spPr>
          <a:xfrm>
            <a:off x="1677225" y="4311100"/>
            <a:ext cx="7314300" cy="111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28075" y="3022025"/>
            <a:ext cx="1569375" cy="15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4"/>
          <p:cNvSpPr txBox="1"/>
          <p:nvPr/>
        </p:nvSpPr>
        <p:spPr>
          <a:xfrm>
            <a:off x="3792450" y="3657575"/>
            <a:ext cx="13044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roxima Nova"/>
                <a:ea typeface="Proxima Nova"/>
                <a:cs typeface="Proxima Nova"/>
                <a:sym typeface="Proxima Nova"/>
              </a:rPr>
              <a:t>Avg acceptable cost: $17</a:t>
            </a:r>
            <a:endParaRPr b="1"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3724050" y="3686075"/>
            <a:ext cx="1304400" cy="463500"/>
          </a:xfrm>
          <a:prstGeom prst="wedgeRectCallout">
            <a:avLst>
              <a:gd fmla="val -69610" name="adj1"/>
              <a:gd fmla="val -81453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25"/>
          <p:cNvSpPr txBox="1"/>
          <p:nvPr/>
        </p:nvSpPr>
        <p:spPr>
          <a:xfrm>
            <a:off x="199500" y="322425"/>
            <a:ext cx="7819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Opportunity for us to quantify value (time saved) along with savings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210" name="Google Shape;210;p25"/>
          <p:cNvGraphicFramePr/>
          <p:nvPr/>
        </p:nvGraphicFramePr>
        <p:xfrm>
          <a:off x="411688" y="2226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{41373264-216A-41F3-8B4D-C1DF8CF94346}</a:tableStyleId>
              </a:tblPr>
              <a:tblGrid>
                <a:gridCol w="1664125"/>
                <a:gridCol w="1664125"/>
                <a:gridCol w="1664125"/>
                <a:gridCol w="1664125"/>
                <a:gridCol w="1664125"/>
              </a:tblGrid>
              <a:tr h="127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Time saved</a:t>
                      </a: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 not having to cook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Time saved </a:t>
                      </a: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driving/walking for pickup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Not having to go 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out in </a:t>
                      </a: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weather conditions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I don’t have to 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meal prep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Support </a:t>
                      </a: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at the end of the busy day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0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23208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59%</a:t>
                      </a:r>
                      <a:endParaRPr b="1">
                        <a:solidFill>
                          <a:srgbClr val="E23208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E23208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50%</a:t>
                      </a:r>
                      <a:endParaRPr b="1">
                        <a:solidFill>
                          <a:srgbClr val="E23208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37%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33%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25%</a:t>
                      </a:r>
                      <a:endParaRPr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pic>
        <p:nvPicPr>
          <p:cNvPr id="211" name="Google Shape;21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400" y="1593625"/>
            <a:ext cx="632676" cy="632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78975" y="1698775"/>
            <a:ext cx="701526" cy="70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08225" y="1698775"/>
            <a:ext cx="701526" cy="701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6750" y="1775188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69700" y="1949150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1" name="Google Shape;221;p26"/>
          <p:cNvSpPr txBox="1"/>
          <p:nvPr/>
        </p:nvSpPr>
        <p:spPr>
          <a:xfrm>
            <a:off x="189675" y="1571025"/>
            <a:ext cx="7831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Cx Profiles by Drop Off Driver</a:t>
            </a:r>
            <a:endParaRPr b="1" sz="3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27"/>
          <p:cNvSpPr txBox="1"/>
          <p:nvPr/>
        </p:nvSpPr>
        <p:spPr>
          <a:xfrm>
            <a:off x="199500" y="322425"/>
            <a:ext cx="7819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Primary Reason: Fees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679375" y="1343825"/>
            <a:ext cx="44970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838A"/>
                </a:solidFill>
                <a:latin typeface="Proxima Nova"/>
                <a:ea typeface="Proxima Nova"/>
                <a:cs typeface="Proxima Nova"/>
                <a:sym typeface="Proxima Nova"/>
              </a:rPr>
              <a:t>Who are they?</a:t>
            </a:r>
            <a:endParaRPr b="1" sz="1500">
              <a:solidFill>
                <a:srgbClr val="00838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More likely to be single individual HH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More likely to order for self &amp; others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Skews city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9" name="Google Shape;229;p27"/>
          <p:cNvSpPr txBox="1"/>
          <p:nvPr/>
        </p:nvSpPr>
        <p:spPr>
          <a:xfrm>
            <a:off x="679375" y="2355825"/>
            <a:ext cx="50085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What are their ordering behaviors?</a:t>
            </a:r>
            <a:endParaRPr b="1" sz="1500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Order takeout for lunch &amp; dinner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Order delivery from an app a few times a month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Less likely to have a specific budget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Feel a “fair” overall price is lower than other drop off Cx ($10 on average)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Drop off from DoorDash every few orders, likely to place order on different app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0" name="Google Shape;230;p27"/>
          <p:cNvSpPr txBox="1"/>
          <p:nvPr/>
        </p:nvSpPr>
        <p:spPr>
          <a:xfrm>
            <a:off x="5903625" y="1216200"/>
            <a:ext cx="2977200" cy="33573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0083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roxima Nova"/>
                <a:ea typeface="Proxima Nova"/>
                <a:cs typeface="Proxima Nova"/>
                <a:sym typeface="Proxima Nova"/>
              </a:rPr>
              <a:t>To reduce Cx with drop off for fees sensitive Cx we need to make sure we are </a:t>
            </a:r>
            <a:r>
              <a:rPr b="1" lang="en" sz="1500">
                <a:solidFill>
                  <a:srgbClr val="00838A"/>
                </a:solidFill>
                <a:latin typeface="Proxima Nova"/>
                <a:ea typeface="Proxima Nova"/>
                <a:cs typeface="Proxima Nova"/>
                <a:sym typeface="Proxima Nova"/>
              </a:rPr>
              <a:t>highlighting lower cost restaurants along with low fees</a:t>
            </a:r>
            <a:r>
              <a:rPr lang="en" sz="1500">
                <a:solidFill>
                  <a:srgbClr val="00838A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lang="en" sz="1500">
                <a:latin typeface="Proxima Nova"/>
                <a:ea typeface="Proxima Nova"/>
                <a:cs typeface="Proxima Nova"/>
                <a:sym typeface="Proxima Nova"/>
              </a:rPr>
              <a:t>particularly </a:t>
            </a:r>
            <a:r>
              <a:rPr b="1" lang="en" sz="1500">
                <a:solidFill>
                  <a:srgbClr val="00838A"/>
                </a:solidFill>
                <a:latin typeface="Proxima Nova"/>
                <a:ea typeface="Proxima Nova"/>
                <a:cs typeface="Proxima Nova"/>
                <a:sym typeface="Proxima Nova"/>
              </a:rPr>
              <a:t>for lunch.</a:t>
            </a:r>
            <a:endParaRPr b="1" sz="1500">
              <a:solidFill>
                <a:srgbClr val="00838A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roxima Nova"/>
                <a:ea typeface="Proxima Nova"/>
                <a:cs typeface="Proxima Nova"/>
                <a:sym typeface="Proxima Nova"/>
              </a:rPr>
              <a:t>These Cx are more likely to go to another app, experimenting with </a:t>
            </a:r>
            <a:r>
              <a:rPr b="1" lang="en" sz="1500">
                <a:solidFill>
                  <a:srgbClr val="00838A"/>
                </a:solidFill>
                <a:latin typeface="Proxima Nova"/>
                <a:ea typeface="Proxima Nova"/>
                <a:cs typeface="Proxima Nova"/>
                <a:sym typeface="Proxima Nova"/>
              </a:rPr>
              <a:t>value based pushed notifications in the moment</a:t>
            </a:r>
            <a:r>
              <a:rPr b="1" lang="en" sz="15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500">
                <a:latin typeface="Proxima Nova"/>
                <a:ea typeface="Proxima Nova"/>
                <a:cs typeface="Proxima Nova"/>
                <a:sym typeface="Proxima Nova"/>
              </a:rPr>
              <a:t>may help them get back to the app.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31" name="Google Shape;23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39025"/>
            <a:ext cx="798675" cy="79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4988" y="2514200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28"/>
          <p:cNvSpPr txBox="1"/>
          <p:nvPr/>
        </p:nvSpPr>
        <p:spPr>
          <a:xfrm>
            <a:off x="199500" y="322425"/>
            <a:ext cx="7819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Primary Reason: Items cost more than in-store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755575" y="1343825"/>
            <a:ext cx="44970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2AEB7"/>
                </a:solidFill>
                <a:latin typeface="Proxima Nova"/>
                <a:ea typeface="Proxima Nova"/>
                <a:cs typeface="Proxima Nova"/>
                <a:sym typeface="Proxima Nova"/>
              </a:rPr>
              <a:t>Who are they?</a:t>
            </a:r>
            <a:endParaRPr b="1" sz="1500">
              <a:solidFill>
                <a:srgbClr val="02AE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Tend to be 35+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Largest size household than other drop off segments (3.9 in HH on avg)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Likely to have children in the household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755575" y="2508225"/>
            <a:ext cx="50085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2AEB7"/>
                </a:solidFill>
                <a:latin typeface="Proxima Nova"/>
                <a:ea typeface="Proxima Nova"/>
                <a:cs typeface="Proxima Nova"/>
                <a:sym typeface="Proxima Nova"/>
              </a:rPr>
              <a:t>What are their ordering behaviors?</a:t>
            </a:r>
            <a:endParaRPr b="1" sz="1500">
              <a:solidFill>
                <a:srgbClr val="02AE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Order delivery a few times a month overall, often cooks at home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Even split between ordering for just themselves vs. a group/full household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State they are likely to drop off almost every order and end up cooking at home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5903625" y="1216200"/>
            <a:ext cx="2977200" cy="33573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02AE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This group needs more reason to remove the </a:t>
            </a:r>
            <a:r>
              <a:rPr b="1" lang="en" sz="1500">
                <a:solidFill>
                  <a:srgbClr val="02AEB7"/>
                </a:solidFill>
                <a:latin typeface="Proxima Nova"/>
                <a:ea typeface="Proxima Nova"/>
                <a:cs typeface="Proxima Nova"/>
                <a:sym typeface="Proxima Nova"/>
              </a:rPr>
              <a:t>guilt of ordering</a:t>
            </a:r>
            <a:r>
              <a:rPr lang="en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and allow they to get takeout vs. cooking at home.  Consider highlighting Rx that offer </a:t>
            </a:r>
            <a:r>
              <a:rPr b="1" lang="en" sz="1500">
                <a:solidFill>
                  <a:srgbClr val="02AEB7"/>
                </a:solidFill>
                <a:latin typeface="Proxima Nova"/>
                <a:ea typeface="Proxima Nova"/>
                <a:cs typeface="Proxima Nova"/>
                <a:sym typeface="Proxima Nova"/>
              </a:rPr>
              <a:t>v</a:t>
            </a:r>
            <a:r>
              <a:rPr b="1" lang="en" sz="1500">
                <a:solidFill>
                  <a:srgbClr val="02AEB7"/>
                </a:solidFill>
                <a:latin typeface="Proxima Nova"/>
                <a:ea typeface="Proxima Nova"/>
                <a:cs typeface="Proxima Nova"/>
                <a:sym typeface="Proxima Nova"/>
              </a:rPr>
              <a:t>alue/family meals in addition to ToDP.</a:t>
            </a:r>
            <a:r>
              <a:rPr lang="en" sz="1500">
                <a:solidFill>
                  <a:srgbClr val="02AEB7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b="1" sz="1500">
              <a:solidFill>
                <a:srgbClr val="02AEB7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Additionally, these Cx may benefit from </a:t>
            </a:r>
            <a:r>
              <a:rPr b="1" lang="en" sz="1500">
                <a:solidFill>
                  <a:srgbClr val="02AEB7"/>
                </a:solidFill>
                <a:latin typeface="Proxima Nova"/>
                <a:ea typeface="Proxima Nova"/>
                <a:cs typeface="Proxima Nova"/>
                <a:sym typeface="Proxima Nova"/>
              </a:rPr>
              <a:t>ToDP + Double Dash.</a:t>
            </a:r>
            <a:r>
              <a:rPr lang="en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 Linking </a:t>
            </a:r>
            <a:r>
              <a:rPr b="1" lang="en" sz="1500">
                <a:solidFill>
                  <a:srgbClr val="02AEB7"/>
                </a:solidFill>
                <a:latin typeface="Proxima Nova"/>
                <a:ea typeface="Proxima Nova"/>
                <a:cs typeface="Proxima Nova"/>
                <a:sym typeface="Proxima Nova"/>
              </a:rPr>
              <a:t>post order savings comms with ability to continue to save for the whole family </a:t>
            </a:r>
            <a:r>
              <a:rPr lang="en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may help.</a:t>
            </a:r>
            <a:endParaRPr sz="15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42" name="Google Shape;24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925" y="1290875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925" y="2868575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29"/>
          <p:cNvSpPr txBox="1"/>
          <p:nvPr/>
        </p:nvSpPr>
        <p:spPr>
          <a:xfrm>
            <a:off x="199500" y="322425"/>
            <a:ext cx="7819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Primary Reason: Overall cost/budget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0" name="Google Shape;250;p29"/>
          <p:cNvSpPr txBox="1"/>
          <p:nvPr/>
        </p:nvSpPr>
        <p:spPr>
          <a:xfrm>
            <a:off x="755575" y="1343825"/>
            <a:ext cx="4497000" cy="9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Who are they?</a:t>
            </a:r>
            <a:endParaRPr b="1"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Skew younger (18-24)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Skew suburban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1" name="Google Shape;251;p29"/>
          <p:cNvSpPr txBox="1"/>
          <p:nvPr/>
        </p:nvSpPr>
        <p:spPr>
          <a:xfrm>
            <a:off x="755575" y="2508225"/>
            <a:ext cx="5008500" cy="19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What are their ordering behaviors?</a:t>
            </a:r>
            <a:endParaRPr b="1"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Primarily cook at home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Typically ordering only for self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Orders both lunch &amp; dinner on DoorDash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Has the tightest budget overall, especially for dinner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Likely to drop off every few orders, will look to other apps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2" name="Google Shape;252;p29"/>
          <p:cNvSpPr txBox="1"/>
          <p:nvPr/>
        </p:nvSpPr>
        <p:spPr>
          <a:xfrm>
            <a:off x="5903625" y="1216200"/>
            <a:ext cx="2977200" cy="33573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To reduce Cx with drop off for overall cost/budget we must ensure we have </a:t>
            </a:r>
            <a:r>
              <a:rPr b="1" lang="en" sz="1500">
                <a:solidFill>
                  <a:srgbClr val="666666"/>
                </a:solidFill>
                <a:latin typeface="Proxima Nova"/>
                <a:ea typeface="Proxima Nova"/>
                <a:cs typeface="Proxima Nova"/>
                <a:sym typeface="Proxima Nova"/>
              </a:rPr>
              <a:t>l</a:t>
            </a:r>
            <a:r>
              <a:rPr b="1"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ow item/low inflation Rx in selection</a:t>
            </a:r>
            <a:r>
              <a:rPr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b="1" sz="15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These Cx are more likely to go to another app, experimenting with </a:t>
            </a:r>
            <a:r>
              <a:rPr b="1" lang="en" sz="15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value based pushed notifications in the moment</a:t>
            </a:r>
            <a:r>
              <a:rPr b="1" lang="en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may help them get back to the app.</a:t>
            </a:r>
            <a:endParaRPr sz="1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53" name="Google Shape;25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75" y="1409175"/>
            <a:ext cx="648900" cy="64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775" y="2924100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0"/>
          <p:cNvSpPr txBox="1"/>
          <p:nvPr/>
        </p:nvSpPr>
        <p:spPr>
          <a:xfrm>
            <a:off x="189675" y="1571025"/>
            <a:ext cx="7831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How can we combat drop off</a:t>
            </a:r>
            <a:endParaRPr b="1" sz="3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6" name="Google Shape;266;p31"/>
          <p:cNvSpPr txBox="1"/>
          <p:nvPr/>
        </p:nvSpPr>
        <p:spPr>
          <a:xfrm>
            <a:off x="199500" y="322425"/>
            <a:ext cx="7819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KP’s Recommendations</a:t>
            </a:r>
            <a:endParaRPr b="1"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7" name="Google Shape;267;p31"/>
          <p:cNvSpPr txBox="1"/>
          <p:nvPr/>
        </p:nvSpPr>
        <p:spPr>
          <a:xfrm>
            <a:off x="1630576" y="1495875"/>
            <a:ext cx="71691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Selection/budget capping (look at by single meal vs. multi-meal orders)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Dayparting Rx highlights in carousels by budget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Reinforcing value in addition to savings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○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Time/effort/energy saved not having to cook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8" name="Google Shape;268;p31"/>
          <p:cNvSpPr txBox="1"/>
          <p:nvPr/>
        </p:nvSpPr>
        <p:spPr>
          <a:xfrm>
            <a:off x="1419025" y="1029275"/>
            <a:ext cx="5753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Offensive strategies</a:t>
            </a:r>
            <a:endParaRPr b="1" sz="1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9" name="Google Shape;269;p31"/>
          <p:cNvSpPr txBox="1"/>
          <p:nvPr/>
        </p:nvSpPr>
        <p:spPr>
          <a:xfrm>
            <a:off x="1575157" y="2850225"/>
            <a:ext cx="57534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Defensive</a:t>
            </a:r>
            <a:r>
              <a:rPr b="1" lang="en" sz="15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strategies</a:t>
            </a:r>
            <a:endParaRPr b="1" sz="15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0" name="Google Shape;270;p31"/>
          <p:cNvSpPr txBox="1"/>
          <p:nvPr/>
        </p:nvSpPr>
        <p:spPr>
          <a:xfrm>
            <a:off x="1499237" y="3564525"/>
            <a:ext cx="5400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Stronger drop off notifications: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○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Try ToDP Rx to get $0 delivery and 10% off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○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You can get your meal for $5 less at XX Rx (click to built cart)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○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Place your order in the next X and get Y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Proxima Nova"/>
              <a:buChar char="●"/>
            </a:pPr>
            <a:r>
              <a:rPr lang="en" sz="1500">
                <a:solidFill>
                  <a:srgbClr val="1F1F1F"/>
                </a:solidFill>
                <a:latin typeface="Proxima Nova"/>
                <a:ea typeface="Proxima Nova"/>
                <a:cs typeface="Proxima Nova"/>
                <a:sym typeface="Proxima Nova"/>
              </a:rPr>
              <a:t>Ability to promo stack when drop is high risk</a:t>
            </a:r>
            <a:endParaRPr sz="1500">
              <a:solidFill>
                <a:srgbClr val="1F1F1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71" name="Google Shape;27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300" y="1438051"/>
            <a:ext cx="742800" cy="74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304" y="3264200"/>
            <a:ext cx="742800" cy="74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2"/>
          <p:cNvSpPr txBox="1"/>
          <p:nvPr/>
        </p:nvSpPr>
        <p:spPr>
          <a:xfrm>
            <a:off x="189675" y="1571025"/>
            <a:ext cx="78315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Upcoming Research</a:t>
            </a:r>
            <a:endParaRPr b="1" sz="35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84" name="Google Shape;284;p33"/>
          <p:cNvGraphicFramePr/>
          <p:nvPr/>
        </p:nvGraphicFramePr>
        <p:xfrm>
          <a:off x="282475" y="53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{4330FFDD-0A41-4670-AE41-543A8A6F0AB3}</a:tableStyleId>
              </a:tblPr>
              <a:tblGrid>
                <a:gridCol w="2388250"/>
                <a:gridCol w="3362275"/>
                <a:gridCol w="1414250"/>
                <a:gridCol w="1414250"/>
              </a:tblGrid>
              <a:tr h="473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Project</a:t>
                      </a:r>
                      <a:endParaRPr b="1" sz="12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Key Research Question</a:t>
                      </a:r>
                      <a:endParaRPr b="1" sz="12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Status</a:t>
                      </a:r>
                      <a:endParaRPr b="1" sz="12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Estimated timing</a:t>
                      </a:r>
                      <a:endParaRPr b="1" sz="1200">
                        <a:solidFill>
                          <a:schemeClr val="lt1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solidFill>
                      <a:schemeClr val="accent5"/>
                    </a:solidFill>
                  </a:tcPr>
                </a:tc>
              </a:tr>
              <a:tr h="62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ToDP convert vs. non-convert 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What is working, what is not working?  How can we continue to evolve ToDP to best meet Cx needs?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To be shared in next biweekly readout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Early August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3"/>
                        </a:rPr>
                        <a:t>Defining &amp; communicating value beyond savings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How can we communicate the positive factors of using DoorDash beyond/in addition to savings to increase perceived value?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Going to field shortly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Early Aug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62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Rotation Cx Pulse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Pulse check with Cx when rotation V1 experiments go live.  Does it make sense?  How are they understanding the concept of rotation?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Scoping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Mid Aug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/>
                </a:tc>
              </a:tr>
              <a:tr h="62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Project E.T. Concept Tests 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How do Cx feel about project E.T.?  Is it clear, exciting, impactful and unique?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Scoping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Early Sept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hlinkClick r:id="rId4"/>
                        </a:rPr>
                        <a:t>Substitutability &amp; Mx Selection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What are the trade-offs and factors that Cx consider when selecting a Mx.  How might they think through other solutions when their initial Mx or item is not available?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Working on timing with analytics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Early Sept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Padding Cx sentiment</a:t>
                      </a:r>
                      <a:endParaRPr sz="11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Are Cx aware when we pad timing on orders?  Do they realize they are making a tradeoff between price and cost?  Is time the main reason why they drop off cancel?</a:t>
                      </a:r>
                      <a:endParaRPr sz="9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Scoping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End of Aug</a:t>
                      </a:r>
                      <a:endParaRPr sz="10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5" name="Google Shape;285;p33"/>
          <p:cNvSpPr txBox="1"/>
          <p:nvPr/>
        </p:nvSpPr>
        <p:spPr>
          <a:xfrm>
            <a:off x="256550" y="4674025"/>
            <a:ext cx="3339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Note: KP OOO 8/4-8/9</a:t>
            </a:r>
            <a:endParaRPr b="1" sz="1100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6" name="Google Shape;286;p33"/>
          <p:cNvSpPr txBox="1"/>
          <p:nvPr/>
        </p:nvSpPr>
        <p:spPr>
          <a:xfrm>
            <a:off x="256550" y="114650"/>
            <a:ext cx="7003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PAD UXR Summer Priorities</a:t>
            </a:r>
            <a:endParaRPr b="1" sz="17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oorDash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838A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