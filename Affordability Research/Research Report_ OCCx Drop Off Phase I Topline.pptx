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Kevin Fu"/>
  <p:cmAuthor clrIdx="1" id="1" initials="" lastIdx="1" name="Kelly Peters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32F743-E92A-42B1-A719-B4E877EB9F11}">
  <a:tblStyle styleId="{0F32F743-E92A-42B1-A719-B4E877EB9F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6-28T21:10:57.196">
    <p:pos x="1452" y="1872"/>
    <p:text>@claudia.ng@doordash.com nice that were solving this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3-06-28T21:17:00.256">
    <p:pos x="2108" y="2322"/>
    <p:text>interesting how often this continues to come up. Keep in mind this is an even smaller set thant he % that looked across apps at all</p:text>
  </p:cm>
  <p:cm authorId="1" idx="1" dt="2023-06-28T21:17:00.256">
    <p:pos x="2108" y="2322"/>
    <p:text>Totally, I'm looking forward to sizing this group more in the survey phase.  The deeper we can get into intent in these moments the better we can get at winning these moments.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89d59627f6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89d59627f6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493b5b334c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493b5b334c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93b5b334c_1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93b5b334c_1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a7d3c35d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0a7d3c35d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b16faa05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b16faa05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0a7d3c35d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0a7d3c35d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b16faa05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b16faa05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a7d3c35d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0a7d3c35d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b16faa05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b16faa05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a7d3c35d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a7d3c35d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b16faa05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b16faa05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b16faa05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b16faa05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b16faa05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2b16faa05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b16faa05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b16faa05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b16faa0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2b16faa0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2b16faa05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2b16faa05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without header">
  <p:cSld name="TITLE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Master">
  <p:cSld name="TITLE_1">
    <p:bg>
      <p:bgPr>
        <a:solidFill>
          <a:srgbClr val="F3F3F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 type="secHead">
  <p:cSld name="SECTION_HEADER">
    <p:bg>
      <p:bgPr>
        <a:solidFill>
          <a:srgbClr val="E2320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cean">
  <p:cSld name="SECTION_HEADER_2">
    <p:bg>
      <p:bgPr>
        <a:solidFill>
          <a:srgbClr val="518C8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ush">
  <p:cSld name="SECTION_HEADER_1">
    <p:bg>
      <p:bgPr>
        <a:solidFill>
          <a:srgbClr val="E5BBB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y">
  <p:cSld name="SECTION_HEADER_1_1">
    <p:bg>
      <p:bgPr>
        <a:solidFill>
          <a:srgbClr val="BEDFE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mon">
  <p:cSld name="SECTION_HEADER_1_1_2">
    <p:bg>
      <p:bgPr>
        <a:solidFill>
          <a:srgbClr val="F8E5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est">
  <p:cSld name="SECTION_HEADER_1_1_1">
    <p:bg>
      <p:bgPr>
        <a:solidFill>
          <a:srgbClr val="3A564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SECTION_HEADER_1_1_1_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u/0/d/1KHDeIJSuQiS553tGGw4hWGTa8mzIX9lEwpjUQRaDnZE/edit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K19JydVdE3k5uSX_18MS0miOqy6uyolC/view" TargetMode="External"/><Relationship Id="rId4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mI4eubMIu8t91dHj9DDqFXvJtBiZ_tly/view" TargetMode="External"/><Relationship Id="rId4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J7Yq2f6RjhDu56ijOdC7JfLogz25mFtJ/view" TargetMode="External"/><Relationship Id="rId4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5" Type="http://schemas.openxmlformats.org/officeDocument/2006/relationships/hyperlink" Target="https://docs.google.com/presentation/u/0/d/160vFfk8ij4n591JU1IpPVVnxzMYA7iD8LoHtXydy8xw/edi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2.xml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u/0/d/1KHDeIJSuQiS553tGGw4hWGTa8mzIX9lEwpjUQRaDnZE/edit" TargetMode="External"/><Relationship Id="rId4" Type="http://schemas.openxmlformats.org/officeDocument/2006/relationships/hyperlink" Target="https://docs.google.com/document/u/0/d/1dfXhjMkX7NIUVEbQnvtEpSeajJ7-7TVK-pF41J6qXDY/edit" TargetMode="External"/><Relationship Id="rId5" Type="http://schemas.openxmlformats.org/officeDocument/2006/relationships/hyperlink" Target="https://docs.google.com/document/u/0/d/1dfXhjMkX7NIUVEbQnvtEpSeajJ7-7TVK-pF41J6qXDY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2"/>
          <p:cNvSpPr txBox="1"/>
          <p:nvPr/>
        </p:nvSpPr>
        <p:spPr>
          <a:xfrm>
            <a:off x="686000" y="34413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DRI: Kelly Peterson</a:t>
            </a:r>
            <a:endParaRPr b="1" sz="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" name="Google Shape;43;p12"/>
          <p:cNvSpPr txBox="1"/>
          <p:nvPr/>
        </p:nvSpPr>
        <p:spPr>
          <a:xfrm>
            <a:off x="686000" y="3799625"/>
            <a:ext cx="298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Date: June 28 2023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" name="Google Shape;44;p12"/>
          <p:cNvSpPr txBox="1"/>
          <p:nvPr/>
        </p:nvSpPr>
        <p:spPr>
          <a:xfrm>
            <a:off x="609750" y="1529300"/>
            <a:ext cx="61353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Understanding OCCx Cart Drop Off</a:t>
            </a:r>
            <a:endParaRPr b="1" sz="41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Phase I Qual Topline</a:t>
            </a:r>
            <a:endParaRPr b="1" sz="2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5" name="Google Shape;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99" y="1284763"/>
            <a:ext cx="1408775" cy="1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5450" y="2248175"/>
            <a:ext cx="2094150" cy="20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5851200" y="0"/>
            <a:ext cx="3292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approach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03375" y="4485275"/>
            <a:ext cx="53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research brief can be found </a:t>
            </a:r>
            <a:r>
              <a:rPr lang="en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here</a:t>
            </a: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15750" y="1297825"/>
            <a:ext cx="4902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conducted 8 interviews with Occasional Cx.  These Cx…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Had visited the app in the past 48 hours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Had not converted on a visit in the past 48 hours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Order from DoorDash once a month or less often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 not currently have DashPass (2 Cx had DashPass previously via free trial)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66575" y="3169225"/>
            <a:ext cx="4625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goal of these calls were to understand…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Why do OCCx drop off at the cart phase?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do OCCx do after dropping off?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500" y="1297825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6533200" y="511588"/>
            <a:ext cx="25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Coming Soon: Quantitative Study</a:t>
            </a:r>
            <a:endParaRPr b="1" i="1" sz="1000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500" y="3068625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6041700" y="978263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Objectives for Phase II</a:t>
            </a: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95075" y="1297813"/>
            <a:ext cx="3000000" cy="25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reasons for drop off have we missed?</a:t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23208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How do the reasons for drop off compare to one another from a frequency and size perspective?  How does this differ from fees as a reason for drop off?</a:t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23208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levers can DoorDash pull to help Cx avoid drop off at the cart phase (and earlier)?</a:t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23208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the demographic profiles of Cx who drop off at the cart phase (by reason)?</a:t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23208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the attitudes of Cx who drop off (by reason) around budget, </a:t>
            </a: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convenience</a:t>
            </a: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value and delivery?</a:t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6000" y="529725"/>
            <a:ext cx="297201" cy="2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313925" y="159587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Why do Cx drop off?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558225" y="194625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Reason 1: My promotion didn’t work</a:t>
            </a:r>
            <a:endParaRPr b="1" sz="230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375425" y="1034363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 out of 8 Cx indicated that they </a:t>
            </a:r>
            <a:r>
              <a:rPr b="1" lang="en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tried to use a promotion code</a:t>
            </a:r>
            <a:r>
              <a:rPr b="1" lang="en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/deal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that they were </a:t>
            </a:r>
            <a:r>
              <a:rPr b="1" lang="en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unable to apply to their order</a:t>
            </a:r>
            <a:endParaRPr b="1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305350" y="1770750"/>
            <a:ext cx="618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Cx indicated that they typically learn about these promotions via email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305350" y="2971925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Cx also noted this problem happened with a recent Jersey Mike’s BOGO offer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305350" y="2307938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Cx had double checked the fine print and felt that their promo code should have applied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0" name="Google Shape;80;p15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009" y="1034375"/>
            <a:ext cx="1073826" cy="6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0450" y="2417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0448" y="3048123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305350" y="3587525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They indicated it’s not a frequent 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occurrence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, but happens enough to be a frustration point with DoorDash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4250" y="3587526"/>
            <a:ext cx="615609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83450" y="17707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679900" y="4268500"/>
            <a:ext cx="7711200" cy="55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if we had clearer </a:t>
            </a:r>
            <a:r>
              <a:rPr b="1" lang="en" sz="12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communication</a:t>
            </a:r>
            <a:r>
              <a:rPr b="1" lang="en" sz="12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if/when a promo doesn’t work and redirected Cx to </a:t>
            </a:r>
            <a:r>
              <a:rPr b="1" lang="en" sz="12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evergreen</a:t>
            </a:r>
            <a:r>
              <a:rPr b="1" lang="en" sz="12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savings opportunities to keep them in app</a:t>
            </a:r>
            <a:endParaRPr b="1" sz="12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6" title="Promo didn't work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851" y="392541"/>
            <a:ext cx="7748298" cy="43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863150" y="2358150"/>
            <a:ext cx="3363300" cy="179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558225" y="194625"/>
            <a:ext cx="7507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Reason 2: The final total is greater than my budgeted amount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685975" y="1182669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2 out of 8 Cx indicated that they did not complete their order because the </a:t>
            </a:r>
            <a:r>
              <a:rPr b="1" lang="en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total was higher than their budgeted amount of $</a:t>
            </a:r>
            <a:r>
              <a:rPr b="1" lang="en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endParaRPr b="1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863025" y="2952500"/>
            <a:ext cx="3363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Live on</a:t>
            </a: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 a fixed income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Keep a budget whenever ordering out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visit the app weekly but are only able to justify spending about once per month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They live alone and are typically ordering for just themself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2" name="Google Shape;102;p1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436" y="1156713"/>
            <a:ext cx="1069848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863025" y="1967825"/>
            <a:ext cx="3363300" cy="38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Who are these Cx?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4100" y="2417950"/>
            <a:ext cx="615600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4584875" y="2358150"/>
            <a:ext cx="3363300" cy="179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4584750" y="1967825"/>
            <a:ext cx="3363300" cy="38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How do they think about cost</a:t>
            </a:r>
            <a:r>
              <a:rPr b="1" lang="en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508550" y="2952500"/>
            <a:ext cx="3363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Look at the total subtotal to make a decision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Attribute the “expensive” nature of DoorDash to inflation + fees + tip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Often rely on promotions across apps to fit in their budget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roxima Nova"/>
              <a:buChar char="●"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Sometimes pay for orders with gift cards 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8600" y="2417950"/>
            <a:ext cx="615600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679900" y="4497100"/>
            <a:ext cx="77112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What if we prioritized affordable meals for Cx who appear to be a single individual household. </a:t>
            </a:r>
            <a:endParaRPr b="1" sz="12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18" title="Budget (USE THIS ONE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851" y="392541"/>
            <a:ext cx="7748298" cy="43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558225" y="194625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Reason 3: The time of day will impact the quality of my order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1531125" y="1264500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out of 8 Cx indicated that they abandoned their cart because of </a:t>
            </a:r>
            <a:r>
              <a:rPr b="1" lang="en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previous Mx issues at that time of day</a:t>
            </a:r>
            <a:endParaRPr b="1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142350" y="2207225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Cx mentioned that they will have items out of stock, or that it will take longer than expected at this time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2142350" y="3149950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One Cx said she actually calls the Mx to confirm that everything is in stock and that they have the staff to get to their order quickly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5" name="Google Shape;125;p1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29" y="1238550"/>
            <a:ext cx="1069848" cy="66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975" y="2181276"/>
            <a:ext cx="667500" cy="6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375" y="3240000"/>
            <a:ext cx="492099" cy="49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679900" y="4497100"/>
            <a:ext cx="77112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if we provided </a:t>
            </a:r>
            <a:r>
              <a:rPr b="1" lang="en" sz="12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more</a:t>
            </a:r>
            <a:r>
              <a:rPr b="1" lang="en" sz="12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 EOD status updates?  What if we </a:t>
            </a:r>
            <a:r>
              <a:rPr b="1" lang="en" sz="12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suppress</a:t>
            </a:r>
            <a:r>
              <a:rPr b="1" lang="en" sz="12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 a Mx if a Cx complains of out of stock?</a:t>
            </a:r>
            <a:endParaRPr b="1" sz="12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0" title="Selection and Tim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851" y="392541"/>
            <a:ext cx="7748298" cy="43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558225" y="194625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Reason 4: I </a:t>
            </a: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found</a:t>
            </a: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it less expensive elsewhere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256750" y="1006000"/>
            <a:ext cx="61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 out of 8 Cx indicated they typically </a:t>
            </a:r>
            <a:r>
              <a:rPr b="1" lang="en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compare across apps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 and will order where they get the best overall subtotal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2" name="Google Shape;142;p21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00" y="980050"/>
            <a:ext cx="1069848" cy="66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1325" y="1728000"/>
            <a:ext cx="4216848" cy="235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668550" y="4417900"/>
            <a:ext cx="301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Learn more about how Cx compare across apps here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558225" y="194625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Other noted issues/concerns 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1174800" y="1157775"/>
            <a:ext cx="70992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The ratio of “extra” costs (fees, tax, tip) to the cost of food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The distance/time of order (if coming from a metro area vs. within the suburb)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Previous Dx experience (wrong address)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Existing app preferences (used to use multiple, now rely on one non-DoorDash app)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25" y="1193950"/>
            <a:ext cx="279750" cy="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00" y="1679375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125" y="2341875"/>
            <a:ext cx="279750" cy="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25" y="2902075"/>
            <a:ext cx="279750" cy="2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658700" y="332110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Did not order/ Cook at home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653875" y="3686300"/>
            <a:ext cx="2448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 out of 8 Cx 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Action for those that the meal did not fit in their budget or cases where there were bad experiences at this time of day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3347550" y="3686300"/>
            <a:ext cx="2448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 out of 8 Cx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is the case for Cx who had a promo that did not work or were comparison shopping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3347550" y="332110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Order from another app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6036400" y="3686300"/>
            <a:ext cx="2448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 out of 8 Cx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is the case for Cx who promo did not work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6036400" y="332110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Go directly to Rx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1060375" y="1478975"/>
            <a:ext cx="1635900" cy="16359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3754050" y="1478975"/>
            <a:ext cx="1635900" cy="16359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6442900" y="1478975"/>
            <a:ext cx="1635900" cy="16359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 rotWithShape="1">
          <a:blip r:embed="rId4">
            <a:alphaModFix/>
          </a:blip>
          <a:srcRect b="21071" l="0" r="0" t="21071"/>
          <a:stretch/>
        </p:blipFill>
        <p:spPr>
          <a:xfrm>
            <a:off x="1060375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 rotWithShape="1">
          <a:blip r:embed="rId5">
            <a:alphaModFix/>
          </a:blip>
          <a:srcRect b="228" l="0" r="0" t="219"/>
          <a:stretch/>
        </p:blipFill>
        <p:spPr>
          <a:xfrm>
            <a:off x="3751638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 rotWithShape="1">
          <a:blip r:embed="rId6">
            <a:alphaModFix/>
          </a:blip>
          <a:srcRect b="3643" l="0" r="0" t="3652"/>
          <a:stretch/>
        </p:blipFill>
        <p:spPr>
          <a:xfrm>
            <a:off x="6447725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558225" y="194625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actions after drop off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313925" y="159587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Diving deeper into drop off: Phase II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5"/>
          <p:cNvSpPr txBox="1"/>
          <p:nvPr/>
        </p:nvSpPr>
        <p:spPr>
          <a:xfrm>
            <a:off x="558225" y="194625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Next steps: size &amp; define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Draft Survey Outline</a:t>
            </a:r>
            <a:endParaRPr b="1"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628375" y="1108000"/>
            <a:ext cx="333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Screening Criteria</a:t>
            </a:r>
            <a:endParaRPr b="1" sz="15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628375" y="1584100"/>
            <a:ext cx="3570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Order DoorDash once a month or less frequently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Visit app in past 48 hours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Drop off from cart in past 48 hours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Does not currently have DashPass subscription or trial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679750" y="2650575"/>
            <a:ext cx="333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Sizing Drop off Details</a:t>
            </a:r>
            <a:endParaRPr b="1" sz="15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628375" y="3022575"/>
            <a:ext cx="3570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Reason for most recent drop off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Action after most recent drop off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of drop off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All reasons for drop off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Ranking of frustration for reasons for drop off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of reasons for drop off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Reactions to potential solutions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5078850" y="1108000"/>
            <a:ext cx="333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Profiling</a:t>
            </a:r>
            <a:endParaRPr b="1" sz="15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5025475" y="1584100"/>
            <a:ext cx="3570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of delivery by app, direct from Rx and cooking at home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of ordering by time of day/meal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Budget for time of day/meal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Priorities when selecting what to order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 of takeout/delivery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Individual vs. group order frequency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4987475" y="2938550"/>
            <a:ext cx="333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Demographics</a:t>
            </a:r>
            <a:endParaRPr b="1" sz="15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5025475" y="3400350"/>
            <a:ext cx="3570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Age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Employment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HH income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# of individuals in HH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Area where live (metro, suburban, rural)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Zip code where live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313925" y="159587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Upcoming research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5" name="Google Shape;205;p27"/>
          <p:cNvGraphicFramePr/>
          <p:nvPr/>
        </p:nvGraphicFramePr>
        <p:xfrm>
          <a:off x="282488" y="7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{0F32F743-E92A-42B1-A719-B4E877EB9F11}</a:tableStyleId>
              </a:tblPr>
              <a:tblGrid>
                <a:gridCol w="2388250"/>
                <a:gridCol w="3362275"/>
                <a:gridCol w="1414250"/>
                <a:gridCol w="1414250"/>
              </a:tblGrid>
              <a:tr h="39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Ke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y Research Question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Estimated timing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5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3"/>
                        </a:rPr>
                        <a:t>Occasional Cx Drop Off Phase II Survey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What is the size and frequency of cart drop off by reason?  What are the profiles of Cx that drop off for each reason?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Survey development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Mid July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  <a:tr h="57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4"/>
                        </a:rPr>
                        <a:t>Substitutability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5"/>
                        </a:rPr>
                        <a:t> &amp; Mx Selection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What are the trade-offs and factors that Cx consider when selecting a Mx.  How might they think through other </a:t>
                      </a: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solutions</a:t>
                      </a: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when their initial Mx or item is not available?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Working on timing with analytics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Throughout summer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  <a:tr h="5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Defining &amp; communicating value beyond savings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How can we </a:t>
                      </a: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communicate</a:t>
                      </a: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the positive factors of using DoorDash beyond/in addition to savings to increase </a:t>
                      </a: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perceived</a:t>
                      </a: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value?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End of July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  <a:tr h="63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High </a:t>
                      </a: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frequency, low subtotal Cx vs. Low frequency, high subtotal Cx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How do these Cx differ in terms of motivators, considerations, experiences and values when it comes to takeout?  How can we better serve both groups of Cx?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Late July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  <a:tr h="5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ToDP convert vs. non-convert (August)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What is working, what is not working?  How can we continue to evolve ToDP to best meet Cx needs?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Early August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  <a:tr h="5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 E.T. Concept Tests (August)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How do Cx feel about project E.T.?  Is it clear, exciting, impactful and unique?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Late August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6" name="Google Shape;206;p27"/>
          <p:cNvSpPr txBox="1"/>
          <p:nvPr/>
        </p:nvSpPr>
        <p:spPr>
          <a:xfrm>
            <a:off x="256550" y="4674025"/>
            <a:ext cx="333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Note: KP OOO 7/14 - 7/21 &amp; 8/4-8/9</a:t>
            </a:r>
            <a:endParaRPr b="1" sz="11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256550" y="114650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PAD UXR Summer Priorities</a:t>
            </a:r>
            <a:endParaRPr b="1"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orDas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838A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