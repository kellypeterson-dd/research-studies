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4.xml"/>
  <Override ContentType="application/vnd.openxmlformats-officedocument.presentationml.comments+xml" PartName="/ppt/comments/comment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y="5143500" cx="9144000"/>
  <p:notesSz cx="6858000" cy="9144000"/>
  <p:embeddedFontLst>
    <p:embeddedFont>
      <p:font typeface="Proxima Nova"/>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6" name="Connie Kim"/>
  <p:cmAuthor clrIdx="1" id="1" initials="" lastIdx="4" name="Kelly Peterson"/>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2772FCC-D75C-4486-83E7-3CF4708003A6}">
  <a:tblStyle styleId="{02772FCC-D75C-4486-83E7-3CF4708003A6}" styleName="Table_0">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ProximaNova-regular.fntdata"/><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commentAuthors" Target="commentAuthors.xml"/><Relationship Id="rId9" Type="http://schemas.openxmlformats.org/officeDocument/2006/relationships/slide" Target="slides/slide3.xml"/><Relationship Id="rId26" Type="http://schemas.openxmlformats.org/officeDocument/2006/relationships/font" Target="fonts/ProximaNova-italic.fntdata"/><Relationship Id="rId25" Type="http://schemas.openxmlformats.org/officeDocument/2006/relationships/font" Target="fonts/ProximaNova-bold.fntdata"/><Relationship Id="rId27" Type="http://schemas.openxmlformats.org/officeDocument/2006/relationships/font" Target="fonts/ProximaNova-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3-11-10T01:23:20.445">
    <p:pos x="6000" y="0"/>
    <p:text>when it comes to "planning to order", how do set routines play into this? 
e.g. a Cx mentioned ordering on Fridays after the work week is a  typical use-case/behavior and wanting to save a promo for that.
if Cx plan around their routines, is there an opportunity to better personalize reminders (messaging and time) according to their typical ordering days / times to meet them at the right moments</p:text>
  </p:cm>
  <p:cm authorId="1" idx="1" dt="2023-11-10T01:23:20.445">
    <p:pos x="6000" y="0"/>
    <p:text>That's a great question; no one specifically called takeout as a part of their routine but said they will plan to use it during the week ahead.  Some mentioned on a busy night or a treat night.  One Cx said Friday is typically when they order out.  I think Friday is probably a safe test day.</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3-11-10T01:27:46.046">
    <p:pos x="1686" y="1137"/>
    <p:text>does this mean the ability to stack promos is a must?</p:text>
  </p:cm>
  <p:cm authorId="1" idx="2" dt="2023-11-10T00:46:20.475">
    <p:pos x="1686" y="1137"/>
    <p:text>For churned Cx yes- or for it to be a combined offer</p:text>
  </p:cm>
  <p:cm authorId="0" idx="3" dt="2023-11-10T01:15:02.582">
    <p:pos x="1686" y="1137"/>
    <p:text>how does the subscription tie in? is it that we have to give them an incremental benefit/reason to order above what they already get?</p:text>
  </p:cm>
  <p:cm authorId="1" idx="3" dt="2023-11-10T01:27:46.046">
    <p:pos x="1686" y="1137"/>
    <p:text>It's two fold:
1) for some they have a subscription elsewhere so they need it to compare
2) for others its just that fees are so frustrating for them that other promotions feel like they are nothing because you still see high fees in your cart.</p:text>
  </p:cm>
  <p:cm authorId="0" idx="4" dt="2023-11-10T00:44:56.500">
    <p:pos x="1686" y="1237"/>
    <p:text>think this is really important</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5" dt="2023-11-10T01:14:38.687">
    <p:pos x="781" y="495"/>
    <p:text>is this because they have a general preferred day/occasion they order for? so they're already going to the app?</p:text>
  </p:cm>
  <p:cm authorId="1" idx="4" dt="2023-11-10T01:14:38.687">
    <p:pos x="781" y="495"/>
    <p:text>No it's solely because of the volume of promotional emails that they get</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6" dt="2023-11-10T00:57:37.201">
    <p:pos x="168" y="287"/>
    <p:text>love</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g89d59627f6_1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 name="Google Shape;48;g89d59627f6_1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2493b5b334c_1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2493b5b334c_1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James to link to failed session</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2493b5b334c_1_3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2493b5b334c_1_3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299572bd019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299572bd019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299572bd019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299572bd019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22b16faa057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22b16faa057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299572bd019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299572bd019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299572bd019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299572bd019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299572bd019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299572bd019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299572bd019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299572bd019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299572bd019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299572bd019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99572bd019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299572bd019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299572bd019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299572bd019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299572bd019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299572bd019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299572bd019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299572bd019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299572bd019_0_3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299572bd019_0_3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299572bd019_0_4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299572bd019_0_4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ster" type="title">
  <p:cSld name="TITLE">
    <p:spTree>
      <p:nvGrpSpPr>
        <p:cNvPr id="6" name="Shape 6"/>
        <p:cNvGrpSpPr/>
        <p:nvPr/>
      </p:nvGrpSpPr>
      <p:grpSpPr>
        <a:xfrm>
          <a:off x="0" y="0"/>
          <a:ext cx="0" cy="0"/>
          <a:chOff x="0" y="0"/>
          <a:chExt cx="0" cy="0"/>
        </a:xfrm>
      </p:grpSpPr>
      <p:sp>
        <p:nvSpPr>
          <p:cNvPr id="7" name="Google Shape;7;p2"/>
          <p:cNvSpPr txBox="1"/>
          <p:nvPr>
            <p:ph idx="12" type="sldNum"/>
          </p:nvPr>
        </p:nvSpPr>
        <p:spPr>
          <a:xfrm>
            <a:off x="79462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rgbClr val="CCCCCC"/>
                </a:solidFill>
                <a:latin typeface="Proxima Nova"/>
                <a:ea typeface="Proxima Nova"/>
                <a:cs typeface="Proxima Nova"/>
                <a:sym typeface="Proxima Nova"/>
              </a:defRPr>
            </a:lvl1pPr>
            <a:lvl2pPr lvl="1" rtl="0" algn="r">
              <a:buNone/>
              <a:defRPr sz="1000">
                <a:solidFill>
                  <a:srgbClr val="CCCCCC"/>
                </a:solidFill>
                <a:latin typeface="Proxima Nova"/>
                <a:ea typeface="Proxima Nova"/>
                <a:cs typeface="Proxima Nova"/>
                <a:sym typeface="Proxima Nova"/>
              </a:defRPr>
            </a:lvl2pPr>
            <a:lvl3pPr lvl="2" rtl="0" algn="r">
              <a:buNone/>
              <a:defRPr sz="1000">
                <a:solidFill>
                  <a:srgbClr val="CCCCCC"/>
                </a:solidFill>
                <a:latin typeface="Proxima Nova"/>
                <a:ea typeface="Proxima Nova"/>
                <a:cs typeface="Proxima Nova"/>
                <a:sym typeface="Proxima Nova"/>
              </a:defRPr>
            </a:lvl3pPr>
            <a:lvl4pPr lvl="3" rtl="0" algn="r">
              <a:buNone/>
              <a:defRPr sz="1000">
                <a:solidFill>
                  <a:srgbClr val="CCCCCC"/>
                </a:solidFill>
                <a:latin typeface="Proxima Nova"/>
                <a:ea typeface="Proxima Nova"/>
                <a:cs typeface="Proxima Nova"/>
                <a:sym typeface="Proxima Nova"/>
              </a:defRPr>
            </a:lvl4pPr>
            <a:lvl5pPr lvl="4" rtl="0" algn="r">
              <a:buNone/>
              <a:defRPr sz="1000">
                <a:solidFill>
                  <a:srgbClr val="CCCCCC"/>
                </a:solidFill>
                <a:latin typeface="Proxima Nova"/>
                <a:ea typeface="Proxima Nova"/>
                <a:cs typeface="Proxima Nova"/>
                <a:sym typeface="Proxima Nova"/>
              </a:defRPr>
            </a:lvl5pPr>
            <a:lvl6pPr lvl="5" rtl="0" algn="r">
              <a:buNone/>
              <a:defRPr sz="1000">
                <a:solidFill>
                  <a:srgbClr val="CCCCCC"/>
                </a:solidFill>
                <a:latin typeface="Proxima Nova"/>
                <a:ea typeface="Proxima Nova"/>
                <a:cs typeface="Proxima Nova"/>
                <a:sym typeface="Proxima Nova"/>
              </a:defRPr>
            </a:lvl6pPr>
            <a:lvl7pPr lvl="6" rtl="0" algn="r">
              <a:buNone/>
              <a:defRPr sz="1000">
                <a:solidFill>
                  <a:srgbClr val="CCCCCC"/>
                </a:solidFill>
                <a:latin typeface="Proxima Nova"/>
                <a:ea typeface="Proxima Nova"/>
                <a:cs typeface="Proxima Nova"/>
                <a:sym typeface="Proxima Nova"/>
              </a:defRPr>
            </a:lvl7pPr>
            <a:lvl8pPr lvl="7" rtl="0" algn="r">
              <a:buNone/>
              <a:defRPr sz="1000">
                <a:solidFill>
                  <a:srgbClr val="CCCCCC"/>
                </a:solidFill>
                <a:latin typeface="Proxima Nova"/>
                <a:ea typeface="Proxima Nova"/>
                <a:cs typeface="Proxima Nova"/>
                <a:sym typeface="Proxima Nova"/>
              </a:defRPr>
            </a:lvl8pPr>
            <a:lvl9pPr lvl="8" rtl="0" algn="r">
              <a:buNone/>
              <a:defRPr sz="1000">
                <a:solidFill>
                  <a:srgbClr val="CCCCCC"/>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pic>
        <p:nvPicPr>
          <p:cNvPr id="8" name="Google Shape;8;p2"/>
          <p:cNvPicPr preferRelativeResize="0"/>
          <p:nvPr/>
        </p:nvPicPr>
        <p:blipFill>
          <a:blip r:embed="rId2">
            <a:alphaModFix/>
          </a:blip>
          <a:stretch>
            <a:fillRect/>
          </a:stretch>
        </p:blipFill>
        <p:spPr>
          <a:xfrm>
            <a:off x="8197738" y="269687"/>
            <a:ext cx="297201" cy="168825"/>
          </a:xfrm>
          <a:prstGeom prst="rect">
            <a:avLst/>
          </a:prstGeom>
          <a:noFill/>
          <a:ln>
            <a:noFill/>
          </a:ln>
        </p:spPr>
      </p:pic>
      <p:sp>
        <p:nvSpPr>
          <p:cNvPr id="9" name="Google Shape;9;p2"/>
          <p:cNvSpPr txBox="1"/>
          <p:nvPr/>
        </p:nvSpPr>
        <p:spPr>
          <a:xfrm>
            <a:off x="649063" y="154275"/>
            <a:ext cx="1497600" cy="3213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en" sz="900">
                <a:solidFill>
                  <a:srgbClr val="CCCCCC"/>
                </a:solidFill>
                <a:latin typeface="Proxima Nova"/>
                <a:ea typeface="Proxima Nova"/>
                <a:cs typeface="Proxima Nova"/>
                <a:sym typeface="Proxima Nova"/>
              </a:rPr>
              <a:t>Presentation Subject</a:t>
            </a:r>
            <a:endParaRPr sz="900">
              <a:solidFill>
                <a:srgbClr val="CCCCCC"/>
              </a:solidFill>
              <a:latin typeface="Proxima Nova"/>
              <a:ea typeface="Proxima Nova"/>
              <a:cs typeface="Proxima Nova"/>
              <a:sym typeface="Proxima Nova"/>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ster without header">
  <p:cSld name="TITLE_2">
    <p:spTree>
      <p:nvGrpSpPr>
        <p:cNvPr id="10" name="Shape 10"/>
        <p:cNvGrpSpPr/>
        <p:nvPr/>
      </p:nvGrpSpPr>
      <p:grpSpPr>
        <a:xfrm>
          <a:off x="0" y="0"/>
          <a:ext cx="0" cy="0"/>
          <a:chOff x="0" y="0"/>
          <a:chExt cx="0" cy="0"/>
        </a:xfrm>
      </p:grpSpPr>
      <p:sp>
        <p:nvSpPr>
          <p:cNvPr id="11" name="Google Shape;11;p3"/>
          <p:cNvSpPr txBox="1"/>
          <p:nvPr>
            <p:ph idx="12" type="sldNum"/>
          </p:nvPr>
        </p:nvSpPr>
        <p:spPr>
          <a:xfrm>
            <a:off x="79462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rgbClr val="CCCCCC"/>
                </a:solidFill>
                <a:latin typeface="Proxima Nova"/>
                <a:ea typeface="Proxima Nova"/>
                <a:cs typeface="Proxima Nova"/>
                <a:sym typeface="Proxima Nova"/>
              </a:defRPr>
            </a:lvl1pPr>
            <a:lvl2pPr lvl="1" rtl="0" algn="r">
              <a:buNone/>
              <a:defRPr sz="1000">
                <a:solidFill>
                  <a:srgbClr val="CCCCCC"/>
                </a:solidFill>
                <a:latin typeface="Proxima Nova"/>
                <a:ea typeface="Proxima Nova"/>
                <a:cs typeface="Proxima Nova"/>
                <a:sym typeface="Proxima Nova"/>
              </a:defRPr>
            </a:lvl2pPr>
            <a:lvl3pPr lvl="2" rtl="0" algn="r">
              <a:buNone/>
              <a:defRPr sz="1000">
                <a:solidFill>
                  <a:srgbClr val="CCCCCC"/>
                </a:solidFill>
                <a:latin typeface="Proxima Nova"/>
                <a:ea typeface="Proxima Nova"/>
                <a:cs typeface="Proxima Nova"/>
                <a:sym typeface="Proxima Nova"/>
              </a:defRPr>
            </a:lvl3pPr>
            <a:lvl4pPr lvl="3" rtl="0" algn="r">
              <a:buNone/>
              <a:defRPr sz="1000">
                <a:solidFill>
                  <a:srgbClr val="CCCCCC"/>
                </a:solidFill>
                <a:latin typeface="Proxima Nova"/>
                <a:ea typeface="Proxima Nova"/>
                <a:cs typeface="Proxima Nova"/>
                <a:sym typeface="Proxima Nova"/>
              </a:defRPr>
            </a:lvl4pPr>
            <a:lvl5pPr lvl="4" rtl="0" algn="r">
              <a:buNone/>
              <a:defRPr sz="1000">
                <a:solidFill>
                  <a:srgbClr val="CCCCCC"/>
                </a:solidFill>
                <a:latin typeface="Proxima Nova"/>
                <a:ea typeface="Proxima Nova"/>
                <a:cs typeface="Proxima Nova"/>
                <a:sym typeface="Proxima Nova"/>
              </a:defRPr>
            </a:lvl5pPr>
            <a:lvl6pPr lvl="5" rtl="0" algn="r">
              <a:buNone/>
              <a:defRPr sz="1000">
                <a:solidFill>
                  <a:srgbClr val="CCCCCC"/>
                </a:solidFill>
                <a:latin typeface="Proxima Nova"/>
                <a:ea typeface="Proxima Nova"/>
                <a:cs typeface="Proxima Nova"/>
                <a:sym typeface="Proxima Nova"/>
              </a:defRPr>
            </a:lvl6pPr>
            <a:lvl7pPr lvl="6" rtl="0" algn="r">
              <a:buNone/>
              <a:defRPr sz="1000">
                <a:solidFill>
                  <a:srgbClr val="CCCCCC"/>
                </a:solidFill>
                <a:latin typeface="Proxima Nova"/>
                <a:ea typeface="Proxima Nova"/>
                <a:cs typeface="Proxima Nova"/>
                <a:sym typeface="Proxima Nova"/>
              </a:defRPr>
            </a:lvl7pPr>
            <a:lvl8pPr lvl="7" rtl="0" algn="r">
              <a:buNone/>
              <a:defRPr sz="1000">
                <a:solidFill>
                  <a:srgbClr val="CCCCCC"/>
                </a:solidFill>
                <a:latin typeface="Proxima Nova"/>
                <a:ea typeface="Proxima Nova"/>
                <a:cs typeface="Proxima Nova"/>
                <a:sym typeface="Proxima Nova"/>
              </a:defRPr>
            </a:lvl8pPr>
            <a:lvl9pPr lvl="8" rtl="0" algn="r">
              <a:buNone/>
              <a:defRPr sz="1000">
                <a:solidFill>
                  <a:srgbClr val="CCCCCC"/>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pic>
        <p:nvPicPr>
          <p:cNvPr id="12" name="Google Shape;12;p3"/>
          <p:cNvPicPr preferRelativeResize="0"/>
          <p:nvPr/>
        </p:nvPicPr>
        <p:blipFill>
          <a:blip r:embed="rId2">
            <a:alphaModFix/>
          </a:blip>
          <a:stretch>
            <a:fillRect/>
          </a:stretch>
        </p:blipFill>
        <p:spPr>
          <a:xfrm>
            <a:off x="8197738" y="269687"/>
            <a:ext cx="297201" cy="16882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y Master">
  <p:cSld name="TITLE_1">
    <p:bg>
      <p:bgPr>
        <a:solidFill>
          <a:srgbClr val="F3F3F3"/>
        </a:solidFill>
      </p:bgPr>
    </p:bg>
    <p:spTree>
      <p:nvGrpSpPr>
        <p:cNvPr id="13" name="Shape 13"/>
        <p:cNvGrpSpPr/>
        <p:nvPr/>
      </p:nvGrpSpPr>
      <p:grpSpPr>
        <a:xfrm>
          <a:off x="0" y="0"/>
          <a:ext cx="0" cy="0"/>
          <a:chOff x="0" y="0"/>
          <a:chExt cx="0" cy="0"/>
        </a:xfrm>
      </p:grpSpPr>
      <p:sp>
        <p:nvSpPr>
          <p:cNvPr id="14" name="Google Shape;14;p4"/>
          <p:cNvSpPr txBox="1"/>
          <p:nvPr>
            <p:ph idx="12" type="sldNum"/>
          </p:nvPr>
        </p:nvSpPr>
        <p:spPr>
          <a:xfrm>
            <a:off x="79462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rgbClr val="CCCCCC"/>
                </a:solidFill>
                <a:latin typeface="Proxima Nova"/>
                <a:ea typeface="Proxima Nova"/>
                <a:cs typeface="Proxima Nova"/>
                <a:sym typeface="Proxima Nova"/>
              </a:defRPr>
            </a:lvl1pPr>
            <a:lvl2pPr lvl="1" rtl="0" algn="r">
              <a:buNone/>
              <a:defRPr sz="1000">
                <a:solidFill>
                  <a:srgbClr val="CCCCCC"/>
                </a:solidFill>
                <a:latin typeface="Proxima Nova"/>
                <a:ea typeface="Proxima Nova"/>
                <a:cs typeface="Proxima Nova"/>
                <a:sym typeface="Proxima Nova"/>
              </a:defRPr>
            </a:lvl2pPr>
            <a:lvl3pPr lvl="2" rtl="0" algn="r">
              <a:buNone/>
              <a:defRPr sz="1000">
                <a:solidFill>
                  <a:srgbClr val="CCCCCC"/>
                </a:solidFill>
                <a:latin typeface="Proxima Nova"/>
                <a:ea typeface="Proxima Nova"/>
                <a:cs typeface="Proxima Nova"/>
                <a:sym typeface="Proxima Nova"/>
              </a:defRPr>
            </a:lvl3pPr>
            <a:lvl4pPr lvl="3" rtl="0" algn="r">
              <a:buNone/>
              <a:defRPr sz="1000">
                <a:solidFill>
                  <a:srgbClr val="CCCCCC"/>
                </a:solidFill>
                <a:latin typeface="Proxima Nova"/>
                <a:ea typeface="Proxima Nova"/>
                <a:cs typeface="Proxima Nova"/>
                <a:sym typeface="Proxima Nova"/>
              </a:defRPr>
            </a:lvl4pPr>
            <a:lvl5pPr lvl="4" rtl="0" algn="r">
              <a:buNone/>
              <a:defRPr sz="1000">
                <a:solidFill>
                  <a:srgbClr val="CCCCCC"/>
                </a:solidFill>
                <a:latin typeface="Proxima Nova"/>
                <a:ea typeface="Proxima Nova"/>
                <a:cs typeface="Proxima Nova"/>
                <a:sym typeface="Proxima Nova"/>
              </a:defRPr>
            </a:lvl5pPr>
            <a:lvl6pPr lvl="5" rtl="0" algn="r">
              <a:buNone/>
              <a:defRPr sz="1000">
                <a:solidFill>
                  <a:srgbClr val="CCCCCC"/>
                </a:solidFill>
                <a:latin typeface="Proxima Nova"/>
                <a:ea typeface="Proxima Nova"/>
                <a:cs typeface="Proxima Nova"/>
                <a:sym typeface="Proxima Nova"/>
              </a:defRPr>
            </a:lvl6pPr>
            <a:lvl7pPr lvl="6" rtl="0" algn="r">
              <a:buNone/>
              <a:defRPr sz="1000">
                <a:solidFill>
                  <a:srgbClr val="CCCCCC"/>
                </a:solidFill>
                <a:latin typeface="Proxima Nova"/>
                <a:ea typeface="Proxima Nova"/>
                <a:cs typeface="Proxima Nova"/>
                <a:sym typeface="Proxima Nova"/>
              </a:defRPr>
            </a:lvl7pPr>
            <a:lvl8pPr lvl="7" rtl="0" algn="r">
              <a:buNone/>
              <a:defRPr sz="1000">
                <a:solidFill>
                  <a:srgbClr val="CCCCCC"/>
                </a:solidFill>
                <a:latin typeface="Proxima Nova"/>
                <a:ea typeface="Proxima Nova"/>
                <a:cs typeface="Proxima Nova"/>
                <a:sym typeface="Proxima Nova"/>
              </a:defRPr>
            </a:lvl8pPr>
            <a:lvl9pPr lvl="8" rtl="0" algn="r">
              <a:buNone/>
              <a:defRPr sz="1000">
                <a:solidFill>
                  <a:srgbClr val="CCCCCC"/>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pic>
        <p:nvPicPr>
          <p:cNvPr id="15" name="Google Shape;15;p4"/>
          <p:cNvPicPr preferRelativeResize="0"/>
          <p:nvPr/>
        </p:nvPicPr>
        <p:blipFill>
          <a:blip r:embed="rId2">
            <a:alphaModFix/>
          </a:blip>
          <a:stretch>
            <a:fillRect/>
          </a:stretch>
        </p:blipFill>
        <p:spPr>
          <a:xfrm>
            <a:off x="8197738" y="269687"/>
            <a:ext cx="297201" cy="168825"/>
          </a:xfrm>
          <a:prstGeom prst="rect">
            <a:avLst/>
          </a:prstGeom>
          <a:noFill/>
          <a:ln>
            <a:noFill/>
          </a:ln>
        </p:spPr>
      </p:pic>
      <p:sp>
        <p:nvSpPr>
          <p:cNvPr id="16" name="Google Shape;16;p4"/>
          <p:cNvSpPr txBox="1"/>
          <p:nvPr/>
        </p:nvSpPr>
        <p:spPr>
          <a:xfrm>
            <a:off x="649063" y="154275"/>
            <a:ext cx="1497600" cy="3213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en" sz="900">
                <a:solidFill>
                  <a:srgbClr val="CCCCCC"/>
                </a:solidFill>
                <a:latin typeface="Proxima Nova"/>
                <a:ea typeface="Proxima Nova"/>
                <a:cs typeface="Proxima Nova"/>
                <a:sym typeface="Proxima Nova"/>
              </a:rPr>
              <a:t>Presentation Subject</a:t>
            </a:r>
            <a:endParaRPr sz="900">
              <a:solidFill>
                <a:srgbClr val="CCCCCC"/>
              </a:solidFill>
              <a:latin typeface="Proxima Nova"/>
              <a:ea typeface="Proxima Nova"/>
              <a:cs typeface="Proxima Nova"/>
              <a:sym typeface="Proxima Nova"/>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d" type="secHead">
  <p:cSld name="SECTION_HEADER">
    <p:bg>
      <p:bgPr>
        <a:solidFill>
          <a:srgbClr val="E23208"/>
        </a:solidFill>
      </p:bgPr>
    </p:bg>
    <p:spTree>
      <p:nvGrpSpPr>
        <p:cNvPr id="17" name="Shape 17"/>
        <p:cNvGrpSpPr/>
        <p:nvPr/>
      </p:nvGrpSpPr>
      <p:grpSpPr>
        <a:xfrm>
          <a:off x="0" y="0"/>
          <a:ext cx="0" cy="0"/>
          <a:chOff x="0" y="0"/>
          <a:chExt cx="0" cy="0"/>
        </a:xfrm>
      </p:grpSpPr>
      <p:sp>
        <p:nvSpPr>
          <p:cNvPr id="18" name="Google Shape;18;p5"/>
          <p:cNvSpPr txBox="1"/>
          <p:nvPr>
            <p:ph idx="12" type="sldNum"/>
          </p:nvPr>
        </p:nvSpPr>
        <p:spPr>
          <a:xfrm>
            <a:off x="79462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rgbClr val="CCCCCC"/>
                </a:solidFill>
                <a:latin typeface="Proxima Nova"/>
                <a:ea typeface="Proxima Nova"/>
                <a:cs typeface="Proxima Nova"/>
                <a:sym typeface="Proxima Nova"/>
              </a:defRPr>
            </a:lvl1pPr>
            <a:lvl2pPr lvl="1" rtl="0" algn="r">
              <a:buNone/>
              <a:defRPr sz="1000">
                <a:solidFill>
                  <a:srgbClr val="CCCCCC"/>
                </a:solidFill>
                <a:latin typeface="Proxima Nova"/>
                <a:ea typeface="Proxima Nova"/>
                <a:cs typeface="Proxima Nova"/>
                <a:sym typeface="Proxima Nova"/>
              </a:defRPr>
            </a:lvl2pPr>
            <a:lvl3pPr lvl="2" rtl="0" algn="r">
              <a:buNone/>
              <a:defRPr sz="1000">
                <a:solidFill>
                  <a:srgbClr val="CCCCCC"/>
                </a:solidFill>
                <a:latin typeface="Proxima Nova"/>
                <a:ea typeface="Proxima Nova"/>
                <a:cs typeface="Proxima Nova"/>
                <a:sym typeface="Proxima Nova"/>
              </a:defRPr>
            </a:lvl3pPr>
            <a:lvl4pPr lvl="3" rtl="0" algn="r">
              <a:buNone/>
              <a:defRPr sz="1000">
                <a:solidFill>
                  <a:srgbClr val="CCCCCC"/>
                </a:solidFill>
                <a:latin typeface="Proxima Nova"/>
                <a:ea typeface="Proxima Nova"/>
                <a:cs typeface="Proxima Nova"/>
                <a:sym typeface="Proxima Nova"/>
              </a:defRPr>
            </a:lvl4pPr>
            <a:lvl5pPr lvl="4" rtl="0" algn="r">
              <a:buNone/>
              <a:defRPr sz="1000">
                <a:solidFill>
                  <a:srgbClr val="CCCCCC"/>
                </a:solidFill>
                <a:latin typeface="Proxima Nova"/>
                <a:ea typeface="Proxima Nova"/>
                <a:cs typeface="Proxima Nova"/>
                <a:sym typeface="Proxima Nova"/>
              </a:defRPr>
            </a:lvl5pPr>
            <a:lvl6pPr lvl="5" rtl="0" algn="r">
              <a:buNone/>
              <a:defRPr sz="1000">
                <a:solidFill>
                  <a:srgbClr val="CCCCCC"/>
                </a:solidFill>
                <a:latin typeface="Proxima Nova"/>
                <a:ea typeface="Proxima Nova"/>
                <a:cs typeface="Proxima Nova"/>
                <a:sym typeface="Proxima Nova"/>
              </a:defRPr>
            </a:lvl6pPr>
            <a:lvl7pPr lvl="6" rtl="0" algn="r">
              <a:buNone/>
              <a:defRPr sz="1000">
                <a:solidFill>
                  <a:srgbClr val="CCCCCC"/>
                </a:solidFill>
                <a:latin typeface="Proxima Nova"/>
                <a:ea typeface="Proxima Nova"/>
                <a:cs typeface="Proxima Nova"/>
                <a:sym typeface="Proxima Nova"/>
              </a:defRPr>
            </a:lvl7pPr>
            <a:lvl8pPr lvl="7" rtl="0" algn="r">
              <a:buNone/>
              <a:defRPr sz="1000">
                <a:solidFill>
                  <a:srgbClr val="CCCCCC"/>
                </a:solidFill>
                <a:latin typeface="Proxima Nova"/>
                <a:ea typeface="Proxima Nova"/>
                <a:cs typeface="Proxima Nova"/>
                <a:sym typeface="Proxima Nova"/>
              </a:defRPr>
            </a:lvl8pPr>
            <a:lvl9pPr lvl="8" rtl="0" algn="r">
              <a:buNone/>
              <a:defRPr sz="1000">
                <a:solidFill>
                  <a:srgbClr val="CCCCCC"/>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pic>
        <p:nvPicPr>
          <p:cNvPr id="19" name="Google Shape;19;p5"/>
          <p:cNvPicPr preferRelativeResize="0"/>
          <p:nvPr/>
        </p:nvPicPr>
        <p:blipFill>
          <a:blip r:embed="rId2">
            <a:alphaModFix/>
          </a:blip>
          <a:stretch>
            <a:fillRect/>
          </a:stretch>
        </p:blipFill>
        <p:spPr>
          <a:xfrm>
            <a:off x="8197738" y="269687"/>
            <a:ext cx="297201" cy="16882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cean">
  <p:cSld name="SECTION_HEADER_2">
    <p:bg>
      <p:bgPr>
        <a:solidFill>
          <a:srgbClr val="518C8F"/>
        </a:solidFill>
      </p:bgPr>
    </p:bg>
    <p:spTree>
      <p:nvGrpSpPr>
        <p:cNvPr id="20" name="Shape 20"/>
        <p:cNvGrpSpPr/>
        <p:nvPr/>
      </p:nvGrpSpPr>
      <p:grpSpPr>
        <a:xfrm>
          <a:off x="0" y="0"/>
          <a:ext cx="0" cy="0"/>
          <a:chOff x="0" y="0"/>
          <a:chExt cx="0" cy="0"/>
        </a:xfrm>
      </p:grpSpPr>
      <p:sp>
        <p:nvSpPr>
          <p:cNvPr id="21" name="Google Shape;21;p6"/>
          <p:cNvSpPr txBox="1"/>
          <p:nvPr>
            <p:ph idx="12" type="sldNum"/>
          </p:nvPr>
        </p:nvSpPr>
        <p:spPr>
          <a:xfrm>
            <a:off x="79462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rgbClr val="CCCCCC"/>
                </a:solidFill>
                <a:latin typeface="Proxima Nova"/>
                <a:ea typeface="Proxima Nova"/>
                <a:cs typeface="Proxima Nova"/>
                <a:sym typeface="Proxima Nova"/>
              </a:defRPr>
            </a:lvl1pPr>
            <a:lvl2pPr lvl="1" rtl="0" algn="r">
              <a:buNone/>
              <a:defRPr sz="1000">
                <a:solidFill>
                  <a:srgbClr val="CCCCCC"/>
                </a:solidFill>
                <a:latin typeface="Proxima Nova"/>
                <a:ea typeface="Proxima Nova"/>
                <a:cs typeface="Proxima Nova"/>
                <a:sym typeface="Proxima Nova"/>
              </a:defRPr>
            </a:lvl2pPr>
            <a:lvl3pPr lvl="2" rtl="0" algn="r">
              <a:buNone/>
              <a:defRPr sz="1000">
                <a:solidFill>
                  <a:srgbClr val="CCCCCC"/>
                </a:solidFill>
                <a:latin typeface="Proxima Nova"/>
                <a:ea typeface="Proxima Nova"/>
                <a:cs typeface="Proxima Nova"/>
                <a:sym typeface="Proxima Nova"/>
              </a:defRPr>
            </a:lvl3pPr>
            <a:lvl4pPr lvl="3" rtl="0" algn="r">
              <a:buNone/>
              <a:defRPr sz="1000">
                <a:solidFill>
                  <a:srgbClr val="CCCCCC"/>
                </a:solidFill>
                <a:latin typeface="Proxima Nova"/>
                <a:ea typeface="Proxima Nova"/>
                <a:cs typeface="Proxima Nova"/>
                <a:sym typeface="Proxima Nova"/>
              </a:defRPr>
            </a:lvl4pPr>
            <a:lvl5pPr lvl="4" rtl="0" algn="r">
              <a:buNone/>
              <a:defRPr sz="1000">
                <a:solidFill>
                  <a:srgbClr val="CCCCCC"/>
                </a:solidFill>
                <a:latin typeface="Proxima Nova"/>
                <a:ea typeface="Proxima Nova"/>
                <a:cs typeface="Proxima Nova"/>
                <a:sym typeface="Proxima Nova"/>
              </a:defRPr>
            </a:lvl5pPr>
            <a:lvl6pPr lvl="5" rtl="0" algn="r">
              <a:buNone/>
              <a:defRPr sz="1000">
                <a:solidFill>
                  <a:srgbClr val="CCCCCC"/>
                </a:solidFill>
                <a:latin typeface="Proxima Nova"/>
                <a:ea typeface="Proxima Nova"/>
                <a:cs typeface="Proxima Nova"/>
                <a:sym typeface="Proxima Nova"/>
              </a:defRPr>
            </a:lvl6pPr>
            <a:lvl7pPr lvl="6" rtl="0" algn="r">
              <a:buNone/>
              <a:defRPr sz="1000">
                <a:solidFill>
                  <a:srgbClr val="CCCCCC"/>
                </a:solidFill>
                <a:latin typeface="Proxima Nova"/>
                <a:ea typeface="Proxima Nova"/>
                <a:cs typeface="Proxima Nova"/>
                <a:sym typeface="Proxima Nova"/>
              </a:defRPr>
            </a:lvl7pPr>
            <a:lvl8pPr lvl="7" rtl="0" algn="r">
              <a:buNone/>
              <a:defRPr sz="1000">
                <a:solidFill>
                  <a:srgbClr val="CCCCCC"/>
                </a:solidFill>
                <a:latin typeface="Proxima Nova"/>
                <a:ea typeface="Proxima Nova"/>
                <a:cs typeface="Proxima Nova"/>
                <a:sym typeface="Proxima Nova"/>
              </a:defRPr>
            </a:lvl8pPr>
            <a:lvl9pPr lvl="8" rtl="0" algn="r">
              <a:buNone/>
              <a:defRPr sz="1000">
                <a:solidFill>
                  <a:srgbClr val="CCCCCC"/>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pic>
        <p:nvPicPr>
          <p:cNvPr id="22" name="Google Shape;22;p6"/>
          <p:cNvPicPr preferRelativeResize="0"/>
          <p:nvPr/>
        </p:nvPicPr>
        <p:blipFill>
          <a:blip r:embed="rId2">
            <a:alphaModFix/>
          </a:blip>
          <a:stretch>
            <a:fillRect/>
          </a:stretch>
        </p:blipFill>
        <p:spPr>
          <a:xfrm>
            <a:off x="8197738" y="269687"/>
            <a:ext cx="297201" cy="16882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lush">
  <p:cSld name="SECTION_HEADER_1">
    <p:bg>
      <p:bgPr>
        <a:solidFill>
          <a:srgbClr val="E5BBB7"/>
        </a:solidFill>
      </p:bgPr>
    </p:bg>
    <p:spTree>
      <p:nvGrpSpPr>
        <p:cNvPr id="23" name="Shape 23"/>
        <p:cNvGrpSpPr/>
        <p:nvPr/>
      </p:nvGrpSpPr>
      <p:grpSpPr>
        <a:xfrm>
          <a:off x="0" y="0"/>
          <a:ext cx="0" cy="0"/>
          <a:chOff x="0" y="0"/>
          <a:chExt cx="0" cy="0"/>
        </a:xfrm>
      </p:grpSpPr>
      <p:sp>
        <p:nvSpPr>
          <p:cNvPr id="24" name="Google Shape;24;p7"/>
          <p:cNvSpPr txBox="1"/>
          <p:nvPr>
            <p:ph idx="12" type="sldNum"/>
          </p:nvPr>
        </p:nvSpPr>
        <p:spPr>
          <a:xfrm>
            <a:off x="79462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rgbClr val="F3F3F3"/>
                </a:solidFill>
                <a:latin typeface="Proxima Nova"/>
                <a:ea typeface="Proxima Nova"/>
                <a:cs typeface="Proxima Nova"/>
                <a:sym typeface="Proxima Nova"/>
              </a:defRPr>
            </a:lvl1pPr>
            <a:lvl2pPr lvl="1" rtl="0" algn="r">
              <a:buNone/>
              <a:defRPr sz="1000">
                <a:solidFill>
                  <a:srgbClr val="F3F3F3"/>
                </a:solidFill>
                <a:latin typeface="Proxima Nova"/>
                <a:ea typeface="Proxima Nova"/>
                <a:cs typeface="Proxima Nova"/>
                <a:sym typeface="Proxima Nova"/>
              </a:defRPr>
            </a:lvl2pPr>
            <a:lvl3pPr lvl="2" rtl="0" algn="r">
              <a:buNone/>
              <a:defRPr sz="1000">
                <a:solidFill>
                  <a:srgbClr val="F3F3F3"/>
                </a:solidFill>
                <a:latin typeface="Proxima Nova"/>
                <a:ea typeface="Proxima Nova"/>
                <a:cs typeface="Proxima Nova"/>
                <a:sym typeface="Proxima Nova"/>
              </a:defRPr>
            </a:lvl3pPr>
            <a:lvl4pPr lvl="3" rtl="0" algn="r">
              <a:buNone/>
              <a:defRPr sz="1000">
                <a:solidFill>
                  <a:srgbClr val="F3F3F3"/>
                </a:solidFill>
                <a:latin typeface="Proxima Nova"/>
                <a:ea typeface="Proxima Nova"/>
                <a:cs typeface="Proxima Nova"/>
                <a:sym typeface="Proxima Nova"/>
              </a:defRPr>
            </a:lvl4pPr>
            <a:lvl5pPr lvl="4" rtl="0" algn="r">
              <a:buNone/>
              <a:defRPr sz="1000">
                <a:solidFill>
                  <a:srgbClr val="F3F3F3"/>
                </a:solidFill>
                <a:latin typeface="Proxima Nova"/>
                <a:ea typeface="Proxima Nova"/>
                <a:cs typeface="Proxima Nova"/>
                <a:sym typeface="Proxima Nova"/>
              </a:defRPr>
            </a:lvl5pPr>
            <a:lvl6pPr lvl="5" rtl="0" algn="r">
              <a:buNone/>
              <a:defRPr sz="1000">
                <a:solidFill>
                  <a:srgbClr val="F3F3F3"/>
                </a:solidFill>
                <a:latin typeface="Proxima Nova"/>
                <a:ea typeface="Proxima Nova"/>
                <a:cs typeface="Proxima Nova"/>
                <a:sym typeface="Proxima Nova"/>
              </a:defRPr>
            </a:lvl6pPr>
            <a:lvl7pPr lvl="6" rtl="0" algn="r">
              <a:buNone/>
              <a:defRPr sz="1000">
                <a:solidFill>
                  <a:srgbClr val="F3F3F3"/>
                </a:solidFill>
                <a:latin typeface="Proxima Nova"/>
                <a:ea typeface="Proxima Nova"/>
                <a:cs typeface="Proxima Nova"/>
                <a:sym typeface="Proxima Nova"/>
              </a:defRPr>
            </a:lvl7pPr>
            <a:lvl8pPr lvl="7" rtl="0" algn="r">
              <a:buNone/>
              <a:defRPr sz="1000">
                <a:solidFill>
                  <a:srgbClr val="F3F3F3"/>
                </a:solidFill>
                <a:latin typeface="Proxima Nova"/>
                <a:ea typeface="Proxima Nova"/>
                <a:cs typeface="Proxima Nova"/>
                <a:sym typeface="Proxima Nova"/>
              </a:defRPr>
            </a:lvl8pPr>
            <a:lvl9pPr lvl="8" rtl="0" algn="r">
              <a:buNone/>
              <a:defRPr sz="1000">
                <a:solidFill>
                  <a:srgbClr val="F3F3F3"/>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pic>
        <p:nvPicPr>
          <p:cNvPr id="25" name="Google Shape;25;p7"/>
          <p:cNvPicPr preferRelativeResize="0"/>
          <p:nvPr/>
        </p:nvPicPr>
        <p:blipFill>
          <a:blip r:embed="rId2">
            <a:alphaModFix/>
          </a:blip>
          <a:stretch>
            <a:fillRect/>
          </a:stretch>
        </p:blipFill>
        <p:spPr>
          <a:xfrm>
            <a:off x="8197738" y="269687"/>
            <a:ext cx="297201" cy="16882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ky">
  <p:cSld name="SECTION_HEADER_1_1">
    <p:bg>
      <p:bgPr>
        <a:solidFill>
          <a:srgbClr val="BEDFE9"/>
        </a:solidFill>
      </p:bgPr>
    </p:bg>
    <p:spTree>
      <p:nvGrpSpPr>
        <p:cNvPr id="26" name="Shape 26"/>
        <p:cNvGrpSpPr/>
        <p:nvPr/>
      </p:nvGrpSpPr>
      <p:grpSpPr>
        <a:xfrm>
          <a:off x="0" y="0"/>
          <a:ext cx="0" cy="0"/>
          <a:chOff x="0" y="0"/>
          <a:chExt cx="0" cy="0"/>
        </a:xfrm>
      </p:grpSpPr>
      <p:sp>
        <p:nvSpPr>
          <p:cNvPr id="27" name="Google Shape;27;p8"/>
          <p:cNvSpPr txBox="1"/>
          <p:nvPr>
            <p:ph idx="12" type="sldNum"/>
          </p:nvPr>
        </p:nvSpPr>
        <p:spPr>
          <a:xfrm>
            <a:off x="79462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rgbClr val="F3F3F3"/>
                </a:solidFill>
                <a:latin typeface="Proxima Nova"/>
                <a:ea typeface="Proxima Nova"/>
                <a:cs typeface="Proxima Nova"/>
                <a:sym typeface="Proxima Nova"/>
              </a:defRPr>
            </a:lvl1pPr>
            <a:lvl2pPr lvl="1" rtl="0" algn="r">
              <a:buNone/>
              <a:defRPr sz="1000">
                <a:solidFill>
                  <a:srgbClr val="F3F3F3"/>
                </a:solidFill>
                <a:latin typeface="Proxima Nova"/>
                <a:ea typeface="Proxima Nova"/>
                <a:cs typeface="Proxima Nova"/>
                <a:sym typeface="Proxima Nova"/>
              </a:defRPr>
            </a:lvl2pPr>
            <a:lvl3pPr lvl="2" rtl="0" algn="r">
              <a:buNone/>
              <a:defRPr sz="1000">
                <a:solidFill>
                  <a:srgbClr val="F3F3F3"/>
                </a:solidFill>
                <a:latin typeface="Proxima Nova"/>
                <a:ea typeface="Proxima Nova"/>
                <a:cs typeface="Proxima Nova"/>
                <a:sym typeface="Proxima Nova"/>
              </a:defRPr>
            </a:lvl3pPr>
            <a:lvl4pPr lvl="3" rtl="0" algn="r">
              <a:buNone/>
              <a:defRPr sz="1000">
                <a:solidFill>
                  <a:srgbClr val="F3F3F3"/>
                </a:solidFill>
                <a:latin typeface="Proxima Nova"/>
                <a:ea typeface="Proxima Nova"/>
                <a:cs typeface="Proxima Nova"/>
                <a:sym typeface="Proxima Nova"/>
              </a:defRPr>
            </a:lvl4pPr>
            <a:lvl5pPr lvl="4" rtl="0" algn="r">
              <a:buNone/>
              <a:defRPr sz="1000">
                <a:solidFill>
                  <a:srgbClr val="F3F3F3"/>
                </a:solidFill>
                <a:latin typeface="Proxima Nova"/>
                <a:ea typeface="Proxima Nova"/>
                <a:cs typeface="Proxima Nova"/>
                <a:sym typeface="Proxima Nova"/>
              </a:defRPr>
            </a:lvl5pPr>
            <a:lvl6pPr lvl="5" rtl="0" algn="r">
              <a:buNone/>
              <a:defRPr sz="1000">
                <a:solidFill>
                  <a:srgbClr val="F3F3F3"/>
                </a:solidFill>
                <a:latin typeface="Proxima Nova"/>
                <a:ea typeface="Proxima Nova"/>
                <a:cs typeface="Proxima Nova"/>
                <a:sym typeface="Proxima Nova"/>
              </a:defRPr>
            </a:lvl6pPr>
            <a:lvl7pPr lvl="6" rtl="0" algn="r">
              <a:buNone/>
              <a:defRPr sz="1000">
                <a:solidFill>
                  <a:srgbClr val="F3F3F3"/>
                </a:solidFill>
                <a:latin typeface="Proxima Nova"/>
                <a:ea typeface="Proxima Nova"/>
                <a:cs typeface="Proxima Nova"/>
                <a:sym typeface="Proxima Nova"/>
              </a:defRPr>
            </a:lvl7pPr>
            <a:lvl8pPr lvl="7" rtl="0" algn="r">
              <a:buNone/>
              <a:defRPr sz="1000">
                <a:solidFill>
                  <a:srgbClr val="F3F3F3"/>
                </a:solidFill>
                <a:latin typeface="Proxima Nova"/>
                <a:ea typeface="Proxima Nova"/>
                <a:cs typeface="Proxima Nova"/>
                <a:sym typeface="Proxima Nova"/>
              </a:defRPr>
            </a:lvl8pPr>
            <a:lvl9pPr lvl="8" rtl="0" algn="r">
              <a:buNone/>
              <a:defRPr sz="1000">
                <a:solidFill>
                  <a:srgbClr val="F3F3F3"/>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pic>
        <p:nvPicPr>
          <p:cNvPr id="28" name="Google Shape;28;p8"/>
          <p:cNvPicPr preferRelativeResize="0"/>
          <p:nvPr/>
        </p:nvPicPr>
        <p:blipFill>
          <a:blip r:embed="rId2">
            <a:alphaModFix/>
          </a:blip>
          <a:stretch>
            <a:fillRect/>
          </a:stretch>
        </p:blipFill>
        <p:spPr>
          <a:xfrm>
            <a:off x="8197738" y="269687"/>
            <a:ext cx="297201" cy="168825"/>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mon">
  <p:cSld name="SECTION_HEADER_1_1_2">
    <p:bg>
      <p:bgPr>
        <a:solidFill>
          <a:srgbClr val="F8E500"/>
        </a:solidFill>
      </p:bgPr>
    </p:bg>
    <p:spTree>
      <p:nvGrpSpPr>
        <p:cNvPr id="29" name="Shape 29"/>
        <p:cNvGrpSpPr/>
        <p:nvPr/>
      </p:nvGrpSpPr>
      <p:grpSpPr>
        <a:xfrm>
          <a:off x="0" y="0"/>
          <a:ext cx="0" cy="0"/>
          <a:chOff x="0" y="0"/>
          <a:chExt cx="0" cy="0"/>
        </a:xfrm>
      </p:grpSpPr>
      <p:sp>
        <p:nvSpPr>
          <p:cNvPr id="30" name="Google Shape;30;p9"/>
          <p:cNvSpPr txBox="1"/>
          <p:nvPr>
            <p:ph idx="12" type="sldNum"/>
          </p:nvPr>
        </p:nvSpPr>
        <p:spPr>
          <a:xfrm>
            <a:off x="79462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rgbClr val="FFFFFF"/>
                </a:solidFill>
                <a:latin typeface="Proxima Nova"/>
                <a:ea typeface="Proxima Nova"/>
                <a:cs typeface="Proxima Nova"/>
                <a:sym typeface="Proxima Nova"/>
              </a:defRPr>
            </a:lvl1pPr>
            <a:lvl2pPr lvl="1" rtl="0" algn="r">
              <a:buNone/>
              <a:defRPr sz="1000">
                <a:solidFill>
                  <a:srgbClr val="FFFFFF"/>
                </a:solidFill>
                <a:latin typeface="Proxima Nova"/>
                <a:ea typeface="Proxima Nova"/>
                <a:cs typeface="Proxima Nova"/>
                <a:sym typeface="Proxima Nova"/>
              </a:defRPr>
            </a:lvl2pPr>
            <a:lvl3pPr lvl="2" rtl="0" algn="r">
              <a:buNone/>
              <a:defRPr sz="1000">
                <a:solidFill>
                  <a:srgbClr val="FFFFFF"/>
                </a:solidFill>
                <a:latin typeface="Proxima Nova"/>
                <a:ea typeface="Proxima Nova"/>
                <a:cs typeface="Proxima Nova"/>
                <a:sym typeface="Proxima Nova"/>
              </a:defRPr>
            </a:lvl3pPr>
            <a:lvl4pPr lvl="3" rtl="0" algn="r">
              <a:buNone/>
              <a:defRPr sz="1000">
                <a:solidFill>
                  <a:srgbClr val="FFFFFF"/>
                </a:solidFill>
                <a:latin typeface="Proxima Nova"/>
                <a:ea typeface="Proxima Nova"/>
                <a:cs typeface="Proxima Nova"/>
                <a:sym typeface="Proxima Nova"/>
              </a:defRPr>
            </a:lvl4pPr>
            <a:lvl5pPr lvl="4" rtl="0" algn="r">
              <a:buNone/>
              <a:defRPr sz="1000">
                <a:solidFill>
                  <a:srgbClr val="FFFFFF"/>
                </a:solidFill>
                <a:latin typeface="Proxima Nova"/>
                <a:ea typeface="Proxima Nova"/>
                <a:cs typeface="Proxima Nova"/>
                <a:sym typeface="Proxima Nova"/>
              </a:defRPr>
            </a:lvl5pPr>
            <a:lvl6pPr lvl="5" rtl="0" algn="r">
              <a:buNone/>
              <a:defRPr sz="1000">
                <a:solidFill>
                  <a:srgbClr val="FFFFFF"/>
                </a:solidFill>
                <a:latin typeface="Proxima Nova"/>
                <a:ea typeface="Proxima Nova"/>
                <a:cs typeface="Proxima Nova"/>
                <a:sym typeface="Proxima Nova"/>
              </a:defRPr>
            </a:lvl6pPr>
            <a:lvl7pPr lvl="6" rtl="0" algn="r">
              <a:buNone/>
              <a:defRPr sz="1000">
                <a:solidFill>
                  <a:srgbClr val="FFFFFF"/>
                </a:solidFill>
                <a:latin typeface="Proxima Nova"/>
                <a:ea typeface="Proxima Nova"/>
                <a:cs typeface="Proxima Nova"/>
                <a:sym typeface="Proxima Nova"/>
              </a:defRPr>
            </a:lvl7pPr>
            <a:lvl8pPr lvl="7" rtl="0" algn="r">
              <a:buNone/>
              <a:defRPr sz="1000">
                <a:solidFill>
                  <a:srgbClr val="FFFFFF"/>
                </a:solidFill>
                <a:latin typeface="Proxima Nova"/>
                <a:ea typeface="Proxima Nova"/>
                <a:cs typeface="Proxima Nova"/>
                <a:sym typeface="Proxima Nova"/>
              </a:defRPr>
            </a:lvl8pPr>
            <a:lvl9pPr lvl="8" rtl="0" algn="r">
              <a:buNone/>
              <a:defRPr sz="1000">
                <a:solidFill>
                  <a:srgbClr val="FFFFFF"/>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pic>
        <p:nvPicPr>
          <p:cNvPr id="31" name="Google Shape;31;p9"/>
          <p:cNvPicPr preferRelativeResize="0"/>
          <p:nvPr/>
        </p:nvPicPr>
        <p:blipFill>
          <a:blip r:embed="rId2">
            <a:alphaModFix/>
          </a:blip>
          <a:stretch>
            <a:fillRect/>
          </a:stretch>
        </p:blipFill>
        <p:spPr>
          <a:xfrm>
            <a:off x="8197738" y="269687"/>
            <a:ext cx="297201" cy="168825"/>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rest">
  <p:cSld name="SECTION_HEADER_1_1_1">
    <p:bg>
      <p:bgPr>
        <a:solidFill>
          <a:srgbClr val="3A5648"/>
        </a:solidFill>
      </p:bgPr>
    </p:bg>
    <p:spTree>
      <p:nvGrpSpPr>
        <p:cNvPr id="32" name="Shape 32"/>
        <p:cNvGrpSpPr/>
        <p:nvPr/>
      </p:nvGrpSpPr>
      <p:grpSpPr>
        <a:xfrm>
          <a:off x="0" y="0"/>
          <a:ext cx="0" cy="0"/>
          <a:chOff x="0" y="0"/>
          <a:chExt cx="0" cy="0"/>
        </a:xfrm>
      </p:grpSpPr>
      <p:sp>
        <p:nvSpPr>
          <p:cNvPr id="33" name="Google Shape;33;p10"/>
          <p:cNvSpPr txBox="1"/>
          <p:nvPr>
            <p:ph idx="12" type="sldNum"/>
          </p:nvPr>
        </p:nvSpPr>
        <p:spPr>
          <a:xfrm>
            <a:off x="79462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rgbClr val="CCCCCC"/>
                </a:solidFill>
                <a:latin typeface="Proxima Nova"/>
                <a:ea typeface="Proxima Nova"/>
                <a:cs typeface="Proxima Nova"/>
                <a:sym typeface="Proxima Nova"/>
              </a:defRPr>
            </a:lvl1pPr>
            <a:lvl2pPr lvl="1" rtl="0" algn="r">
              <a:buNone/>
              <a:defRPr sz="1000">
                <a:solidFill>
                  <a:srgbClr val="CCCCCC"/>
                </a:solidFill>
                <a:latin typeface="Proxima Nova"/>
                <a:ea typeface="Proxima Nova"/>
                <a:cs typeface="Proxima Nova"/>
                <a:sym typeface="Proxima Nova"/>
              </a:defRPr>
            </a:lvl2pPr>
            <a:lvl3pPr lvl="2" rtl="0" algn="r">
              <a:buNone/>
              <a:defRPr sz="1000">
                <a:solidFill>
                  <a:srgbClr val="CCCCCC"/>
                </a:solidFill>
                <a:latin typeface="Proxima Nova"/>
                <a:ea typeface="Proxima Nova"/>
                <a:cs typeface="Proxima Nova"/>
                <a:sym typeface="Proxima Nova"/>
              </a:defRPr>
            </a:lvl3pPr>
            <a:lvl4pPr lvl="3" rtl="0" algn="r">
              <a:buNone/>
              <a:defRPr sz="1000">
                <a:solidFill>
                  <a:srgbClr val="CCCCCC"/>
                </a:solidFill>
                <a:latin typeface="Proxima Nova"/>
                <a:ea typeface="Proxima Nova"/>
                <a:cs typeface="Proxima Nova"/>
                <a:sym typeface="Proxima Nova"/>
              </a:defRPr>
            </a:lvl4pPr>
            <a:lvl5pPr lvl="4" rtl="0" algn="r">
              <a:buNone/>
              <a:defRPr sz="1000">
                <a:solidFill>
                  <a:srgbClr val="CCCCCC"/>
                </a:solidFill>
                <a:latin typeface="Proxima Nova"/>
                <a:ea typeface="Proxima Nova"/>
                <a:cs typeface="Proxima Nova"/>
                <a:sym typeface="Proxima Nova"/>
              </a:defRPr>
            </a:lvl5pPr>
            <a:lvl6pPr lvl="5" rtl="0" algn="r">
              <a:buNone/>
              <a:defRPr sz="1000">
                <a:solidFill>
                  <a:srgbClr val="CCCCCC"/>
                </a:solidFill>
                <a:latin typeface="Proxima Nova"/>
                <a:ea typeface="Proxima Nova"/>
                <a:cs typeface="Proxima Nova"/>
                <a:sym typeface="Proxima Nova"/>
              </a:defRPr>
            </a:lvl6pPr>
            <a:lvl7pPr lvl="6" rtl="0" algn="r">
              <a:buNone/>
              <a:defRPr sz="1000">
                <a:solidFill>
                  <a:srgbClr val="CCCCCC"/>
                </a:solidFill>
                <a:latin typeface="Proxima Nova"/>
                <a:ea typeface="Proxima Nova"/>
                <a:cs typeface="Proxima Nova"/>
                <a:sym typeface="Proxima Nova"/>
              </a:defRPr>
            </a:lvl7pPr>
            <a:lvl8pPr lvl="7" rtl="0" algn="r">
              <a:buNone/>
              <a:defRPr sz="1000">
                <a:solidFill>
                  <a:srgbClr val="CCCCCC"/>
                </a:solidFill>
                <a:latin typeface="Proxima Nova"/>
                <a:ea typeface="Proxima Nova"/>
                <a:cs typeface="Proxima Nova"/>
                <a:sym typeface="Proxima Nova"/>
              </a:defRPr>
            </a:lvl8pPr>
            <a:lvl9pPr lvl="8" rtl="0" algn="r">
              <a:buNone/>
              <a:defRPr sz="1000">
                <a:solidFill>
                  <a:srgbClr val="CCCCCC"/>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pic>
        <p:nvPicPr>
          <p:cNvPr id="34" name="Google Shape;34;p10"/>
          <p:cNvPicPr preferRelativeResize="0"/>
          <p:nvPr/>
        </p:nvPicPr>
        <p:blipFill>
          <a:blip r:embed="rId2">
            <a:alphaModFix/>
          </a:blip>
          <a:stretch>
            <a:fillRect/>
          </a:stretch>
        </p:blipFill>
        <p:spPr>
          <a:xfrm>
            <a:off x="8197738" y="269687"/>
            <a:ext cx="297201" cy="168825"/>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SECTION_HEADER_1_1_1_1">
    <p:bg>
      <p:bgPr>
        <a:solidFill>
          <a:srgbClr val="FFFFFF"/>
        </a:solidFill>
      </p:bgPr>
    </p:bg>
    <p:spTree>
      <p:nvGrpSpPr>
        <p:cNvPr id="35" name="Shape 35"/>
        <p:cNvGrpSpPr/>
        <p:nvPr/>
      </p:nvGrpSpPr>
      <p:grpSpPr>
        <a:xfrm>
          <a:off x="0" y="0"/>
          <a:ext cx="0" cy="0"/>
          <a:chOff x="0" y="0"/>
          <a:chExt cx="0" cy="0"/>
        </a:xfrm>
      </p:grpSpPr>
      <p:sp>
        <p:nvSpPr>
          <p:cNvPr id="36" name="Google Shape;36;p11"/>
          <p:cNvSpPr txBox="1"/>
          <p:nvPr>
            <p:ph idx="12" type="sldNum"/>
          </p:nvPr>
        </p:nvSpPr>
        <p:spPr>
          <a:xfrm>
            <a:off x="79462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rgbClr val="CCCCCC"/>
                </a:solidFill>
                <a:latin typeface="Proxima Nova"/>
                <a:ea typeface="Proxima Nova"/>
                <a:cs typeface="Proxima Nova"/>
                <a:sym typeface="Proxima Nova"/>
              </a:defRPr>
            </a:lvl1pPr>
            <a:lvl2pPr lvl="1" rtl="0" algn="r">
              <a:buNone/>
              <a:defRPr sz="1000">
                <a:solidFill>
                  <a:srgbClr val="CCCCCC"/>
                </a:solidFill>
                <a:latin typeface="Proxima Nova"/>
                <a:ea typeface="Proxima Nova"/>
                <a:cs typeface="Proxima Nova"/>
                <a:sym typeface="Proxima Nova"/>
              </a:defRPr>
            </a:lvl2pPr>
            <a:lvl3pPr lvl="2" rtl="0" algn="r">
              <a:buNone/>
              <a:defRPr sz="1000">
                <a:solidFill>
                  <a:srgbClr val="CCCCCC"/>
                </a:solidFill>
                <a:latin typeface="Proxima Nova"/>
                <a:ea typeface="Proxima Nova"/>
                <a:cs typeface="Proxima Nova"/>
                <a:sym typeface="Proxima Nova"/>
              </a:defRPr>
            </a:lvl3pPr>
            <a:lvl4pPr lvl="3" rtl="0" algn="r">
              <a:buNone/>
              <a:defRPr sz="1000">
                <a:solidFill>
                  <a:srgbClr val="CCCCCC"/>
                </a:solidFill>
                <a:latin typeface="Proxima Nova"/>
                <a:ea typeface="Proxima Nova"/>
                <a:cs typeface="Proxima Nova"/>
                <a:sym typeface="Proxima Nova"/>
              </a:defRPr>
            </a:lvl4pPr>
            <a:lvl5pPr lvl="4" rtl="0" algn="r">
              <a:buNone/>
              <a:defRPr sz="1000">
                <a:solidFill>
                  <a:srgbClr val="CCCCCC"/>
                </a:solidFill>
                <a:latin typeface="Proxima Nova"/>
                <a:ea typeface="Proxima Nova"/>
                <a:cs typeface="Proxima Nova"/>
                <a:sym typeface="Proxima Nova"/>
              </a:defRPr>
            </a:lvl5pPr>
            <a:lvl6pPr lvl="5" rtl="0" algn="r">
              <a:buNone/>
              <a:defRPr sz="1000">
                <a:solidFill>
                  <a:srgbClr val="CCCCCC"/>
                </a:solidFill>
                <a:latin typeface="Proxima Nova"/>
                <a:ea typeface="Proxima Nova"/>
                <a:cs typeface="Proxima Nova"/>
                <a:sym typeface="Proxima Nova"/>
              </a:defRPr>
            </a:lvl6pPr>
            <a:lvl7pPr lvl="6" rtl="0" algn="r">
              <a:buNone/>
              <a:defRPr sz="1000">
                <a:solidFill>
                  <a:srgbClr val="CCCCCC"/>
                </a:solidFill>
                <a:latin typeface="Proxima Nova"/>
                <a:ea typeface="Proxima Nova"/>
                <a:cs typeface="Proxima Nova"/>
                <a:sym typeface="Proxima Nova"/>
              </a:defRPr>
            </a:lvl7pPr>
            <a:lvl8pPr lvl="7" rtl="0" algn="r">
              <a:buNone/>
              <a:defRPr sz="1000">
                <a:solidFill>
                  <a:srgbClr val="CCCCCC"/>
                </a:solidFill>
                <a:latin typeface="Proxima Nova"/>
                <a:ea typeface="Proxima Nova"/>
                <a:cs typeface="Proxima Nova"/>
                <a:sym typeface="Proxima Nova"/>
              </a:defRPr>
            </a:lvl8pPr>
            <a:lvl9pPr lvl="8" rtl="0" algn="r">
              <a:buNone/>
              <a:defRPr sz="1000">
                <a:solidFill>
                  <a:srgbClr val="CCCCCC"/>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3">
  <p:cSld name="TITLE_3">
    <p:spTree>
      <p:nvGrpSpPr>
        <p:cNvPr id="37" name="Shape 37"/>
        <p:cNvGrpSpPr/>
        <p:nvPr/>
      </p:nvGrpSpPr>
      <p:grpSpPr>
        <a:xfrm>
          <a:off x="0" y="0"/>
          <a:ext cx="0" cy="0"/>
          <a:chOff x="0" y="0"/>
          <a:chExt cx="0" cy="0"/>
        </a:xfrm>
      </p:grpSpPr>
      <p:sp>
        <p:nvSpPr>
          <p:cNvPr id="38" name="Google Shape;38;p1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SzPts val="5200"/>
              <a:buChar char="●"/>
              <a:defRPr sz="5200"/>
            </a:lvl1pPr>
            <a:lvl2pPr lvl="1" rtl="0" algn="ctr">
              <a:spcBef>
                <a:spcPts val="0"/>
              </a:spcBef>
              <a:spcAft>
                <a:spcPts val="0"/>
              </a:spcAft>
              <a:buSzPts val="5200"/>
              <a:buChar char="○"/>
              <a:defRPr sz="5200"/>
            </a:lvl2pPr>
            <a:lvl3pPr lvl="2" rtl="0" algn="ctr">
              <a:spcBef>
                <a:spcPts val="0"/>
              </a:spcBef>
              <a:spcAft>
                <a:spcPts val="0"/>
              </a:spcAft>
              <a:buSzPts val="5200"/>
              <a:buChar char="■"/>
              <a:defRPr sz="5200"/>
            </a:lvl3pPr>
            <a:lvl4pPr lvl="3" rtl="0" algn="ctr">
              <a:spcBef>
                <a:spcPts val="0"/>
              </a:spcBef>
              <a:spcAft>
                <a:spcPts val="0"/>
              </a:spcAft>
              <a:buSzPts val="5200"/>
              <a:buChar char="●"/>
              <a:defRPr sz="5200"/>
            </a:lvl4pPr>
            <a:lvl5pPr lvl="4" rtl="0" algn="ctr">
              <a:spcBef>
                <a:spcPts val="0"/>
              </a:spcBef>
              <a:spcAft>
                <a:spcPts val="0"/>
              </a:spcAft>
              <a:buSzPts val="5200"/>
              <a:buChar char="○"/>
              <a:defRPr sz="5200"/>
            </a:lvl5pPr>
            <a:lvl6pPr lvl="5" rtl="0" algn="ctr">
              <a:spcBef>
                <a:spcPts val="0"/>
              </a:spcBef>
              <a:spcAft>
                <a:spcPts val="0"/>
              </a:spcAft>
              <a:buSzPts val="5200"/>
              <a:buChar char="■"/>
              <a:defRPr sz="5200"/>
            </a:lvl6pPr>
            <a:lvl7pPr lvl="6" rtl="0" algn="ctr">
              <a:spcBef>
                <a:spcPts val="0"/>
              </a:spcBef>
              <a:spcAft>
                <a:spcPts val="0"/>
              </a:spcAft>
              <a:buSzPts val="5200"/>
              <a:buChar char="●"/>
              <a:defRPr sz="5200"/>
            </a:lvl7pPr>
            <a:lvl8pPr lvl="7" rtl="0" algn="ctr">
              <a:spcBef>
                <a:spcPts val="0"/>
              </a:spcBef>
              <a:spcAft>
                <a:spcPts val="0"/>
              </a:spcAft>
              <a:buSzPts val="5200"/>
              <a:buChar char="○"/>
              <a:defRPr sz="5200"/>
            </a:lvl8pPr>
            <a:lvl9pPr lvl="8" rtl="0" algn="ctr">
              <a:spcBef>
                <a:spcPts val="0"/>
              </a:spcBef>
              <a:spcAft>
                <a:spcPts val="0"/>
              </a:spcAft>
              <a:buSzPts val="5200"/>
              <a:buChar char="■"/>
              <a:defRPr sz="5200"/>
            </a:lvl9pPr>
          </a:lstStyle>
          <a:p/>
        </p:txBody>
      </p:sp>
      <p:sp>
        <p:nvSpPr>
          <p:cNvPr id="39" name="Google Shape;39;p12"/>
          <p:cNvSpPr txBox="1"/>
          <p:nvPr>
            <p:ph idx="1" type="subTitle"/>
          </p:nvPr>
        </p:nvSpPr>
        <p:spPr>
          <a:xfrm>
            <a:off x="311700" y="2834125"/>
            <a:ext cx="8520600" cy="7926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40" name="Google Shape;40;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type="blank">
  <p:cSld name="BLANK">
    <p:spTree>
      <p:nvGrpSpPr>
        <p:cNvPr id="41" name="Shape 41"/>
        <p:cNvGrpSpPr/>
        <p:nvPr/>
      </p:nvGrpSpPr>
      <p:grpSpPr>
        <a:xfrm>
          <a:off x="0" y="0"/>
          <a:ext cx="0" cy="0"/>
          <a:chOff x="0" y="0"/>
          <a:chExt cx="0" cy="0"/>
        </a:xfrm>
      </p:grpSpPr>
      <p:sp>
        <p:nvSpPr>
          <p:cNvPr id="42" name="Google Shape;42;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ster 5 1">
  <p:cSld name="TITLE_6_1">
    <p:spTree>
      <p:nvGrpSpPr>
        <p:cNvPr id="43" name="Shape 43"/>
        <p:cNvGrpSpPr/>
        <p:nvPr/>
      </p:nvGrpSpPr>
      <p:grpSpPr>
        <a:xfrm>
          <a:off x="0" y="0"/>
          <a:ext cx="0" cy="0"/>
          <a:chOff x="0" y="0"/>
          <a:chExt cx="0" cy="0"/>
        </a:xfrm>
      </p:grpSpPr>
      <p:sp>
        <p:nvSpPr>
          <p:cNvPr id="44" name="Google Shape;44;p14"/>
          <p:cNvSpPr txBox="1"/>
          <p:nvPr>
            <p:ph idx="12" type="sldNum"/>
          </p:nvPr>
        </p:nvSpPr>
        <p:spPr>
          <a:xfrm>
            <a:off x="79462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rgbClr val="CCCCCC"/>
                </a:solidFill>
                <a:latin typeface="Proxima Nova"/>
                <a:ea typeface="Proxima Nova"/>
                <a:cs typeface="Proxima Nova"/>
                <a:sym typeface="Proxima Nova"/>
              </a:defRPr>
            </a:lvl1pPr>
            <a:lvl2pPr lvl="1" rtl="0" algn="r">
              <a:buNone/>
              <a:defRPr sz="1000">
                <a:solidFill>
                  <a:srgbClr val="CCCCCC"/>
                </a:solidFill>
                <a:latin typeface="Proxima Nova"/>
                <a:ea typeface="Proxima Nova"/>
                <a:cs typeface="Proxima Nova"/>
                <a:sym typeface="Proxima Nova"/>
              </a:defRPr>
            </a:lvl2pPr>
            <a:lvl3pPr lvl="2" rtl="0" algn="r">
              <a:buNone/>
              <a:defRPr sz="1000">
                <a:solidFill>
                  <a:srgbClr val="CCCCCC"/>
                </a:solidFill>
                <a:latin typeface="Proxima Nova"/>
                <a:ea typeface="Proxima Nova"/>
                <a:cs typeface="Proxima Nova"/>
                <a:sym typeface="Proxima Nova"/>
              </a:defRPr>
            </a:lvl3pPr>
            <a:lvl4pPr lvl="3" rtl="0" algn="r">
              <a:buNone/>
              <a:defRPr sz="1000">
                <a:solidFill>
                  <a:srgbClr val="CCCCCC"/>
                </a:solidFill>
                <a:latin typeface="Proxima Nova"/>
                <a:ea typeface="Proxima Nova"/>
                <a:cs typeface="Proxima Nova"/>
                <a:sym typeface="Proxima Nova"/>
              </a:defRPr>
            </a:lvl4pPr>
            <a:lvl5pPr lvl="4" rtl="0" algn="r">
              <a:buNone/>
              <a:defRPr sz="1000">
                <a:solidFill>
                  <a:srgbClr val="CCCCCC"/>
                </a:solidFill>
                <a:latin typeface="Proxima Nova"/>
                <a:ea typeface="Proxima Nova"/>
                <a:cs typeface="Proxima Nova"/>
                <a:sym typeface="Proxima Nova"/>
              </a:defRPr>
            </a:lvl5pPr>
            <a:lvl6pPr lvl="5" rtl="0" algn="r">
              <a:buNone/>
              <a:defRPr sz="1000">
                <a:solidFill>
                  <a:srgbClr val="CCCCCC"/>
                </a:solidFill>
                <a:latin typeface="Proxima Nova"/>
                <a:ea typeface="Proxima Nova"/>
                <a:cs typeface="Proxima Nova"/>
                <a:sym typeface="Proxima Nova"/>
              </a:defRPr>
            </a:lvl6pPr>
            <a:lvl7pPr lvl="6" rtl="0" algn="r">
              <a:buNone/>
              <a:defRPr sz="1000">
                <a:solidFill>
                  <a:srgbClr val="CCCCCC"/>
                </a:solidFill>
                <a:latin typeface="Proxima Nova"/>
                <a:ea typeface="Proxima Nova"/>
                <a:cs typeface="Proxima Nova"/>
                <a:sym typeface="Proxima Nova"/>
              </a:defRPr>
            </a:lvl7pPr>
            <a:lvl8pPr lvl="7" rtl="0" algn="r">
              <a:buNone/>
              <a:defRPr sz="1000">
                <a:solidFill>
                  <a:srgbClr val="CCCCCC"/>
                </a:solidFill>
                <a:latin typeface="Proxima Nova"/>
                <a:ea typeface="Proxima Nova"/>
                <a:cs typeface="Proxima Nova"/>
                <a:sym typeface="Proxima Nova"/>
              </a:defRPr>
            </a:lvl8pPr>
            <a:lvl9pPr lvl="8" rtl="0" algn="r">
              <a:buNone/>
              <a:defRPr sz="1000">
                <a:solidFill>
                  <a:srgbClr val="CCCCCC"/>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pic>
        <p:nvPicPr>
          <p:cNvPr id="45" name="Google Shape;45;p14"/>
          <p:cNvPicPr preferRelativeResize="0"/>
          <p:nvPr/>
        </p:nvPicPr>
        <p:blipFill>
          <a:blip r:embed="rId2">
            <a:alphaModFix/>
          </a:blip>
          <a:stretch>
            <a:fillRect/>
          </a:stretch>
        </p:blipFill>
        <p:spPr>
          <a:xfrm>
            <a:off x="8197738" y="269687"/>
            <a:ext cx="297201" cy="16882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FFFFF"/>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hyperlink" Target="https://docs.google.com/document/d/1asJ_dMHRiM_RKptcNqzZq6qt-_l2CnY-7Hd70FjpCUI/edit?usp=sharing" TargetMode="External"/><Relationship Id="rId5" Type="http://schemas.openxmlformats.org/officeDocument/2006/relationships/image" Target="../media/image2.png"/><Relationship Id="rId6"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comments" Target="../comments/comment1.xml"/><Relationship Id="rId4" Type="http://schemas.openxmlformats.org/officeDocument/2006/relationships/image" Target="../media/image22.png"/><Relationship Id="rId5" Type="http://schemas.openxmlformats.org/officeDocument/2006/relationships/image" Target="../media/image20.png"/><Relationship Id="rId6" Type="http://schemas.openxmlformats.org/officeDocument/2006/relationships/image" Target="../media/image7.png"/><Relationship Id="rId7" Type="http://schemas.openxmlformats.org/officeDocument/2006/relationships/image" Target="../media/image6.png"/><Relationship Id="rId8"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comments" Target="../comments/comment2.xml"/><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comments" Target="../comments/comment3.xml"/><Relationship Id="rId4" Type="http://schemas.openxmlformats.org/officeDocument/2006/relationships/image" Target="../media/image15.png"/><Relationship Id="rId5" Type="http://schemas.openxmlformats.org/officeDocument/2006/relationships/image" Target="../media/image17.png"/><Relationship Id="rId6" Type="http://schemas.openxmlformats.org/officeDocument/2006/relationships/image" Target="../media/image11.png"/><Relationship Id="rId7"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hyperlink" Target="http://drive.google.com/file/d/1gR3UYSglqe5_sJs7qXZS_IyveLnhperf/view" TargetMode="External"/><Relationship Id="rId4" Type="http://schemas.openxmlformats.org/officeDocument/2006/relationships/image" Target="../media/image1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9.pn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5.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comments" Target="../comments/commen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9" name="Shape 49"/>
        <p:cNvGrpSpPr/>
        <p:nvPr/>
      </p:nvGrpSpPr>
      <p:grpSpPr>
        <a:xfrm>
          <a:off x="0" y="0"/>
          <a:ext cx="0" cy="0"/>
          <a:chOff x="0" y="0"/>
          <a:chExt cx="0" cy="0"/>
        </a:xfrm>
      </p:grpSpPr>
      <p:sp>
        <p:nvSpPr>
          <p:cNvPr id="50" name="Google Shape;50;p15"/>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1" name="Google Shape;51;p15"/>
          <p:cNvSpPr txBox="1"/>
          <p:nvPr/>
        </p:nvSpPr>
        <p:spPr>
          <a:xfrm>
            <a:off x="686000" y="3068700"/>
            <a:ext cx="2980200" cy="395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000">
                <a:solidFill>
                  <a:schemeClr val="dk2"/>
                </a:solidFill>
                <a:latin typeface="Proxima Nova"/>
                <a:ea typeface="Proxima Nova"/>
                <a:cs typeface="Proxima Nova"/>
                <a:sym typeface="Proxima Nova"/>
              </a:rPr>
              <a:t>DRI: Kelly Peterson</a:t>
            </a:r>
            <a:endParaRPr b="1" sz="800">
              <a:solidFill>
                <a:schemeClr val="dk2"/>
              </a:solidFill>
              <a:latin typeface="Proxima Nova"/>
              <a:ea typeface="Proxima Nova"/>
              <a:cs typeface="Proxima Nova"/>
              <a:sym typeface="Proxima Nova"/>
            </a:endParaRPr>
          </a:p>
        </p:txBody>
      </p:sp>
      <p:sp>
        <p:nvSpPr>
          <p:cNvPr id="52" name="Google Shape;52;p15"/>
          <p:cNvSpPr txBox="1"/>
          <p:nvPr/>
        </p:nvSpPr>
        <p:spPr>
          <a:xfrm>
            <a:off x="686000" y="3418625"/>
            <a:ext cx="2980200" cy="5427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0"/>
              </a:spcBef>
              <a:spcAft>
                <a:spcPts val="0"/>
              </a:spcAft>
              <a:buNone/>
            </a:pPr>
            <a:r>
              <a:rPr lang="en" sz="1000">
                <a:solidFill>
                  <a:schemeClr val="dk2"/>
                </a:solidFill>
                <a:latin typeface="Proxima Nova"/>
                <a:ea typeface="Proxima Nova"/>
                <a:cs typeface="Proxima Nova"/>
                <a:sym typeface="Proxima Nova"/>
              </a:rPr>
              <a:t>Date: Nov 10, 2023</a:t>
            </a:r>
            <a:endParaRPr sz="1000">
              <a:solidFill>
                <a:schemeClr val="dk2"/>
              </a:solidFill>
              <a:latin typeface="Proxima Nova"/>
              <a:ea typeface="Proxima Nova"/>
              <a:cs typeface="Proxima Nova"/>
              <a:sym typeface="Proxima Nova"/>
            </a:endParaRPr>
          </a:p>
          <a:p>
            <a:pPr indent="0" lvl="0" marL="0" rtl="0" algn="l">
              <a:lnSpc>
                <a:spcPct val="130000"/>
              </a:lnSpc>
              <a:spcBef>
                <a:spcPts val="0"/>
              </a:spcBef>
              <a:spcAft>
                <a:spcPts val="0"/>
              </a:spcAft>
              <a:buNone/>
            </a:pPr>
            <a:r>
              <a:t/>
            </a:r>
            <a:endParaRPr sz="1000">
              <a:solidFill>
                <a:schemeClr val="dk2"/>
              </a:solidFill>
              <a:latin typeface="Proxima Nova"/>
              <a:ea typeface="Proxima Nova"/>
              <a:cs typeface="Proxima Nova"/>
              <a:sym typeface="Proxima Nova"/>
            </a:endParaRPr>
          </a:p>
        </p:txBody>
      </p:sp>
      <p:sp>
        <p:nvSpPr>
          <p:cNvPr id="53" name="Google Shape;53;p15"/>
          <p:cNvSpPr txBox="1"/>
          <p:nvPr/>
        </p:nvSpPr>
        <p:spPr>
          <a:xfrm>
            <a:off x="609750" y="1529300"/>
            <a:ext cx="4240500" cy="130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4100">
                <a:solidFill>
                  <a:schemeClr val="dk2"/>
                </a:solidFill>
                <a:latin typeface="Proxima Nova"/>
                <a:ea typeface="Proxima Nova"/>
                <a:cs typeface="Proxima Nova"/>
                <a:sym typeface="Proxima Nova"/>
              </a:rPr>
              <a:t>Churned Leaky Bucket</a:t>
            </a:r>
            <a:endParaRPr b="1" sz="2600">
              <a:solidFill>
                <a:schemeClr val="dk2"/>
              </a:solidFill>
              <a:latin typeface="Proxima Nova"/>
              <a:ea typeface="Proxima Nova"/>
              <a:cs typeface="Proxima Nova"/>
              <a:sym typeface="Proxima Nova"/>
            </a:endParaRPr>
          </a:p>
        </p:txBody>
      </p:sp>
      <p:pic>
        <p:nvPicPr>
          <p:cNvPr id="54" name="Google Shape;54;p15"/>
          <p:cNvPicPr preferRelativeResize="0"/>
          <p:nvPr/>
        </p:nvPicPr>
        <p:blipFill>
          <a:blip r:embed="rId3">
            <a:alphaModFix/>
          </a:blip>
          <a:stretch>
            <a:fillRect/>
          </a:stretch>
        </p:blipFill>
        <p:spPr>
          <a:xfrm>
            <a:off x="723399" y="1284763"/>
            <a:ext cx="1408775" cy="162575"/>
          </a:xfrm>
          <a:prstGeom prst="rect">
            <a:avLst/>
          </a:prstGeom>
          <a:noFill/>
          <a:ln>
            <a:noFill/>
          </a:ln>
        </p:spPr>
      </p:pic>
      <p:pic>
        <p:nvPicPr>
          <p:cNvPr id="55" name="Google Shape;55;p15"/>
          <p:cNvPicPr preferRelativeResize="0"/>
          <p:nvPr/>
        </p:nvPicPr>
        <p:blipFill>
          <a:blip r:embed="rId4">
            <a:alphaModFix/>
          </a:blip>
          <a:stretch>
            <a:fillRect/>
          </a:stretch>
        </p:blipFill>
        <p:spPr>
          <a:xfrm>
            <a:off x="5756325" y="0"/>
            <a:ext cx="3428980" cy="5143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9" name="Shape 59"/>
        <p:cNvGrpSpPr/>
        <p:nvPr/>
      </p:nvGrpSpPr>
      <p:grpSpPr>
        <a:xfrm>
          <a:off x="0" y="0"/>
          <a:ext cx="0" cy="0"/>
          <a:chOff x="0" y="0"/>
          <a:chExt cx="0" cy="0"/>
        </a:xfrm>
      </p:grpSpPr>
      <p:sp>
        <p:nvSpPr>
          <p:cNvPr id="60" name="Google Shape;60;p16"/>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61" name="Google Shape;61;p16"/>
          <p:cNvPicPr preferRelativeResize="0"/>
          <p:nvPr/>
        </p:nvPicPr>
        <p:blipFill>
          <a:blip r:embed="rId3">
            <a:alphaModFix/>
          </a:blip>
          <a:stretch>
            <a:fillRect/>
          </a:stretch>
        </p:blipFill>
        <p:spPr>
          <a:xfrm>
            <a:off x="8197738" y="269687"/>
            <a:ext cx="297201" cy="168825"/>
          </a:xfrm>
          <a:prstGeom prst="rect">
            <a:avLst/>
          </a:prstGeom>
          <a:noFill/>
          <a:ln>
            <a:noFill/>
          </a:ln>
        </p:spPr>
      </p:pic>
      <p:sp>
        <p:nvSpPr>
          <p:cNvPr id="62" name="Google Shape;62;p16"/>
          <p:cNvSpPr txBox="1"/>
          <p:nvPr/>
        </p:nvSpPr>
        <p:spPr>
          <a:xfrm>
            <a:off x="362900" y="265450"/>
            <a:ext cx="49023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300">
                <a:solidFill>
                  <a:schemeClr val="dk1"/>
                </a:solidFill>
                <a:latin typeface="Proxima Nova"/>
                <a:ea typeface="Proxima Nova"/>
                <a:cs typeface="Proxima Nova"/>
                <a:sym typeface="Proxima Nova"/>
              </a:rPr>
              <a:t>Research approach</a:t>
            </a:r>
            <a:endParaRPr b="1" sz="2300">
              <a:solidFill>
                <a:schemeClr val="dk1"/>
              </a:solidFill>
              <a:latin typeface="Proxima Nova"/>
              <a:ea typeface="Proxima Nova"/>
              <a:cs typeface="Proxima Nova"/>
              <a:sym typeface="Proxima Nova"/>
            </a:endParaRPr>
          </a:p>
        </p:txBody>
      </p:sp>
      <p:sp>
        <p:nvSpPr>
          <p:cNvPr id="63" name="Google Shape;63;p16"/>
          <p:cNvSpPr txBox="1"/>
          <p:nvPr/>
        </p:nvSpPr>
        <p:spPr>
          <a:xfrm>
            <a:off x="153350" y="4663225"/>
            <a:ext cx="53214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2"/>
                </a:solidFill>
                <a:latin typeface="Proxima Nova"/>
                <a:ea typeface="Proxima Nova"/>
                <a:cs typeface="Proxima Nova"/>
                <a:sym typeface="Proxima Nova"/>
              </a:rPr>
              <a:t>The research brief can be found </a:t>
            </a:r>
            <a:r>
              <a:rPr lang="en" sz="1000" u="sng">
                <a:solidFill>
                  <a:schemeClr val="hlink"/>
                </a:solidFill>
                <a:latin typeface="Proxima Nova"/>
                <a:ea typeface="Proxima Nova"/>
                <a:cs typeface="Proxima Nova"/>
                <a:sym typeface="Proxima Nova"/>
                <a:hlinkClick r:id="rId4"/>
              </a:rPr>
              <a:t>here. </a:t>
            </a:r>
            <a:endParaRPr sz="1000">
              <a:solidFill>
                <a:schemeClr val="dk2"/>
              </a:solidFill>
              <a:latin typeface="Proxima Nova"/>
              <a:ea typeface="Proxima Nova"/>
              <a:cs typeface="Proxima Nova"/>
              <a:sym typeface="Proxima Nova"/>
            </a:endParaRPr>
          </a:p>
        </p:txBody>
      </p:sp>
      <p:sp>
        <p:nvSpPr>
          <p:cNvPr id="64" name="Google Shape;64;p16"/>
          <p:cNvSpPr txBox="1"/>
          <p:nvPr/>
        </p:nvSpPr>
        <p:spPr>
          <a:xfrm>
            <a:off x="1020550" y="1063275"/>
            <a:ext cx="7678200" cy="52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Proxima Nova"/>
                <a:ea typeface="Proxima Nova"/>
                <a:cs typeface="Proxima Nova"/>
                <a:sym typeface="Proxima Nova"/>
              </a:rPr>
              <a:t>We conducted 6 interviews with churned Cx who had clicked on a affordability </a:t>
            </a:r>
            <a:r>
              <a:rPr b="1" lang="en">
                <a:solidFill>
                  <a:schemeClr val="dk1"/>
                </a:solidFill>
                <a:latin typeface="Proxima Nova"/>
                <a:ea typeface="Proxima Nova"/>
                <a:cs typeface="Proxima Nova"/>
                <a:sym typeface="Proxima Nova"/>
              </a:rPr>
              <a:t>resurrection</a:t>
            </a:r>
            <a:r>
              <a:rPr b="1" lang="en">
                <a:solidFill>
                  <a:schemeClr val="dk1"/>
                </a:solidFill>
                <a:latin typeface="Proxima Nova"/>
                <a:ea typeface="Proxima Nova"/>
                <a:cs typeface="Proxima Nova"/>
                <a:sym typeface="Proxima Nova"/>
              </a:rPr>
              <a:t> email in the past week</a:t>
            </a:r>
            <a:endParaRPr b="1">
              <a:solidFill>
                <a:schemeClr val="dk1"/>
              </a:solidFill>
              <a:latin typeface="Proxima Nova"/>
              <a:ea typeface="Proxima Nova"/>
              <a:cs typeface="Proxima Nova"/>
              <a:sym typeface="Proxima Nova"/>
            </a:endParaRPr>
          </a:p>
          <a:p>
            <a:pPr indent="-298450" lvl="0" marL="457200" rtl="0" algn="l">
              <a:spcBef>
                <a:spcPts val="100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The sample was split 50/50</a:t>
            </a:r>
            <a:endParaRPr sz="1100">
              <a:solidFill>
                <a:schemeClr val="dk1"/>
              </a:solidFill>
              <a:latin typeface="Proxima Nova"/>
              <a:ea typeface="Proxima Nova"/>
              <a:cs typeface="Proxima Nova"/>
              <a:sym typeface="Proxima Nova"/>
            </a:endParaRPr>
          </a:p>
          <a:p>
            <a:pPr indent="-298450" lvl="1" marL="9144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3 Cx clicked on the email, visited the app and did not convert</a:t>
            </a:r>
            <a:endParaRPr sz="1100">
              <a:solidFill>
                <a:schemeClr val="dk1"/>
              </a:solidFill>
              <a:latin typeface="Proxima Nova"/>
              <a:ea typeface="Proxima Nova"/>
              <a:cs typeface="Proxima Nova"/>
              <a:sym typeface="Proxima Nova"/>
            </a:endParaRPr>
          </a:p>
          <a:p>
            <a:pPr indent="-298450" lvl="1" marL="9144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3 Cx clicked on the email but did not visit the app or convert</a:t>
            </a:r>
            <a:endParaRPr sz="1100">
              <a:solidFill>
                <a:schemeClr val="dk1"/>
              </a:solidFill>
              <a:latin typeface="Proxima Nova"/>
              <a:ea typeface="Proxima Nova"/>
              <a:cs typeface="Proxima Nova"/>
              <a:sym typeface="Proxima Nova"/>
            </a:endParaRPr>
          </a:p>
        </p:txBody>
      </p:sp>
      <p:sp>
        <p:nvSpPr>
          <p:cNvPr id="65" name="Google Shape;65;p16"/>
          <p:cNvSpPr txBox="1"/>
          <p:nvPr/>
        </p:nvSpPr>
        <p:spPr>
          <a:xfrm>
            <a:off x="1020550" y="2482638"/>
            <a:ext cx="7726800" cy="52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Proxima Nova"/>
                <a:ea typeface="Proxima Nova"/>
                <a:cs typeface="Proxima Nova"/>
                <a:sym typeface="Proxima Nova"/>
              </a:rPr>
              <a:t>The goal of these calls were to understand…</a:t>
            </a:r>
            <a:endParaRPr b="1">
              <a:solidFill>
                <a:schemeClr val="dk1"/>
              </a:solidFill>
              <a:latin typeface="Proxima Nova"/>
              <a:ea typeface="Proxima Nova"/>
              <a:cs typeface="Proxima Nova"/>
              <a:sym typeface="Proxima Nova"/>
            </a:endParaRPr>
          </a:p>
          <a:p>
            <a:pPr indent="-298450" lvl="0" marL="457200" rtl="0" algn="l">
              <a:lnSpc>
                <a:spcPct val="115000"/>
              </a:lnSpc>
              <a:spcBef>
                <a:spcPts val="1000"/>
              </a:spcBef>
              <a:spcAft>
                <a:spcPts val="0"/>
              </a:spcAft>
              <a:buClr>
                <a:schemeClr val="dk1"/>
              </a:buClr>
              <a:buSzPts val="1100"/>
              <a:buFont typeface="Proxima Nova"/>
              <a:buChar char="●"/>
            </a:pPr>
            <a:r>
              <a:rPr lang="en" sz="1100" u="sng">
                <a:solidFill>
                  <a:schemeClr val="dk1"/>
                </a:solidFill>
                <a:latin typeface="Proxima Nova"/>
                <a:ea typeface="Proxima Nova"/>
                <a:cs typeface="Proxima Nova"/>
                <a:sym typeface="Proxima Nova"/>
              </a:rPr>
              <a:t>Message awareness:</a:t>
            </a:r>
            <a:r>
              <a:rPr lang="en" sz="1100">
                <a:solidFill>
                  <a:schemeClr val="dk1"/>
                </a:solidFill>
                <a:latin typeface="Proxima Nova"/>
                <a:ea typeface="Proxima Nova"/>
                <a:cs typeface="Proxima Nova"/>
                <a:sym typeface="Proxima Nova"/>
              </a:rPr>
              <a:t>  Do Cx recall opening emails from DoorDash that are focused on affordability and savings?  What messages are resonating with customers? Where are we missing the mark?</a:t>
            </a:r>
            <a:endParaRPr sz="1100">
              <a:solidFill>
                <a:schemeClr val="dk1"/>
              </a:solidFill>
              <a:latin typeface="Proxima Nova"/>
              <a:ea typeface="Proxima Nova"/>
              <a:cs typeface="Proxima Nova"/>
              <a:sym typeface="Proxima Nova"/>
            </a:endParaRPr>
          </a:p>
          <a:p>
            <a:pPr indent="-298450" lvl="0" marL="457200" rtl="0" algn="l">
              <a:lnSpc>
                <a:spcPct val="115000"/>
              </a:lnSpc>
              <a:spcBef>
                <a:spcPts val="1000"/>
              </a:spcBef>
              <a:spcAft>
                <a:spcPts val="0"/>
              </a:spcAft>
              <a:buClr>
                <a:schemeClr val="dk1"/>
              </a:buClr>
              <a:buSzPts val="1100"/>
              <a:buFont typeface="Proxima Nova"/>
              <a:buChar char="●"/>
            </a:pPr>
            <a:r>
              <a:rPr lang="en" sz="1100" u="sng">
                <a:solidFill>
                  <a:schemeClr val="dk1"/>
                </a:solidFill>
                <a:latin typeface="Proxima Nova"/>
                <a:ea typeface="Proxima Nova"/>
                <a:cs typeface="Proxima Nova"/>
                <a:sym typeface="Proxima Nova"/>
              </a:rPr>
              <a:t>Strengths and weaknesses of messaging:</a:t>
            </a:r>
            <a:r>
              <a:rPr lang="en" sz="1100">
                <a:solidFill>
                  <a:schemeClr val="dk1"/>
                </a:solidFill>
                <a:latin typeface="Proxima Nova"/>
                <a:ea typeface="Proxima Nova"/>
                <a:cs typeface="Proxima Nova"/>
                <a:sym typeface="Proxima Nova"/>
              </a:rPr>
              <a:t>  Do the emails we send to Cx resonate with them?  Do they align with Cx experiences and expectations?  What can we do to make them better?</a:t>
            </a:r>
            <a:endParaRPr sz="1100">
              <a:solidFill>
                <a:schemeClr val="dk1"/>
              </a:solidFill>
              <a:latin typeface="Proxima Nova"/>
              <a:ea typeface="Proxima Nova"/>
              <a:cs typeface="Proxima Nova"/>
              <a:sym typeface="Proxima Nova"/>
            </a:endParaRPr>
          </a:p>
          <a:p>
            <a:pPr indent="-298450" lvl="0" marL="457200" rtl="0" algn="l">
              <a:lnSpc>
                <a:spcPct val="115000"/>
              </a:lnSpc>
              <a:spcBef>
                <a:spcPts val="1000"/>
              </a:spcBef>
              <a:spcAft>
                <a:spcPts val="0"/>
              </a:spcAft>
              <a:buClr>
                <a:schemeClr val="dk1"/>
              </a:buClr>
              <a:buSzPts val="1100"/>
              <a:buFont typeface="Proxima Nova"/>
              <a:buChar char="●"/>
            </a:pPr>
            <a:r>
              <a:rPr lang="en" sz="1100" u="sng">
                <a:solidFill>
                  <a:schemeClr val="dk1"/>
                </a:solidFill>
                <a:latin typeface="Proxima Nova"/>
                <a:ea typeface="Proxima Nova"/>
                <a:cs typeface="Proxima Nova"/>
                <a:sym typeface="Proxima Nova"/>
              </a:rPr>
              <a:t>Motivations and drivers:  </a:t>
            </a:r>
            <a:r>
              <a:rPr lang="en" sz="1100">
                <a:solidFill>
                  <a:schemeClr val="dk1"/>
                </a:solidFill>
                <a:latin typeface="Proxima Nova"/>
                <a:ea typeface="Proxima Nova"/>
                <a:cs typeface="Proxima Nova"/>
                <a:sym typeface="Proxima Nova"/>
              </a:rPr>
              <a:t>What ultimately is keeping them from visiting the app and/or converting.  What is needed for them to feel motivated to convert.  What role do the messages we send play in this? What messages may be most impactful?</a:t>
            </a:r>
            <a:endParaRPr sz="1100">
              <a:solidFill>
                <a:schemeClr val="dk1"/>
              </a:solidFill>
              <a:latin typeface="Proxima Nova"/>
              <a:ea typeface="Proxima Nova"/>
              <a:cs typeface="Proxima Nova"/>
              <a:sym typeface="Proxima Nova"/>
            </a:endParaRPr>
          </a:p>
          <a:p>
            <a:pPr indent="0" lvl="0" marL="0" rtl="0" algn="l">
              <a:spcBef>
                <a:spcPts val="1000"/>
              </a:spcBef>
              <a:spcAft>
                <a:spcPts val="1000"/>
              </a:spcAft>
              <a:buNone/>
            </a:pPr>
            <a:r>
              <a:t/>
            </a:r>
            <a:endParaRPr sz="1200">
              <a:solidFill>
                <a:schemeClr val="dk1"/>
              </a:solidFill>
              <a:latin typeface="Proxima Nova"/>
              <a:ea typeface="Proxima Nova"/>
              <a:cs typeface="Proxima Nova"/>
              <a:sym typeface="Proxima Nova"/>
            </a:endParaRPr>
          </a:p>
        </p:txBody>
      </p:sp>
      <p:pic>
        <p:nvPicPr>
          <p:cNvPr id="66" name="Google Shape;66;p16"/>
          <p:cNvPicPr preferRelativeResize="0"/>
          <p:nvPr/>
        </p:nvPicPr>
        <p:blipFill>
          <a:blip r:embed="rId5">
            <a:alphaModFix/>
          </a:blip>
          <a:stretch>
            <a:fillRect/>
          </a:stretch>
        </p:blipFill>
        <p:spPr>
          <a:xfrm>
            <a:off x="203375" y="1099100"/>
            <a:ext cx="548700" cy="548700"/>
          </a:xfrm>
          <a:prstGeom prst="rect">
            <a:avLst/>
          </a:prstGeom>
          <a:noFill/>
          <a:ln>
            <a:noFill/>
          </a:ln>
        </p:spPr>
      </p:pic>
      <p:pic>
        <p:nvPicPr>
          <p:cNvPr id="67" name="Google Shape;67;p16"/>
          <p:cNvPicPr preferRelativeResize="0"/>
          <p:nvPr/>
        </p:nvPicPr>
        <p:blipFill>
          <a:blip r:embed="rId6">
            <a:alphaModFix/>
          </a:blip>
          <a:stretch>
            <a:fillRect/>
          </a:stretch>
        </p:blipFill>
        <p:spPr>
          <a:xfrm>
            <a:off x="362900" y="2470938"/>
            <a:ext cx="548700" cy="5487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71" name="Shape 71"/>
        <p:cNvGrpSpPr/>
        <p:nvPr/>
      </p:nvGrpSpPr>
      <p:grpSpPr>
        <a:xfrm>
          <a:off x="0" y="0"/>
          <a:ext cx="0" cy="0"/>
          <a:chOff x="0" y="0"/>
          <a:chExt cx="0" cy="0"/>
        </a:xfrm>
      </p:grpSpPr>
      <p:sp>
        <p:nvSpPr>
          <p:cNvPr id="72" name="Google Shape;72;p17"/>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3" name="Google Shape;73;p17"/>
          <p:cNvSpPr txBox="1"/>
          <p:nvPr/>
        </p:nvSpPr>
        <p:spPr>
          <a:xfrm>
            <a:off x="313925" y="1595875"/>
            <a:ext cx="78315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500">
                <a:solidFill>
                  <a:schemeClr val="lt1"/>
                </a:solidFill>
                <a:latin typeface="Proxima Nova"/>
                <a:ea typeface="Proxima Nova"/>
                <a:cs typeface="Proxima Nova"/>
                <a:sym typeface="Proxima Nova"/>
              </a:rPr>
              <a:t>Why do Cx not visit the app?</a:t>
            </a:r>
            <a:endParaRPr b="1" sz="3500">
              <a:solidFill>
                <a:schemeClr val="lt1"/>
              </a:solidFill>
              <a:latin typeface="Proxima Nova"/>
              <a:ea typeface="Proxima Nova"/>
              <a:cs typeface="Proxima Nova"/>
              <a:sym typeface="Proxima Nov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8"/>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9" name="Google Shape;79;p18"/>
          <p:cNvSpPr txBox="1"/>
          <p:nvPr/>
        </p:nvSpPr>
        <p:spPr>
          <a:xfrm>
            <a:off x="474475" y="311900"/>
            <a:ext cx="70032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300">
                <a:solidFill>
                  <a:schemeClr val="dk1"/>
                </a:solidFill>
                <a:latin typeface="Proxima Nova"/>
                <a:ea typeface="Proxima Nova"/>
                <a:cs typeface="Proxima Nova"/>
                <a:sym typeface="Proxima Nova"/>
              </a:rPr>
              <a:t>Cx interviewed tend to </a:t>
            </a:r>
            <a:r>
              <a:rPr b="1" lang="en" sz="2300">
                <a:solidFill>
                  <a:schemeClr val="dk1"/>
                </a:solidFill>
                <a:latin typeface="Proxima Nova"/>
                <a:ea typeface="Proxima Nova"/>
                <a:cs typeface="Proxima Nova"/>
                <a:sym typeface="Proxima Nova"/>
              </a:rPr>
              <a:t>rely on promotions to “plan to order”</a:t>
            </a:r>
            <a:endParaRPr b="1" sz="2300">
              <a:solidFill>
                <a:schemeClr val="dk1"/>
              </a:solidFill>
              <a:latin typeface="Proxima Nova"/>
              <a:ea typeface="Proxima Nova"/>
              <a:cs typeface="Proxima Nova"/>
              <a:sym typeface="Proxima Nova"/>
            </a:endParaRPr>
          </a:p>
        </p:txBody>
      </p:sp>
      <p:grpSp>
        <p:nvGrpSpPr>
          <p:cNvPr id="80" name="Google Shape;80;p18"/>
          <p:cNvGrpSpPr/>
          <p:nvPr/>
        </p:nvGrpSpPr>
        <p:grpSpPr>
          <a:xfrm>
            <a:off x="771150" y="2759075"/>
            <a:ext cx="7698325" cy="365700"/>
            <a:chOff x="771150" y="2225675"/>
            <a:chExt cx="7698325" cy="365700"/>
          </a:xfrm>
        </p:grpSpPr>
        <p:sp>
          <p:nvSpPr>
            <p:cNvPr id="81" name="Google Shape;81;p18"/>
            <p:cNvSpPr/>
            <p:nvPr/>
          </p:nvSpPr>
          <p:spPr>
            <a:xfrm>
              <a:off x="771150" y="2313450"/>
              <a:ext cx="7601700" cy="189000"/>
            </a:xfrm>
            <a:prstGeom prst="rightArrow">
              <a:avLst>
                <a:gd fmla="val 50000" name="adj1"/>
                <a:gd fmla="val 145132" name="adj2"/>
              </a:avLst>
            </a:prstGeom>
            <a:solidFill>
              <a:srgbClr val="FF30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8"/>
            <p:cNvSpPr/>
            <p:nvPr/>
          </p:nvSpPr>
          <p:spPr>
            <a:xfrm rot="5400000">
              <a:off x="8067175" y="2189075"/>
              <a:ext cx="365700" cy="438900"/>
            </a:xfrm>
            <a:prstGeom prst="triangle">
              <a:avLst>
                <a:gd fmla="val 50000" name="adj"/>
              </a:avLst>
            </a:prstGeom>
            <a:solidFill>
              <a:srgbClr val="FF30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3" name="Google Shape;83;p18"/>
          <p:cNvSpPr/>
          <p:nvPr/>
        </p:nvSpPr>
        <p:spPr>
          <a:xfrm>
            <a:off x="758075" y="2777550"/>
            <a:ext cx="327900" cy="327600"/>
          </a:xfrm>
          <a:prstGeom prst="ellipse">
            <a:avLst/>
          </a:prstGeom>
          <a:solidFill>
            <a:srgbClr val="FF30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8"/>
          <p:cNvSpPr/>
          <p:nvPr/>
        </p:nvSpPr>
        <p:spPr>
          <a:xfrm>
            <a:off x="2638006" y="2778125"/>
            <a:ext cx="327900" cy="327600"/>
          </a:xfrm>
          <a:prstGeom prst="ellipse">
            <a:avLst/>
          </a:prstGeom>
          <a:solidFill>
            <a:srgbClr val="FF30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8"/>
          <p:cNvSpPr/>
          <p:nvPr/>
        </p:nvSpPr>
        <p:spPr>
          <a:xfrm>
            <a:off x="4517936" y="2778125"/>
            <a:ext cx="327900" cy="327600"/>
          </a:xfrm>
          <a:prstGeom prst="ellipse">
            <a:avLst/>
          </a:prstGeom>
          <a:solidFill>
            <a:srgbClr val="FF30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8"/>
          <p:cNvSpPr/>
          <p:nvPr/>
        </p:nvSpPr>
        <p:spPr>
          <a:xfrm>
            <a:off x="6397867" y="2778125"/>
            <a:ext cx="327900" cy="327600"/>
          </a:xfrm>
          <a:prstGeom prst="ellipse">
            <a:avLst/>
          </a:prstGeom>
          <a:solidFill>
            <a:srgbClr val="FF30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8"/>
          <p:cNvSpPr txBox="1"/>
          <p:nvPr/>
        </p:nvSpPr>
        <p:spPr>
          <a:xfrm>
            <a:off x="2272150" y="3341875"/>
            <a:ext cx="1059600" cy="1046700"/>
          </a:xfrm>
          <a:prstGeom prst="rect">
            <a:avLst/>
          </a:prstGeom>
          <a:noFill/>
          <a:ln>
            <a:noFill/>
          </a:ln>
        </p:spPr>
        <p:txBody>
          <a:bodyPr anchorCtr="0" anchor="t" bIns="91425" lIns="91425" spcFirstLastPara="1" rIns="91425" wrap="square" tIns="91425">
            <a:spAutoFit/>
          </a:bodyPr>
          <a:lstStyle/>
          <a:p>
            <a:pPr indent="0" lvl="0" marL="0" rtl="0" algn="ctr">
              <a:spcBef>
                <a:spcPts val="1000"/>
              </a:spcBef>
              <a:spcAft>
                <a:spcPts val="1000"/>
              </a:spcAft>
              <a:buNone/>
            </a:pPr>
            <a:r>
              <a:rPr b="1" lang="en">
                <a:solidFill>
                  <a:schemeClr val="dk1"/>
                </a:solidFill>
                <a:latin typeface="Proxima Nova"/>
                <a:ea typeface="Proxima Nova"/>
                <a:cs typeface="Proxima Nova"/>
                <a:sym typeface="Proxima Nova"/>
              </a:rPr>
              <a:t>Compares to other promo emails</a:t>
            </a:r>
            <a:endParaRPr>
              <a:solidFill>
                <a:schemeClr val="dk1"/>
              </a:solidFill>
              <a:latin typeface="Proxima Nova"/>
              <a:ea typeface="Proxima Nova"/>
              <a:cs typeface="Proxima Nova"/>
              <a:sym typeface="Proxima Nova"/>
            </a:endParaRPr>
          </a:p>
        </p:txBody>
      </p:sp>
      <p:sp>
        <p:nvSpPr>
          <p:cNvPr id="88" name="Google Shape;88;p18"/>
          <p:cNvSpPr txBox="1"/>
          <p:nvPr/>
        </p:nvSpPr>
        <p:spPr>
          <a:xfrm>
            <a:off x="516850" y="3341875"/>
            <a:ext cx="1059600" cy="615600"/>
          </a:xfrm>
          <a:prstGeom prst="rect">
            <a:avLst/>
          </a:prstGeom>
          <a:noFill/>
          <a:ln>
            <a:noFill/>
          </a:ln>
        </p:spPr>
        <p:txBody>
          <a:bodyPr anchorCtr="0" anchor="t" bIns="91425" lIns="91425" spcFirstLastPara="1" rIns="91425" wrap="square" tIns="91425">
            <a:spAutoFit/>
          </a:bodyPr>
          <a:lstStyle/>
          <a:p>
            <a:pPr indent="0" lvl="0" marL="0" rtl="0" algn="ctr">
              <a:spcBef>
                <a:spcPts val="1000"/>
              </a:spcBef>
              <a:spcAft>
                <a:spcPts val="1000"/>
              </a:spcAft>
              <a:buNone/>
            </a:pPr>
            <a:r>
              <a:rPr b="1" lang="en">
                <a:solidFill>
                  <a:schemeClr val="dk1"/>
                </a:solidFill>
                <a:latin typeface="Proxima Nova"/>
                <a:ea typeface="Proxima Nova"/>
                <a:cs typeface="Proxima Nova"/>
                <a:sym typeface="Proxima Nova"/>
              </a:rPr>
              <a:t>Receives email</a:t>
            </a:r>
            <a:endParaRPr>
              <a:solidFill>
                <a:schemeClr val="dk1"/>
              </a:solidFill>
              <a:latin typeface="Proxima Nova"/>
              <a:ea typeface="Proxima Nova"/>
              <a:cs typeface="Proxima Nova"/>
              <a:sym typeface="Proxima Nova"/>
            </a:endParaRPr>
          </a:p>
        </p:txBody>
      </p:sp>
      <p:sp>
        <p:nvSpPr>
          <p:cNvPr id="89" name="Google Shape;89;p18"/>
          <p:cNvSpPr txBox="1"/>
          <p:nvPr/>
        </p:nvSpPr>
        <p:spPr>
          <a:xfrm>
            <a:off x="4152075" y="3341875"/>
            <a:ext cx="1059600" cy="1046700"/>
          </a:xfrm>
          <a:prstGeom prst="rect">
            <a:avLst/>
          </a:prstGeom>
          <a:noFill/>
          <a:ln>
            <a:noFill/>
          </a:ln>
        </p:spPr>
        <p:txBody>
          <a:bodyPr anchorCtr="0" anchor="t" bIns="91425" lIns="91425" spcFirstLastPara="1" rIns="91425" wrap="square" tIns="91425">
            <a:spAutoFit/>
          </a:bodyPr>
          <a:lstStyle/>
          <a:p>
            <a:pPr indent="0" lvl="0" marL="0" rtl="0" algn="ctr">
              <a:spcBef>
                <a:spcPts val="1000"/>
              </a:spcBef>
              <a:spcAft>
                <a:spcPts val="1000"/>
              </a:spcAft>
              <a:buNone/>
            </a:pPr>
            <a:r>
              <a:rPr b="1" lang="en">
                <a:solidFill>
                  <a:schemeClr val="dk1"/>
                </a:solidFill>
                <a:latin typeface="Proxima Nova"/>
                <a:ea typeface="Proxima Nova"/>
                <a:cs typeface="Proxima Nova"/>
                <a:sym typeface="Proxima Nova"/>
              </a:rPr>
              <a:t>Plans to use in upcoming week</a:t>
            </a:r>
            <a:endParaRPr>
              <a:solidFill>
                <a:schemeClr val="dk1"/>
              </a:solidFill>
              <a:latin typeface="Proxima Nova"/>
              <a:ea typeface="Proxima Nova"/>
              <a:cs typeface="Proxima Nova"/>
              <a:sym typeface="Proxima Nova"/>
            </a:endParaRPr>
          </a:p>
        </p:txBody>
      </p:sp>
      <p:sp>
        <p:nvSpPr>
          <p:cNvPr id="90" name="Google Shape;90;p18"/>
          <p:cNvSpPr txBox="1"/>
          <p:nvPr/>
        </p:nvSpPr>
        <p:spPr>
          <a:xfrm>
            <a:off x="6032000" y="3341875"/>
            <a:ext cx="1059600" cy="831300"/>
          </a:xfrm>
          <a:prstGeom prst="rect">
            <a:avLst/>
          </a:prstGeom>
          <a:noFill/>
          <a:ln>
            <a:noFill/>
          </a:ln>
        </p:spPr>
        <p:txBody>
          <a:bodyPr anchorCtr="0" anchor="t" bIns="91425" lIns="91425" spcFirstLastPara="1" rIns="91425" wrap="square" tIns="91425">
            <a:spAutoFit/>
          </a:bodyPr>
          <a:lstStyle/>
          <a:p>
            <a:pPr indent="0" lvl="0" marL="0" rtl="0" algn="ctr">
              <a:spcBef>
                <a:spcPts val="1000"/>
              </a:spcBef>
              <a:spcAft>
                <a:spcPts val="1000"/>
              </a:spcAft>
              <a:buNone/>
            </a:pPr>
            <a:r>
              <a:rPr b="1" lang="en">
                <a:solidFill>
                  <a:schemeClr val="dk1"/>
                </a:solidFill>
                <a:latin typeface="Proxima Nova"/>
                <a:ea typeface="Proxima Nova"/>
                <a:cs typeface="Proxima Nova"/>
                <a:sym typeface="Proxima Nova"/>
              </a:rPr>
              <a:t>Places order with promo</a:t>
            </a:r>
            <a:endParaRPr>
              <a:solidFill>
                <a:schemeClr val="dk1"/>
              </a:solidFill>
              <a:latin typeface="Proxima Nova"/>
              <a:ea typeface="Proxima Nova"/>
              <a:cs typeface="Proxima Nova"/>
              <a:sym typeface="Proxima Nova"/>
            </a:endParaRPr>
          </a:p>
        </p:txBody>
      </p:sp>
      <p:sp>
        <p:nvSpPr>
          <p:cNvPr id="91" name="Google Shape;91;p18"/>
          <p:cNvSpPr txBox="1"/>
          <p:nvPr/>
        </p:nvSpPr>
        <p:spPr>
          <a:xfrm>
            <a:off x="7690800" y="3341875"/>
            <a:ext cx="1059600" cy="1046700"/>
          </a:xfrm>
          <a:prstGeom prst="rect">
            <a:avLst/>
          </a:prstGeom>
          <a:noFill/>
          <a:ln>
            <a:noFill/>
          </a:ln>
        </p:spPr>
        <p:txBody>
          <a:bodyPr anchorCtr="0" anchor="t" bIns="91425" lIns="91425" spcFirstLastPara="1" rIns="91425" wrap="square" tIns="91425">
            <a:spAutoFit/>
          </a:bodyPr>
          <a:lstStyle/>
          <a:p>
            <a:pPr indent="0" lvl="0" marL="0" rtl="0" algn="ctr">
              <a:spcBef>
                <a:spcPts val="1000"/>
              </a:spcBef>
              <a:spcAft>
                <a:spcPts val="1000"/>
              </a:spcAft>
              <a:buNone/>
            </a:pPr>
            <a:r>
              <a:rPr b="1" lang="en">
                <a:solidFill>
                  <a:schemeClr val="dk1"/>
                </a:solidFill>
                <a:latin typeface="Proxima Nova"/>
                <a:ea typeface="Proxima Nova"/>
                <a:cs typeface="Proxima Nova"/>
                <a:sym typeface="Proxima Nova"/>
              </a:rPr>
              <a:t>Waits for next promo prompt</a:t>
            </a:r>
            <a:endParaRPr>
              <a:solidFill>
                <a:schemeClr val="dk1"/>
              </a:solidFill>
              <a:latin typeface="Proxima Nova"/>
              <a:ea typeface="Proxima Nova"/>
              <a:cs typeface="Proxima Nova"/>
              <a:sym typeface="Proxima Nova"/>
            </a:endParaRPr>
          </a:p>
        </p:txBody>
      </p:sp>
      <p:pic>
        <p:nvPicPr>
          <p:cNvPr id="92" name="Google Shape;92;p18"/>
          <p:cNvPicPr preferRelativeResize="0"/>
          <p:nvPr/>
        </p:nvPicPr>
        <p:blipFill>
          <a:blip r:embed="rId4">
            <a:alphaModFix/>
          </a:blip>
          <a:stretch>
            <a:fillRect/>
          </a:stretch>
        </p:blipFill>
        <p:spPr>
          <a:xfrm>
            <a:off x="758075" y="1779713"/>
            <a:ext cx="615600" cy="615600"/>
          </a:xfrm>
          <a:prstGeom prst="rect">
            <a:avLst/>
          </a:prstGeom>
          <a:noFill/>
          <a:ln>
            <a:noFill/>
          </a:ln>
        </p:spPr>
      </p:pic>
      <p:pic>
        <p:nvPicPr>
          <p:cNvPr id="93" name="Google Shape;93;p18"/>
          <p:cNvPicPr preferRelativeResize="0"/>
          <p:nvPr/>
        </p:nvPicPr>
        <p:blipFill>
          <a:blip r:embed="rId5">
            <a:alphaModFix/>
          </a:blip>
          <a:stretch>
            <a:fillRect/>
          </a:stretch>
        </p:blipFill>
        <p:spPr>
          <a:xfrm>
            <a:off x="2342549" y="1671863"/>
            <a:ext cx="831300" cy="831300"/>
          </a:xfrm>
          <a:prstGeom prst="rect">
            <a:avLst/>
          </a:prstGeom>
          <a:noFill/>
          <a:ln>
            <a:noFill/>
          </a:ln>
        </p:spPr>
      </p:pic>
      <p:pic>
        <p:nvPicPr>
          <p:cNvPr id="94" name="Google Shape;94;p18"/>
          <p:cNvPicPr preferRelativeResize="0"/>
          <p:nvPr/>
        </p:nvPicPr>
        <p:blipFill>
          <a:blip r:embed="rId6">
            <a:alphaModFix/>
          </a:blip>
          <a:stretch>
            <a:fillRect/>
          </a:stretch>
        </p:blipFill>
        <p:spPr>
          <a:xfrm>
            <a:off x="4297150" y="1716813"/>
            <a:ext cx="741399" cy="741399"/>
          </a:xfrm>
          <a:prstGeom prst="rect">
            <a:avLst/>
          </a:prstGeom>
          <a:noFill/>
          <a:ln>
            <a:noFill/>
          </a:ln>
        </p:spPr>
      </p:pic>
      <p:pic>
        <p:nvPicPr>
          <p:cNvPr id="95" name="Google Shape;95;p18"/>
          <p:cNvPicPr preferRelativeResize="0"/>
          <p:nvPr/>
        </p:nvPicPr>
        <p:blipFill>
          <a:blip r:embed="rId7">
            <a:alphaModFix/>
          </a:blip>
          <a:stretch>
            <a:fillRect/>
          </a:stretch>
        </p:blipFill>
        <p:spPr>
          <a:xfrm>
            <a:off x="6236063" y="1761750"/>
            <a:ext cx="651525" cy="651525"/>
          </a:xfrm>
          <a:prstGeom prst="rect">
            <a:avLst/>
          </a:prstGeom>
          <a:noFill/>
          <a:ln>
            <a:noFill/>
          </a:ln>
        </p:spPr>
      </p:pic>
      <p:pic>
        <p:nvPicPr>
          <p:cNvPr id="96" name="Google Shape;96;p18"/>
          <p:cNvPicPr preferRelativeResize="0"/>
          <p:nvPr/>
        </p:nvPicPr>
        <p:blipFill>
          <a:blip r:embed="rId8">
            <a:alphaModFix/>
          </a:blip>
          <a:stretch>
            <a:fillRect/>
          </a:stretch>
        </p:blipFill>
        <p:spPr>
          <a:xfrm>
            <a:off x="7842250" y="1716813"/>
            <a:ext cx="741399" cy="7413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9"/>
          <p:cNvSpPr txBox="1"/>
          <p:nvPr/>
        </p:nvSpPr>
        <p:spPr>
          <a:xfrm>
            <a:off x="474475" y="311900"/>
            <a:ext cx="70032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300">
                <a:solidFill>
                  <a:schemeClr val="dk1"/>
                </a:solidFill>
                <a:latin typeface="Proxima Nova"/>
                <a:ea typeface="Proxima Nova"/>
                <a:cs typeface="Proxima Nova"/>
                <a:sym typeface="Proxima Nova"/>
              </a:rPr>
              <a:t>Cx already have certain guardrails in place when it comes to savings </a:t>
            </a:r>
            <a:endParaRPr b="1" sz="2300">
              <a:solidFill>
                <a:schemeClr val="dk1"/>
              </a:solidFill>
              <a:latin typeface="Proxima Nova"/>
              <a:ea typeface="Proxima Nova"/>
              <a:cs typeface="Proxima Nova"/>
              <a:sym typeface="Proxima Nova"/>
            </a:endParaRPr>
          </a:p>
        </p:txBody>
      </p:sp>
      <p:sp>
        <p:nvSpPr>
          <p:cNvPr id="102" name="Google Shape;102;p19"/>
          <p:cNvSpPr txBox="1"/>
          <p:nvPr/>
        </p:nvSpPr>
        <p:spPr>
          <a:xfrm>
            <a:off x="2677625" y="1805250"/>
            <a:ext cx="6042900" cy="15330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Cx tend to </a:t>
            </a:r>
            <a:r>
              <a:rPr b="1" lang="en"/>
              <a:t>ignore savings offers </a:t>
            </a:r>
            <a:r>
              <a:rPr lang="en"/>
              <a:t>that are “up to $5” or less and less than 20%</a:t>
            </a:r>
            <a:endParaRPr/>
          </a:p>
          <a:p>
            <a:pPr indent="-317500" lvl="0" marL="457200" rtl="0" algn="l">
              <a:spcBef>
                <a:spcPts val="1000"/>
              </a:spcBef>
              <a:spcAft>
                <a:spcPts val="0"/>
              </a:spcAft>
              <a:buSzPts val="1400"/>
              <a:buChar char="●"/>
            </a:pPr>
            <a:r>
              <a:rPr lang="en"/>
              <a:t>Having </a:t>
            </a:r>
            <a:r>
              <a:rPr b="1" lang="en"/>
              <a:t>free delivery is a big motivator</a:t>
            </a:r>
            <a:endParaRPr b="1"/>
          </a:p>
          <a:p>
            <a:pPr indent="-317500" lvl="0" marL="457200" rtl="0" algn="l">
              <a:spcBef>
                <a:spcPts val="1000"/>
              </a:spcBef>
              <a:spcAft>
                <a:spcPts val="0"/>
              </a:spcAft>
              <a:buSzPts val="1400"/>
              <a:buChar char="●"/>
            </a:pPr>
            <a:r>
              <a:rPr lang="en"/>
              <a:t>If Cx have a subscription (primarily through a partnership) </a:t>
            </a:r>
            <a:r>
              <a:rPr lang="en"/>
              <a:t>$0 delivery + additional promotions is a must to motivate them</a:t>
            </a:r>
            <a:endParaRPr/>
          </a:p>
          <a:p>
            <a:pPr indent="-317500" lvl="0" marL="457200" rtl="0" algn="l">
              <a:spcBef>
                <a:spcPts val="1000"/>
              </a:spcBef>
              <a:spcAft>
                <a:spcPts val="0"/>
              </a:spcAft>
              <a:buSzPts val="1400"/>
              <a:buChar char="●"/>
            </a:pPr>
            <a:r>
              <a:rPr lang="en"/>
              <a:t>Savings have to </a:t>
            </a:r>
            <a:r>
              <a:rPr b="1" lang="en"/>
              <a:t>overcome the added cost of service fees &amp; tipping</a:t>
            </a:r>
            <a:endParaRPr b="1"/>
          </a:p>
          <a:p>
            <a:pPr indent="0" lvl="0" marL="0" rtl="0" algn="l">
              <a:spcBef>
                <a:spcPts val="1000"/>
              </a:spcBef>
              <a:spcAft>
                <a:spcPts val="1000"/>
              </a:spcAft>
              <a:buNone/>
            </a:pPr>
            <a:r>
              <a:t/>
            </a:r>
            <a:endParaRPr/>
          </a:p>
        </p:txBody>
      </p:sp>
      <p:pic>
        <p:nvPicPr>
          <p:cNvPr id="103" name="Google Shape;103;p19"/>
          <p:cNvPicPr preferRelativeResize="0"/>
          <p:nvPr/>
        </p:nvPicPr>
        <p:blipFill>
          <a:blip r:embed="rId4">
            <a:alphaModFix/>
          </a:blip>
          <a:stretch>
            <a:fillRect/>
          </a:stretch>
        </p:blipFill>
        <p:spPr>
          <a:xfrm>
            <a:off x="520975" y="1830400"/>
            <a:ext cx="1903026" cy="190302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0"/>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9" name="Google Shape;109;p20"/>
          <p:cNvSpPr txBox="1"/>
          <p:nvPr/>
        </p:nvSpPr>
        <p:spPr>
          <a:xfrm>
            <a:off x="474475" y="311900"/>
            <a:ext cx="70032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300">
                <a:solidFill>
                  <a:schemeClr val="dk1"/>
                </a:solidFill>
                <a:latin typeface="Proxima Nova"/>
                <a:ea typeface="Proxima Nova"/>
                <a:cs typeface="Proxima Nova"/>
                <a:sym typeface="Proxima Nova"/>
              </a:rPr>
              <a:t>Recall and visit awareness</a:t>
            </a:r>
            <a:endParaRPr b="1" sz="2300">
              <a:solidFill>
                <a:schemeClr val="dk1"/>
              </a:solidFill>
              <a:latin typeface="Proxima Nova"/>
              <a:ea typeface="Proxima Nova"/>
              <a:cs typeface="Proxima Nova"/>
              <a:sym typeface="Proxima Nova"/>
            </a:endParaRPr>
          </a:p>
        </p:txBody>
      </p:sp>
      <p:pic>
        <p:nvPicPr>
          <p:cNvPr id="110" name="Google Shape;110;p20" title="Points scored"/>
          <p:cNvPicPr preferRelativeResize="0"/>
          <p:nvPr/>
        </p:nvPicPr>
        <p:blipFill>
          <a:blip r:embed="rId3">
            <a:alphaModFix/>
          </a:blip>
          <a:stretch>
            <a:fillRect/>
          </a:stretch>
        </p:blipFill>
        <p:spPr>
          <a:xfrm>
            <a:off x="474475" y="1831900"/>
            <a:ext cx="2813076" cy="1739424"/>
          </a:xfrm>
          <a:prstGeom prst="rect">
            <a:avLst/>
          </a:prstGeom>
          <a:noFill/>
          <a:ln>
            <a:noFill/>
          </a:ln>
        </p:spPr>
      </p:pic>
      <p:sp>
        <p:nvSpPr>
          <p:cNvPr id="111" name="Google Shape;111;p20"/>
          <p:cNvSpPr txBox="1"/>
          <p:nvPr/>
        </p:nvSpPr>
        <p:spPr>
          <a:xfrm>
            <a:off x="474475" y="1227225"/>
            <a:ext cx="5736600" cy="51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Proxima Nova"/>
                <a:ea typeface="Proxima Nova"/>
                <a:cs typeface="Proxima Nova"/>
                <a:sym typeface="Proxima Nova"/>
              </a:rPr>
              <a:t>Only </a:t>
            </a:r>
            <a:r>
              <a:rPr b="1" lang="en">
                <a:solidFill>
                  <a:srgbClr val="E23208"/>
                </a:solidFill>
                <a:latin typeface="Proxima Nova"/>
                <a:ea typeface="Proxima Nova"/>
                <a:cs typeface="Proxima Nova"/>
                <a:sym typeface="Proxima Nova"/>
              </a:rPr>
              <a:t>2 out of 6</a:t>
            </a:r>
            <a:r>
              <a:rPr b="1" lang="en">
                <a:latin typeface="Proxima Nova"/>
                <a:ea typeface="Proxima Nova"/>
                <a:cs typeface="Proxima Nova"/>
                <a:sym typeface="Proxima Nova"/>
              </a:rPr>
              <a:t> Cx recalled </a:t>
            </a:r>
            <a:r>
              <a:rPr b="1" lang="en">
                <a:solidFill>
                  <a:srgbClr val="E23208"/>
                </a:solidFill>
                <a:latin typeface="Proxima Nova"/>
                <a:ea typeface="Proxima Nova"/>
                <a:cs typeface="Proxima Nova"/>
                <a:sym typeface="Proxima Nova"/>
              </a:rPr>
              <a:t>receiving an email</a:t>
            </a:r>
            <a:endParaRPr b="1">
              <a:solidFill>
                <a:srgbClr val="E23208"/>
              </a:solidFill>
              <a:latin typeface="Proxima Nova"/>
              <a:ea typeface="Proxima Nova"/>
              <a:cs typeface="Proxima Nova"/>
              <a:sym typeface="Proxima Nova"/>
            </a:endParaRPr>
          </a:p>
          <a:p>
            <a:pPr indent="0" lvl="0" marL="0" rtl="0" algn="l">
              <a:spcBef>
                <a:spcPts val="0"/>
              </a:spcBef>
              <a:spcAft>
                <a:spcPts val="0"/>
              </a:spcAft>
              <a:buNone/>
            </a:pPr>
            <a:r>
              <a:t/>
            </a:r>
            <a:endParaRPr b="1">
              <a:latin typeface="Proxima Nova"/>
              <a:ea typeface="Proxima Nova"/>
              <a:cs typeface="Proxima Nova"/>
              <a:sym typeface="Proxima Nova"/>
            </a:endParaRPr>
          </a:p>
          <a:p>
            <a:pPr indent="0" lvl="0" marL="0" rtl="0" algn="l">
              <a:spcBef>
                <a:spcPts val="0"/>
              </a:spcBef>
              <a:spcAft>
                <a:spcPts val="0"/>
              </a:spcAft>
              <a:buNone/>
            </a:pPr>
            <a:r>
              <a:t/>
            </a:r>
            <a:endParaRPr b="1">
              <a:latin typeface="Proxima Nova"/>
              <a:ea typeface="Proxima Nova"/>
              <a:cs typeface="Proxima Nova"/>
              <a:sym typeface="Proxima Nova"/>
            </a:endParaRPr>
          </a:p>
        </p:txBody>
      </p:sp>
      <p:sp>
        <p:nvSpPr>
          <p:cNvPr id="112" name="Google Shape;112;p20"/>
          <p:cNvSpPr txBox="1"/>
          <p:nvPr/>
        </p:nvSpPr>
        <p:spPr>
          <a:xfrm>
            <a:off x="3702650" y="2758850"/>
            <a:ext cx="4684200" cy="51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Proxima Nova"/>
                <a:ea typeface="Proxima Nova"/>
                <a:cs typeface="Proxima Nova"/>
                <a:sym typeface="Proxima Nova"/>
              </a:rPr>
              <a:t>Cx who did not recall receiving the email either:</a:t>
            </a:r>
            <a:endParaRPr b="1">
              <a:latin typeface="Proxima Nova"/>
              <a:ea typeface="Proxima Nova"/>
              <a:cs typeface="Proxima Nova"/>
              <a:sym typeface="Proxima Nova"/>
            </a:endParaRPr>
          </a:p>
          <a:p>
            <a:pPr indent="0" lvl="0" marL="0" rtl="0" algn="l">
              <a:spcBef>
                <a:spcPts val="0"/>
              </a:spcBef>
              <a:spcAft>
                <a:spcPts val="0"/>
              </a:spcAft>
              <a:buNone/>
            </a:pPr>
            <a:r>
              <a:t/>
            </a:r>
            <a:endParaRPr>
              <a:latin typeface="Proxima Nova"/>
              <a:ea typeface="Proxima Nova"/>
              <a:cs typeface="Proxima Nova"/>
              <a:sym typeface="Proxima Nova"/>
            </a:endParaRPr>
          </a:p>
          <a:p>
            <a:pPr indent="-317500" lvl="0" marL="457200" rtl="0" algn="l">
              <a:spcBef>
                <a:spcPts val="0"/>
              </a:spcBef>
              <a:spcAft>
                <a:spcPts val="0"/>
              </a:spcAft>
              <a:buSzPts val="1400"/>
              <a:buFont typeface="Proxima Nova"/>
              <a:buChar char="●"/>
            </a:pPr>
            <a:r>
              <a:rPr lang="en">
                <a:latin typeface="Proxima Nova"/>
                <a:ea typeface="Proxima Nova"/>
                <a:cs typeface="Proxima Nova"/>
                <a:sym typeface="Proxima Nova"/>
              </a:rPr>
              <a:t>Do not pay attention to emails</a:t>
            </a:r>
            <a:endParaRPr>
              <a:latin typeface="Proxima Nova"/>
              <a:ea typeface="Proxima Nova"/>
              <a:cs typeface="Proxima Nova"/>
              <a:sym typeface="Proxima Nova"/>
            </a:endParaRPr>
          </a:p>
          <a:p>
            <a:pPr indent="-317500" lvl="0" marL="457200" rtl="0" algn="l">
              <a:spcBef>
                <a:spcPts val="0"/>
              </a:spcBef>
              <a:spcAft>
                <a:spcPts val="0"/>
              </a:spcAft>
              <a:buSzPts val="1400"/>
              <a:buFont typeface="Proxima Nova"/>
              <a:buChar char="●"/>
            </a:pPr>
            <a:r>
              <a:rPr lang="en">
                <a:latin typeface="Proxima Nova"/>
                <a:ea typeface="Proxima Nova"/>
                <a:cs typeface="Proxima Nova"/>
                <a:sym typeface="Proxima Nova"/>
              </a:rPr>
              <a:t>Could not differentiate between many DoorDash, UberEats, GrubHub and Instacart emails</a:t>
            </a:r>
            <a:endParaRPr>
              <a:latin typeface="Proxima Nova"/>
              <a:ea typeface="Proxima Nova"/>
              <a:cs typeface="Proxima Nova"/>
              <a:sym typeface="Proxima Nova"/>
            </a:endParaRPr>
          </a:p>
          <a:p>
            <a:pPr indent="-317500" lvl="0" marL="457200" rtl="0" algn="l">
              <a:spcBef>
                <a:spcPts val="0"/>
              </a:spcBef>
              <a:spcAft>
                <a:spcPts val="0"/>
              </a:spcAft>
              <a:buSzPts val="1400"/>
              <a:buFont typeface="Proxima Nova"/>
              <a:buChar char="●"/>
            </a:pPr>
            <a:r>
              <a:rPr lang="en">
                <a:latin typeface="Proxima Nova"/>
                <a:ea typeface="Proxima Nova"/>
                <a:cs typeface="Proxima Nova"/>
                <a:sym typeface="Proxima Nova"/>
              </a:rPr>
              <a:t>Only recalled </a:t>
            </a:r>
            <a:r>
              <a:rPr lang="en">
                <a:latin typeface="Proxima Nova"/>
                <a:ea typeface="Proxima Nova"/>
                <a:cs typeface="Proxima Nova"/>
                <a:sym typeface="Proxima Nova"/>
              </a:rPr>
              <a:t>receiving</a:t>
            </a:r>
            <a:r>
              <a:rPr lang="en">
                <a:latin typeface="Proxima Nova"/>
                <a:ea typeface="Proxima Nova"/>
                <a:cs typeface="Proxima Nova"/>
                <a:sym typeface="Proxima Nova"/>
              </a:rPr>
              <a:t> emails about DashPass</a:t>
            </a:r>
            <a:endParaRPr>
              <a:latin typeface="Proxima Nova"/>
              <a:ea typeface="Proxima Nova"/>
              <a:cs typeface="Proxima Nova"/>
              <a:sym typeface="Proxima Nov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1"/>
          <p:cNvSpPr txBox="1"/>
          <p:nvPr>
            <p:ph idx="12" type="sldNum"/>
          </p:nvPr>
        </p:nvSpPr>
        <p:spPr>
          <a:xfrm>
            <a:off x="7946258" y="44346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8" name="Google Shape;118;p21"/>
          <p:cNvSpPr txBox="1"/>
          <p:nvPr/>
        </p:nvSpPr>
        <p:spPr>
          <a:xfrm>
            <a:off x="366475" y="219750"/>
            <a:ext cx="75474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300">
                <a:solidFill>
                  <a:schemeClr val="dk1"/>
                </a:solidFill>
                <a:latin typeface="Proxima Nova"/>
                <a:ea typeface="Proxima Nova"/>
                <a:cs typeface="Proxima Nova"/>
                <a:sym typeface="Proxima Nova"/>
              </a:rPr>
              <a:t>Why aren’t Cx opening/remembering emails?</a:t>
            </a:r>
            <a:endParaRPr b="1" sz="2300">
              <a:solidFill>
                <a:schemeClr val="dk1"/>
              </a:solidFill>
              <a:latin typeface="Proxima Nova"/>
              <a:ea typeface="Proxima Nova"/>
              <a:cs typeface="Proxima Nova"/>
              <a:sym typeface="Proxima Nova"/>
            </a:endParaRPr>
          </a:p>
        </p:txBody>
      </p:sp>
      <p:sp>
        <p:nvSpPr>
          <p:cNvPr id="119" name="Google Shape;119;p21"/>
          <p:cNvSpPr txBox="1"/>
          <p:nvPr/>
        </p:nvSpPr>
        <p:spPr>
          <a:xfrm>
            <a:off x="1240575" y="786825"/>
            <a:ext cx="6106800" cy="51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Proxima Nova"/>
                <a:ea typeface="Proxima Nova"/>
                <a:cs typeface="Proxima Nova"/>
                <a:sym typeface="Proxima Nova"/>
              </a:rPr>
              <a:t>I get too many emails/I didn’t realize</a:t>
            </a:r>
            <a:endParaRPr>
              <a:solidFill>
                <a:schemeClr val="dk1"/>
              </a:solidFill>
              <a:latin typeface="Proxima Nova"/>
              <a:ea typeface="Proxima Nova"/>
              <a:cs typeface="Proxima Nova"/>
              <a:sym typeface="Proxima Nova"/>
            </a:endParaRPr>
          </a:p>
          <a:p>
            <a:pPr indent="-317500" lvl="0" marL="457200" rtl="0" algn="l">
              <a:spcBef>
                <a:spcPts val="1000"/>
              </a:spcBef>
              <a:spcAft>
                <a:spcPts val="0"/>
              </a:spcAft>
              <a:buClr>
                <a:schemeClr val="dk1"/>
              </a:buClr>
              <a:buSzPts val="1400"/>
              <a:buFont typeface="Proxima Nova"/>
              <a:buChar char="●"/>
            </a:pPr>
            <a:r>
              <a:rPr lang="en">
                <a:solidFill>
                  <a:schemeClr val="dk1"/>
                </a:solidFill>
                <a:latin typeface="Proxima Nova"/>
                <a:ea typeface="Proxima Nova"/>
                <a:cs typeface="Proxima Nova"/>
                <a:sym typeface="Proxima Nova"/>
              </a:rPr>
              <a:t>Prefer to learn via </a:t>
            </a:r>
            <a:r>
              <a:rPr lang="en">
                <a:solidFill>
                  <a:schemeClr val="dk1"/>
                </a:solidFill>
                <a:latin typeface="Proxima Nova"/>
                <a:ea typeface="Proxima Nova"/>
                <a:cs typeface="Proxima Nova"/>
                <a:sym typeface="Proxima Nova"/>
              </a:rPr>
              <a:t>in-app notifications</a:t>
            </a:r>
            <a:endParaRPr>
              <a:solidFill>
                <a:schemeClr val="dk1"/>
              </a:solidFill>
              <a:latin typeface="Proxima Nova"/>
              <a:ea typeface="Proxima Nova"/>
              <a:cs typeface="Proxima Nova"/>
              <a:sym typeface="Proxima Nova"/>
            </a:endParaRPr>
          </a:p>
          <a:p>
            <a:pPr indent="-317500" lvl="0" marL="457200" rtl="0" algn="l">
              <a:spcBef>
                <a:spcPts val="0"/>
              </a:spcBef>
              <a:spcAft>
                <a:spcPts val="0"/>
              </a:spcAft>
              <a:buClr>
                <a:schemeClr val="dk1"/>
              </a:buClr>
              <a:buSzPts val="1400"/>
              <a:buFont typeface="Proxima Nova"/>
              <a:buChar char="●"/>
            </a:pPr>
            <a:r>
              <a:rPr lang="en">
                <a:solidFill>
                  <a:schemeClr val="dk1"/>
                </a:solidFill>
                <a:latin typeface="Proxima Nova"/>
                <a:ea typeface="Proxima Nova"/>
                <a:cs typeface="Proxima Nova"/>
                <a:sym typeface="Proxima Nova"/>
              </a:rPr>
              <a:t>Gap between reading and ordering </a:t>
            </a:r>
            <a:endParaRPr>
              <a:solidFill>
                <a:schemeClr val="dk1"/>
              </a:solidFill>
              <a:latin typeface="Proxima Nova"/>
              <a:ea typeface="Proxima Nova"/>
              <a:cs typeface="Proxima Nova"/>
              <a:sym typeface="Proxima Nova"/>
            </a:endParaRPr>
          </a:p>
        </p:txBody>
      </p:sp>
      <p:sp>
        <p:nvSpPr>
          <p:cNvPr id="120" name="Google Shape;120;p21"/>
          <p:cNvSpPr txBox="1"/>
          <p:nvPr/>
        </p:nvSpPr>
        <p:spPr>
          <a:xfrm>
            <a:off x="1266925" y="3014600"/>
            <a:ext cx="7487100" cy="95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Proxima Nova"/>
                <a:ea typeface="Proxima Nova"/>
                <a:cs typeface="Proxima Nova"/>
                <a:sym typeface="Proxima Nova"/>
              </a:rPr>
              <a:t>I am getting similar UE emails at the same time with higher savings offers (e.g. 40%)</a:t>
            </a:r>
            <a:endParaRPr>
              <a:solidFill>
                <a:schemeClr val="dk1"/>
              </a:solidFill>
              <a:latin typeface="Proxima Nova"/>
              <a:ea typeface="Proxima Nova"/>
              <a:cs typeface="Proxima Nova"/>
              <a:sym typeface="Proxima Nova"/>
            </a:endParaRPr>
          </a:p>
          <a:p>
            <a:pPr indent="-317500" lvl="0" marL="457200" rtl="0" algn="l">
              <a:spcBef>
                <a:spcPts val="1000"/>
              </a:spcBef>
              <a:spcAft>
                <a:spcPts val="0"/>
              </a:spcAft>
              <a:buClr>
                <a:schemeClr val="dk1"/>
              </a:buClr>
              <a:buSzPts val="1400"/>
              <a:buFont typeface="Proxima Nova"/>
              <a:buChar char="●"/>
            </a:pPr>
            <a:r>
              <a:rPr lang="en">
                <a:solidFill>
                  <a:schemeClr val="dk1"/>
                </a:solidFill>
                <a:latin typeface="Proxima Nova"/>
                <a:ea typeface="Proxima Nova"/>
                <a:cs typeface="Proxima Nova"/>
                <a:sym typeface="Proxima Nova"/>
              </a:rPr>
              <a:t>Some Cx just feel like UE has better savings overall or have Uber One through partnerships</a:t>
            </a:r>
            <a:endParaRPr>
              <a:solidFill>
                <a:schemeClr val="dk1"/>
              </a:solidFill>
              <a:latin typeface="Proxima Nova"/>
              <a:ea typeface="Proxima Nova"/>
              <a:cs typeface="Proxima Nova"/>
              <a:sym typeface="Proxima Nova"/>
            </a:endParaRPr>
          </a:p>
        </p:txBody>
      </p:sp>
      <p:pic>
        <p:nvPicPr>
          <p:cNvPr id="121" name="Google Shape;121;p21"/>
          <p:cNvPicPr preferRelativeResize="0"/>
          <p:nvPr/>
        </p:nvPicPr>
        <p:blipFill>
          <a:blip r:embed="rId4">
            <a:alphaModFix/>
          </a:blip>
          <a:stretch>
            <a:fillRect/>
          </a:stretch>
        </p:blipFill>
        <p:spPr>
          <a:xfrm>
            <a:off x="519400" y="970068"/>
            <a:ext cx="548700" cy="548700"/>
          </a:xfrm>
          <a:prstGeom prst="rect">
            <a:avLst/>
          </a:prstGeom>
          <a:noFill/>
          <a:ln>
            <a:noFill/>
          </a:ln>
        </p:spPr>
      </p:pic>
      <p:sp>
        <p:nvSpPr>
          <p:cNvPr id="122" name="Google Shape;122;p21"/>
          <p:cNvSpPr txBox="1"/>
          <p:nvPr/>
        </p:nvSpPr>
        <p:spPr>
          <a:xfrm>
            <a:off x="1240575" y="1770050"/>
            <a:ext cx="7086300" cy="1174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Proxima Nova"/>
                <a:ea typeface="Proxima Nova"/>
                <a:cs typeface="Proxima Nova"/>
                <a:sym typeface="Proxima Nova"/>
              </a:rPr>
              <a:t>My life changes in the winter</a:t>
            </a:r>
            <a:r>
              <a:rPr lang="en">
                <a:solidFill>
                  <a:schemeClr val="dk1"/>
                </a:solidFill>
                <a:latin typeface="Proxima Nova"/>
                <a:ea typeface="Proxima Nova"/>
                <a:cs typeface="Proxima Nova"/>
                <a:sym typeface="Proxima Nova"/>
              </a:rPr>
              <a:t> </a:t>
            </a:r>
            <a:endParaRPr>
              <a:solidFill>
                <a:schemeClr val="dk1"/>
              </a:solidFill>
              <a:latin typeface="Proxima Nova"/>
              <a:ea typeface="Proxima Nova"/>
              <a:cs typeface="Proxima Nova"/>
              <a:sym typeface="Proxima Nova"/>
            </a:endParaRPr>
          </a:p>
          <a:p>
            <a:pPr indent="-317500" lvl="0" marL="457200" rtl="0" algn="l">
              <a:spcBef>
                <a:spcPts val="1000"/>
              </a:spcBef>
              <a:spcAft>
                <a:spcPts val="0"/>
              </a:spcAft>
              <a:buClr>
                <a:schemeClr val="dk1"/>
              </a:buClr>
              <a:buSzPts val="1400"/>
              <a:buFont typeface="Proxima Nova"/>
              <a:buChar char="●"/>
            </a:pPr>
            <a:r>
              <a:rPr lang="en">
                <a:solidFill>
                  <a:schemeClr val="dk1"/>
                </a:solidFill>
                <a:latin typeface="Proxima Nova"/>
                <a:ea typeface="Proxima Nova"/>
                <a:cs typeface="Proxima Nova"/>
                <a:sym typeface="Proxima Nova"/>
              </a:rPr>
              <a:t>Cx mention that winter travel and end of year/holiday budget concerns cause them not to want to order</a:t>
            </a:r>
            <a:endParaRPr>
              <a:solidFill>
                <a:schemeClr val="dk1"/>
              </a:solidFill>
              <a:latin typeface="Proxima Nova"/>
              <a:ea typeface="Proxima Nova"/>
              <a:cs typeface="Proxima Nova"/>
              <a:sym typeface="Proxima Nova"/>
            </a:endParaRPr>
          </a:p>
          <a:p>
            <a:pPr indent="-317500" lvl="0" marL="457200" rtl="0" algn="l">
              <a:spcBef>
                <a:spcPts val="0"/>
              </a:spcBef>
              <a:spcAft>
                <a:spcPts val="0"/>
              </a:spcAft>
              <a:buClr>
                <a:schemeClr val="dk1"/>
              </a:buClr>
              <a:buSzPts val="1400"/>
              <a:buFont typeface="Proxima Nova"/>
              <a:buChar char="●"/>
            </a:pPr>
            <a:r>
              <a:rPr lang="en">
                <a:solidFill>
                  <a:schemeClr val="dk1"/>
                </a:solidFill>
                <a:latin typeface="Proxima Nova"/>
                <a:ea typeface="Proxima Nova"/>
                <a:cs typeface="Proxima Nova"/>
                <a:sym typeface="Proxima Nova"/>
              </a:rPr>
              <a:t>Cx mention a preference for cooking at home “comfort foods” in the winter</a:t>
            </a:r>
            <a:endParaRPr>
              <a:solidFill>
                <a:schemeClr val="dk1"/>
              </a:solidFill>
              <a:latin typeface="Proxima Nova"/>
              <a:ea typeface="Proxima Nova"/>
              <a:cs typeface="Proxima Nova"/>
              <a:sym typeface="Proxima Nova"/>
            </a:endParaRPr>
          </a:p>
        </p:txBody>
      </p:sp>
      <p:pic>
        <p:nvPicPr>
          <p:cNvPr id="123" name="Google Shape;123;p21"/>
          <p:cNvPicPr preferRelativeResize="0"/>
          <p:nvPr/>
        </p:nvPicPr>
        <p:blipFill>
          <a:blip r:embed="rId5">
            <a:alphaModFix/>
          </a:blip>
          <a:stretch>
            <a:fillRect/>
          </a:stretch>
        </p:blipFill>
        <p:spPr>
          <a:xfrm>
            <a:off x="485388" y="1998650"/>
            <a:ext cx="519300" cy="519300"/>
          </a:xfrm>
          <a:prstGeom prst="rect">
            <a:avLst/>
          </a:prstGeom>
          <a:noFill/>
          <a:ln>
            <a:noFill/>
          </a:ln>
        </p:spPr>
      </p:pic>
      <p:pic>
        <p:nvPicPr>
          <p:cNvPr id="124" name="Google Shape;124;p21"/>
          <p:cNvPicPr preferRelativeResize="0"/>
          <p:nvPr/>
        </p:nvPicPr>
        <p:blipFill>
          <a:blip r:embed="rId6">
            <a:alphaModFix/>
          </a:blip>
          <a:stretch>
            <a:fillRect/>
          </a:stretch>
        </p:blipFill>
        <p:spPr>
          <a:xfrm>
            <a:off x="311038" y="2971025"/>
            <a:ext cx="868026" cy="868026"/>
          </a:xfrm>
          <a:prstGeom prst="rect">
            <a:avLst/>
          </a:prstGeom>
          <a:noFill/>
          <a:ln>
            <a:noFill/>
          </a:ln>
        </p:spPr>
      </p:pic>
      <p:sp>
        <p:nvSpPr>
          <p:cNvPr id="125" name="Google Shape;125;p21"/>
          <p:cNvSpPr txBox="1"/>
          <p:nvPr/>
        </p:nvSpPr>
        <p:spPr>
          <a:xfrm>
            <a:off x="1266925" y="4009450"/>
            <a:ext cx="5746500" cy="95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Proxima Nova"/>
                <a:ea typeface="Proxima Nova"/>
                <a:cs typeface="Proxima Nova"/>
                <a:sym typeface="Proxima Nova"/>
              </a:rPr>
              <a:t>I can’t use it on pick up</a:t>
            </a:r>
            <a:endParaRPr>
              <a:solidFill>
                <a:schemeClr val="dk1"/>
              </a:solidFill>
              <a:latin typeface="Proxima Nova"/>
              <a:ea typeface="Proxima Nova"/>
              <a:cs typeface="Proxima Nova"/>
              <a:sym typeface="Proxima Nova"/>
            </a:endParaRPr>
          </a:p>
          <a:p>
            <a:pPr indent="-317500" lvl="0" marL="457200" rtl="0" algn="l">
              <a:spcBef>
                <a:spcPts val="1000"/>
              </a:spcBef>
              <a:spcAft>
                <a:spcPts val="0"/>
              </a:spcAft>
              <a:buClr>
                <a:schemeClr val="dk1"/>
              </a:buClr>
              <a:buSzPts val="1400"/>
              <a:buFont typeface="Proxima Nova"/>
              <a:buChar char="●"/>
            </a:pPr>
            <a:r>
              <a:rPr lang="en">
                <a:solidFill>
                  <a:schemeClr val="dk1"/>
                </a:solidFill>
                <a:latin typeface="Proxima Nova"/>
                <a:ea typeface="Proxima Nova"/>
                <a:cs typeface="Proxima Nova"/>
                <a:sym typeface="Proxima Nova"/>
              </a:rPr>
              <a:t>Many Cx use pickup as a way to </a:t>
            </a:r>
            <a:r>
              <a:rPr lang="en">
                <a:solidFill>
                  <a:schemeClr val="dk1"/>
                </a:solidFill>
                <a:latin typeface="Proxima Nova"/>
                <a:ea typeface="Proxima Nova"/>
                <a:cs typeface="Proxima Nova"/>
                <a:sym typeface="Proxima Nova"/>
              </a:rPr>
              <a:t>manage costs</a:t>
            </a:r>
            <a:r>
              <a:rPr lang="en">
                <a:solidFill>
                  <a:schemeClr val="dk1"/>
                </a:solidFill>
                <a:latin typeface="Proxima Nova"/>
                <a:ea typeface="Proxima Nova"/>
                <a:cs typeface="Proxima Nova"/>
                <a:sym typeface="Proxima Nova"/>
              </a:rPr>
              <a:t> by avoiding delivery &amp; service fees</a:t>
            </a:r>
            <a:endParaRPr>
              <a:solidFill>
                <a:schemeClr val="dk1"/>
              </a:solidFill>
              <a:latin typeface="Proxima Nova"/>
              <a:ea typeface="Proxima Nova"/>
              <a:cs typeface="Proxima Nova"/>
              <a:sym typeface="Proxima Nova"/>
            </a:endParaRPr>
          </a:p>
        </p:txBody>
      </p:sp>
      <p:pic>
        <p:nvPicPr>
          <p:cNvPr id="126" name="Google Shape;126;p21"/>
          <p:cNvPicPr preferRelativeResize="0"/>
          <p:nvPr/>
        </p:nvPicPr>
        <p:blipFill>
          <a:blip r:embed="rId7">
            <a:alphaModFix/>
          </a:blip>
          <a:stretch>
            <a:fillRect/>
          </a:stretch>
        </p:blipFill>
        <p:spPr>
          <a:xfrm>
            <a:off x="450975" y="4066475"/>
            <a:ext cx="685551" cy="685551"/>
          </a:xfrm>
          <a:prstGeom prst="rect">
            <a:avLst/>
          </a:prstGeom>
          <a:noFill/>
          <a:ln>
            <a:noFill/>
          </a:ln>
        </p:spPr>
      </p:pic>
      <p:cxnSp>
        <p:nvCxnSpPr>
          <p:cNvPr id="127" name="Google Shape;127;p21"/>
          <p:cNvCxnSpPr/>
          <p:nvPr/>
        </p:nvCxnSpPr>
        <p:spPr>
          <a:xfrm flipH="1" rot="10800000">
            <a:off x="485400" y="1765325"/>
            <a:ext cx="7891200" cy="9000"/>
          </a:xfrm>
          <a:prstGeom prst="straightConnector1">
            <a:avLst/>
          </a:prstGeom>
          <a:noFill/>
          <a:ln cap="flat" cmpd="sng" w="9525">
            <a:solidFill>
              <a:srgbClr val="F3F3F3"/>
            </a:solidFill>
            <a:prstDash val="solid"/>
            <a:round/>
            <a:headEnd len="med" w="med" type="none"/>
            <a:tailEnd len="med" w="med" type="none"/>
          </a:ln>
        </p:spPr>
      </p:cxnSp>
      <p:cxnSp>
        <p:nvCxnSpPr>
          <p:cNvPr id="128" name="Google Shape;128;p21"/>
          <p:cNvCxnSpPr/>
          <p:nvPr/>
        </p:nvCxnSpPr>
        <p:spPr>
          <a:xfrm flipH="1" rot="10800000">
            <a:off x="485400" y="2937425"/>
            <a:ext cx="7891200" cy="8400"/>
          </a:xfrm>
          <a:prstGeom prst="straightConnector1">
            <a:avLst/>
          </a:prstGeom>
          <a:noFill/>
          <a:ln cap="flat" cmpd="sng" w="9525">
            <a:solidFill>
              <a:srgbClr val="F3F3F3"/>
            </a:solidFill>
            <a:prstDash val="solid"/>
            <a:round/>
            <a:headEnd len="med" w="med" type="none"/>
            <a:tailEnd len="med" w="med" type="none"/>
          </a:ln>
        </p:spPr>
      </p:cxnSp>
      <p:cxnSp>
        <p:nvCxnSpPr>
          <p:cNvPr id="129" name="Google Shape;129;p21"/>
          <p:cNvCxnSpPr/>
          <p:nvPr/>
        </p:nvCxnSpPr>
        <p:spPr>
          <a:xfrm flipH="1" rot="10800000">
            <a:off x="485400" y="4016038"/>
            <a:ext cx="7891200" cy="8400"/>
          </a:xfrm>
          <a:prstGeom prst="straightConnector1">
            <a:avLst/>
          </a:prstGeom>
          <a:noFill/>
          <a:ln cap="flat" cmpd="sng" w="9525">
            <a:solidFill>
              <a:srgbClr val="F3F3F3"/>
            </a:solidFill>
            <a:prstDash val="solid"/>
            <a:round/>
            <a:headEnd len="med" w="med" type="none"/>
            <a:tailEnd len="med" w="med" type="non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2"/>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5" name="Google Shape;135;p22"/>
          <p:cNvSpPr txBox="1"/>
          <p:nvPr/>
        </p:nvSpPr>
        <p:spPr>
          <a:xfrm>
            <a:off x="474475" y="311900"/>
            <a:ext cx="70032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300">
                <a:solidFill>
                  <a:schemeClr val="dk1"/>
                </a:solidFill>
                <a:latin typeface="Proxima Nova"/>
                <a:ea typeface="Proxima Nova"/>
                <a:cs typeface="Proxima Nova"/>
                <a:sym typeface="Proxima Nova"/>
              </a:rPr>
              <a:t>Brands become blurry for some Cx</a:t>
            </a:r>
            <a:endParaRPr b="1" sz="2300">
              <a:solidFill>
                <a:schemeClr val="dk1"/>
              </a:solidFill>
              <a:latin typeface="Proxima Nova"/>
              <a:ea typeface="Proxima Nova"/>
              <a:cs typeface="Proxima Nova"/>
              <a:sym typeface="Proxima Nova"/>
            </a:endParaRPr>
          </a:p>
        </p:txBody>
      </p:sp>
      <p:pic>
        <p:nvPicPr>
          <p:cNvPr id="136" name="Google Shape;136;p22" title="UE vs DD.mp4">
            <a:hlinkClick r:id="rId3"/>
          </p:cNvPr>
          <p:cNvPicPr preferRelativeResize="0"/>
          <p:nvPr/>
        </p:nvPicPr>
        <p:blipFill>
          <a:blip r:embed="rId4">
            <a:alphaModFix/>
          </a:blip>
          <a:stretch>
            <a:fillRect/>
          </a:stretch>
        </p:blipFill>
        <p:spPr>
          <a:xfrm>
            <a:off x="2203925" y="1156450"/>
            <a:ext cx="4572000" cy="3429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gtEl>
                                        <p:attrNameLst>
                                          <p:attrName>style.visibility</p:attrName>
                                        </p:attrNameLst>
                                      </p:cBhvr>
                                      <p:to>
                                        <p:strVal val="visible"/>
                                      </p:to>
                                    </p:set>
                                    <p:animEffect filter="fade" transition="in">
                                      <p:cBhvr>
                                        <p:cTn dur="1000"/>
                                        <p:tgtEl>
                                          <p:spTgt spid="1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3"/>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2" name="Google Shape;142;p23"/>
          <p:cNvSpPr txBox="1"/>
          <p:nvPr/>
        </p:nvSpPr>
        <p:spPr>
          <a:xfrm>
            <a:off x="407475" y="261650"/>
            <a:ext cx="81873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300">
                <a:solidFill>
                  <a:schemeClr val="dk1"/>
                </a:solidFill>
                <a:latin typeface="Proxima Nova"/>
                <a:ea typeface="Proxima Nova"/>
                <a:cs typeface="Proxima Nova"/>
                <a:sym typeface="Proxima Nova"/>
              </a:rPr>
              <a:t>What do Cx think of our affordability </a:t>
            </a:r>
            <a:r>
              <a:rPr b="1" lang="en" sz="2300">
                <a:solidFill>
                  <a:schemeClr val="dk1"/>
                </a:solidFill>
                <a:latin typeface="Proxima Nova"/>
                <a:ea typeface="Proxima Nova"/>
                <a:cs typeface="Proxima Nova"/>
                <a:sym typeface="Proxima Nova"/>
              </a:rPr>
              <a:t>resurrection</a:t>
            </a:r>
            <a:r>
              <a:rPr b="1" lang="en" sz="2300">
                <a:solidFill>
                  <a:schemeClr val="dk1"/>
                </a:solidFill>
                <a:latin typeface="Proxima Nova"/>
                <a:ea typeface="Proxima Nova"/>
                <a:cs typeface="Proxima Nova"/>
                <a:sym typeface="Proxima Nova"/>
              </a:rPr>
              <a:t> emails?</a:t>
            </a:r>
            <a:endParaRPr b="1" sz="2300">
              <a:solidFill>
                <a:schemeClr val="dk1"/>
              </a:solidFill>
              <a:latin typeface="Proxima Nova"/>
              <a:ea typeface="Proxima Nova"/>
              <a:cs typeface="Proxima Nova"/>
              <a:sym typeface="Proxima Nova"/>
            </a:endParaRPr>
          </a:p>
        </p:txBody>
      </p:sp>
      <p:pic>
        <p:nvPicPr>
          <p:cNvPr id="143" name="Google Shape;143;p23"/>
          <p:cNvPicPr preferRelativeResize="0"/>
          <p:nvPr/>
        </p:nvPicPr>
        <p:blipFill rotWithShape="1">
          <a:blip r:embed="rId3">
            <a:alphaModFix/>
          </a:blip>
          <a:srcRect b="31014" l="27832" r="23399" t="10289"/>
          <a:stretch/>
        </p:blipFill>
        <p:spPr>
          <a:xfrm>
            <a:off x="755662" y="932423"/>
            <a:ext cx="1973575" cy="4036850"/>
          </a:xfrm>
          <a:prstGeom prst="rect">
            <a:avLst/>
          </a:prstGeom>
          <a:noFill/>
          <a:ln>
            <a:noFill/>
          </a:ln>
        </p:spPr>
      </p:pic>
      <p:sp>
        <p:nvSpPr>
          <p:cNvPr id="144" name="Google Shape;144;p23"/>
          <p:cNvSpPr/>
          <p:nvPr/>
        </p:nvSpPr>
        <p:spPr>
          <a:xfrm>
            <a:off x="603150" y="1516250"/>
            <a:ext cx="1876500" cy="226200"/>
          </a:xfrm>
          <a:prstGeom prst="ellipse">
            <a:avLst/>
          </a:prstGeom>
          <a:noFill/>
          <a:ln cap="flat" cmpd="sng" w="9525">
            <a:solidFill>
              <a:srgbClr val="674EA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5" name="Google Shape;145;p23"/>
          <p:cNvSpPr txBox="1"/>
          <p:nvPr/>
        </p:nvSpPr>
        <p:spPr>
          <a:xfrm>
            <a:off x="3032500" y="1097375"/>
            <a:ext cx="3786300" cy="645000"/>
          </a:xfrm>
          <a:prstGeom prst="rect">
            <a:avLst/>
          </a:prstGeom>
          <a:noFill/>
          <a:ln cap="flat" cmpd="sng" w="9525">
            <a:solidFill>
              <a:srgbClr val="674EA7"/>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100">
                <a:latin typeface="Proxima Nova"/>
                <a:ea typeface="Proxima Nova"/>
                <a:cs typeface="Proxima Nova"/>
                <a:sym typeface="Proxima Nova"/>
              </a:rPr>
              <a:t>Some Cx said they like the “we miss you” message.  It feels more personal, less transactional and gives a reason why this offer is being provided.</a:t>
            </a:r>
            <a:endParaRPr sz="1100">
              <a:latin typeface="Proxima Nova"/>
              <a:ea typeface="Proxima Nova"/>
              <a:cs typeface="Proxima Nova"/>
              <a:sym typeface="Proxima Nova"/>
            </a:endParaRPr>
          </a:p>
        </p:txBody>
      </p:sp>
      <p:sp>
        <p:nvSpPr>
          <p:cNvPr id="146" name="Google Shape;146;p23"/>
          <p:cNvSpPr/>
          <p:nvPr/>
        </p:nvSpPr>
        <p:spPr>
          <a:xfrm>
            <a:off x="603150" y="1794300"/>
            <a:ext cx="1876500" cy="226200"/>
          </a:xfrm>
          <a:prstGeom prst="ellipse">
            <a:avLst/>
          </a:prstGeom>
          <a:noFill/>
          <a:ln cap="flat" cmpd="sng" w="9525">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7" name="Google Shape;147;p23"/>
          <p:cNvSpPr txBox="1"/>
          <p:nvPr/>
        </p:nvSpPr>
        <p:spPr>
          <a:xfrm>
            <a:off x="3117875" y="1928350"/>
            <a:ext cx="3786300" cy="1380900"/>
          </a:xfrm>
          <a:prstGeom prst="rect">
            <a:avLst/>
          </a:prstGeom>
          <a:noFill/>
          <a:ln cap="flat" cmpd="sng" w="9525">
            <a:solidFill>
              <a:srgbClr val="1155CC"/>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100">
                <a:latin typeface="Proxima Nova"/>
                <a:ea typeface="Proxima Nova"/>
                <a:cs typeface="Proxima Nova"/>
                <a:sym typeface="Proxima Nova"/>
              </a:rPr>
              <a:t>The “good stuff” is in the fine print.  Cx feel like they missed this</a:t>
            </a:r>
            <a:endParaRPr sz="1100">
              <a:latin typeface="Proxima Nova"/>
              <a:ea typeface="Proxima Nova"/>
              <a:cs typeface="Proxima Nova"/>
              <a:sym typeface="Proxima Nova"/>
            </a:endParaRPr>
          </a:p>
          <a:p>
            <a:pPr indent="-298450" lvl="0" marL="457200" rtl="0" algn="l">
              <a:spcBef>
                <a:spcPts val="0"/>
              </a:spcBef>
              <a:spcAft>
                <a:spcPts val="0"/>
              </a:spcAft>
              <a:buSzPts val="1100"/>
              <a:buFont typeface="Proxima Nova"/>
              <a:buChar char="●"/>
            </a:pPr>
            <a:r>
              <a:rPr lang="en" sz="1100">
                <a:latin typeface="Proxima Nova"/>
                <a:ea typeface="Proxima Nova"/>
                <a:cs typeface="Proxima Nova"/>
                <a:sym typeface="Proxima Nova"/>
              </a:rPr>
              <a:t>$10 is a good maximum saving </a:t>
            </a:r>
            <a:r>
              <a:rPr lang="en" sz="1100">
                <a:latin typeface="Proxima Nova"/>
                <a:ea typeface="Proxima Nova"/>
                <a:cs typeface="Proxima Nova"/>
                <a:sym typeface="Proxima Nova"/>
              </a:rPr>
              <a:t>amount from their perspective and Cx feel they would be more impacted by that number</a:t>
            </a:r>
            <a:endParaRPr sz="1100">
              <a:latin typeface="Proxima Nova"/>
              <a:ea typeface="Proxima Nova"/>
              <a:cs typeface="Proxima Nova"/>
              <a:sym typeface="Proxima Nova"/>
            </a:endParaRPr>
          </a:p>
          <a:p>
            <a:pPr indent="-298450" lvl="0" marL="457200" rtl="0" algn="l">
              <a:spcBef>
                <a:spcPts val="0"/>
              </a:spcBef>
              <a:spcAft>
                <a:spcPts val="0"/>
              </a:spcAft>
              <a:buSzPts val="1100"/>
              <a:buFont typeface="Proxima Nova"/>
              <a:buChar char="●"/>
            </a:pPr>
            <a:r>
              <a:rPr lang="en" sz="1100">
                <a:latin typeface="Proxima Nova"/>
                <a:ea typeface="Proxima Nova"/>
                <a:cs typeface="Proxima Nova"/>
                <a:sym typeface="Proxima Nova"/>
              </a:rPr>
              <a:t>Cx didn't realize the 7 day use; more urgency might have brought it top of mind sooner</a:t>
            </a:r>
            <a:endParaRPr sz="1100">
              <a:latin typeface="Proxima Nova"/>
              <a:ea typeface="Proxima Nova"/>
              <a:cs typeface="Proxima Nova"/>
              <a:sym typeface="Proxima Nova"/>
            </a:endParaRPr>
          </a:p>
        </p:txBody>
      </p:sp>
      <p:sp>
        <p:nvSpPr>
          <p:cNvPr id="148" name="Google Shape;148;p23"/>
          <p:cNvSpPr txBox="1"/>
          <p:nvPr/>
        </p:nvSpPr>
        <p:spPr>
          <a:xfrm>
            <a:off x="3117875" y="4363800"/>
            <a:ext cx="3786300" cy="452400"/>
          </a:xfrm>
          <a:prstGeom prst="rect">
            <a:avLst/>
          </a:prstGeom>
          <a:noFill/>
          <a:ln cap="flat" cmpd="sng" w="9525">
            <a:solidFill>
              <a:srgbClr val="38761D"/>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100">
                <a:latin typeface="Proxima Nova"/>
                <a:ea typeface="Proxima Nova"/>
                <a:cs typeface="Proxima Nova"/>
                <a:sym typeface="Proxima Nova"/>
              </a:rPr>
              <a:t>Cx noted this information is helpful in terms of learning about grocery but it is not necessarily motivating for them.</a:t>
            </a:r>
            <a:endParaRPr sz="1100">
              <a:latin typeface="Proxima Nova"/>
              <a:ea typeface="Proxima Nova"/>
              <a:cs typeface="Proxima Nova"/>
              <a:sym typeface="Proxima Nova"/>
            </a:endParaRPr>
          </a:p>
        </p:txBody>
      </p:sp>
      <p:sp>
        <p:nvSpPr>
          <p:cNvPr id="149" name="Google Shape;149;p23"/>
          <p:cNvSpPr txBox="1"/>
          <p:nvPr/>
        </p:nvSpPr>
        <p:spPr>
          <a:xfrm>
            <a:off x="3148925" y="3450250"/>
            <a:ext cx="3786300" cy="815100"/>
          </a:xfrm>
          <a:prstGeom prst="rect">
            <a:avLst/>
          </a:prstGeom>
          <a:noFill/>
          <a:ln cap="flat" cmpd="sng" w="9525">
            <a:solidFill>
              <a:srgbClr val="BF9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100">
                <a:latin typeface="Proxima Nova"/>
                <a:ea typeface="Proxima Nova"/>
                <a:cs typeface="Proxima Nova"/>
                <a:sym typeface="Proxima Nova"/>
              </a:rPr>
              <a:t>Some Cx were weary about the need for a promotion code because of bad experiences in the past </a:t>
            </a:r>
            <a:r>
              <a:rPr lang="en" sz="1100">
                <a:latin typeface="Proxima Nova"/>
                <a:ea typeface="Proxima Nova"/>
                <a:cs typeface="Proxima Nova"/>
                <a:sym typeface="Proxima Nova"/>
              </a:rPr>
              <a:t>where</a:t>
            </a:r>
            <a:r>
              <a:rPr lang="en" sz="1100">
                <a:latin typeface="Proxima Nova"/>
                <a:ea typeface="Proxima Nova"/>
                <a:cs typeface="Proxima Nova"/>
                <a:sym typeface="Proxima Nova"/>
              </a:rPr>
              <a:t> it did not work.</a:t>
            </a:r>
            <a:endParaRPr sz="1100">
              <a:latin typeface="Proxima Nova"/>
              <a:ea typeface="Proxima Nova"/>
              <a:cs typeface="Proxima Nova"/>
              <a:sym typeface="Proxima Nova"/>
            </a:endParaRPr>
          </a:p>
        </p:txBody>
      </p:sp>
      <p:cxnSp>
        <p:nvCxnSpPr>
          <p:cNvPr id="150" name="Google Shape;150;p23"/>
          <p:cNvCxnSpPr>
            <a:stCxn id="144" idx="6"/>
            <a:endCxn id="145" idx="1"/>
          </p:cNvCxnSpPr>
          <p:nvPr/>
        </p:nvCxnSpPr>
        <p:spPr>
          <a:xfrm flipH="1" rot="10800000">
            <a:off x="2479650" y="1419950"/>
            <a:ext cx="552900" cy="209400"/>
          </a:xfrm>
          <a:prstGeom prst="straightConnector1">
            <a:avLst/>
          </a:prstGeom>
          <a:noFill/>
          <a:ln cap="flat" cmpd="sng" w="9525">
            <a:solidFill>
              <a:srgbClr val="674EA7"/>
            </a:solidFill>
            <a:prstDash val="solid"/>
            <a:round/>
            <a:headEnd len="med" w="med" type="none"/>
            <a:tailEnd len="med" w="med" type="none"/>
          </a:ln>
        </p:spPr>
      </p:cxnSp>
      <p:cxnSp>
        <p:nvCxnSpPr>
          <p:cNvPr id="151" name="Google Shape;151;p23"/>
          <p:cNvCxnSpPr>
            <a:endCxn id="147" idx="1"/>
          </p:cNvCxnSpPr>
          <p:nvPr/>
        </p:nvCxnSpPr>
        <p:spPr>
          <a:xfrm>
            <a:off x="2443775" y="1879300"/>
            <a:ext cx="674100" cy="739500"/>
          </a:xfrm>
          <a:prstGeom prst="straightConnector1">
            <a:avLst/>
          </a:prstGeom>
          <a:noFill/>
          <a:ln cap="flat" cmpd="sng" w="9525">
            <a:solidFill>
              <a:srgbClr val="1155CC"/>
            </a:solidFill>
            <a:prstDash val="solid"/>
            <a:round/>
            <a:headEnd len="med" w="med" type="none"/>
            <a:tailEnd len="med" w="med" type="none"/>
          </a:ln>
        </p:spPr>
      </p:cxnSp>
      <p:sp>
        <p:nvSpPr>
          <p:cNvPr id="152" name="Google Shape;152;p23"/>
          <p:cNvSpPr/>
          <p:nvPr/>
        </p:nvSpPr>
        <p:spPr>
          <a:xfrm>
            <a:off x="567275" y="2020500"/>
            <a:ext cx="1876500" cy="157800"/>
          </a:xfrm>
          <a:prstGeom prst="ellipse">
            <a:avLst/>
          </a:prstGeom>
          <a:noFill/>
          <a:ln cap="flat" cmpd="sng" w="9525">
            <a:solidFill>
              <a:srgbClr val="BF9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53" name="Google Shape;153;p23"/>
          <p:cNvCxnSpPr/>
          <p:nvPr/>
        </p:nvCxnSpPr>
        <p:spPr>
          <a:xfrm>
            <a:off x="2303450" y="2122300"/>
            <a:ext cx="867600" cy="1439100"/>
          </a:xfrm>
          <a:prstGeom prst="straightConnector1">
            <a:avLst/>
          </a:prstGeom>
          <a:noFill/>
          <a:ln cap="flat" cmpd="sng" w="9525">
            <a:solidFill>
              <a:srgbClr val="BF9000"/>
            </a:solidFill>
            <a:prstDash val="solid"/>
            <a:round/>
            <a:headEnd len="med" w="med" type="none"/>
            <a:tailEnd len="med" w="med" type="none"/>
          </a:ln>
        </p:spPr>
      </p:cxnSp>
      <p:sp>
        <p:nvSpPr>
          <p:cNvPr id="154" name="Google Shape;154;p23"/>
          <p:cNvSpPr/>
          <p:nvPr/>
        </p:nvSpPr>
        <p:spPr>
          <a:xfrm>
            <a:off x="603150" y="2755650"/>
            <a:ext cx="2163900" cy="2213700"/>
          </a:xfrm>
          <a:prstGeom prst="ellipse">
            <a:avLst/>
          </a:prstGeom>
          <a:no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55" name="Google Shape;155;p23"/>
          <p:cNvCxnSpPr>
            <a:endCxn id="148" idx="1"/>
          </p:cNvCxnSpPr>
          <p:nvPr/>
        </p:nvCxnSpPr>
        <p:spPr>
          <a:xfrm>
            <a:off x="2729075" y="4054200"/>
            <a:ext cx="388800" cy="535800"/>
          </a:xfrm>
          <a:prstGeom prst="straightConnector1">
            <a:avLst/>
          </a:prstGeom>
          <a:noFill/>
          <a:ln cap="flat" cmpd="sng" w="9525">
            <a:solidFill>
              <a:srgbClr val="38761D"/>
            </a:solidFill>
            <a:prstDash val="solid"/>
            <a:round/>
            <a:headEnd len="med" w="med" type="none"/>
            <a:tailEnd len="med" w="med" type="non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59" name="Shape 159"/>
        <p:cNvGrpSpPr/>
        <p:nvPr/>
      </p:nvGrpSpPr>
      <p:grpSpPr>
        <a:xfrm>
          <a:off x="0" y="0"/>
          <a:ext cx="0" cy="0"/>
          <a:chOff x="0" y="0"/>
          <a:chExt cx="0" cy="0"/>
        </a:xfrm>
      </p:grpSpPr>
      <p:sp>
        <p:nvSpPr>
          <p:cNvPr id="160" name="Google Shape;160;p24"/>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1" name="Google Shape;161;p24"/>
          <p:cNvSpPr txBox="1"/>
          <p:nvPr/>
        </p:nvSpPr>
        <p:spPr>
          <a:xfrm>
            <a:off x="474475" y="311900"/>
            <a:ext cx="70032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300">
                <a:solidFill>
                  <a:schemeClr val="dk1"/>
                </a:solidFill>
                <a:latin typeface="Proxima Nova"/>
                <a:ea typeface="Proxima Nova"/>
                <a:cs typeface="Proxima Nova"/>
                <a:sym typeface="Proxima Nova"/>
              </a:rPr>
              <a:t>We also tested some message themes with Cx</a:t>
            </a:r>
            <a:endParaRPr b="1" sz="2300">
              <a:solidFill>
                <a:schemeClr val="dk1"/>
              </a:solidFill>
              <a:latin typeface="Proxima Nova"/>
              <a:ea typeface="Proxima Nova"/>
              <a:cs typeface="Proxima Nova"/>
              <a:sym typeface="Proxima Nova"/>
            </a:endParaRPr>
          </a:p>
        </p:txBody>
      </p:sp>
      <p:graphicFrame>
        <p:nvGraphicFramePr>
          <p:cNvPr id="162" name="Google Shape;162;p24"/>
          <p:cNvGraphicFramePr/>
          <p:nvPr/>
        </p:nvGraphicFramePr>
        <p:xfrm>
          <a:off x="554850" y="1048350"/>
          <a:ext cx="3000000" cy="3000000"/>
        </p:xfrm>
        <a:graphic>
          <a:graphicData uri="http://schemas.openxmlformats.org/drawingml/2006/table">
            <a:tbl>
              <a:tblPr>
                <a:noFill/>
                <a:tableStyleId>{02772FCC-D75C-4486-83E7-3CF4708003A6}</a:tableStyleId>
              </a:tblPr>
              <a:tblGrid>
                <a:gridCol w="5154650"/>
                <a:gridCol w="1387375"/>
                <a:gridCol w="1398050"/>
              </a:tblGrid>
              <a:tr h="330575">
                <a:tc>
                  <a:txBody>
                    <a:bodyPr/>
                    <a:lstStyle/>
                    <a:p>
                      <a:pPr indent="0" lvl="0" marL="0" rtl="0" algn="l">
                        <a:spcBef>
                          <a:spcPts val="0"/>
                        </a:spcBef>
                        <a:spcAft>
                          <a:spcPts val="0"/>
                        </a:spcAft>
                        <a:buNone/>
                      </a:pPr>
                      <a:r>
                        <a:rPr b="1" lang="en" sz="1000">
                          <a:solidFill>
                            <a:srgbClr val="FFFFFF"/>
                          </a:solidFill>
                          <a:latin typeface="Proxima Nova"/>
                          <a:ea typeface="Proxima Nova"/>
                          <a:cs typeface="Proxima Nova"/>
                          <a:sym typeface="Proxima Nova"/>
                        </a:rPr>
                        <a:t>Message</a:t>
                      </a:r>
                      <a:endParaRPr b="1" sz="1000">
                        <a:solidFill>
                          <a:srgbClr val="FFFFFF"/>
                        </a:solidFill>
                        <a:latin typeface="Proxima Nova"/>
                        <a:ea typeface="Proxima Nova"/>
                        <a:cs typeface="Proxima Nova"/>
                        <a:sym typeface="Proxima Nova"/>
                      </a:endParaRPr>
                    </a:p>
                  </a:txBody>
                  <a:tcPr marT="63500" marB="63500" marR="63500" marL="63500" anchor="ctr">
                    <a:solidFill>
                      <a:srgbClr val="000000"/>
                    </a:solidFill>
                  </a:tcPr>
                </a:tc>
                <a:tc>
                  <a:txBody>
                    <a:bodyPr/>
                    <a:lstStyle/>
                    <a:p>
                      <a:pPr indent="0" lvl="0" marL="0" rtl="0" algn="ctr">
                        <a:spcBef>
                          <a:spcPts val="0"/>
                        </a:spcBef>
                        <a:spcAft>
                          <a:spcPts val="0"/>
                        </a:spcAft>
                        <a:buNone/>
                      </a:pPr>
                      <a:r>
                        <a:rPr b="1" lang="en" sz="1000">
                          <a:solidFill>
                            <a:srgbClr val="FFFFFF"/>
                          </a:solidFill>
                          <a:latin typeface="Proxima Nova"/>
                          <a:ea typeface="Proxima Nova"/>
                          <a:cs typeface="Proxima Nova"/>
                          <a:sym typeface="Proxima Nova"/>
                        </a:rPr>
                        <a:t>Service</a:t>
                      </a:r>
                      <a:endParaRPr b="1" sz="1000">
                        <a:solidFill>
                          <a:srgbClr val="FFFFFF"/>
                        </a:solidFill>
                        <a:latin typeface="Proxima Nova"/>
                        <a:ea typeface="Proxima Nova"/>
                        <a:cs typeface="Proxima Nova"/>
                        <a:sym typeface="Proxima Nova"/>
                      </a:endParaRPr>
                    </a:p>
                  </a:txBody>
                  <a:tcPr marT="63500" marB="63500" marR="63500" marL="63500" anchor="ctr">
                    <a:solidFill>
                      <a:srgbClr val="000000"/>
                    </a:solidFill>
                  </a:tcPr>
                </a:tc>
                <a:tc>
                  <a:txBody>
                    <a:bodyPr/>
                    <a:lstStyle/>
                    <a:p>
                      <a:pPr indent="0" lvl="0" marL="0" rtl="0" algn="ctr">
                        <a:spcBef>
                          <a:spcPts val="0"/>
                        </a:spcBef>
                        <a:spcAft>
                          <a:spcPts val="0"/>
                        </a:spcAft>
                        <a:buNone/>
                      </a:pPr>
                      <a:r>
                        <a:rPr b="1" lang="en" sz="1000">
                          <a:solidFill>
                            <a:srgbClr val="FFFFFF"/>
                          </a:solidFill>
                          <a:latin typeface="Proxima Nova"/>
                          <a:ea typeface="Proxima Nova"/>
                          <a:cs typeface="Proxima Nova"/>
                          <a:sym typeface="Proxima Nova"/>
                        </a:rPr>
                        <a:t>Benefit</a:t>
                      </a:r>
                      <a:endParaRPr b="1" sz="1000">
                        <a:solidFill>
                          <a:srgbClr val="FFFFFF"/>
                        </a:solidFill>
                        <a:latin typeface="Proxima Nova"/>
                        <a:ea typeface="Proxima Nova"/>
                        <a:cs typeface="Proxima Nova"/>
                        <a:sym typeface="Proxima Nova"/>
                      </a:endParaRPr>
                    </a:p>
                  </a:txBody>
                  <a:tcPr marT="63500" marB="63500" marR="63500" marL="63500" anchor="ctr">
                    <a:solidFill>
                      <a:srgbClr val="000000"/>
                    </a:solidFill>
                  </a:tcPr>
                </a:tc>
              </a:tr>
              <a:tr h="510900">
                <a:tc>
                  <a:txBody>
                    <a:bodyPr/>
                    <a:lstStyle/>
                    <a:p>
                      <a:pPr indent="0" lvl="0" marL="0" rtl="0" algn="l">
                        <a:spcBef>
                          <a:spcPts val="0"/>
                        </a:spcBef>
                        <a:spcAft>
                          <a:spcPts val="0"/>
                        </a:spcAft>
                        <a:buNone/>
                      </a:pPr>
                      <a:r>
                        <a:rPr lang="en" sz="1000">
                          <a:latin typeface="Proxima Nova"/>
                          <a:ea typeface="Proxima Nova"/>
                          <a:cs typeface="Proxima Nova"/>
                          <a:sym typeface="Proxima Nova"/>
                        </a:rPr>
                        <a:t>With DoorDash, you can order with peace of mind that your food will arrive fresh and on time: 98% of orders are delivered on time without any missing items.</a:t>
                      </a:r>
                      <a:endParaRPr sz="1000">
                        <a:latin typeface="Proxima Nova"/>
                        <a:ea typeface="Proxima Nova"/>
                        <a:cs typeface="Proxima Nova"/>
                        <a:sym typeface="Proxima Nova"/>
                      </a:endParaRPr>
                    </a:p>
                  </a:txBody>
                  <a:tcPr marT="63500" marB="63500" marR="63500" marL="63500" anchor="ctr"/>
                </a:tc>
                <a:tc>
                  <a:txBody>
                    <a:bodyPr/>
                    <a:lstStyle/>
                    <a:p>
                      <a:pPr indent="0" lvl="0" marL="0" rtl="0" algn="ctr">
                        <a:spcBef>
                          <a:spcPts val="0"/>
                        </a:spcBef>
                        <a:spcAft>
                          <a:spcPts val="0"/>
                        </a:spcAft>
                        <a:buNone/>
                      </a:pPr>
                      <a:r>
                        <a:rPr lang="en" sz="1000">
                          <a:latin typeface="Proxima Nova"/>
                          <a:ea typeface="Proxima Nova"/>
                          <a:cs typeface="Proxima Nova"/>
                          <a:sym typeface="Proxima Nova"/>
                        </a:rPr>
                        <a:t>Quality</a:t>
                      </a:r>
                      <a:endParaRPr sz="1000">
                        <a:latin typeface="Proxima Nova"/>
                        <a:ea typeface="Proxima Nova"/>
                        <a:cs typeface="Proxima Nova"/>
                        <a:sym typeface="Proxima Nova"/>
                      </a:endParaRPr>
                    </a:p>
                  </a:txBody>
                  <a:tcPr marT="63500" marB="63500" marR="63500" marL="63500" anchor="ctr"/>
                </a:tc>
                <a:tc>
                  <a:txBody>
                    <a:bodyPr/>
                    <a:lstStyle/>
                    <a:p>
                      <a:pPr indent="0" lvl="0" marL="0" rtl="0" algn="ctr">
                        <a:spcBef>
                          <a:spcPts val="0"/>
                        </a:spcBef>
                        <a:spcAft>
                          <a:spcPts val="0"/>
                        </a:spcAft>
                        <a:buNone/>
                      </a:pPr>
                      <a:r>
                        <a:rPr lang="en" sz="1000">
                          <a:latin typeface="Proxima Nova"/>
                          <a:ea typeface="Proxima Nova"/>
                          <a:cs typeface="Proxima Nova"/>
                          <a:sym typeface="Proxima Nova"/>
                        </a:rPr>
                        <a:t>Peace of mind</a:t>
                      </a:r>
                      <a:endParaRPr sz="1000">
                        <a:latin typeface="Proxima Nova"/>
                        <a:ea typeface="Proxima Nova"/>
                        <a:cs typeface="Proxima Nova"/>
                        <a:sym typeface="Proxima Nova"/>
                      </a:endParaRPr>
                    </a:p>
                  </a:txBody>
                  <a:tcPr marT="63500" marB="63500" marR="63500" marL="63500" anchor="ctr"/>
                </a:tc>
              </a:tr>
              <a:tr h="510900">
                <a:tc>
                  <a:txBody>
                    <a:bodyPr/>
                    <a:lstStyle/>
                    <a:p>
                      <a:pPr indent="0" lvl="0" marL="0" rtl="0" algn="l">
                        <a:spcBef>
                          <a:spcPts val="0"/>
                        </a:spcBef>
                        <a:spcAft>
                          <a:spcPts val="0"/>
                        </a:spcAft>
                        <a:buNone/>
                      </a:pPr>
                      <a:r>
                        <a:rPr lang="en" sz="1000">
                          <a:latin typeface="Proxima Nova"/>
                          <a:ea typeface="Proxima Nova"/>
                          <a:cs typeface="Proxima Nova"/>
                          <a:sym typeface="Proxima Nova"/>
                        </a:rPr>
                        <a:t>With DoorDash, you can find great deals any time you open the app, like $0 delivery fees and 10% off, from restaurants in your area.</a:t>
                      </a:r>
                      <a:endParaRPr sz="1000">
                        <a:latin typeface="Proxima Nova"/>
                        <a:ea typeface="Proxima Nova"/>
                        <a:cs typeface="Proxima Nova"/>
                        <a:sym typeface="Proxima Nova"/>
                      </a:endParaRPr>
                    </a:p>
                  </a:txBody>
                  <a:tcPr marT="63500" marB="63500" marR="63500" marL="63500" anchor="ct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Deals</a:t>
                      </a:r>
                      <a:endParaRPr sz="1000">
                        <a:latin typeface="Proxima Nova"/>
                        <a:ea typeface="Proxima Nova"/>
                        <a:cs typeface="Proxima Nova"/>
                        <a:sym typeface="Proxima Nova"/>
                      </a:endParaRPr>
                    </a:p>
                  </a:txBody>
                  <a:tcPr marT="63500" marB="63500" marR="63500" marL="63500" anchor="ct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Save money</a:t>
                      </a:r>
                      <a:endParaRPr sz="1000">
                        <a:latin typeface="Proxima Nova"/>
                        <a:ea typeface="Proxima Nova"/>
                        <a:cs typeface="Proxima Nova"/>
                        <a:sym typeface="Proxima Nova"/>
                      </a:endParaRPr>
                    </a:p>
                  </a:txBody>
                  <a:tcPr marT="63500" marB="63500" marR="63500" marL="63500" anchor="ctr"/>
                </a:tc>
              </a:tr>
              <a:tr h="510900">
                <a:tc>
                  <a:txBody>
                    <a:bodyPr/>
                    <a:lstStyle/>
                    <a:p>
                      <a:pPr indent="0" lvl="0" marL="0" rtl="0" algn="l">
                        <a:spcBef>
                          <a:spcPts val="0"/>
                        </a:spcBef>
                        <a:spcAft>
                          <a:spcPts val="0"/>
                        </a:spcAft>
                        <a:buNone/>
                      </a:pPr>
                      <a:r>
                        <a:rPr lang="en" sz="1000">
                          <a:latin typeface="Proxima Nova"/>
                          <a:ea typeface="Proxima Nova"/>
                          <a:cs typeface="Proxima Nova"/>
                          <a:sym typeface="Proxima Nova"/>
                        </a:rPr>
                        <a:t>With DoorDash, you can get personalized recommendations based on your preferences, making it easy to find new options that you’re excited to try.</a:t>
                      </a:r>
                      <a:endParaRPr sz="1000">
                        <a:latin typeface="Proxima Nova"/>
                        <a:ea typeface="Proxima Nova"/>
                        <a:cs typeface="Proxima Nova"/>
                        <a:sym typeface="Proxima Nova"/>
                      </a:endParaRPr>
                    </a:p>
                  </a:txBody>
                  <a:tcPr marT="63500" marB="63500" marR="63500" marL="63500" anchor="ctr"/>
                </a:tc>
                <a:tc>
                  <a:txBody>
                    <a:bodyPr/>
                    <a:lstStyle/>
                    <a:p>
                      <a:pPr indent="0" lvl="0" marL="0" rtl="0" algn="ctr">
                        <a:spcBef>
                          <a:spcPts val="0"/>
                        </a:spcBef>
                        <a:spcAft>
                          <a:spcPts val="0"/>
                        </a:spcAft>
                        <a:buNone/>
                      </a:pPr>
                      <a:r>
                        <a:rPr lang="en" sz="1000">
                          <a:latin typeface="Proxima Nova"/>
                          <a:ea typeface="Proxima Nova"/>
                          <a:cs typeface="Proxima Nova"/>
                          <a:sym typeface="Proxima Nova"/>
                        </a:rPr>
                        <a:t>Personalization</a:t>
                      </a:r>
                      <a:endParaRPr sz="1000">
                        <a:latin typeface="Proxima Nova"/>
                        <a:ea typeface="Proxima Nova"/>
                        <a:cs typeface="Proxima Nova"/>
                        <a:sym typeface="Proxima Nova"/>
                      </a:endParaRPr>
                    </a:p>
                  </a:txBody>
                  <a:tcPr marT="63500" marB="63500" marR="63500" marL="63500" anchor="ctr"/>
                </a:tc>
                <a:tc>
                  <a:txBody>
                    <a:bodyPr/>
                    <a:lstStyle/>
                    <a:p>
                      <a:pPr indent="0" lvl="0" marL="0" rtl="0" algn="ctr">
                        <a:spcBef>
                          <a:spcPts val="0"/>
                        </a:spcBef>
                        <a:spcAft>
                          <a:spcPts val="0"/>
                        </a:spcAft>
                        <a:buNone/>
                      </a:pPr>
                      <a:r>
                        <a:rPr lang="en" sz="1000">
                          <a:latin typeface="Proxima Nova"/>
                          <a:ea typeface="Proxima Nova"/>
                          <a:cs typeface="Proxima Nova"/>
                          <a:sym typeface="Proxima Nova"/>
                        </a:rPr>
                        <a:t>Ease</a:t>
                      </a:r>
                      <a:endParaRPr sz="1000">
                        <a:latin typeface="Proxima Nova"/>
                        <a:ea typeface="Proxima Nova"/>
                        <a:cs typeface="Proxima Nova"/>
                        <a:sym typeface="Proxima Nova"/>
                      </a:endParaRPr>
                    </a:p>
                    <a:p>
                      <a:pPr indent="0" lvl="0" marL="0" rtl="0" algn="ctr">
                        <a:spcBef>
                          <a:spcPts val="0"/>
                        </a:spcBef>
                        <a:spcAft>
                          <a:spcPts val="0"/>
                        </a:spcAft>
                        <a:buNone/>
                      </a:pPr>
                      <a:r>
                        <a:rPr lang="en" sz="1000">
                          <a:latin typeface="Proxima Nova"/>
                          <a:ea typeface="Proxima Nova"/>
                          <a:cs typeface="Proxima Nova"/>
                          <a:sym typeface="Proxima Nova"/>
                        </a:rPr>
                        <a:t>Discovery</a:t>
                      </a:r>
                      <a:endParaRPr sz="1000">
                        <a:latin typeface="Proxima Nova"/>
                        <a:ea typeface="Proxima Nova"/>
                        <a:cs typeface="Proxima Nova"/>
                        <a:sym typeface="Proxima Nova"/>
                      </a:endParaRPr>
                    </a:p>
                  </a:txBody>
                  <a:tcPr marT="63500" marB="63500" marR="63500" marL="63500" anchor="ctr"/>
                </a:tc>
              </a:tr>
              <a:tr h="510900">
                <a:tc>
                  <a:txBody>
                    <a:bodyPr/>
                    <a:lstStyle/>
                    <a:p>
                      <a:pPr indent="0" lvl="0" marL="0" rtl="0" algn="l">
                        <a:spcBef>
                          <a:spcPts val="0"/>
                        </a:spcBef>
                        <a:spcAft>
                          <a:spcPts val="0"/>
                        </a:spcAft>
                        <a:buNone/>
                      </a:pPr>
                      <a:r>
                        <a:rPr lang="en" sz="1000">
                          <a:latin typeface="Proxima Nova"/>
                          <a:ea typeface="Proxima Nova"/>
                          <a:cs typeface="Proxima Nova"/>
                          <a:sym typeface="Proxima Nova"/>
                        </a:rPr>
                        <a:t>With DoorDash, you can browse according to your dietary preferences, helping you more easily find food that meets your needs.</a:t>
                      </a:r>
                      <a:endParaRPr sz="1000">
                        <a:latin typeface="Proxima Nova"/>
                        <a:ea typeface="Proxima Nova"/>
                        <a:cs typeface="Proxima Nova"/>
                        <a:sym typeface="Proxima Nova"/>
                      </a:endParaRPr>
                    </a:p>
                  </a:txBody>
                  <a:tcPr marT="63500" marB="63500" marR="63500" marL="63500" anchor="ctr"/>
                </a:tc>
                <a:tc>
                  <a:txBody>
                    <a:bodyPr/>
                    <a:lstStyle/>
                    <a:p>
                      <a:pPr indent="0" lvl="0" marL="0" rtl="0" algn="ctr">
                        <a:spcBef>
                          <a:spcPts val="0"/>
                        </a:spcBef>
                        <a:spcAft>
                          <a:spcPts val="0"/>
                        </a:spcAft>
                        <a:buNone/>
                      </a:pPr>
                      <a:r>
                        <a:rPr lang="en" sz="1000">
                          <a:latin typeface="Proxima Nova"/>
                          <a:ea typeface="Proxima Nova"/>
                          <a:cs typeface="Proxima Nova"/>
                          <a:sym typeface="Proxima Nova"/>
                        </a:rPr>
                        <a:t>Personalization</a:t>
                      </a:r>
                      <a:endParaRPr sz="1000">
                        <a:latin typeface="Proxima Nova"/>
                        <a:ea typeface="Proxima Nova"/>
                        <a:cs typeface="Proxima Nova"/>
                        <a:sym typeface="Proxima Nova"/>
                      </a:endParaRPr>
                    </a:p>
                    <a:p>
                      <a:pPr indent="0" lvl="0" marL="0" rtl="0" algn="ctr">
                        <a:spcBef>
                          <a:spcPts val="0"/>
                        </a:spcBef>
                        <a:spcAft>
                          <a:spcPts val="0"/>
                        </a:spcAft>
                        <a:buNone/>
                      </a:pPr>
                      <a:r>
                        <a:rPr lang="en" sz="1000">
                          <a:latin typeface="Proxima Nova"/>
                          <a:ea typeface="Proxima Nova"/>
                          <a:cs typeface="Proxima Nova"/>
                          <a:sym typeface="Proxima Nova"/>
                        </a:rPr>
                        <a:t>Dietary Preferences</a:t>
                      </a:r>
                      <a:endParaRPr sz="1000">
                        <a:latin typeface="Proxima Nova"/>
                        <a:ea typeface="Proxima Nova"/>
                        <a:cs typeface="Proxima Nova"/>
                        <a:sym typeface="Proxima Nova"/>
                      </a:endParaRPr>
                    </a:p>
                  </a:txBody>
                  <a:tcPr marT="63500" marB="63500" marR="63500" marL="63500" anchor="ctr"/>
                </a:tc>
                <a:tc>
                  <a:txBody>
                    <a:bodyPr/>
                    <a:lstStyle/>
                    <a:p>
                      <a:pPr indent="0" lvl="0" marL="0" rtl="0" algn="ctr">
                        <a:spcBef>
                          <a:spcPts val="0"/>
                        </a:spcBef>
                        <a:spcAft>
                          <a:spcPts val="0"/>
                        </a:spcAft>
                        <a:buNone/>
                      </a:pPr>
                      <a:r>
                        <a:rPr lang="en" sz="1000">
                          <a:latin typeface="Proxima Nova"/>
                          <a:ea typeface="Proxima Nova"/>
                          <a:cs typeface="Proxima Nova"/>
                          <a:sym typeface="Proxima Nova"/>
                        </a:rPr>
                        <a:t>Ease</a:t>
                      </a:r>
                      <a:endParaRPr sz="1000">
                        <a:latin typeface="Proxima Nova"/>
                        <a:ea typeface="Proxima Nova"/>
                        <a:cs typeface="Proxima Nova"/>
                        <a:sym typeface="Proxima Nova"/>
                      </a:endParaRPr>
                    </a:p>
                  </a:txBody>
                  <a:tcPr marT="63500" marB="63500" marR="63500" marL="63500" anchor="ctr"/>
                </a:tc>
              </a:tr>
              <a:tr h="691200">
                <a:tc>
                  <a:txBody>
                    <a:bodyPr/>
                    <a:lstStyle/>
                    <a:p>
                      <a:pPr indent="0" lvl="0" marL="0" rtl="0" algn="l">
                        <a:spcBef>
                          <a:spcPts val="0"/>
                        </a:spcBef>
                        <a:spcAft>
                          <a:spcPts val="0"/>
                        </a:spcAft>
                        <a:buNone/>
                      </a:pPr>
                      <a:r>
                        <a:rPr lang="en" sz="1000">
                          <a:latin typeface="Proxima Nova"/>
                          <a:ea typeface="Proxima Nova"/>
                          <a:cs typeface="Proxima Nova"/>
                          <a:sym typeface="Proxima Nova"/>
                        </a:rPr>
                        <a:t>With DoorDash, you can see the total price of your order up-front (inclusive of fees, tax, and suggested tip) instead of only at checkout, helping you find options within your budget more easily.</a:t>
                      </a:r>
                      <a:endParaRPr sz="1000">
                        <a:latin typeface="Proxima Nova"/>
                        <a:ea typeface="Proxima Nova"/>
                        <a:cs typeface="Proxima Nova"/>
                        <a:sym typeface="Proxima Nova"/>
                      </a:endParaRPr>
                    </a:p>
                  </a:txBody>
                  <a:tcPr marT="63500" marB="63500" marR="63500" marL="63500" anchor="ctr"/>
                </a:tc>
                <a:tc>
                  <a:txBody>
                    <a:bodyPr/>
                    <a:lstStyle/>
                    <a:p>
                      <a:pPr indent="0" lvl="0" marL="0" rtl="0" algn="ctr">
                        <a:spcBef>
                          <a:spcPts val="0"/>
                        </a:spcBef>
                        <a:spcAft>
                          <a:spcPts val="0"/>
                        </a:spcAft>
                        <a:buNone/>
                      </a:pPr>
                      <a:r>
                        <a:rPr lang="en" sz="1000">
                          <a:latin typeface="Proxima Nova"/>
                          <a:ea typeface="Proxima Nova"/>
                          <a:cs typeface="Proxima Nova"/>
                          <a:sym typeface="Proxima Nova"/>
                        </a:rPr>
                        <a:t>Browse by total price</a:t>
                      </a:r>
                      <a:endParaRPr sz="1000">
                        <a:latin typeface="Proxima Nova"/>
                        <a:ea typeface="Proxima Nova"/>
                        <a:cs typeface="Proxima Nova"/>
                        <a:sym typeface="Proxima Nova"/>
                      </a:endParaRPr>
                    </a:p>
                  </a:txBody>
                  <a:tcPr marT="63500" marB="63500" marR="63500" marL="63500" anchor="ctr"/>
                </a:tc>
                <a:tc>
                  <a:txBody>
                    <a:bodyPr/>
                    <a:lstStyle/>
                    <a:p>
                      <a:pPr indent="0" lvl="0" marL="0" rtl="0" algn="ctr">
                        <a:spcBef>
                          <a:spcPts val="0"/>
                        </a:spcBef>
                        <a:spcAft>
                          <a:spcPts val="0"/>
                        </a:spcAft>
                        <a:buNone/>
                      </a:pPr>
                      <a:r>
                        <a:rPr lang="en" sz="1000">
                          <a:latin typeface="Proxima Nova"/>
                          <a:ea typeface="Proxima Nova"/>
                          <a:cs typeface="Proxima Nova"/>
                          <a:sym typeface="Proxima Nova"/>
                        </a:rPr>
                        <a:t>Save money</a:t>
                      </a:r>
                      <a:endParaRPr sz="1000">
                        <a:latin typeface="Proxima Nova"/>
                        <a:ea typeface="Proxima Nova"/>
                        <a:cs typeface="Proxima Nova"/>
                        <a:sym typeface="Proxima Nova"/>
                      </a:endParaRPr>
                    </a:p>
                  </a:txBody>
                  <a:tcPr marT="63500" marB="63500" marR="63500" marL="63500" anchor="ctr"/>
                </a:tc>
              </a:tr>
              <a:tr h="510900">
                <a:tc>
                  <a:txBody>
                    <a:bodyPr/>
                    <a:lstStyle/>
                    <a:p>
                      <a:pPr indent="0" lvl="0" marL="0" rtl="0" algn="l">
                        <a:spcBef>
                          <a:spcPts val="0"/>
                        </a:spcBef>
                        <a:spcAft>
                          <a:spcPts val="0"/>
                        </a:spcAft>
                        <a:buNone/>
                      </a:pPr>
                      <a:r>
                        <a:rPr lang="en" sz="1000">
                          <a:latin typeface="Proxima Nova"/>
                          <a:ea typeface="Proxima Nova"/>
                          <a:cs typeface="Proxima Nova"/>
                          <a:sym typeface="Proxima Nova"/>
                        </a:rPr>
                        <a:t>With DoorDash, you can get customer support that goes above and beyond in making things right if something goes wrong or doesn’t meet your expectations.</a:t>
                      </a:r>
                      <a:endParaRPr sz="1000">
                        <a:latin typeface="Proxima Nova"/>
                        <a:ea typeface="Proxima Nova"/>
                        <a:cs typeface="Proxima Nova"/>
                        <a:sym typeface="Proxima Nova"/>
                      </a:endParaRPr>
                    </a:p>
                  </a:txBody>
                  <a:tcPr marT="63500" marB="63500" marR="63500" marL="63500" anchor="ctr"/>
                </a:tc>
                <a:tc>
                  <a:txBody>
                    <a:bodyPr/>
                    <a:lstStyle/>
                    <a:p>
                      <a:pPr indent="0" lvl="0" marL="0" rtl="0" algn="ctr">
                        <a:spcBef>
                          <a:spcPts val="0"/>
                        </a:spcBef>
                        <a:spcAft>
                          <a:spcPts val="0"/>
                        </a:spcAft>
                        <a:buNone/>
                      </a:pPr>
                      <a:r>
                        <a:rPr lang="en" sz="1000">
                          <a:latin typeface="Proxima Nova"/>
                          <a:ea typeface="Proxima Nova"/>
                          <a:cs typeface="Proxima Nova"/>
                          <a:sym typeface="Proxima Nova"/>
                        </a:rPr>
                        <a:t>Customer service</a:t>
                      </a:r>
                      <a:endParaRPr sz="1000">
                        <a:latin typeface="Proxima Nova"/>
                        <a:ea typeface="Proxima Nova"/>
                        <a:cs typeface="Proxima Nova"/>
                        <a:sym typeface="Proxima Nova"/>
                      </a:endParaRPr>
                    </a:p>
                  </a:txBody>
                  <a:tcPr marT="63500" marB="63500" marR="63500" marL="63500" anchor="ctr"/>
                </a:tc>
                <a:tc>
                  <a:txBody>
                    <a:bodyPr/>
                    <a:lstStyle/>
                    <a:p>
                      <a:pPr indent="0" lvl="0" marL="0" rtl="0" algn="ctr">
                        <a:spcBef>
                          <a:spcPts val="0"/>
                        </a:spcBef>
                        <a:spcAft>
                          <a:spcPts val="0"/>
                        </a:spcAft>
                        <a:buNone/>
                      </a:pPr>
                      <a:r>
                        <a:rPr lang="en" sz="1000">
                          <a:latin typeface="Proxima Nova"/>
                          <a:ea typeface="Proxima Nova"/>
                          <a:cs typeface="Proxima Nova"/>
                          <a:sym typeface="Proxima Nova"/>
                        </a:rPr>
                        <a:t>Peace of mind</a:t>
                      </a:r>
                      <a:endParaRPr sz="1000">
                        <a:latin typeface="Proxima Nova"/>
                        <a:ea typeface="Proxima Nova"/>
                        <a:cs typeface="Proxima Nova"/>
                        <a:sym typeface="Proxima Nova"/>
                      </a:endParaRPr>
                    </a:p>
                  </a:txBody>
                  <a:tcPr marT="63500" marB="63500" marR="63500" marL="63500" anchor="ct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5"/>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8" name="Google Shape;168;p25"/>
          <p:cNvSpPr txBox="1"/>
          <p:nvPr/>
        </p:nvSpPr>
        <p:spPr>
          <a:xfrm>
            <a:off x="474475" y="311900"/>
            <a:ext cx="76428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300">
                <a:solidFill>
                  <a:schemeClr val="dk1"/>
                </a:solidFill>
                <a:latin typeface="Proxima Nova"/>
                <a:ea typeface="Proxima Nova"/>
                <a:cs typeface="Proxima Nova"/>
                <a:sym typeface="Proxima Nova"/>
              </a:rPr>
              <a:t>Not surprisingly, Cx gravitated towards </a:t>
            </a:r>
            <a:r>
              <a:rPr b="1" lang="en" sz="2300">
                <a:solidFill>
                  <a:schemeClr val="dk1"/>
                </a:solidFill>
                <a:latin typeface="Proxima Nova"/>
                <a:ea typeface="Proxima Nova"/>
                <a:cs typeface="Proxima Nova"/>
                <a:sym typeface="Proxima Nova"/>
              </a:rPr>
              <a:t>affordability</a:t>
            </a:r>
            <a:r>
              <a:rPr b="1" lang="en" sz="2300">
                <a:solidFill>
                  <a:schemeClr val="dk1"/>
                </a:solidFill>
                <a:latin typeface="Proxima Nova"/>
                <a:ea typeface="Proxima Nova"/>
                <a:cs typeface="Proxima Nova"/>
                <a:sym typeface="Proxima Nova"/>
              </a:rPr>
              <a:t> messages and found those to be the most motivating</a:t>
            </a:r>
            <a:endParaRPr b="1" sz="2300">
              <a:solidFill>
                <a:schemeClr val="dk1"/>
              </a:solidFill>
              <a:latin typeface="Proxima Nova"/>
              <a:ea typeface="Proxima Nova"/>
              <a:cs typeface="Proxima Nova"/>
              <a:sym typeface="Proxima Nova"/>
            </a:endParaRPr>
          </a:p>
        </p:txBody>
      </p:sp>
      <p:sp>
        <p:nvSpPr>
          <p:cNvPr id="169" name="Google Shape;169;p25"/>
          <p:cNvSpPr txBox="1"/>
          <p:nvPr/>
        </p:nvSpPr>
        <p:spPr>
          <a:xfrm>
            <a:off x="519375" y="1453275"/>
            <a:ext cx="37278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200">
                <a:latin typeface="Proxima Nova"/>
                <a:ea typeface="Proxima Nova"/>
                <a:cs typeface="Proxima Nova"/>
                <a:sym typeface="Proxima Nova"/>
              </a:rPr>
              <a:t>“</a:t>
            </a:r>
            <a:r>
              <a:rPr i="1" lang="en" sz="1200">
                <a:latin typeface="Proxima Nova"/>
                <a:ea typeface="Proxima Nova"/>
                <a:cs typeface="Proxima Nova"/>
                <a:sym typeface="Proxima Nova"/>
              </a:rPr>
              <a:t>Like $0 delivery and 10% off. I feel like that's a motivation. Where it's like, oh, then </a:t>
            </a:r>
            <a:r>
              <a:rPr b="1" i="1" lang="en" sz="1200">
                <a:latin typeface="Proxima Nova"/>
                <a:ea typeface="Proxima Nova"/>
                <a:cs typeface="Proxima Nova"/>
                <a:sym typeface="Proxima Nova"/>
              </a:rPr>
              <a:t>I compare it to like cooking or something like that </a:t>
            </a:r>
            <a:r>
              <a:rPr i="1" lang="en" sz="1200">
                <a:latin typeface="Proxima Nova"/>
                <a:ea typeface="Proxima Nova"/>
                <a:cs typeface="Proxima Nova"/>
                <a:sym typeface="Proxima Nova"/>
              </a:rPr>
              <a:t>for the evening. And I'm like, oh, actually that sounds nice. </a:t>
            </a:r>
            <a:r>
              <a:rPr b="1" i="1" lang="en" sz="1200">
                <a:latin typeface="Proxima Nova"/>
                <a:ea typeface="Proxima Nova"/>
                <a:cs typeface="Proxima Nova"/>
                <a:sym typeface="Proxima Nova"/>
              </a:rPr>
              <a:t>Like no delivery fee. Then I don't have to go, I don't have to leave my house.</a:t>
            </a:r>
            <a:r>
              <a:rPr i="1" lang="en" sz="1200">
                <a:latin typeface="Proxima Nova"/>
                <a:ea typeface="Proxima Nova"/>
                <a:cs typeface="Proxima Nova"/>
                <a:sym typeface="Proxima Nova"/>
              </a:rPr>
              <a:t>”</a:t>
            </a:r>
            <a:endParaRPr i="1" sz="1200">
              <a:latin typeface="Proxima Nova"/>
              <a:ea typeface="Proxima Nova"/>
              <a:cs typeface="Proxima Nova"/>
              <a:sym typeface="Proxima Nova"/>
            </a:endParaRPr>
          </a:p>
        </p:txBody>
      </p:sp>
      <p:sp>
        <p:nvSpPr>
          <p:cNvPr id="170" name="Google Shape;170;p25"/>
          <p:cNvSpPr txBox="1"/>
          <p:nvPr/>
        </p:nvSpPr>
        <p:spPr>
          <a:xfrm>
            <a:off x="1622600" y="3035125"/>
            <a:ext cx="35874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200">
                <a:latin typeface="Proxima Nova"/>
                <a:ea typeface="Proxima Nova"/>
                <a:cs typeface="Proxima Nova"/>
                <a:sym typeface="Proxima Nova"/>
              </a:rPr>
              <a:t>“</a:t>
            </a:r>
            <a:r>
              <a:rPr i="1" lang="en" sz="1200">
                <a:latin typeface="Proxima Nova"/>
                <a:ea typeface="Proxima Nova"/>
                <a:cs typeface="Proxima Nova"/>
                <a:sym typeface="Proxima Nova"/>
              </a:rPr>
              <a:t>I like the idea of </a:t>
            </a:r>
            <a:r>
              <a:rPr i="1" lang="en" sz="1200">
                <a:latin typeface="Proxima Nova"/>
                <a:ea typeface="Proxima Nova"/>
                <a:cs typeface="Proxima Nova"/>
                <a:sym typeface="Proxima Nova"/>
              </a:rPr>
              <a:t>that (price)</a:t>
            </a:r>
            <a:r>
              <a:rPr b="1" i="1" lang="en" sz="1200">
                <a:latin typeface="Proxima Nova"/>
                <a:ea typeface="Proxima Nova"/>
                <a:cs typeface="Proxima Nova"/>
                <a:sym typeface="Proxima Nova"/>
              </a:rPr>
              <a:t> </a:t>
            </a:r>
            <a:r>
              <a:rPr b="1" i="1" lang="en" sz="1200">
                <a:latin typeface="Proxima Nova"/>
                <a:ea typeface="Proxima Nova"/>
                <a:cs typeface="Proxima Nova"/>
                <a:sym typeface="Proxima Nova"/>
              </a:rPr>
              <a:t>being transparent throughout the process</a:t>
            </a:r>
            <a:r>
              <a:rPr i="1" lang="en" sz="1200">
                <a:latin typeface="Proxima Nova"/>
                <a:ea typeface="Proxima Nova"/>
                <a:cs typeface="Proxima Nova"/>
                <a:sym typeface="Proxima Nova"/>
              </a:rPr>
              <a:t>. Instead of this is what I want to do, and then going to checkout and being like, oh, crap. I didn't really think about the fact that I'm adding $12 now.”</a:t>
            </a:r>
            <a:endParaRPr i="1" sz="1200">
              <a:latin typeface="Proxima Nova"/>
              <a:ea typeface="Proxima Nova"/>
              <a:cs typeface="Proxima Nova"/>
              <a:sym typeface="Proxima Nova"/>
            </a:endParaRPr>
          </a:p>
        </p:txBody>
      </p:sp>
      <p:pic>
        <p:nvPicPr>
          <p:cNvPr id="171" name="Google Shape;171;p25"/>
          <p:cNvPicPr preferRelativeResize="0"/>
          <p:nvPr/>
        </p:nvPicPr>
        <p:blipFill>
          <a:blip r:embed="rId3">
            <a:alphaModFix/>
          </a:blip>
          <a:stretch>
            <a:fillRect/>
          </a:stretch>
        </p:blipFill>
        <p:spPr>
          <a:xfrm>
            <a:off x="5603725" y="1453275"/>
            <a:ext cx="2749626" cy="274962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6"/>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7" name="Google Shape;177;p26"/>
          <p:cNvSpPr txBox="1"/>
          <p:nvPr/>
        </p:nvSpPr>
        <p:spPr>
          <a:xfrm>
            <a:off x="474475" y="311900"/>
            <a:ext cx="82125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300">
                <a:solidFill>
                  <a:schemeClr val="dk1"/>
                </a:solidFill>
                <a:latin typeface="Proxima Nova"/>
                <a:ea typeface="Proxima Nova"/>
                <a:cs typeface="Proxima Nova"/>
                <a:sym typeface="Proxima Nova"/>
              </a:rPr>
              <a:t>Some Cx felt quality themes should be looped into savings messaging; while others found them to be pointless</a:t>
            </a:r>
            <a:endParaRPr b="1" sz="2300">
              <a:solidFill>
                <a:schemeClr val="dk1"/>
              </a:solidFill>
              <a:latin typeface="Proxima Nova"/>
              <a:ea typeface="Proxima Nova"/>
              <a:cs typeface="Proxima Nova"/>
              <a:sym typeface="Proxima Nova"/>
            </a:endParaRPr>
          </a:p>
        </p:txBody>
      </p:sp>
      <p:sp>
        <p:nvSpPr>
          <p:cNvPr id="178" name="Google Shape;178;p26"/>
          <p:cNvSpPr txBox="1"/>
          <p:nvPr/>
        </p:nvSpPr>
        <p:spPr>
          <a:xfrm>
            <a:off x="843075" y="1697800"/>
            <a:ext cx="30858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200">
                <a:latin typeface="Proxima Nova"/>
                <a:ea typeface="Proxima Nova"/>
                <a:cs typeface="Proxima Nova"/>
                <a:sym typeface="Proxima Nova"/>
              </a:rPr>
              <a:t>“</a:t>
            </a:r>
            <a:r>
              <a:rPr i="1" lang="en" sz="1200">
                <a:latin typeface="Proxima Nova"/>
                <a:ea typeface="Proxima Nova"/>
                <a:cs typeface="Proxima Nova"/>
                <a:sym typeface="Proxima Nova"/>
              </a:rPr>
              <a:t>I'm like your your food arriving like fresh and on time. I feel like that's important. </a:t>
            </a:r>
            <a:r>
              <a:rPr b="1" i="1" lang="en" sz="1200">
                <a:latin typeface="Proxima Nova"/>
                <a:ea typeface="Proxima Nova"/>
                <a:cs typeface="Proxima Nova"/>
                <a:sym typeface="Proxima Nova"/>
              </a:rPr>
              <a:t>90% of orders are delivered on time. I feel like that's like, helpful. </a:t>
            </a:r>
            <a:r>
              <a:rPr i="1" lang="en" sz="1200">
                <a:latin typeface="Proxima Nova"/>
                <a:ea typeface="Proxima Nova"/>
                <a:cs typeface="Proxima Nova"/>
                <a:sym typeface="Proxima Nova"/>
              </a:rPr>
              <a:t>Usually when I'm ordering, I'm super hungry. So that's motivating.”</a:t>
            </a:r>
            <a:endParaRPr i="1" sz="1200">
              <a:latin typeface="Proxima Nova"/>
              <a:ea typeface="Proxima Nova"/>
              <a:cs typeface="Proxima Nova"/>
              <a:sym typeface="Proxima Nova"/>
            </a:endParaRPr>
          </a:p>
        </p:txBody>
      </p:sp>
      <p:sp>
        <p:nvSpPr>
          <p:cNvPr id="179" name="Google Shape;179;p26"/>
          <p:cNvSpPr txBox="1"/>
          <p:nvPr/>
        </p:nvSpPr>
        <p:spPr>
          <a:xfrm>
            <a:off x="4674400" y="3247775"/>
            <a:ext cx="30000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200">
                <a:latin typeface="Proxima Nova"/>
                <a:ea typeface="Proxima Nova"/>
                <a:cs typeface="Proxima Nova"/>
                <a:sym typeface="Proxima Nova"/>
              </a:rPr>
              <a:t>“</a:t>
            </a:r>
            <a:r>
              <a:rPr i="1" lang="en" sz="1200">
                <a:latin typeface="Proxima Nova"/>
                <a:ea typeface="Proxima Nova"/>
                <a:cs typeface="Proxima Nova"/>
                <a:sym typeface="Proxima Nova"/>
              </a:rPr>
              <a:t>I don't agree with what it's saying. </a:t>
            </a:r>
            <a:r>
              <a:rPr b="1" i="1" lang="en" sz="1200">
                <a:latin typeface="Proxima Nova"/>
                <a:ea typeface="Proxima Nova"/>
                <a:cs typeface="Proxima Nova"/>
                <a:sym typeface="Proxima Nova"/>
              </a:rPr>
              <a:t>I need percent of orders are delivered on time without missing items</a:t>
            </a:r>
            <a:r>
              <a:rPr i="1" lang="en" sz="1200">
                <a:latin typeface="Proxima Nova"/>
                <a:ea typeface="Proxima Nova"/>
                <a:cs typeface="Proxima Nova"/>
                <a:sym typeface="Proxima Nova"/>
              </a:rPr>
              <a:t>. That has not been my experience.”</a:t>
            </a:r>
            <a:endParaRPr i="1" sz="1200">
              <a:latin typeface="Proxima Nova"/>
              <a:ea typeface="Proxima Nova"/>
              <a:cs typeface="Proxima Nova"/>
              <a:sym typeface="Proxima Nova"/>
            </a:endParaRPr>
          </a:p>
        </p:txBody>
      </p:sp>
      <p:sp>
        <p:nvSpPr>
          <p:cNvPr id="180" name="Google Shape;180;p26"/>
          <p:cNvSpPr txBox="1"/>
          <p:nvPr/>
        </p:nvSpPr>
        <p:spPr>
          <a:xfrm>
            <a:off x="4064500" y="2603550"/>
            <a:ext cx="30000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000">
                <a:solidFill>
                  <a:srgbClr val="E23208"/>
                </a:solidFill>
                <a:latin typeface="Proxima Nova"/>
                <a:ea typeface="Proxima Nova"/>
                <a:cs typeface="Proxima Nova"/>
                <a:sym typeface="Proxima Nova"/>
              </a:rPr>
              <a:t>Vs.</a:t>
            </a:r>
            <a:endParaRPr b="1" sz="3000">
              <a:solidFill>
                <a:srgbClr val="E23208"/>
              </a:solidFill>
              <a:latin typeface="Proxima Nova"/>
              <a:ea typeface="Proxima Nova"/>
              <a:cs typeface="Proxima Nova"/>
              <a:sym typeface="Proxima Nov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7"/>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6" name="Google Shape;186;p27"/>
          <p:cNvSpPr txBox="1"/>
          <p:nvPr/>
        </p:nvSpPr>
        <p:spPr>
          <a:xfrm>
            <a:off x="474475" y="311900"/>
            <a:ext cx="82125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300">
                <a:solidFill>
                  <a:schemeClr val="dk1"/>
                </a:solidFill>
                <a:latin typeface="Proxima Nova"/>
                <a:ea typeface="Proxima Nova"/>
                <a:cs typeface="Proxima Nova"/>
                <a:sym typeface="Proxima Nova"/>
              </a:rPr>
              <a:t>When it comes to personalization Cx </a:t>
            </a:r>
            <a:r>
              <a:rPr b="1" lang="en" sz="2300">
                <a:solidFill>
                  <a:schemeClr val="dk1"/>
                </a:solidFill>
                <a:latin typeface="Proxima Nova"/>
                <a:ea typeface="Proxima Nova"/>
                <a:cs typeface="Proxima Nova"/>
                <a:sym typeface="Proxima Nova"/>
              </a:rPr>
              <a:t>wanted to</a:t>
            </a:r>
            <a:r>
              <a:rPr b="1" lang="en" sz="2300">
                <a:solidFill>
                  <a:schemeClr val="dk1"/>
                </a:solidFill>
                <a:latin typeface="Proxima Nova"/>
                <a:ea typeface="Proxima Nova"/>
                <a:cs typeface="Proxima Nova"/>
                <a:sym typeface="Proxima Nova"/>
              </a:rPr>
              <a:t> “see” rather than “be told”</a:t>
            </a:r>
            <a:endParaRPr b="1" sz="2300">
              <a:solidFill>
                <a:schemeClr val="dk1"/>
              </a:solidFill>
              <a:latin typeface="Proxima Nova"/>
              <a:ea typeface="Proxima Nova"/>
              <a:cs typeface="Proxima Nova"/>
              <a:sym typeface="Proxima Nova"/>
            </a:endParaRPr>
          </a:p>
        </p:txBody>
      </p:sp>
      <p:sp>
        <p:nvSpPr>
          <p:cNvPr id="187" name="Google Shape;187;p27"/>
          <p:cNvSpPr txBox="1"/>
          <p:nvPr/>
        </p:nvSpPr>
        <p:spPr>
          <a:xfrm>
            <a:off x="5436700" y="1496063"/>
            <a:ext cx="3000000" cy="254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u="sng">
                <a:latin typeface="Proxima Nova"/>
                <a:ea typeface="Proxima Nova"/>
                <a:cs typeface="Proxima Nova"/>
                <a:sym typeface="Proxima Nova"/>
              </a:rPr>
              <a:t>However</a:t>
            </a:r>
            <a:r>
              <a:rPr b="1" lang="en" sz="1200" u="sng">
                <a:latin typeface="Proxima Nova"/>
                <a:ea typeface="Proxima Nova"/>
                <a:cs typeface="Proxima Nova"/>
                <a:sym typeface="Proxima Nova"/>
              </a:rPr>
              <a:t>, Cx had a wide range of </a:t>
            </a:r>
            <a:r>
              <a:rPr b="1" lang="en" sz="1200" u="sng">
                <a:latin typeface="Proxima Nova"/>
                <a:ea typeface="Proxima Nova"/>
                <a:cs typeface="Proxima Nova"/>
                <a:sym typeface="Proxima Nova"/>
              </a:rPr>
              <a:t>what</a:t>
            </a:r>
            <a:r>
              <a:rPr b="1" lang="en" sz="1200" u="sng">
                <a:latin typeface="Proxima Nova"/>
                <a:ea typeface="Proxima Nova"/>
                <a:cs typeface="Proxima Nova"/>
                <a:sym typeface="Proxima Nova"/>
              </a:rPr>
              <a:t> they wanted to see:</a:t>
            </a:r>
            <a:endParaRPr b="1" sz="1200" u="sng">
              <a:latin typeface="Proxima Nova"/>
              <a:ea typeface="Proxima Nova"/>
              <a:cs typeface="Proxima Nova"/>
              <a:sym typeface="Proxima Nova"/>
            </a:endParaRPr>
          </a:p>
          <a:p>
            <a:pPr indent="-304800" lvl="0" marL="457200" rtl="0" algn="l">
              <a:spcBef>
                <a:spcPts val="1000"/>
              </a:spcBef>
              <a:spcAft>
                <a:spcPts val="0"/>
              </a:spcAft>
              <a:buSzPts val="1200"/>
              <a:buFont typeface="Proxima Nova"/>
              <a:buChar char="●"/>
            </a:pPr>
            <a:r>
              <a:rPr lang="en" sz="1200">
                <a:latin typeface="Proxima Nova"/>
                <a:ea typeface="Proxima Nova"/>
                <a:cs typeface="Proxima Nova"/>
                <a:sym typeface="Proxima Nova"/>
              </a:rPr>
              <a:t>I just moved, new places to try would help</a:t>
            </a:r>
            <a:endParaRPr sz="1200">
              <a:latin typeface="Proxima Nova"/>
              <a:ea typeface="Proxima Nova"/>
              <a:cs typeface="Proxima Nova"/>
              <a:sym typeface="Proxima Nova"/>
            </a:endParaRPr>
          </a:p>
          <a:p>
            <a:pPr indent="-304800" lvl="0" marL="457200" rtl="0" algn="l">
              <a:spcBef>
                <a:spcPts val="1000"/>
              </a:spcBef>
              <a:spcAft>
                <a:spcPts val="0"/>
              </a:spcAft>
              <a:buSzPts val="1200"/>
              <a:buFont typeface="Proxima Nova"/>
              <a:buChar char="●"/>
            </a:pPr>
            <a:r>
              <a:rPr lang="en" sz="1200">
                <a:latin typeface="Proxima Nova"/>
                <a:ea typeface="Proxima Nova"/>
                <a:cs typeface="Proxima Nova"/>
                <a:sym typeface="Proxima Nova"/>
              </a:rPr>
              <a:t>My life is so </a:t>
            </a:r>
            <a:r>
              <a:rPr lang="en" sz="1200">
                <a:latin typeface="Proxima Nova"/>
                <a:ea typeface="Proxima Nova"/>
                <a:cs typeface="Proxima Nova"/>
                <a:sym typeface="Proxima Nova"/>
              </a:rPr>
              <a:t>busy, I just need food fast</a:t>
            </a:r>
            <a:endParaRPr sz="1200">
              <a:latin typeface="Proxima Nova"/>
              <a:ea typeface="Proxima Nova"/>
              <a:cs typeface="Proxima Nova"/>
              <a:sym typeface="Proxima Nova"/>
            </a:endParaRPr>
          </a:p>
          <a:p>
            <a:pPr indent="-304800" lvl="0" marL="457200" rtl="0" algn="l">
              <a:spcBef>
                <a:spcPts val="1000"/>
              </a:spcBef>
              <a:spcAft>
                <a:spcPts val="0"/>
              </a:spcAft>
              <a:buSzPts val="1200"/>
              <a:buFont typeface="Proxima Nova"/>
              <a:buChar char="●"/>
            </a:pPr>
            <a:r>
              <a:rPr lang="en" sz="1200">
                <a:latin typeface="Proxima Nova"/>
                <a:ea typeface="Proxima Nova"/>
                <a:cs typeface="Proxima Nova"/>
                <a:sym typeface="Proxima Nova"/>
              </a:rPr>
              <a:t>I know the places I like, just focus on that</a:t>
            </a:r>
            <a:endParaRPr sz="1200">
              <a:latin typeface="Proxima Nova"/>
              <a:ea typeface="Proxima Nova"/>
              <a:cs typeface="Proxima Nova"/>
              <a:sym typeface="Proxima Nova"/>
            </a:endParaRPr>
          </a:p>
          <a:p>
            <a:pPr indent="-304800" lvl="0" marL="457200" rtl="0" algn="l">
              <a:spcBef>
                <a:spcPts val="1000"/>
              </a:spcBef>
              <a:spcAft>
                <a:spcPts val="1000"/>
              </a:spcAft>
              <a:buSzPts val="1200"/>
              <a:buFont typeface="Proxima Nova"/>
              <a:buChar char="●"/>
            </a:pPr>
            <a:r>
              <a:rPr lang="en" sz="1200">
                <a:latin typeface="Proxima Nova"/>
                <a:ea typeface="Proxima Nova"/>
                <a:cs typeface="Proxima Nova"/>
                <a:sym typeface="Proxima Nova"/>
              </a:rPr>
              <a:t>I know what cuisines I like, show me pictures</a:t>
            </a:r>
            <a:endParaRPr sz="1200">
              <a:latin typeface="Proxima Nova"/>
              <a:ea typeface="Proxima Nova"/>
              <a:cs typeface="Proxima Nova"/>
              <a:sym typeface="Proxima Nova"/>
            </a:endParaRPr>
          </a:p>
        </p:txBody>
      </p:sp>
      <p:sp>
        <p:nvSpPr>
          <p:cNvPr id="188" name="Google Shape;188;p27"/>
          <p:cNvSpPr txBox="1"/>
          <p:nvPr/>
        </p:nvSpPr>
        <p:spPr>
          <a:xfrm>
            <a:off x="1357100" y="1691388"/>
            <a:ext cx="35100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200">
                <a:latin typeface="Proxima Nova"/>
                <a:ea typeface="Proxima Nova"/>
                <a:cs typeface="Proxima Nova"/>
                <a:sym typeface="Proxima Nova"/>
              </a:rPr>
              <a:t>“</a:t>
            </a:r>
            <a:r>
              <a:rPr i="1" lang="en" sz="1200">
                <a:latin typeface="Proxima Nova"/>
                <a:ea typeface="Proxima Nova"/>
                <a:cs typeface="Proxima Nova"/>
                <a:sym typeface="Proxima Nova"/>
              </a:rPr>
              <a:t>If</a:t>
            </a:r>
            <a:r>
              <a:rPr i="1" lang="en" sz="1200">
                <a:latin typeface="Proxima Nova"/>
                <a:ea typeface="Proxima Nova"/>
                <a:cs typeface="Proxima Nova"/>
                <a:sym typeface="Proxima Nova"/>
              </a:rPr>
              <a:t> you guys had included, like, a photo of, (even if it wasn't a restaurant necessarily that I'd gone to) a photo of, like, </a:t>
            </a:r>
            <a:r>
              <a:rPr b="1" i="1" lang="en" sz="1200">
                <a:latin typeface="Proxima Nova"/>
                <a:ea typeface="Proxima Nova"/>
                <a:cs typeface="Proxima Nova"/>
                <a:sym typeface="Proxima Nova"/>
              </a:rPr>
              <a:t>an actual slice of pizza</a:t>
            </a:r>
            <a:r>
              <a:rPr i="1" lang="en" sz="1200">
                <a:latin typeface="Proxima Nova"/>
                <a:ea typeface="Proxima Nova"/>
                <a:cs typeface="Proxima Nova"/>
                <a:sym typeface="Proxima Nova"/>
              </a:rPr>
              <a:t>, I would be like, </a:t>
            </a:r>
            <a:r>
              <a:rPr b="1" i="1" lang="en" sz="1200">
                <a:latin typeface="Proxima Nova"/>
                <a:ea typeface="Proxima Nova"/>
                <a:cs typeface="Proxima Nova"/>
                <a:sym typeface="Proxima Nova"/>
              </a:rPr>
              <a:t>dang, I do want a slice of pizza or something like that”</a:t>
            </a:r>
            <a:endParaRPr b="1" i="1" sz="1200">
              <a:latin typeface="Proxima Nova"/>
              <a:ea typeface="Proxima Nova"/>
              <a:cs typeface="Proxima Nova"/>
              <a:sym typeface="Proxima Nova"/>
            </a:endParaRPr>
          </a:p>
        </p:txBody>
      </p:sp>
      <p:pic>
        <p:nvPicPr>
          <p:cNvPr id="189" name="Google Shape;189;p27"/>
          <p:cNvPicPr preferRelativeResize="0"/>
          <p:nvPr/>
        </p:nvPicPr>
        <p:blipFill>
          <a:blip r:embed="rId3">
            <a:alphaModFix/>
          </a:blip>
          <a:stretch>
            <a:fillRect/>
          </a:stretch>
        </p:blipFill>
        <p:spPr>
          <a:xfrm>
            <a:off x="334200" y="1851325"/>
            <a:ext cx="788325" cy="788325"/>
          </a:xfrm>
          <a:prstGeom prst="rect">
            <a:avLst/>
          </a:prstGeom>
          <a:noFill/>
          <a:ln>
            <a:noFill/>
          </a:ln>
        </p:spPr>
      </p:pic>
      <p:sp>
        <p:nvSpPr>
          <p:cNvPr id="190" name="Google Shape;190;p27"/>
          <p:cNvSpPr txBox="1"/>
          <p:nvPr/>
        </p:nvSpPr>
        <p:spPr>
          <a:xfrm>
            <a:off x="1457600" y="3258700"/>
            <a:ext cx="30000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200">
                <a:latin typeface="Proxima Nova"/>
                <a:ea typeface="Proxima Nova"/>
                <a:cs typeface="Proxima Nova"/>
                <a:sym typeface="Proxima Nova"/>
              </a:rPr>
              <a:t>“m</a:t>
            </a:r>
            <a:r>
              <a:rPr i="1" lang="en" sz="1200">
                <a:latin typeface="Proxima Nova"/>
                <a:ea typeface="Proxima Nova"/>
                <a:cs typeface="Proxima Nova"/>
                <a:sym typeface="Proxima Nova"/>
              </a:rPr>
              <a:t>aybe if you guys attach, like, one of the restaurants or, like, a couple of the </a:t>
            </a:r>
            <a:r>
              <a:rPr b="1" i="1" lang="en" sz="1200">
                <a:latin typeface="Proxima Nova"/>
                <a:ea typeface="Proxima Nova"/>
                <a:cs typeface="Proxima Nova"/>
                <a:sym typeface="Proxima Nova"/>
              </a:rPr>
              <a:t>options that I've used in the past</a:t>
            </a:r>
            <a:r>
              <a:rPr i="1" lang="en" sz="1200">
                <a:latin typeface="Proxima Nova"/>
                <a:ea typeface="Proxima Nova"/>
                <a:cs typeface="Proxima Nova"/>
                <a:sym typeface="Proxima Nova"/>
              </a:rPr>
              <a:t>, then I'd be like, oh, they were really good”</a:t>
            </a:r>
            <a:endParaRPr i="1" sz="1200">
              <a:latin typeface="Proxima Nova"/>
              <a:ea typeface="Proxima Nova"/>
              <a:cs typeface="Proxima Nova"/>
              <a:sym typeface="Proxima Nova"/>
            </a:endParaRPr>
          </a:p>
        </p:txBody>
      </p:sp>
      <p:pic>
        <p:nvPicPr>
          <p:cNvPr id="191" name="Google Shape;191;p27"/>
          <p:cNvPicPr preferRelativeResize="0"/>
          <p:nvPr/>
        </p:nvPicPr>
        <p:blipFill>
          <a:blip r:embed="rId4">
            <a:alphaModFix/>
          </a:blip>
          <a:stretch>
            <a:fillRect/>
          </a:stretch>
        </p:blipFill>
        <p:spPr>
          <a:xfrm>
            <a:off x="410225" y="3290550"/>
            <a:ext cx="822576" cy="82257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8"/>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7" name="Google Shape;197;p28"/>
          <p:cNvSpPr txBox="1"/>
          <p:nvPr/>
        </p:nvSpPr>
        <p:spPr>
          <a:xfrm>
            <a:off x="474475" y="311900"/>
            <a:ext cx="82125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300">
                <a:solidFill>
                  <a:schemeClr val="dk1"/>
                </a:solidFill>
                <a:latin typeface="Proxima Nova"/>
                <a:ea typeface="Proxima Nova"/>
                <a:cs typeface="Proxima Nova"/>
                <a:sym typeface="Proxima Nova"/>
              </a:rPr>
              <a:t>Cx struggled to identify what </a:t>
            </a:r>
            <a:r>
              <a:rPr b="1" lang="en" sz="2300">
                <a:solidFill>
                  <a:schemeClr val="dk1"/>
                </a:solidFill>
                <a:latin typeface="Proxima Nova"/>
                <a:ea typeface="Proxima Nova"/>
                <a:cs typeface="Proxima Nova"/>
                <a:sym typeface="Proxima Nova"/>
              </a:rPr>
              <a:t>would</a:t>
            </a:r>
            <a:r>
              <a:rPr b="1" lang="en" sz="2300">
                <a:solidFill>
                  <a:schemeClr val="dk1"/>
                </a:solidFill>
                <a:latin typeface="Proxima Nova"/>
                <a:ea typeface="Proxima Nova"/>
                <a:cs typeface="Proxima Nova"/>
                <a:sym typeface="Proxima Nova"/>
              </a:rPr>
              <a:t> motivate them to open the app</a:t>
            </a:r>
            <a:endParaRPr b="1" sz="2300">
              <a:solidFill>
                <a:schemeClr val="dk1"/>
              </a:solidFill>
              <a:latin typeface="Proxima Nova"/>
              <a:ea typeface="Proxima Nova"/>
              <a:cs typeface="Proxima Nova"/>
              <a:sym typeface="Proxima Nova"/>
            </a:endParaRPr>
          </a:p>
        </p:txBody>
      </p:sp>
      <p:sp>
        <p:nvSpPr>
          <p:cNvPr id="198" name="Google Shape;198;p28"/>
          <p:cNvSpPr txBox="1"/>
          <p:nvPr/>
        </p:nvSpPr>
        <p:spPr>
          <a:xfrm>
            <a:off x="516175" y="3038975"/>
            <a:ext cx="3174900" cy="1493100"/>
          </a:xfrm>
          <a:prstGeom prst="rect">
            <a:avLst/>
          </a:prstGeom>
          <a:noFill/>
          <a:ln>
            <a:noFill/>
          </a:ln>
        </p:spPr>
        <p:txBody>
          <a:bodyPr anchorCtr="0" anchor="t" bIns="91425" lIns="91425" spcFirstLastPara="1" rIns="91425" wrap="square" tIns="91425">
            <a:spAutoFit/>
          </a:bodyPr>
          <a:lstStyle/>
          <a:p>
            <a:pPr indent="-304800" lvl="0" marL="457200" rtl="0" algn="l">
              <a:spcBef>
                <a:spcPts val="0"/>
              </a:spcBef>
              <a:spcAft>
                <a:spcPts val="0"/>
              </a:spcAft>
              <a:buSzPts val="1200"/>
              <a:buFont typeface="Proxima Nova"/>
              <a:buChar char="●"/>
            </a:pPr>
            <a:r>
              <a:rPr lang="en" sz="1200">
                <a:latin typeface="Proxima Nova"/>
                <a:ea typeface="Proxima Nova"/>
                <a:cs typeface="Proxima Nova"/>
                <a:sym typeface="Proxima Nova"/>
              </a:rPr>
              <a:t>40% off</a:t>
            </a:r>
            <a:endParaRPr sz="1200">
              <a:latin typeface="Proxima Nova"/>
              <a:ea typeface="Proxima Nova"/>
              <a:cs typeface="Proxima Nova"/>
              <a:sym typeface="Proxima Nova"/>
            </a:endParaRPr>
          </a:p>
          <a:p>
            <a:pPr indent="-304800" lvl="0" marL="457200" rtl="0" algn="l">
              <a:spcBef>
                <a:spcPts val="1000"/>
              </a:spcBef>
              <a:spcAft>
                <a:spcPts val="0"/>
              </a:spcAft>
              <a:buSzPts val="1200"/>
              <a:buFont typeface="Proxima Nova"/>
              <a:buChar char="●"/>
            </a:pPr>
            <a:r>
              <a:rPr lang="en" sz="1200">
                <a:latin typeface="Proxima Nova"/>
                <a:ea typeface="Proxima Nova"/>
                <a:cs typeface="Proxima Nova"/>
                <a:sym typeface="Proxima Nova"/>
              </a:rPr>
              <a:t>20% off up to $20</a:t>
            </a:r>
            <a:endParaRPr sz="1200">
              <a:latin typeface="Proxima Nova"/>
              <a:ea typeface="Proxima Nova"/>
              <a:cs typeface="Proxima Nova"/>
              <a:sym typeface="Proxima Nova"/>
            </a:endParaRPr>
          </a:p>
          <a:p>
            <a:pPr indent="-304800" lvl="0" marL="457200" rtl="0" algn="l">
              <a:spcBef>
                <a:spcPts val="1000"/>
              </a:spcBef>
              <a:spcAft>
                <a:spcPts val="0"/>
              </a:spcAft>
              <a:buSzPts val="1200"/>
              <a:buFont typeface="Proxima Nova"/>
              <a:buChar char="●"/>
            </a:pPr>
            <a:r>
              <a:rPr lang="en" sz="1200">
                <a:latin typeface="Proxima Nova"/>
                <a:ea typeface="Proxima Nova"/>
                <a:cs typeface="Proxima Nova"/>
                <a:sym typeface="Proxima Nova"/>
              </a:rPr>
              <a:t>Free delivery and 20% off</a:t>
            </a:r>
            <a:endParaRPr sz="1200">
              <a:latin typeface="Proxima Nova"/>
              <a:ea typeface="Proxima Nova"/>
              <a:cs typeface="Proxima Nova"/>
              <a:sym typeface="Proxima Nova"/>
            </a:endParaRPr>
          </a:p>
          <a:p>
            <a:pPr indent="-304800" lvl="0" marL="457200" rtl="0" algn="l">
              <a:spcBef>
                <a:spcPts val="1000"/>
              </a:spcBef>
              <a:spcAft>
                <a:spcPts val="1000"/>
              </a:spcAft>
              <a:buSzPts val="1200"/>
              <a:buFont typeface="Proxima Nova"/>
              <a:buChar char="●"/>
            </a:pPr>
            <a:r>
              <a:rPr lang="en" sz="1200">
                <a:latin typeface="Proxima Nova"/>
                <a:ea typeface="Proxima Nova"/>
                <a:cs typeface="Proxima Nova"/>
                <a:sym typeface="Proxima Nova"/>
              </a:rPr>
              <a:t>Rewards program (similar to Starbucks)</a:t>
            </a:r>
            <a:endParaRPr sz="1200">
              <a:latin typeface="Proxima Nova"/>
              <a:ea typeface="Proxima Nova"/>
              <a:cs typeface="Proxima Nova"/>
              <a:sym typeface="Proxima Nova"/>
            </a:endParaRPr>
          </a:p>
        </p:txBody>
      </p:sp>
      <p:sp>
        <p:nvSpPr>
          <p:cNvPr id="199" name="Google Shape;199;p28"/>
          <p:cNvSpPr txBox="1"/>
          <p:nvPr/>
        </p:nvSpPr>
        <p:spPr>
          <a:xfrm>
            <a:off x="4361225" y="2329650"/>
            <a:ext cx="39045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Proxima Nova"/>
                <a:ea typeface="Proxima Nova"/>
                <a:cs typeface="Proxima Nova"/>
                <a:sym typeface="Proxima Nova"/>
              </a:rPr>
              <a:t>A few Cx noted that longer DashPass trials would be most motivating for them</a:t>
            </a:r>
            <a:endParaRPr b="1">
              <a:solidFill>
                <a:schemeClr val="dk1"/>
              </a:solidFill>
              <a:latin typeface="Proxima Nova"/>
              <a:ea typeface="Proxima Nova"/>
              <a:cs typeface="Proxima Nova"/>
              <a:sym typeface="Proxima Nova"/>
            </a:endParaRPr>
          </a:p>
        </p:txBody>
      </p:sp>
      <p:sp>
        <p:nvSpPr>
          <p:cNvPr id="200" name="Google Shape;200;p28"/>
          <p:cNvSpPr txBox="1"/>
          <p:nvPr/>
        </p:nvSpPr>
        <p:spPr>
          <a:xfrm>
            <a:off x="456725" y="2329650"/>
            <a:ext cx="39045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Proxima Nova"/>
                <a:ea typeface="Proxima Nova"/>
                <a:cs typeface="Proxima Nova"/>
                <a:sym typeface="Proxima Nova"/>
              </a:rPr>
              <a:t>Most leaned into savings opportunities:</a:t>
            </a:r>
            <a:endParaRPr b="1">
              <a:solidFill>
                <a:schemeClr val="dk1"/>
              </a:solidFill>
              <a:latin typeface="Proxima Nova"/>
              <a:ea typeface="Proxima Nova"/>
              <a:cs typeface="Proxima Nova"/>
              <a:sym typeface="Proxima Nova"/>
            </a:endParaRPr>
          </a:p>
        </p:txBody>
      </p:sp>
      <p:sp>
        <p:nvSpPr>
          <p:cNvPr id="201" name="Google Shape;201;p28"/>
          <p:cNvSpPr txBox="1"/>
          <p:nvPr/>
        </p:nvSpPr>
        <p:spPr>
          <a:xfrm>
            <a:off x="4361225" y="3038975"/>
            <a:ext cx="3174900" cy="1549500"/>
          </a:xfrm>
          <a:prstGeom prst="rect">
            <a:avLst/>
          </a:prstGeom>
          <a:noFill/>
          <a:ln>
            <a:noFill/>
          </a:ln>
        </p:spPr>
        <p:txBody>
          <a:bodyPr anchorCtr="0" anchor="t" bIns="91425" lIns="91425" spcFirstLastPara="1" rIns="91425" wrap="square" tIns="91425">
            <a:spAutoFit/>
          </a:bodyPr>
          <a:lstStyle/>
          <a:p>
            <a:pPr indent="-304800" lvl="0" marL="457200" rtl="0" algn="l">
              <a:spcBef>
                <a:spcPts val="0"/>
              </a:spcBef>
              <a:spcAft>
                <a:spcPts val="0"/>
              </a:spcAft>
              <a:buSzPts val="1200"/>
              <a:buFont typeface="Proxima Nova"/>
              <a:buChar char="●"/>
            </a:pPr>
            <a:r>
              <a:rPr lang="en" sz="1200">
                <a:latin typeface="Proxima Nova"/>
                <a:ea typeface="Proxima Nova"/>
                <a:cs typeface="Proxima Nova"/>
                <a:sym typeface="Proxima Nova"/>
              </a:rPr>
              <a:t>3 months was mentioned </a:t>
            </a:r>
            <a:r>
              <a:rPr lang="en" sz="1200">
                <a:latin typeface="Proxima Nova"/>
                <a:ea typeface="Proxima Nova"/>
                <a:cs typeface="Proxima Nova"/>
                <a:sym typeface="Proxima Nova"/>
              </a:rPr>
              <a:t>time frame</a:t>
            </a:r>
            <a:endParaRPr sz="1200">
              <a:latin typeface="Proxima Nova"/>
              <a:ea typeface="Proxima Nova"/>
              <a:cs typeface="Proxima Nova"/>
              <a:sym typeface="Proxima Nova"/>
            </a:endParaRPr>
          </a:p>
          <a:p>
            <a:pPr indent="-304800" lvl="0" marL="457200" rtl="0" algn="l">
              <a:spcBef>
                <a:spcPts val="1000"/>
              </a:spcBef>
              <a:spcAft>
                <a:spcPts val="0"/>
              </a:spcAft>
              <a:buSzPts val="1200"/>
              <a:buFont typeface="Proxima Nova"/>
              <a:buChar char="●"/>
            </a:pPr>
            <a:r>
              <a:rPr lang="en" sz="1200">
                <a:latin typeface="Proxima Nova"/>
                <a:ea typeface="Proxima Nova"/>
                <a:cs typeface="Proxima Nova"/>
                <a:sym typeface="Proxima Nova"/>
              </a:rPr>
              <a:t>Cx did not intend to subscribe beyond the 3 months</a:t>
            </a:r>
            <a:endParaRPr sz="1200">
              <a:latin typeface="Proxima Nova"/>
              <a:ea typeface="Proxima Nova"/>
              <a:cs typeface="Proxima Nova"/>
              <a:sym typeface="Proxima Nova"/>
            </a:endParaRPr>
          </a:p>
          <a:p>
            <a:pPr indent="-304800" lvl="0" marL="457200" rtl="0" algn="l">
              <a:spcBef>
                <a:spcPts val="1000"/>
              </a:spcBef>
              <a:spcAft>
                <a:spcPts val="1000"/>
              </a:spcAft>
              <a:buSzPts val="1200"/>
              <a:buFont typeface="Proxima Nova"/>
              <a:buChar char="●"/>
            </a:pPr>
            <a:r>
              <a:rPr lang="en" sz="1200">
                <a:latin typeface="Proxima Nova"/>
                <a:ea typeface="Proxima Nova"/>
                <a:cs typeface="Proxima Nova"/>
                <a:sym typeface="Proxima Nova"/>
              </a:rPr>
              <a:t>These Cx also noted they would have hesitancy to sign up because they might forget</a:t>
            </a:r>
            <a:endParaRPr sz="1200">
              <a:latin typeface="Proxima Nova"/>
              <a:ea typeface="Proxima Nova"/>
              <a:cs typeface="Proxima Nova"/>
              <a:sym typeface="Proxima Nova"/>
            </a:endParaRPr>
          </a:p>
        </p:txBody>
      </p:sp>
      <p:pic>
        <p:nvPicPr>
          <p:cNvPr id="202" name="Google Shape;202;p28"/>
          <p:cNvPicPr preferRelativeResize="0"/>
          <p:nvPr/>
        </p:nvPicPr>
        <p:blipFill>
          <a:blip r:embed="rId3">
            <a:alphaModFix/>
          </a:blip>
          <a:stretch>
            <a:fillRect/>
          </a:stretch>
        </p:blipFill>
        <p:spPr>
          <a:xfrm>
            <a:off x="1666400" y="1443275"/>
            <a:ext cx="704301" cy="704301"/>
          </a:xfrm>
          <a:prstGeom prst="rect">
            <a:avLst/>
          </a:prstGeom>
          <a:noFill/>
          <a:ln>
            <a:noFill/>
          </a:ln>
        </p:spPr>
      </p:pic>
      <p:pic>
        <p:nvPicPr>
          <p:cNvPr id="203" name="Google Shape;203;p28"/>
          <p:cNvPicPr preferRelativeResize="0"/>
          <p:nvPr/>
        </p:nvPicPr>
        <p:blipFill>
          <a:blip r:embed="rId4">
            <a:alphaModFix/>
          </a:blip>
          <a:stretch>
            <a:fillRect/>
          </a:stretch>
        </p:blipFill>
        <p:spPr>
          <a:xfrm>
            <a:off x="5646421" y="1295850"/>
            <a:ext cx="886356" cy="88637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207" name="Shape 207"/>
        <p:cNvGrpSpPr/>
        <p:nvPr/>
      </p:nvGrpSpPr>
      <p:grpSpPr>
        <a:xfrm>
          <a:off x="0" y="0"/>
          <a:ext cx="0" cy="0"/>
          <a:chOff x="0" y="0"/>
          <a:chExt cx="0" cy="0"/>
        </a:xfrm>
      </p:grpSpPr>
      <p:sp>
        <p:nvSpPr>
          <p:cNvPr id="208" name="Google Shape;208;p29"/>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9" name="Google Shape;209;p29"/>
          <p:cNvSpPr txBox="1"/>
          <p:nvPr/>
        </p:nvSpPr>
        <p:spPr>
          <a:xfrm>
            <a:off x="313925" y="1595875"/>
            <a:ext cx="78315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500">
                <a:solidFill>
                  <a:schemeClr val="lt1"/>
                </a:solidFill>
                <a:latin typeface="Proxima Nova"/>
                <a:ea typeface="Proxima Nova"/>
                <a:cs typeface="Proxima Nova"/>
                <a:sym typeface="Proxima Nova"/>
              </a:rPr>
              <a:t>How might we improve reach &amp; impact</a:t>
            </a:r>
            <a:r>
              <a:rPr b="1" lang="en" sz="3500">
                <a:solidFill>
                  <a:schemeClr val="lt1"/>
                </a:solidFill>
                <a:latin typeface="Proxima Nova"/>
                <a:ea typeface="Proxima Nova"/>
                <a:cs typeface="Proxima Nova"/>
                <a:sym typeface="Proxima Nova"/>
              </a:rPr>
              <a:t>?</a:t>
            </a:r>
            <a:endParaRPr b="1" sz="3500">
              <a:solidFill>
                <a:schemeClr val="lt1"/>
              </a:solidFill>
              <a:latin typeface="Proxima Nova"/>
              <a:ea typeface="Proxima Nova"/>
              <a:cs typeface="Proxima Nova"/>
              <a:sym typeface="Proxima Nova"/>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0"/>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5" name="Google Shape;215;p30"/>
          <p:cNvSpPr txBox="1"/>
          <p:nvPr/>
        </p:nvSpPr>
        <p:spPr>
          <a:xfrm>
            <a:off x="267375" y="455850"/>
            <a:ext cx="8729700" cy="46770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0"/>
              </a:spcBef>
              <a:spcAft>
                <a:spcPts val="0"/>
              </a:spcAft>
              <a:buNone/>
            </a:pPr>
            <a:r>
              <a:rPr b="1" lang="en">
                <a:solidFill>
                  <a:srgbClr val="FF3008"/>
                </a:solidFill>
                <a:latin typeface="Proxima Nova"/>
                <a:ea typeface="Proxima Nova"/>
                <a:cs typeface="Proxima Nova"/>
                <a:sym typeface="Proxima Nova"/>
              </a:rPr>
              <a:t>Make the fine print bigger</a:t>
            </a:r>
            <a:r>
              <a:rPr b="1" lang="en">
                <a:solidFill>
                  <a:srgbClr val="FF3008"/>
                </a:solidFill>
                <a:latin typeface="Proxima Nova"/>
                <a:ea typeface="Proxima Nova"/>
                <a:cs typeface="Proxima Nova"/>
                <a:sym typeface="Proxima Nova"/>
              </a:rPr>
              <a:t>.</a:t>
            </a:r>
            <a:r>
              <a:rPr lang="en">
                <a:solidFill>
                  <a:srgbClr val="FF3008"/>
                </a:solidFill>
                <a:latin typeface="Proxima Nova"/>
                <a:ea typeface="Proxima Nova"/>
                <a:cs typeface="Proxima Nova"/>
                <a:sym typeface="Proxima Nova"/>
              </a:rPr>
              <a:t> </a:t>
            </a:r>
            <a:r>
              <a:rPr lang="en" sz="1300">
                <a:solidFill>
                  <a:schemeClr val="dk1"/>
                </a:solidFill>
                <a:latin typeface="Proxima Nova"/>
                <a:ea typeface="Proxima Nova"/>
                <a:cs typeface="Proxima Nova"/>
                <a:sym typeface="Proxima Nova"/>
              </a:rPr>
              <a:t>Things like the maximum discount value and time to use the discount </a:t>
            </a:r>
            <a:r>
              <a:rPr lang="en" sz="1200">
                <a:solidFill>
                  <a:schemeClr val="dk1"/>
                </a:solidFill>
                <a:latin typeface="Proxima Nova"/>
                <a:ea typeface="Proxima Nova"/>
                <a:cs typeface="Proxima Nova"/>
                <a:sym typeface="Proxima Nova"/>
              </a:rPr>
              <a:t>can play a </a:t>
            </a:r>
            <a:r>
              <a:rPr lang="en" sz="1300">
                <a:solidFill>
                  <a:schemeClr val="dk1"/>
                </a:solidFill>
                <a:latin typeface="Proxima Nova"/>
                <a:ea typeface="Proxima Nova"/>
                <a:cs typeface="Proxima Nova"/>
                <a:sym typeface="Proxima Nova"/>
              </a:rPr>
              <a:t>positive role in motivating a Cx to factor a promo into their plans for the week. If the maximum discount is above $5 and there is limited time to redeem, these should be highlighted to communicate value and create a sense of urgency.</a:t>
            </a:r>
            <a:endParaRPr sz="1300">
              <a:solidFill>
                <a:schemeClr val="dk1"/>
              </a:solidFill>
              <a:latin typeface="Proxima Nova"/>
              <a:ea typeface="Proxima Nova"/>
              <a:cs typeface="Proxima Nova"/>
              <a:sym typeface="Proxima Nova"/>
            </a:endParaRPr>
          </a:p>
          <a:p>
            <a:pPr indent="0" lvl="0" marL="457200" rtl="0" algn="l">
              <a:lnSpc>
                <a:spcPct val="115000"/>
              </a:lnSpc>
              <a:spcBef>
                <a:spcPts val="2000"/>
              </a:spcBef>
              <a:spcAft>
                <a:spcPts val="0"/>
              </a:spcAft>
              <a:buNone/>
            </a:pPr>
            <a:r>
              <a:rPr b="1" lang="en">
                <a:solidFill>
                  <a:srgbClr val="FF3008"/>
                </a:solidFill>
                <a:latin typeface="Proxima Nova"/>
                <a:ea typeface="Proxima Nova"/>
                <a:cs typeface="Proxima Nova"/>
                <a:sym typeface="Proxima Nova"/>
              </a:rPr>
              <a:t>Ditch promo codes; offer click to claim/save or click to notify</a:t>
            </a:r>
            <a:r>
              <a:rPr lang="en">
                <a:solidFill>
                  <a:srgbClr val="FF3008"/>
                </a:solidFill>
                <a:latin typeface="Proxima Nova"/>
                <a:ea typeface="Proxima Nova"/>
                <a:cs typeface="Proxima Nova"/>
                <a:sym typeface="Proxima Nova"/>
              </a:rPr>
              <a:t>.</a:t>
            </a:r>
            <a:r>
              <a:rPr lang="en">
                <a:solidFill>
                  <a:schemeClr val="dk1"/>
                </a:solidFill>
                <a:latin typeface="Proxima Nova"/>
                <a:ea typeface="Proxima Nova"/>
                <a:cs typeface="Proxima Nova"/>
                <a:sym typeface="Proxima Nova"/>
              </a:rPr>
              <a:t> </a:t>
            </a:r>
            <a:r>
              <a:rPr lang="en" sz="1300">
                <a:solidFill>
                  <a:schemeClr val="dk1"/>
                </a:solidFill>
                <a:latin typeface="Proxima Nova"/>
                <a:ea typeface="Proxima Nova"/>
                <a:cs typeface="Proxima Nova"/>
                <a:sym typeface="Proxima Nova"/>
              </a:rPr>
              <a:t> Cx get many emails and are quick to forget about them after they are used.  Creating a flow for Cx where they can click to either 1) claim a coupon to their account, 2) click to save a coupon for future use or 3) </a:t>
            </a:r>
            <a:r>
              <a:rPr lang="en" sz="1300">
                <a:solidFill>
                  <a:schemeClr val="dk1"/>
                </a:solidFill>
                <a:latin typeface="Proxima Nova"/>
                <a:ea typeface="Proxima Nova"/>
                <a:cs typeface="Proxima Nova"/>
                <a:sym typeface="Proxima Nova"/>
              </a:rPr>
              <a:t>click to be notified when a coupon is about to expire will help keep DoorDash top of mind.</a:t>
            </a:r>
            <a:endParaRPr sz="1300">
              <a:solidFill>
                <a:schemeClr val="dk1"/>
              </a:solidFill>
              <a:latin typeface="Proxima Nova"/>
              <a:ea typeface="Proxima Nova"/>
              <a:cs typeface="Proxima Nova"/>
              <a:sym typeface="Proxima Nova"/>
            </a:endParaRPr>
          </a:p>
          <a:p>
            <a:pPr indent="0" lvl="0" marL="457200" rtl="0" algn="l">
              <a:lnSpc>
                <a:spcPct val="115000"/>
              </a:lnSpc>
              <a:spcBef>
                <a:spcPts val="2000"/>
              </a:spcBef>
              <a:spcAft>
                <a:spcPts val="0"/>
              </a:spcAft>
              <a:buNone/>
            </a:pPr>
            <a:r>
              <a:rPr b="1" lang="en">
                <a:solidFill>
                  <a:srgbClr val="E23208"/>
                </a:solidFill>
                <a:latin typeface="Proxima Nova"/>
                <a:ea typeface="Proxima Nova"/>
                <a:cs typeface="Proxima Nova"/>
                <a:sym typeface="Proxima Nova"/>
              </a:rPr>
              <a:t>Build affordability messages with deeper behavioral analysis</a:t>
            </a:r>
            <a:r>
              <a:rPr b="1" lang="en">
                <a:solidFill>
                  <a:srgbClr val="E23208"/>
                </a:solidFill>
                <a:latin typeface="Proxima Nova"/>
                <a:ea typeface="Proxima Nova"/>
                <a:cs typeface="Proxima Nova"/>
                <a:sym typeface="Proxima Nova"/>
              </a:rPr>
              <a:t>.</a:t>
            </a:r>
            <a:r>
              <a:rPr lang="en">
                <a:solidFill>
                  <a:schemeClr val="dk1"/>
                </a:solidFill>
                <a:latin typeface="Proxima Nova"/>
                <a:ea typeface="Proxima Nova"/>
                <a:cs typeface="Proxima Nova"/>
                <a:sym typeface="Proxima Nova"/>
              </a:rPr>
              <a:t> </a:t>
            </a:r>
            <a:r>
              <a:rPr lang="en" sz="1300">
                <a:solidFill>
                  <a:schemeClr val="dk1"/>
                </a:solidFill>
                <a:latin typeface="Proxima Nova"/>
                <a:ea typeface="Proxima Nova"/>
                <a:cs typeface="Proxima Nova"/>
                <a:sym typeface="Proxima Nova"/>
              </a:rPr>
              <a:t> Cx want to feel like their savings communications are personalized to them but they have very specific needs.  Ideally our marketing campaigns should align to these needs.  Recent address set as home change= help me save and find new restaurants in my neighborhood.  Address change indicating potential travel= offer to extend my savings.  </a:t>
            </a:r>
            <a:r>
              <a:rPr lang="en" sz="1300">
                <a:solidFill>
                  <a:schemeClr val="dk1"/>
                </a:solidFill>
                <a:latin typeface="Proxima Nova"/>
                <a:ea typeface="Proxima Nova"/>
                <a:cs typeface="Proxima Nova"/>
                <a:sym typeface="Proxima Nova"/>
              </a:rPr>
              <a:t>Always</a:t>
            </a:r>
            <a:r>
              <a:rPr lang="en" sz="1300">
                <a:solidFill>
                  <a:schemeClr val="dk1"/>
                </a:solidFill>
                <a:latin typeface="Proxima Nova"/>
                <a:ea typeface="Proxima Nova"/>
                <a:cs typeface="Proxima Nova"/>
                <a:sym typeface="Proxima Nova"/>
              </a:rPr>
              <a:t> order under 30 mins= help me save and get my food fast.</a:t>
            </a:r>
            <a:endParaRPr sz="1300">
              <a:solidFill>
                <a:schemeClr val="dk1"/>
              </a:solidFill>
              <a:latin typeface="Proxima Nova"/>
              <a:ea typeface="Proxima Nova"/>
              <a:cs typeface="Proxima Nova"/>
              <a:sym typeface="Proxima Nova"/>
            </a:endParaRPr>
          </a:p>
          <a:p>
            <a:pPr indent="0" lvl="0" marL="457200" rtl="0" algn="l">
              <a:lnSpc>
                <a:spcPct val="115000"/>
              </a:lnSpc>
              <a:spcBef>
                <a:spcPts val="2000"/>
              </a:spcBef>
              <a:spcAft>
                <a:spcPts val="2000"/>
              </a:spcAft>
              <a:buNone/>
            </a:pPr>
            <a:r>
              <a:rPr b="1" lang="en">
                <a:solidFill>
                  <a:srgbClr val="E23208"/>
                </a:solidFill>
                <a:latin typeface="Proxima Nova"/>
                <a:ea typeface="Proxima Nova"/>
                <a:cs typeface="Proxima Nova"/>
                <a:sym typeface="Proxima Nova"/>
              </a:rPr>
              <a:t>Lean in to notification/text messages</a:t>
            </a:r>
            <a:r>
              <a:rPr b="1" lang="en">
                <a:solidFill>
                  <a:srgbClr val="E23208"/>
                </a:solidFill>
                <a:latin typeface="Proxima Nova"/>
                <a:ea typeface="Proxima Nova"/>
                <a:cs typeface="Proxima Nova"/>
                <a:sym typeface="Proxima Nova"/>
              </a:rPr>
              <a:t>.</a:t>
            </a:r>
            <a:r>
              <a:rPr lang="en">
                <a:solidFill>
                  <a:schemeClr val="dk1"/>
                </a:solidFill>
                <a:latin typeface="Proxima Nova"/>
                <a:ea typeface="Proxima Nova"/>
                <a:cs typeface="Proxima Nova"/>
                <a:sym typeface="Proxima Nova"/>
              </a:rPr>
              <a:t> </a:t>
            </a:r>
            <a:r>
              <a:rPr lang="en" sz="1300">
                <a:solidFill>
                  <a:schemeClr val="dk1"/>
                </a:solidFill>
                <a:latin typeface="Proxima Nova"/>
                <a:ea typeface="Proxima Nova"/>
                <a:cs typeface="Proxima Nova"/>
                <a:sym typeface="Proxima Nova"/>
              </a:rPr>
              <a:t> Overall email fatigue is high, even when emails are opened Cx have no idea it happened.  Other channels have higher recall (according to our Cx).  Further experimentation is required.</a:t>
            </a:r>
            <a:endParaRPr sz="1300">
              <a:latin typeface="Proxima Nova"/>
              <a:ea typeface="Proxima Nova"/>
              <a:cs typeface="Proxima Nova"/>
              <a:sym typeface="Proxima Nova"/>
            </a:endParaRPr>
          </a:p>
        </p:txBody>
      </p:sp>
      <p:sp>
        <p:nvSpPr>
          <p:cNvPr id="216" name="Google Shape;216;p30"/>
          <p:cNvSpPr txBox="1"/>
          <p:nvPr/>
        </p:nvSpPr>
        <p:spPr>
          <a:xfrm>
            <a:off x="108213" y="594638"/>
            <a:ext cx="5487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3000">
                <a:solidFill>
                  <a:srgbClr val="E23208"/>
                </a:solidFill>
                <a:latin typeface="Proxima Nova"/>
                <a:ea typeface="Proxima Nova"/>
                <a:cs typeface="Proxima Nova"/>
                <a:sym typeface="Proxima Nova"/>
              </a:rPr>
              <a:t>1.</a:t>
            </a:r>
            <a:endParaRPr b="1" sz="3000">
              <a:solidFill>
                <a:srgbClr val="E23208"/>
              </a:solidFill>
              <a:latin typeface="Proxima Nova"/>
              <a:ea typeface="Proxima Nova"/>
              <a:cs typeface="Proxima Nova"/>
              <a:sym typeface="Proxima Nova"/>
            </a:endParaRPr>
          </a:p>
        </p:txBody>
      </p:sp>
      <p:sp>
        <p:nvSpPr>
          <p:cNvPr id="217" name="Google Shape;217;p30"/>
          <p:cNvSpPr txBox="1"/>
          <p:nvPr/>
        </p:nvSpPr>
        <p:spPr>
          <a:xfrm>
            <a:off x="108213" y="1663722"/>
            <a:ext cx="5487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3000">
                <a:solidFill>
                  <a:srgbClr val="E23208"/>
                </a:solidFill>
                <a:latin typeface="Proxima Nova"/>
                <a:ea typeface="Proxima Nova"/>
                <a:cs typeface="Proxima Nova"/>
                <a:sym typeface="Proxima Nova"/>
              </a:rPr>
              <a:t>2.</a:t>
            </a:r>
            <a:endParaRPr b="1" sz="3000">
              <a:solidFill>
                <a:srgbClr val="E23208"/>
              </a:solidFill>
              <a:latin typeface="Proxima Nova"/>
              <a:ea typeface="Proxima Nova"/>
              <a:cs typeface="Proxima Nova"/>
              <a:sym typeface="Proxima Nova"/>
            </a:endParaRPr>
          </a:p>
        </p:txBody>
      </p:sp>
      <p:sp>
        <p:nvSpPr>
          <p:cNvPr id="218" name="Google Shape;218;p30"/>
          <p:cNvSpPr txBox="1"/>
          <p:nvPr/>
        </p:nvSpPr>
        <p:spPr>
          <a:xfrm>
            <a:off x="108213" y="2885208"/>
            <a:ext cx="5487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3000">
                <a:solidFill>
                  <a:srgbClr val="E23208"/>
                </a:solidFill>
                <a:latin typeface="Proxima Nova"/>
                <a:ea typeface="Proxima Nova"/>
                <a:cs typeface="Proxima Nova"/>
                <a:sym typeface="Proxima Nova"/>
              </a:rPr>
              <a:t>3.</a:t>
            </a:r>
            <a:endParaRPr b="1" sz="3000">
              <a:solidFill>
                <a:srgbClr val="E23208"/>
              </a:solidFill>
              <a:latin typeface="Proxima Nova"/>
              <a:ea typeface="Proxima Nova"/>
              <a:cs typeface="Proxima Nova"/>
              <a:sym typeface="Proxima Nova"/>
            </a:endParaRPr>
          </a:p>
        </p:txBody>
      </p:sp>
      <p:sp>
        <p:nvSpPr>
          <p:cNvPr id="219" name="Google Shape;219;p30"/>
          <p:cNvSpPr txBox="1"/>
          <p:nvPr/>
        </p:nvSpPr>
        <p:spPr>
          <a:xfrm>
            <a:off x="108213" y="4164493"/>
            <a:ext cx="5487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3000">
                <a:solidFill>
                  <a:srgbClr val="E23208"/>
                </a:solidFill>
                <a:latin typeface="Proxima Nova"/>
                <a:ea typeface="Proxima Nova"/>
                <a:cs typeface="Proxima Nova"/>
                <a:sym typeface="Proxima Nova"/>
              </a:rPr>
              <a:t>4.</a:t>
            </a:r>
            <a:endParaRPr b="1" sz="3000">
              <a:solidFill>
                <a:srgbClr val="E23208"/>
              </a:solidFill>
              <a:latin typeface="Proxima Nova"/>
              <a:ea typeface="Proxima Nova"/>
              <a:cs typeface="Proxima Nova"/>
              <a:sym typeface="Proxima Nova"/>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223" name="Shape 223"/>
        <p:cNvGrpSpPr/>
        <p:nvPr/>
      </p:nvGrpSpPr>
      <p:grpSpPr>
        <a:xfrm>
          <a:off x="0" y="0"/>
          <a:ext cx="0" cy="0"/>
          <a:chOff x="0" y="0"/>
          <a:chExt cx="0" cy="0"/>
        </a:xfrm>
      </p:grpSpPr>
      <p:sp>
        <p:nvSpPr>
          <p:cNvPr id="224" name="Google Shape;224;p31"/>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5" name="Google Shape;225;p31"/>
          <p:cNvSpPr txBox="1"/>
          <p:nvPr/>
        </p:nvSpPr>
        <p:spPr>
          <a:xfrm>
            <a:off x="313925" y="1595875"/>
            <a:ext cx="78315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500">
                <a:solidFill>
                  <a:schemeClr val="lt1"/>
                </a:solidFill>
                <a:latin typeface="Proxima Nova"/>
                <a:ea typeface="Proxima Nova"/>
                <a:cs typeface="Proxima Nova"/>
                <a:sym typeface="Proxima Nova"/>
              </a:rPr>
              <a:t>Questions</a:t>
            </a:r>
            <a:r>
              <a:rPr b="1" lang="en" sz="3500">
                <a:solidFill>
                  <a:schemeClr val="lt1"/>
                </a:solidFill>
                <a:latin typeface="Proxima Nova"/>
                <a:ea typeface="Proxima Nova"/>
                <a:cs typeface="Proxima Nova"/>
                <a:sym typeface="Proxima Nova"/>
              </a:rPr>
              <a:t>?</a:t>
            </a:r>
            <a:endParaRPr b="1" sz="3500">
              <a:solidFill>
                <a:schemeClr val="lt1"/>
              </a:solidFill>
              <a:latin typeface="Proxima Nova"/>
              <a:ea typeface="Proxima Nova"/>
              <a:cs typeface="Proxima Nova"/>
              <a:sym typeface="Proxima Nova"/>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oorDash">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838A"/>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