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  <p:embeddedFont>
      <p:font typeface="Open Sans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aroline Deb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17966B-EFF7-4F01-8B75-842CB72CF429}">
  <a:tblStyle styleId="{2D17966B-EFF7-4F01-8B75-842CB72CF42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9D4E820-D569-464C-B4F7-676DF57B6F5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OpenSansLigh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OpenSansLight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06-16T18:53:03.333">
    <p:pos x="299" y="678"/>
    <p:text>Can understand who is a value seeker via analytics: only place orders when discount available, cart drop-off, etc.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89d59627f6_1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89d59627f6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50f35a6d7d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50f35a6d7d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50f35a6d7d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50f35a6d7d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James to link to failed session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0f35a6d7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0f35a6d7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52ec89dd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52ec89dd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52ec89dd0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52ec89dd0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52ec89dd0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52ec89dd0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/>
        </p:nvSpPr>
        <p:spPr>
          <a:xfrm>
            <a:off x="649063" y="154275"/>
            <a:ext cx="1497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Presentation Subject</a:t>
            </a:r>
            <a:endParaRPr sz="900">
              <a:solidFill>
                <a:srgbClr val="CCCC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without header">
  <p:cSld name="TITLE_2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Master">
  <p:cSld name="TITLE_1">
    <p:bg>
      <p:bgPr>
        <a:solidFill>
          <a:srgbClr val="F3F3F3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4"/>
          <p:cNvSpPr txBox="1"/>
          <p:nvPr/>
        </p:nvSpPr>
        <p:spPr>
          <a:xfrm>
            <a:off x="649063" y="154275"/>
            <a:ext cx="1497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Presentation Subject</a:t>
            </a:r>
            <a:endParaRPr sz="900">
              <a:solidFill>
                <a:srgbClr val="CCCC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" type="secHead">
  <p:cSld name="SECTION_HEADER">
    <p:bg>
      <p:bgPr>
        <a:solidFill>
          <a:srgbClr val="E23208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cean">
  <p:cSld name="SECTION_HEADER_2">
    <p:bg>
      <p:bgPr>
        <a:solidFill>
          <a:srgbClr val="518C8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ush">
  <p:cSld name="SECTION_HEADER_1">
    <p:bg>
      <p:bgPr>
        <a:solidFill>
          <a:srgbClr val="E5BBB7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" name="Google Shape;2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ky">
  <p:cSld name="SECTION_HEADER_1_1">
    <p:bg>
      <p:bgPr>
        <a:solidFill>
          <a:srgbClr val="BEDFE9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" name="Google Shape;2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mon">
  <p:cSld name="SECTION_HEADER_1_1_2">
    <p:bg>
      <p:bgPr>
        <a:solidFill>
          <a:srgbClr val="F8E50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rest">
  <p:cSld name="SECTION_HEADER_1_1_1">
    <p:bg>
      <p:bgPr>
        <a:solidFill>
          <a:srgbClr val="3A5648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" name="Google Shape;3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SECTION_HEADER_1_1_1_1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5 1">
  <p:cSld name="TITLE_6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" name="Google Shape;3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4">
  <p:cSld name="TITLE_5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" name="Google Shape;4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18.png"/><Relationship Id="rId5" Type="http://schemas.openxmlformats.org/officeDocument/2006/relationships/hyperlink" Target="https://docs.google.com/presentation/u/0/d/160vFfk8ij4n591JU1IpPVVnxzMYA7iD8LoHtXydy8xw/ed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docs.google.com/document/u/0/d/1MJbzokFAhn2tzomV-lFWBNSpeqvRx72nSnvXIFwFoVE/edi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9.png"/><Relationship Id="rId5" Type="http://schemas.openxmlformats.org/officeDocument/2006/relationships/image" Target="../media/image8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9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14"/>
          <p:cNvSpPr txBox="1"/>
          <p:nvPr/>
        </p:nvSpPr>
        <p:spPr>
          <a:xfrm>
            <a:off x="686000" y="3441325"/>
            <a:ext cx="29802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Kelly Peterson </a:t>
            </a:r>
            <a:endParaRPr b="1" sz="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" name="Google Shape;49;p14"/>
          <p:cNvSpPr txBox="1"/>
          <p:nvPr/>
        </p:nvSpPr>
        <p:spPr>
          <a:xfrm>
            <a:off x="686000" y="3799625"/>
            <a:ext cx="29802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Date: June 16, 2023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" name="Google Shape;50;p14"/>
          <p:cNvSpPr txBox="1"/>
          <p:nvPr/>
        </p:nvSpPr>
        <p:spPr>
          <a:xfrm>
            <a:off x="609750" y="1529300"/>
            <a:ext cx="47415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Comparing Across Apps</a:t>
            </a:r>
            <a:endParaRPr b="1" sz="4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1" name="Google Shape;5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399" y="1284763"/>
            <a:ext cx="1408775" cy="1625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4"/>
          <p:cNvSpPr txBox="1"/>
          <p:nvPr/>
        </p:nvSpPr>
        <p:spPr>
          <a:xfrm>
            <a:off x="686000" y="3068425"/>
            <a:ext cx="29802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New Verticals Download</a:t>
            </a:r>
            <a:endParaRPr b="1" sz="800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3" name="Google Shape;5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1475" y="1663575"/>
            <a:ext cx="3576325" cy="25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5"/>
          <p:cNvSpPr txBox="1"/>
          <p:nvPr/>
        </p:nvSpPr>
        <p:spPr>
          <a:xfrm>
            <a:off x="362900" y="265450"/>
            <a:ext cx="490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Research Objectives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" name="Google Shape;60;p15"/>
          <p:cNvSpPr txBox="1"/>
          <p:nvPr/>
        </p:nvSpPr>
        <p:spPr>
          <a:xfrm>
            <a:off x="476150" y="1077275"/>
            <a:ext cx="7803900" cy="23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We know that </a:t>
            </a: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 subset of Cx are </a:t>
            </a: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value seekers</a:t>
            </a: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who compare cost across multiple apps before placing an order</a:t>
            </a: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  This research is targeted to understand: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b="1" lang="en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Where</a:t>
            </a: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do Cx go on each app to look for deals and discounts when ordering?  What pathways do they take to compare across apps?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b="1" lang="en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What</a:t>
            </a: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cost factors are compared and what weight do they hold (e.g. item price, delivery fees, service fees, recommended tips)?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b="1" lang="en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How</a:t>
            </a:r>
            <a:r>
              <a:rPr lang="en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do Cx make a final decision?  What factors have the greatest weight?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" name="Google Shape;6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5975" y="3664000"/>
            <a:ext cx="1157451" cy="115745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/>
        </p:nvSpPr>
        <p:spPr>
          <a:xfrm>
            <a:off x="230775" y="3831750"/>
            <a:ext cx="6163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This deck looks specifically at grocery comparisons.  It is a subset of the research study </a:t>
            </a:r>
            <a:r>
              <a:rPr b="1" lang="en" sz="16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5"/>
              </a:rPr>
              <a:t>comparing across apps</a:t>
            </a:r>
            <a:endParaRPr b="1" sz="1600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5851200" y="0"/>
            <a:ext cx="3266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/>
        </p:nvSpPr>
        <p:spPr>
          <a:xfrm>
            <a:off x="6617725" y="938725"/>
            <a:ext cx="2528700" cy="21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RESEARCH PARTICIPANTS</a:t>
            </a:r>
            <a:endParaRPr b="1" sz="1000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Survey n=443 DoorDash Cx who compare Rx;  n=284 compare for Rx &amp; NV</a:t>
            </a: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Included a mix of classic, occasional and DashPass Cx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Included a mix of Cx who compare every time they order vs. less frequently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Data was weighted to correctly reflect the Classic vs. DashPass DoorDash universe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362900" y="265450"/>
            <a:ext cx="490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Research Approach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3147750" y="2694675"/>
            <a:ext cx="1738500" cy="17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10, 25</a:t>
            </a: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min 1:1 Interviews </a:t>
            </a: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Cx shared their mobile screens to show how they compare across apps.  Included Cx that compare DoorDash to UberEats, GrubHub as well as other sources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2978688" y="1081763"/>
            <a:ext cx="2110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3008"/>
                </a:solidFill>
                <a:latin typeface="Proxima Nova"/>
                <a:ea typeface="Proxima Nova"/>
                <a:cs typeface="Proxima Nova"/>
                <a:sym typeface="Proxima Nova"/>
              </a:rPr>
              <a:t>IN-DEPTH INTERVIEWS</a:t>
            </a:r>
            <a:endParaRPr/>
          </a:p>
        </p:txBody>
      </p:sp>
      <p:grpSp>
        <p:nvGrpSpPr>
          <p:cNvPr id="74" name="Google Shape;74;p16"/>
          <p:cNvGrpSpPr/>
          <p:nvPr/>
        </p:nvGrpSpPr>
        <p:grpSpPr>
          <a:xfrm>
            <a:off x="3486260" y="1512778"/>
            <a:ext cx="913901" cy="1046689"/>
            <a:chOff x="4690369" y="4595822"/>
            <a:chExt cx="621575" cy="621143"/>
          </a:xfrm>
        </p:grpSpPr>
        <p:sp>
          <p:nvSpPr>
            <p:cNvPr id="75" name="Google Shape;75;p16"/>
            <p:cNvSpPr/>
            <p:nvPr/>
          </p:nvSpPr>
          <p:spPr>
            <a:xfrm>
              <a:off x="4982036" y="4595822"/>
              <a:ext cx="329908" cy="310629"/>
            </a:xfrm>
            <a:custGeom>
              <a:rect b="b" l="l" r="r" t="t"/>
              <a:pathLst>
                <a:path extrusionOk="0" h="310629" w="329908">
                  <a:moveTo>
                    <a:pt x="96035" y="310569"/>
                  </a:moveTo>
                  <a:cubicBezTo>
                    <a:pt x="94655" y="310559"/>
                    <a:pt x="93295" y="310264"/>
                    <a:pt x="92039" y="309712"/>
                  </a:cubicBezTo>
                  <a:cubicBezTo>
                    <a:pt x="88529" y="308180"/>
                    <a:pt x="86284" y="304697"/>
                    <a:pt x="86331" y="300862"/>
                  </a:cubicBezTo>
                  <a:lnTo>
                    <a:pt x="86331" y="232914"/>
                  </a:lnTo>
                  <a:lnTo>
                    <a:pt x="76818" y="232914"/>
                  </a:lnTo>
                  <a:cubicBezTo>
                    <a:pt x="71567" y="232914"/>
                    <a:pt x="67306" y="228650"/>
                    <a:pt x="67306" y="223397"/>
                  </a:cubicBezTo>
                  <a:cubicBezTo>
                    <a:pt x="67306" y="218144"/>
                    <a:pt x="71567" y="213881"/>
                    <a:pt x="76818" y="213881"/>
                  </a:cubicBezTo>
                  <a:lnTo>
                    <a:pt x="95844" y="213881"/>
                  </a:lnTo>
                  <a:cubicBezTo>
                    <a:pt x="101095" y="213881"/>
                    <a:pt x="105357" y="218144"/>
                    <a:pt x="105357" y="223397"/>
                  </a:cubicBezTo>
                  <a:lnTo>
                    <a:pt x="105357" y="279450"/>
                  </a:lnTo>
                  <a:lnTo>
                    <a:pt x="176514" y="216165"/>
                  </a:lnTo>
                  <a:cubicBezTo>
                    <a:pt x="178283" y="214557"/>
                    <a:pt x="180595" y="213671"/>
                    <a:pt x="182983" y="213691"/>
                  </a:cubicBezTo>
                  <a:lnTo>
                    <a:pt x="299421" y="213691"/>
                  </a:lnTo>
                  <a:cubicBezTo>
                    <a:pt x="304672" y="213691"/>
                    <a:pt x="308934" y="209427"/>
                    <a:pt x="308934" y="204174"/>
                  </a:cubicBezTo>
                  <a:lnTo>
                    <a:pt x="308934" y="29070"/>
                  </a:lnTo>
                  <a:cubicBezTo>
                    <a:pt x="308934" y="23817"/>
                    <a:pt x="304672" y="19553"/>
                    <a:pt x="299421" y="19553"/>
                  </a:cubicBezTo>
                  <a:lnTo>
                    <a:pt x="28493" y="19553"/>
                  </a:lnTo>
                  <a:cubicBezTo>
                    <a:pt x="23242" y="19553"/>
                    <a:pt x="18980" y="23817"/>
                    <a:pt x="18980" y="29070"/>
                  </a:cubicBezTo>
                  <a:lnTo>
                    <a:pt x="18980" y="174673"/>
                  </a:lnTo>
                  <a:cubicBezTo>
                    <a:pt x="18980" y="179926"/>
                    <a:pt x="14718" y="184189"/>
                    <a:pt x="9467" y="184189"/>
                  </a:cubicBezTo>
                  <a:cubicBezTo>
                    <a:pt x="4216" y="184189"/>
                    <a:pt x="-46" y="179926"/>
                    <a:pt x="-46" y="174673"/>
                  </a:cubicBezTo>
                  <a:lnTo>
                    <a:pt x="-46" y="29070"/>
                  </a:lnTo>
                  <a:cubicBezTo>
                    <a:pt x="2" y="13006"/>
                    <a:pt x="13006" y="6"/>
                    <a:pt x="29064" y="-51"/>
                  </a:cubicBezTo>
                  <a:lnTo>
                    <a:pt x="300753" y="-51"/>
                  </a:lnTo>
                  <a:cubicBezTo>
                    <a:pt x="316830" y="-51"/>
                    <a:pt x="329862" y="12987"/>
                    <a:pt x="329862" y="29070"/>
                  </a:cubicBezTo>
                  <a:lnTo>
                    <a:pt x="329862" y="203793"/>
                  </a:lnTo>
                  <a:cubicBezTo>
                    <a:pt x="329862" y="219876"/>
                    <a:pt x="316830" y="232914"/>
                    <a:pt x="300753" y="232914"/>
                  </a:cubicBezTo>
                  <a:lnTo>
                    <a:pt x="187454" y="232914"/>
                  </a:lnTo>
                  <a:lnTo>
                    <a:pt x="102884" y="308094"/>
                  </a:lnTo>
                  <a:cubicBezTo>
                    <a:pt x="101019" y="309798"/>
                    <a:pt x="98556" y="310683"/>
                    <a:pt x="96035" y="310569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6"/>
            <p:cNvSpPr/>
            <p:nvPr/>
          </p:nvSpPr>
          <p:spPr>
            <a:xfrm>
              <a:off x="5263048" y="4877511"/>
              <a:ext cx="19027" cy="242386"/>
            </a:xfrm>
            <a:custGeom>
              <a:rect b="b" l="l" r="r" t="t"/>
              <a:pathLst>
                <a:path extrusionOk="0" h="242386" w="19027">
                  <a:moveTo>
                    <a:pt x="9467" y="242335"/>
                  </a:moveTo>
                  <a:cubicBezTo>
                    <a:pt x="4216" y="242335"/>
                    <a:pt x="-46" y="238072"/>
                    <a:pt x="-46" y="232819"/>
                  </a:cubicBezTo>
                  <a:lnTo>
                    <a:pt x="-46" y="9466"/>
                  </a:lnTo>
                  <a:cubicBezTo>
                    <a:pt x="-46" y="4212"/>
                    <a:pt x="4216" y="-51"/>
                    <a:pt x="9467" y="-51"/>
                  </a:cubicBezTo>
                  <a:cubicBezTo>
                    <a:pt x="14718" y="-51"/>
                    <a:pt x="18980" y="4212"/>
                    <a:pt x="18980" y="9466"/>
                  </a:cubicBezTo>
                  <a:lnTo>
                    <a:pt x="18980" y="232628"/>
                  </a:lnTo>
                  <a:cubicBezTo>
                    <a:pt x="19085" y="237882"/>
                    <a:pt x="14908" y="242231"/>
                    <a:pt x="9657" y="242335"/>
                  </a:cubicBezTo>
                  <a:cubicBezTo>
                    <a:pt x="9591" y="242335"/>
                    <a:pt x="9534" y="242335"/>
                    <a:pt x="9467" y="242335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4719764" y="4731718"/>
              <a:ext cx="281107" cy="388182"/>
            </a:xfrm>
            <a:custGeom>
              <a:rect b="b" l="l" r="r" t="t"/>
              <a:pathLst>
                <a:path extrusionOk="0" h="388182" w="281107">
                  <a:moveTo>
                    <a:pt x="9467" y="388128"/>
                  </a:moveTo>
                  <a:cubicBezTo>
                    <a:pt x="4216" y="388128"/>
                    <a:pt x="-46" y="383865"/>
                    <a:pt x="-46" y="378612"/>
                  </a:cubicBezTo>
                  <a:lnTo>
                    <a:pt x="-46" y="48483"/>
                  </a:lnTo>
                  <a:cubicBezTo>
                    <a:pt x="-46" y="21675"/>
                    <a:pt x="21672" y="-51"/>
                    <a:pt x="48470" y="-51"/>
                  </a:cubicBezTo>
                  <a:lnTo>
                    <a:pt x="271548" y="-51"/>
                  </a:lnTo>
                  <a:cubicBezTo>
                    <a:pt x="276799" y="-51"/>
                    <a:pt x="281061" y="4212"/>
                    <a:pt x="281061" y="9466"/>
                  </a:cubicBezTo>
                  <a:cubicBezTo>
                    <a:pt x="281061" y="14718"/>
                    <a:pt x="276799" y="18982"/>
                    <a:pt x="271548" y="18982"/>
                  </a:cubicBezTo>
                  <a:lnTo>
                    <a:pt x="48280" y="18982"/>
                  </a:lnTo>
                  <a:cubicBezTo>
                    <a:pt x="32203" y="18982"/>
                    <a:pt x="19170" y="32020"/>
                    <a:pt x="19170" y="48103"/>
                  </a:cubicBezTo>
                  <a:lnTo>
                    <a:pt x="19170" y="378041"/>
                  </a:lnTo>
                  <a:cubicBezTo>
                    <a:pt x="19484" y="383284"/>
                    <a:pt x="15489" y="387795"/>
                    <a:pt x="10247" y="388109"/>
                  </a:cubicBezTo>
                  <a:cubicBezTo>
                    <a:pt x="9990" y="388128"/>
                    <a:pt x="9724" y="388138"/>
                    <a:pt x="9467" y="388128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6"/>
            <p:cNvSpPr/>
            <p:nvPr/>
          </p:nvSpPr>
          <p:spPr>
            <a:xfrm>
              <a:off x="4690369" y="5139501"/>
              <a:ext cx="620813" cy="77464"/>
            </a:xfrm>
            <a:custGeom>
              <a:rect b="b" l="l" r="r" t="t"/>
              <a:pathLst>
                <a:path extrusionOk="0" h="77464" w="620813">
                  <a:moveTo>
                    <a:pt x="553036" y="77414"/>
                  </a:moveTo>
                  <a:lnTo>
                    <a:pt x="67876" y="77414"/>
                  </a:lnTo>
                  <a:cubicBezTo>
                    <a:pt x="30367" y="77414"/>
                    <a:pt x="-46" y="46990"/>
                    <a:pt x="-46" y="9466"/>
                  </a:cubicBezTo>
                  <a:cubicBezTo>
                    <a:pt x="-46" y="4213"/>
                    <a:pt x="4216" y="-51"/>
                    <a:pt x="9467" y="-51"/>
                  </a:cubicBezTo>
                  <a:lnTo>
                    <a:pt x="242248" y="-51"/>
                  </a:lnTo>
                  <a:cubicBezTo>
                    <a:pt x="244826" y="-70"/>
                    <a:pt x="247300" y="967"/>
                    <a:pt x="249097" y="2804"/>
                  </a:cubicBezTo>
                  <a:cubicBezTo>
                    <a:pt x="250934" y="4603"/>
                    <a:pt x="251970" y="7077"/>
                    <a:pt x="251951" y="9656"/>
                  </a:cubicBezTo>
                  <a:lnTo>
                    <a:pt x="251951" y="19173"/>
                  </a:lnTo>
                  <a:lnTo>
                    <a:pt x="368675" y="19173"/>
                  </a:lnTo>
                  <a:lnTo>
                    <a:pt x="368675" y="9656"/>
                  </a:lnTo>
                  <a:cubicBezTo>
                    <a:pt x="368675" y="4403"/>
                    <a:pt x="372937" y="140"/>
                    <a:pt x="378188" y="140"/>
                  </a:cubicBezTo>
                  <a:lnTo>
                    <a:pt x="611255" y="140"/>
                  </a:lnTo>
                  <a:cubicBezTo>
                    <a:pt x="616506" y="140"/>
                    <a:pt x="620768" y="4403"/>
                    <a:pt x="620768" y="9656"/>
                  </a:cubicBezTo>
                  <a:cubicBezTo>
                    <a:pt x="620663" y="47037"/>
                    <a:pt x="590402" y="77309"/>
                    <a:pt x="553036" y="77414"/>
                  </a:cubicBezTo>
                  <a:close/>
                  <a:moveTo>
                    <a:pt x="20312" y="19173"/>
                  </a:moveTo>
                  <a:cubicBezTo>
                    <a:pt x="24925" y="41784"/>
                    <a:pt x="44807" y="58010"/>
                    <a:pt x="67876" y="58000"/>
                  </a:cubicBezTo>
                  <a:lnTo>
                    <a:pt x="553036" y="58000"/>
                  </a:lnTo>
                  <a:cubicBezTo>
                    <a:pt x="576085" y="57981"/>
                    <a:pt x="595958" y="41765"/>
                    <a:pt x="600600" y="19173"/>
                  </a:cubicBezTo>
                  <a:lnTo>
                    <a:pt x="387701" y="19173"/>
                  </a:lnTo>
                  <a:lnTo>
                    <a:pt x="387701" y="28689"/>
                  </a:lnTo>
                  <a:cubicBezTo>
                    <a:pt x="387682" y="31287"/>
                    <a:pt x="386654" y="33771"/>
                    <a:pt x="384847" y="35636"/>
                  </a:cubicBezTo>
                  <a:cubicBezTo>
                    <a:pt x="383030" y="37444"/>
                    <a:pt x="380557" y="38434"/>
                    <a:pt x="377998" y="38396"/>
                  </a:cubicBezTo>
                  <a:lnTo>
                    <a:pt x="242534" y="38396"/>
                  </a:lnTo>
                  <a:cubicBezTo>
                    <a:pt x="239918" y="38510"/>
                    <a:pt x="237378" y="37549"/>
                    <a:pt x="235494" y="35732"/>
                  </a:cubicBezTo>
                  <a:cubicBezTo>
                    <a:pt x="233687" y="33866"/>
                    <a:pt x="232659" y="31382"/>
                    <a:pt x="232640" y="28784"/>
                  </a:cubicBezTo>
                  <a:lnTo>
                    <a:pt x="232640" y="19268"/>
                  </a:ln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" name="Google Shape;79;p16"/>
            <p:cNvGrpSpPr/>
            <p:nvPr/>
          </p:nvGrpSpPr>
          <p:grpSpPr>
            <a:xfrm>
              <a:off x="4778254" y="4819075"/>
              <a:ext cx="329851" cy="291115"/>
              <a:chOff x="4778254" y="4819075"/>
              <a:chExt cx="329851" cy="291115"/>
            </a:xfrm>
          </p:grpSpPr>
          <p:sp>
            <p:nvSpPr>
              <p:cNvPr id="80" name="Google Shape;80;p16"/>
              <p:cNvSpPr/>
              <p:nvPr/>
            </p:nvSpPr>
            <p:spPr>
              <a:xfrm>
                <a:off x="4778254" y="4993446"/>
                <a:ext cx="329851" cy="116744"/>
              </a:xfrm>
              <a:custGeom>
                <a:rect b="b" l="l" r="r" t="t"/>
                <a:pathLst>
                  <a:path extrusionOk="0" h="116744" w="329851">
                    <a:moveTo>
                      <a:pt x="319603" y="116693"/>
                    </a:moveTo>
                    <a:cubicBezTo>
                      <a:pt x="314352" y="116693"/>
                      <a:pt x="310090" y="112430"/>
                      <a:pt x="310090" y="107177"/>
                    </a:cubicBezTo>
                    <a:cubicBezTo>
                      <a:pt x="310090" y="106701"/>
                      <a:pt x="307331" y="63020"/>
                      <a:pt x="276890" y="47508"/>
                    </a:cubicBezTo>
                    <a:lnTo>
                      <a:pt x="213058" y="20195"/>
                    </a:lnTo>
                    <a:cubicBezTo>
                      <a:pt x="181789" y="31996"/>
                      <a:pt x="147295" y="31996"/>
                      <a:pt x="116026" y="20195"/>
                    </a:cubicBezTo>
                    <a:lnTo>
                      <a:pt x="52289" y="47508"/>
                    </a:lnTo>
                    <a:cubicBezTo>
                      <a:pt x="21753" y="63020"/>
                      <a:pt x="19089" y="106701"/>
                      <a:pt x="18994" y="107177"/>
                    </a:cubicBezTo>
                    <a:cubicBezTo>
                      <a:pt x="18709" y="112430"/>
                      <a:pt x="14209" y="116455"/>
                      <a:pt x="8958" y="116170"/>
                    </a:cubicBezTo>
                    <a:cubicBezTo>
                      <a:pt x="3707" y="115884"/>
                      <a:pt x="-317" y="111383"/>
                      <a:pt x="-32" y="106130"/>
                    </a:cubicBezTo>
                    <a:cubicBezTo>
                      <a:pt x="-32" y="103941"/>
                      <a:pt x="3203" y="50458"/>
                      <a:pt x="44108" y="29997"/>
                    </a:cubicBezTo>
                    <a:lnTo>
                      <a:pt x="44584" y="29997"/>
                    </a:lnTo>
                    <a:lnTo>
                      <a:pt x="112506" y="877"/>
                    </a:lnTo>
                    <a:cubicBezTo>
                      <a:pt x="115094" y="-360"/>
                      <a:pt x="118100" y="-360"/>
                      <a:pt x="120687" y="877"/>
                    </a:cubicBezTo>
                    <a:cubicBezTo>
                      <a:pt x="148988" y="12544"/>
                      <a:pt x="180762" y="12544"/>
                      <a:pt x="209063" y="877"/>
                    </a:cubicBezTo>
                    <a:cubicBezTo>
                      <a:pt x="211622" y="-322"/>
                      <a:pt x="214590" y="-322"/>
                      <a:pt x="217148" y="877"/>
                    </a:cubicBezTo>
                    <a:lnTo>
                      <a:pt x="285071" y="29997"/>
                    </a:lnTo>
                    <a:lnTo>
                      <a:pt x="285642" y="29997"/>
                    </a:lnTo>
                    <a:cubicBezTo>
                      <a:pt x="326547" y="50458"/>
                      <a:pt x="329686" y="103941"/>
                      <a:pt x="329781" y="106130"/>
                    </a:cubicBezTo>
                    <a:cubicBezTo>
                      <a:pt x="330153" y="111374"/>
                      <a:pt x="326195" y="115922"/>
                      <a:pt x="320954" y="116294"/>
                    </a:cubicBezTo>
                    <a:cubicBezTo>
                      <a:pt x="320725" y="116303"/>
                      <a:pt x="320497" y="116312"/>
                      <a:pt x="320269" y="116312"/>
                    </a:cubicBezTo>
                    <a:close/>
                  </a:path>
                </a:pathLst>
              </a:custGeom>
              <a:solidFill>
                <a:srgbClr val="FF3008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6"/>
              <p:cNvSpPr/>
              <p:nvPr/>
            </p:nvSpPr>
            <p:spPr>
              <a:xfrm>
                <a:off x="4870307" y="4819075"/>
                <a:ext cx="144662" cy="155340"/>
              </a:xfrm>
              <a:custGeom>
                <a:rect b="b" l="l" r="r" t="t"/>
                <a:pathLst>
                  <a:path extrusionOk="0" h="155340" w="144662">
                    <a:moveTo>
                      <a:pt x="101408" y="155264"/>
                    </a:moveTo>
                    <a:cubicBezTo>
                      <a:pt x="96167" y="155644"/>
                      <a:pt x="91620" y="151695"/>
                      <a:pt x="91239" y="146451"/>
                    </a:cubicBezTo>
                    <a:cubicBezTo>
                      <a:pt x="90973" y="142768"/>
                      <a:pt x="92866" y="139267"/>
                      <a:pt x="96081" y="137468"/>
                    </a:cubicBezTo>
                    <a:cubicBezTo>
                      <a:pt x="119483" y="121861"/>
                      <a:pt x="120434" y="113772"/>
                      <a:pt x="123288" y="89885"/>
                    </a:cubicBezTo>
                    <a:cubicBezTo>
                      <a:pt x="123288" y="88172"/>
                      <a:pt x="123288" y="86364"/>
                      <a:pt x="123954" y="84366"/>
                    </a:cubicBezTo>
                    <a:cubicBezTo>
                      <a:pt x="126599" y="70976"/>
                      <a:pt x="125248" y="57110"/>
                      <a:pt x="120054" y="44491"/>
                    </a:cubicBezTo>
                    <a:cubicBezTo>
                      <a:pt x="114127" y="34071"/>
                      <a:pt x="104414" y="26334"/>
                      <a:pt x="92942" y="22889"/>
                    </a:cubicBezTo>
                    <a:cubicBezTo>
                      <a:pt x="79557" y="18530"/>
                      <a:pt x="65136" y="18530"/>
                      <a:pt x="51751" y="22889"/>
                    </a:cubicBezTo>
                    <a:cubicBezTo>
                      <a:pt x="40278" y="26334"/>
                      <a:pt x="30566" y="34071"/>
                      <a:pt x="24639" y="44491"/>
                    </a:cubicBezTo>
                    <a:cubicBezTo>
                      <a:pt x="19407" y="57101"/>
                      <a:pt x="18047" y="70985"/>
                      <a:pt x="20739" y="84366"/>
                    </a:cubicBezTo>
                    <a:cubicBezTo>
                      <a:pt x="20739" y="86364"/>
                      <a:pt x="20739" y="88172"/>
                      <a:pt x="21405" y="89885"/>
                    </a:cubicBezTo>
                    <a:cubicBezTo>
                      <a:pt x="24259" y="113962"/>
                      <a:pt x="25210" y="122051"/>
                      <a:pt x="48612" y="137468"/>
                    </a:cubicBezTo>
                    <a:cubicBezTo>
                      <a:pt x="53073" y="140437"/>
                      <a:pt x="54291" y="146470"/>
                      <a:pt x="51323" y="150934"/>
                    </a:cubicBezTo>
                    <a:cubicBezTo>
                      <a:pt x="48355" y="155397"/>
                      <a:pt x="42323" y="156615"/>
                      <a:pt x="37862" y="153646"/>
                    </a:cubicBezTo>
                    <a:cubicBezTo>
                      <a:pt x="6945" y="132995"/>
                      <a:pt x="5137" y="117578"/>
                      <a:pt x="2093" y="91979"/>
                    </a:cubicBezTo>
                    <a:lnTo>
                      <a:pt x="1523" y="86554"/>
                    </a:lnTo>
                    <a:cubicBezTo>
                      <a:pt x="-1836" y="69253"/>
                      <a:pt x="229" y="51343"/>
                      <a:pt x="7421" y="35260"/>
                    </a:cubicBezTo>
                    <a:cubicBezTo>
                      <a:pt x="15668" y="20443"/>
                      <a:pt x="29291" y="9375"/>
                      <a:pt x="45472" y="4331"/>
                    </a:cubicBezTo>
                    <a:cubicBezTo>
                      <a:pt x="62852" y="-1512"/>
                      <a:pt x="81650" y="-1512"/>
                      <a:pt x="99030" y="4331"/>
                    </a:cubicBezTo>
                    <a:cubicBezTo>
                      <a:pt x="115221" y="9356"/>
                      <a:pt x="128853" y="20433"/>
                      <a:pt x="137082" y="35260"/>
                    </a:cubicBezTo>
                    <a:cubicBezTo>
                      <a:pt x="144312" y="51334"/>
                      <a:pt x="146405" y="69244"/>
                      <a:pt x="143075" y="86554"/>
                    </a:cubicBezTo>
                    <a:cubicBezTo>
                      <a:pt x="143075" y="88458"/>
                      <a:pt x="142599" y="90266"/>
                      <a:pt x="142409" y="91979"/>
                    </a:cubicBezTo>
                    <a:cubicBezTo>
                      <a:pt x="139460" y="117578"/>
                      <a:pt x="137653" y="132995"/>
                      <a:pt x="106736" y="153646"/>
                    </a:cubicBezTo>
                    <a:cubicBezTo>
                      <a:pt x="105147" y="154674"/>
                      <a:pt x="103301" y="155235"/>
                      <a:pt x="101408" y="155264"/>
                    </a:cubicBezTo>
                    <a:close/>
                  </a:path>
                </a:pathLst>
              </a:custGeom>
              <a:solidFill>
                <a:srgbClr val="FF3008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" name="Google Shape;82;p16"/>
          <p:cNvGrpSpPr/>
          <p:nvPr/>
        </p:nvGrpSpPr>
        <p:grpSpPr>
          <a:xfrm>
            <a:off x="6191923" y="938736"/>
            <a:ext cx="349608" cy="315560"/>
            <a:chOff x="3592942" y="1644650"/>
            <a:chExt cx="611524" cy="551967"/>
          </a:xfrm>
        </p:grpSpPr>
        <p:sp>
          <p:nvSpPr>
            <p:cNvPr id="83" name="Google Shape;83;p16"/>
            <p:cNvSpPr/>
            <p:nvPr/>
          </p:nvSpPr>
          <p:spPr>
            <a:xfrm>
              <a:off x="3689101" y="2082220"/>
              <a:ext cx="156922" cy="114389"/>
            </a:xfrm>
            <a:custGeom>
              <a:rect b="b" l="l" r="r" t="t"/>
              <a:pathLst>
                <a:path extrusionOk="0" h="114389" w="156922">
                  <a:moveTo>
                    <a:pt x="9595" y="114338"/>
                  </a:moveTo>
                  <a:cubicBezTo>
                    <a:pt x="4882" y="114395"/>
                    <a:pt x="835" y="110998"/>
                    <a:pt x="82" y="106344"/>
                  </a:cubicBezTo>
                  <a:cubicBezTo>
                    <a:pt x="-772" y="101157"/>
                    <a:pt x="2740" y="96266"/>
                    <a:pt x="7924" y="95409"/>
                  </a:cubicBezTo>
                  <a:cubicBezTo>
                    <a:pt x="7941" y="95409"/>
                    <a:pt x="7959" y="95400"/>
                    <a:pt x="7978" y="95400"/>
                  </a:cubicBezTo>
                  <a:cubicBezTo>
                    <a:pt x="54115" y="87692"/>
                    <a:pt x="124321" y="71704"/>
                    <a:pt x="135926" y="59998"/>
                  </a:cubicBezTo>
                  <a:cubicBezTo>
                    <a:pt x="138685" y="55811"/>
                    <a:pt x="137544" y="32591"/>
                    <a:pt x="133358" y="11559"/>
                  </a:cubicBezTo>
                  <a:cubicBezTo>
                    <a:pt x="132307" y="6303"/>
                    <a:pt x="135714" y="1191"/>
                    <a:pt x="140968" y="139"/>
                  </a:cubicBezTo>
                  <a:cubicBezTo>
                    <a:pt x="146222" y="-912"/>
                    <a:pt x="151333" y="2497"/>
                    <a:pt x="152384" y="7753"/>
                  </a:cubicBezTo>
                  <a:cubicBezTo>
                    <a:pt x="156284" y="27452"/>
                    <a:pt x="161231" y="62092"/>
                    <a:pt x="149815" y="73512"/>
                  </a:cubicBezTo>
                  <a:cubicBezTo>
                    <a:pt x="129648" y="93687"/>
                    <a:pt x="30999" y="110912"/>
                    <a:pt x="11402" y="114243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3951288" y="2082315"/>
              <a:ext cx="156922" cy="114302"/>
            </a:xfrm>
            <a:custGeom>
              <a:rect b="b" l="l" r="r" t="t"/>
              <a:pathLst>
                <a:path extrusionOk="0" h="114302" w="156922">
                  <a:moveTo>
                    <a:pt x="146951" y="114243"/>
                  </a:moveTo>
                  <a:lnTo>
                    <a:pt x="145428" y="114243"/>
                  </a:lnTo>
                  <a:cubicBezTo>
                    <a:pt x="125832" y="110912"/>
                    <a:pt x="27183" y="93687"/>
                    <a:pt x="7015" y="73512"/>
                  </a:cubicBezTo>
                  <a:cubicBezTo>
                    <a:pt x="-4400" y="62092"/>
                    <a:pt x="547" y="27452"/>
                    <a:pt x="4447" y="7753"/>
                  </a:cubicBezTo>
                  <a:cubicBezTo>
                    <a:pt x="5498" y="2497"/>
                    <a:pt x="10608" y="-912"/>
                    <a:pt x="15862" y="139"/>
                  </a:cubicBezTo>
                  <a:cubicBezTo>
                    <a:pt x="21116" y="1191"/>
                    <a:pt x="24523" y="6303"/>
                    <a:pt x="23473" y="11559"/>
                  </a:cubicBezTo>
                  <a:cubicBezTo>
                    <a:pt x="19287" y="32591"/>
                    <a:pt x="18145" y="55811"/>
                    <a:pt x="21094" y="60284"/>
                  </a:cubicBezTo>
                  <a:cubicBezTo>
                    <a:pt x="32510" y="71704"/>
                    <a:pt x="102715" y="87692"/>
                    <a:pt x="148853" y="95400"/>
                  </a:cubicBezTo>
                  <a:cubicBezTo>
                    <a:pt x="154042" y="96228"/>
                    <a:pt x="157576" y="101100"/>
                    <a:pt x="156758" y="106287"/>
                  </a:cubicBezTo>
                  <a:cubicBezTo>
                    <a:pt x="156758" y="106306"/>
                    <a:pt x="156749" y="106325"/>
                    <a:pt x="156749" y="106344"/>
                  </a:cubicBezTo>
                  <a:cubicBezTo>
                    <a:pt x="155938" y="111074"/>
                    <a:pt x="151739" y="114452"/>
                    <a:pt x="146951" y="114243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3758789" y="1758848"/>
              <a:ext cx="279351" cy="352112"/>
            </a:xfrm>
            <a:custGeom>
              <a:rect b="b" l="l" r="r" t="t"/>
              <a:pathLst>
                <a:path extrusionOk="0" h="352112" w="279351">
                  <a:moveTo>
                    <a:pt x="177729" y="352061"/>
                  </a:moveTo>
                  <a:cubicBezTo>
                    <a:pt x="173017" y="352118"/>
                    <a:pt x="168970" y="348721"/>
                    <a:pt x="168217" y="344067"/>
                  </a:cubicBezTo>
                  <a:cubicBezTo>
                    <a:pt x="167320" y="338888"/>
                    <a:pt x="170790" y="333963"/>
                    <a:pt x="175967" y="333067"/>
                  </a:cubicBezTo>
                  <a:cubicBezTo>
                    <a:pt x="176047" y="333052"/>
                    <a:pt x="176127" y="333039"/>
                    <a:pt x="176207" y="333028"/>
                  </a:cubicBezTo>
                  <a:cubicBezTo>
                    <a:pt x="226150" y="324748"/>
                    <a:pt x="244415" y="246047"/>
                    <a:pt x="244510" y="245190"/>
                  </a:cubicBezTo>
                  <a:cubicBezTo>
                    <a:pt x="250439" y="218315"/>
                    <a:pt x="255011" y="191159"/>
                    <a:pt x="258209" y="163824"/>
                  </a:cubicBezTo>
                  <a:cubicBezTo>
                    <a:pt x="260863" y="144883"/>
                    <a:pt x="260863" y="125665"/>
                    <a:pt x="258209" y="106725"/>
                  </a:cubicBezTo>
                  <a:cubicBezTo>
                    <a:pt x="251455" y="55811"/>
                    <a:pt x="201607" y="18982"/>
                    <a:pt x="139678" y="18982"/>
                  </a:cubicBezTo>
                  <a:cubicBezTo>
                    <a:pt x="77749" y="18982"/>
                    <a:pt x="27901" y="55811"/>
                    <a:pt x="21052" y="106439"/>
                  </a:cubicBezTo>
                  <a:cubicBezTo>
                    <a:pt x="18397" y="125380"/>
                    <a:pt x="18397" y="144597"/>
                    <a:pt x="21052" y="163538"/>
                  </a:cubicBezTo>
                  <a:cubicBezTo>
                    <a:pt x="23620" y="186092"/>
                    <a:pt x="29423" y="222636"/>
                    <a:pt x="34655" y="244809"/>
                  </a:cubicBezTo>
                  <a:cubicBezTo>
                    <a:pt x="34655" y="245761"/>
                    <a:pt x="53110" y="324463"/>
                    <a:pt x="103053" y="332742"/>
                  </a:cubicBezTo>
                  <a:cubicBezTo>
                    <a:pt x="108307" y="333583"/>
                    <a:pt x="111885" y="338525"/>
                    <a:pt x="111044" y="343781"/>
                  </a:cubicBezTo>
                  <a:cubicBezTo>
                    <a:pt x="110203" y="349037"/>
                    <a:pt x="105263" y="352613"/>
                    <a:pt x="100009" y="351775"/>
                  </a:cubicBezTo>
                  <a:cubicBezTo>
                    <a:pt x="37319" y="341307"/>
                    <a:pt x="16961" y="252994"/>
                    <a:pt x="16105" y="249282"/>
                  </a:cubicBezTo>
                  <a:cubicBezTo>
                    <a:pt x="10778" y="226538"/>
                    <a:pt x="4784" y="189043"/>
                    <a:pt x="2121" y="165917"/>
                  </a:cubicBezTo>
                  <a:cubicBezTo>
                    <a:pt x="-768" y="145272"/>
                    <a:pt x="-768" y="124324"/>
                    <a:pt x="2121" y="103679"/>
                  </a:cubicBezTo>
                  <a:cubicBezTo>
                    <a:pt x="10302" y="43630"/>
                    <a:pt x="68141" y="-51"/>
                    <a:pt x="139678" y="-51"/>
                  </a:cubicBezTo>
                  <a:cubicBezTo>
                    <a:pt x="211215" y="-51"/>
                    <a:pt x="269054" y="43630"/>
                    <a:pt x="277140" y="103870"/>
                  </a:cubicBezTo>
                  <a:cubicBezTo>
                    <a:pt x="280028" y="124515"/>
                    <a:pt x="280028" y="145463"/>
                    <a:pt x="277140" y="166108"/>
                  </a:cubicBezTo>
                  <a:cubicBezTo>
                    <a:pt x="274476" y="189233"/>
                    <a:pt x="268483" y="226728"/>
                    <a:pt x="263060" y="249568"/>
                  </a:cubicBezTo>
                  <a:cubicBezTo>
                    <a:pt x="262299" y="253184"/>
                    <a:pt x="241942" y="341497"/>
                    <a:pt x="179252" y="351966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3592942" y="1644650"/>
              <a:ext cx="257847" cy="352175"/>
            </a:xfrm>
            <a:custGeom>
              <a:rect b="b" l="l" r="r" t="t"/>
              <a:pathLst>
                <a:path extrusionOk="0" h="352175" w="257847">
                  <a:moveTo>
                    <a:pt x="10624" y="352061"/>
                  </a:moveTo>
                  <a:cubicBezTo>
                    <a:pt x="5371" y="352665"/>
                    <a:pt x="622" y="348895"/>
                    <a:pt x="18" y="343639"/>
                  </a:cubicBezTo>
                  <a:cubicBezTo>
                    <a:pt x="-586" y="338383"/>
                    <a:pt x="3183" y="333632"/>
                    <a:pt x="8437" y="333028"/>
                  </a:cubicBezTo>
                  <a:cubicBezTo>
                    <a:pt x="30982" y="327794"/>
                    <a:pt x="70366" y="315232"/>
                    <a:pt x="80259" y="303717"/>
                  </a:cubicBezTo>
                  <a:cubicBezTo>
                    <a:pt x="82733" y="300386"/>
                    <a:pt x="82162" y="284684"/>
                    <a:pt x="79022" y="268981"/>
                  </a:cubicBezTo>
                  <a:cubicBezTo>
                    <a:pt x="58189" y="255373"/>
                    <a:pt x="45061" y="218829"/>
                    <a:pt x="40590" y="199796"/>
                  </a:cubicBezTo>
                  <a:cubicBezTo>
                    <a:pt x="36620" y="179880"/>
                    <a:pt x="33667" y="159774"/>
                    <a:pt x="31743" y="139557"/>
                  </a:cubicBezTo>
                  <a:lnTo>
                    <a:pt x="30982" y="132895"/>
                  </a:lnTo>
                  <a:cubicBezTo>
                    <a:pt x="28718" y="116541"/>
                    <a:pt x="28718" y="99953"/>
                    <a:pt x="30982" y="83599"/>
                  </a:cubicBezTo>
                  <a:cubicBezTo>
                    <a:pt x="37451" y="35826"/>
                    <a:pt x="85872" y="-51"/>
                    <a:pt x="143805" y="-51"/>
                  </a:cubicBezTo>
                  <a:cubicBezTo>
                    <a:pt x="201739" y="-51"/>
                    <a:pt x="250160" y="35826"/>
                    <a:pt x="256629" y="83409"/>
                  </a:cubicBezTo>
                  <a:cubicBezTo>
                    <a:pt x="256629" y="87216"/>
                    <a:pt x="257485" y="90737"/>
                    <a:pt x="257770" y="94353"/>
                  </a:cubicBezTo>
                  <a:cubicBezTo>
                    <a:pt x="258191" y="99609"/>
                    <a:pt x="254272" y="104210"/>
                    <a:pt x="249018" y="104631"/>
                  </a:cubicBezTo>
                  <a:cubicBezTo>
                    <a:pt x="243764" y="105052"/>
                    <a:pt x="239165" y="101132"/>
                    <a:pt x="238745" y="95876"/>
                  </a:cubicBezTo>
                  <a:cubicBezTo>
                    <a:pt x="238745" y="92640"/>
                    <a:pt x="238079" y="89404"/>
                    <a:pt x="237603" y="86359"/>
                  </a:cubicBezTo>
                  <a:cubicBezTo>
                    <a:pt x="232466" y="48293"/>
                    <a:pt x="192131" y="19743"/>
                    <a:pt x="143710" y="19743"/>
                  </a:cubicBezTo>
                  <a:cubicBezTo>
                    <a:pt x="95290" y="19743"/>
                    <a:pt x="54955" y="48293"/>
                    <a:pt x="49818" y="86359"/>
                  </a:cubicBezTo>
                  <a:cubicBezTo>
                    <a:pt x="47651" y="101157"/>
                    <a:pt x="47651" y="116193"/>
                    <a:pt x="49818" y="130992"/>
                  </a:cubicBezTo>
                  <a:lnTo>
                    <a:pt x="50579" y="137748"/>
                  </a:lnTo>
                  <a:cubicBezTo>
                    <a:pt x="52672" y="155830"/>
                    <a:pt x="55430" y="180668"/>
                    <a:pt x="59045" y="195704"/>
                  </a:cubicBezTo>
                  <a:cubicBezTo>
                    <a:pt x="63802" y="216069"/>
                    <a:pt x="77120" y="247950"/>
                    <a:pt x="91579" y="255182"/>
                  </a:cubicBezTo>
                  <a:cubicBezTo>
                    <a:pt x="94129" y="256446"/>
                    <a:pt x="95978" y="258785"/>
                    <a:pt x="96621" y="261558"/>
                  </a:cubicBezTo>
                  <a:cubicBezTo>
                    <a:pt x="99570" y="274025"/>
                    <a:pt x="105278" y="304478"/>
                    <a:pt x="94529" y="316945"/>
                  </a:cubicBezTo>
                  <a:cubicBezTo>
                    <a:pt x="77215" y="336358"/>
                    <a:pt x="19376" y="350253"/>
                    <a:pt x="12812" y="352061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3946618" y="1644650"/>
              <a:ext cx="257848" cy="352460"/>
            </a:xfrm>
            <a:custGeom>
              <a:rect b="b" l="l" r="r" t="t"/>
              <a:pathLst>
                <a:path extrusionOk="0" h="352460" w="257848">
                  <a:moveTo>
                    <a:pt x="246750" y="352061"/>
                  </a:moveTo>
                  <a:lnTo>
                    <a:pt x="244562" y="352061"/>
                  </a:lnTo>
                  <a:cubicBezTo>
                    <a:pt x="237998" y="350538"/>
                    <a:pt x="179779" y="336644"/>
                    <a:pt x="162751" y="316754"/>
                  </a:cubicBezTo>
                  <a:cubicBezTo>
                    <a:pt x="151621" y="304478"/>
                    <a:pt x="157709" y="273549"/>
                    <a:pt x="161134" y="261083"/>
                  </a:cubicBezTo>
                  <a:cubicBezTo>
                    <a:pt x="161781" y="258310"/>
                    <a:pt x="163626" y="255970"/>
                    <a:pt x="166176" y="254707"/>
                  </a:cubicBezTo>
                  <a:cubicBezTo>
                    <a:pt x="180635" y="247474"/>
                    <a:pt x="193954" y="215594"/>
                    <a:pt x="198710" y="195228"/>
                  </a:cubicBezTo>
                  <a:cubicBezTo>
                    <a:pt x="202325" y="180192"/>
                    <a:pt x="205084" y="155354"/>
                    <a:pt x="207176" y="137273"/>
                  </a:cubicBezTo>
                  <a:lnTo>
                    <a:pt x="207938" y="130611"/>
                  </a:lnTo>
                  <a:cubicBezTo>
                    <a:pt x="210107" y="115780"/>
                    <a:pt x="210107" y="100714"/>
                    <a:pt x="207938" y="85883"/>
                  </a:cubicBezTo>
                  <a:cubicBezTo>
                    <a:pt x="202801" y="47817"/>
                    <a:pt x="162466" y="19268"/>
                    <a:pt x="114045" y="19268"/>
                  </a:cubicBezTo>
                  <a:cubicBezTo>
                    <a:pt x="65624" y="19268"/>
                    <a:pt x="25289" y="47817"/>
                    <a:pt x="20152" y="85883"/>
                  </a:cubicBezTo>
                  <a:cubicBezTo>
                    <a:pt x="20152" y="89404"/>
                    <a:pt x="19296" y="92640"/>
                    <a:pt x="19011" y="95400"/>
                  </a:cubicBezTo>
                  <a:cubicBezTo>
                    <a:pt x="18590" y="100656"/>
                    <a:pt x="13991" y="104576"/>
                    <a:pt x="8737" y="104155"/>
                  </a:cubicBezTo>
                  <a:cubicBezTo>
                    <a:pt x="3483" y="103734"/>
                    <a:pt x="-436" y="99133"/>
                    <a:pt x="-15" y="93877"/>
                  </a:cubicBezTo>
                  <a:cubicBezTo>
                    <a:pt x="-15" y="90261"/>
                    <a:pt x="651" y="86740"/>
                    <a:pt x="1126" y="82933"/>
                  </a:cubicBezTo>
                  <a:cubicBezTo>
                    <a:pt x="7215" y="35826"/>
                    <a:pt x="55636" y="-51"/>
                    <a:pt x="113569" y="-51"/>
                  </a:cubicBezTo>
                  <a:cubicBezTo>
                    <a:pt x="171503" y="-51"/>
                    <a:pt x="219924" y="35826"/>
                    <a:pt x="226393" y="83409"/>
                  </a:cubicBezTo>
                  <a:cubicBezTo>
                    <a:pt x="228647" y="99796"/>
                    <a:pt x="228647" y="116413"/>
                    <a:pt x="226393" y="132800"/>
                  </a:cubicBezTo>
                  <a:lnTo>
                    <a:pt x="225632" y="139366"/>
                  </a:lnTo>
                  <a:cubicBezTo>
                    <a:pt x="223710" y="159583"/>
                    <a:pt x="220751" y="179690"/>
                    <a:pt x="216785" y="199606"/>
                  </a:cubicBezTo>
                  <a:cubicBezTo>
                    <a:pt x="212313" y="218639"/>
                    <a:pt x="198805" y="255373"/>
                    <a:pt x="178733" y="269267"/>
                  </a:cubicBezTo>
                  <a:cubicBezTo>
                    <a:pt x="175594" y="284493"/>
                    <a:pt x="175023" y="300671"/>
                    <a:pt x="177591" y="304097"/>
                  </a:cubicBezTo>
                  <a:cubicBezTo>
                    <a:pt x="187104" y="315517"/>
                    <a:pt x="226773" y="328079"/>
                    <a:pt x="249319" y="333313"/>
                  </a:cubicBezTo>
                  <a:cubicBezTo>
                    <a:pt x="254570" y="333917"/>
                    <a:pt x="258347" y="338668"/>
                    <a:pt x="257738" y="343924"/>
                  </a:cubicBezTo>
                  <a:cubicBezTo>
                    <a:pt x="257129" y="349180"/>
                    <a:pt x="252382" y="352951"/>
                    <a:pt x="247131" y="352346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6"/>
          <p:cNvSpPr txBox="1"/>
          <p:nvPr/>
        </p:nvSpPr>
        <p:spPr>
          <a:xfrm>
            <a:off x="901650" y="2694675"/>
            <a:ext cx="17385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10 min Survey</a:t>
            </a: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Cx shared the frequency, priorities, decision making factors and approach when comparing across apps before ordering delivery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1338849" y="1081775"/>
            <a:ext cx="993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3008"/>
                </a:solidFill>
                <a:latin typeface="Proxima Nova"/>
                <a:ea typeface="Proxima Nova"/>
                <a:cs typeface="Proxima Nova"/>
                <a:sym typeface="Proxima Nova"/>
              </a:rPr>
              <a:t>SURVEY</a:t>
            </a:r>
            <a:endParaRPr/>
          </a:p>
        </p:txBody>
      </p:sp>
      <p:grpSp>
        <p:nvGrpSpPr>
          <p:cNvPr id="90" name="Google Shape;90;p16"/>
          <p:cNvGrpSpPr/>
          <p:nvPr/>
        </p:nvGrpSpPr>
        <p:grpSpPr>
          <a:xfrm>
            <a:off x="1314153" y="1512849"/>
            <a:ext cx="821858" cy="997790"/>
            <a:chOff x="2260704" y="4256260"/>
            <a:chExt cx="314298" cy="405969"/>
          </a:xfrm>
        </p:grpSpPr>
        <p:grpSp>
          <p:nvGrpSpPr>
            <p:cNvPr id="91" name="Google Shape;91;p16"/>
            <p:cNvGrpSpPr/>
            <p:nvPr/>
          </p:nvGrpSpPr>
          <p:grpSpPr>
            <a:xfrm>
              <a:off x="2260704" y="4256260"/>
              <a:ext cx="314298" cy="405969"/>
              <a:chOff x="2260704" y="4256260"/>
              <a:chExt cx="314298" cy="405969"/>
            </a:xfrm>
          </p:grpSpPr>
          <p:sp>
            <p:nvSpPr>
              <p:cNvPr id="92" name="Google Shape;92;p16"/>
              <p:cNvSpPr/>
              <p:nvPr/>
            </p:nvSpPr>
            <p:spPr>
              <a:xfrm>
                <a:off x="2332731" y="4256260"/>
                <a:ext cx="170245" cy="78574"/>
              </a:xfrm>
              <a:custGeom>
                <a:rect b="b" l="l" r="r" t="t"/>
                <a:pathLst>
                  <a:path extrusionOk="0" h="78574" w="170245">
                    <a:moveTo>
                      <a:pt x="170245" y="78575"/>
                    </a:moveTo>
                    <a:lnTo>
                      <a:pt x="170245" y="52383"/>
                    </a:lnTo>
                    <a:cubicBezTo>
                      <a:pt x="170245" y="41513"/>
                      <a:pt x="161471" y="32739"/>
                      <a:pt x="150601" y="32739"/>
                    </a:cubicBezTo>
                    <a:lnTo>
                      <a:pt x="137506" y="32739"/>
                    </a:lnTo>
                    <a:lnTo>
                      <a:pt x="137506" y="0"/>
                    </a:lnTo>
                    <a:lnTo>
                      <a:pt x="32739" y="0"/>
                    </a:lnTo>
                    <a:lnTo>
                      <a:pt x="32739" y="32739"/>
                    </a:lnTo>
                    <a:lnTo>
                      <a:pt x="19644" y="32739"/>
                    </a:lnTo>
                    <a:cubicBezTo>
                      <a:pt x="8774" y="32739"/>
                      <a:pt x="0" y="41513"/>
                      <a:pt x="0" y="52383"/>
                    </a:cubicBezTo>
                    <a:lnTo>
                      <a:pt x="0" y="78575"/>
                    </a:lnTo>
                    <a:lnTo>
                      <a:pt x="170245" y="78575"/>
                    </a:lnTo>
                    <a:close/>
                  </a:path>
                </a:pathLst>
              </a:custGeom>
              <a:noFill/>
              <a:ln cap="rnd" cmpd="sng" w="9525">
                <a:solidFill>
                  <a:srgbClr val="FF300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4082F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93" name="Google Shape;93;p16"/>
              <p:cNvSpPr/>
              <p:nvPr/>
            </p:nvSpPr>
            <p:spPr>
              <a:xfrm>
                <a:off x="2398210" y="4289000"/>
                <a:ext cx="39287" cy="13095"/>
              </a:xfrm>
              <a:custGeom>
                <a:rect b="b" l="l" r="r" t="t"/>
                <a:pathLst>
                  <a:path extrusionOk="0" h="13095" w="39287">
                    <a:moveTo>
                      <a:pt x="0" y="0"/>
                    </a:moveTo>
                    <a:lnTo>
                      <a:pt x="0" y="13096"/>
                    </a:lnTo>
                    <a:lnTo>
                      <a:pt x="39287" y="13096"/>
                    </a:lnTo>
                    <a:lnTo>
                      <a:pt x="39287" y="0"/>
                    </a:lnTo>
                  </a:path>
                </a:pathLst>
              </a:custGeom>
              <a:noFill/>
              <a:ln cap="rnd" cmpd="sng" w="9525">
                <a:solidFill>
                  <a:srgbClr val="FF300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4082F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94" name="Google Shape;94;p16"/>
              <p:cNvSpPr/>
              <p:nvPr/>
            </p:nvSpPr>
            <p:spPr>
              <a:xfrm>
                <a:off x="2260704" y="4308643"/>
                <a:ext cx="314298" cy="353586"/>
              </a:xfrm>
              <a:custGeom>
                <a:rect b="b" l="l" r="r" t="t"/>
                <a:pathLst>
                  <a:path extrusionOk="0" h="353586" w="314298">
                    <a:moveTo>
                      <a:pt x="248820" y="0"/>
                    </a:moveTo>
                    <a:lnTo>
                      <a:pt x="301203" y="0"/>
                    </a:lnTo>
                    <a:cubicBezTo>
                      <a:pt x="308406" y="0"/>
                      <a:pt x="314299" y="5893"/>
                      <a:pt x="314299" y="13096"/>
                    </a:cubicBezTo>
                    <a:lnTo>
                      <a:pt x="314299" y="340490"/>
                    </a:lnTo>
                    <a:cubicBezTo>
                      <a:pt x="314299" y="347693"/>
                      <a:pt x="308406" y="353586"/>
                      <a:pt x="301203" y="353586"/>
                    </a:cubicBezTo>
                    <a:lnTo>
                      <a:pt x="13096" y="353586"/>
                    </a:lnTo>
                    <a:cubicBezTo>
                      <a:pt x="5893" y="353586"/>
                      <a:pt x="0" y="347693"/>
                      <a:pt x="0" y="340490"/>
                    </a:cubicBezTo>
                    <a:lnTo>
                      <a:pt x="0" y="13096"/>
                    </a:lnTo>
                    <a:cubicBezTo>
                      <a:pt x="0" y="5893"/>
                      <a:pt x="5893" y="0"/>
                      <a:pt x="13096" y="0"/>
                    </a:cubicBezTo>
                    <a:lnTo>
                      <a:pt x="45835" y="0"/>
                    </a:lnTo>
                  </a:path>
                </a:pathLst>
              </a:custGeom>
              <a:noFill/>
              <a:ln cap="rnd" cmpd="sng" w="9525">
                <a:solidFill>
                  <a:srgbClr val="FF300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4082F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</p:grpSp>
        <p:grpSp>
          <p:nvGrpSpPr>
            <p:cNvPr id="95" name="Google Shape;95;p16"/>
            <p:cNvGrpSpPr/>
            <p:nvPr/>
          </p:nvGrpSpPr>
          <p:grpSpPr>
            <a:xfrm>
              <a:off x="2319635" y="4400314"/>
              <a:ext cx="202984" cy="196435"/>
              <a:chOff x="2319635" y="4400314"/>
              <a:chExt cx="202984" cy="196435"/>
            </a:xfrm>
          </p:grpSpPr>
          <p:sp>
            <p:nvSpPr>
              <p:cNvPr id="96" name="Google Shape;96;p16"/>
              <p:cNvSpPr/>
              <p:nvPr/>
            </p:nvSpPr>
            <p:spPr>
              <a:xfrm>
                <a:off x="2319635" y="4400314"/>
                <a:ext cx="72026" cy="72026"/>
              </a:xfrm>
              <a:custGeom>
                <a:rect b="b" l="l" r="r" t="t"/>
                <a:pathLst>
                  <a:path extrusionOk="0" h="72026" w="72026">
                    <a:moveTo>
                      <a:pt x="72027" y="52383"/>
                    </a:moveTo>
                    <a:lnTo>
                      <a:pt x="72027" y="72027"/>
                    </a:lnTo>
                    <a:lnTo>
                      <a:pt x="0" y="72027"/>
                    </a:lnTo>
                    <a:lnTo>
                      <a:pt x="0" y="0"/>
                    </a:lnTo>
                    <a:lnTo>
                      <a:pt x="32739" y="0"/>
                    </a:lnTo>
                  </a:path>
                </a:pathLst>
              </a:custGeom>
              <a:noFill/>
              <a:ln cap="rnd" cmpd="sng" w="9525">
                <a:solidFill>
                  <a:srgbClr val="FF300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4082F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97" name="Google Shape;97;p16"/>
              <p:cNvSpPr/>
              <p:nvPr/>
            </p:nvSpPr>
            <p:spPr>
              <a:xfrm>
                <a:off x="2319635" y="4524723"/>
                <a:ext cx="72026" cy="72026"/>
              </a:xfrm>
              <a:custGeom>
                <a:rect b="b" l="l" r="r" t="t"/>
                <a:pathLst>
                  <a:path extrusionOk="0" h="72026" w="72026">
                    <a:moveTo>
                      <a:pt x="0" y="0"/>
                    </a:moveTo>
                    <a:lnTo>
                      <a:pt x="72027" y="0"/>
                    </a:lnTo>
                    <a:lnTo>
                      <a:pt x="72027" y="72027"/>
                    </a:lnTo>
                    <a:lnTo>
                      <a:pt x="0" y="72027"/>
                    </a:lnTo>
                    <a:close/>
                  </a:path>
                </a:pathLst>
              </a:custGeom>
              <a:noFill/>
              <a:ln cap="rnd" cmpd="sng" w="9525">
                <a:solidFill>
                  <a:srgbClr val="FF300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4082F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98" name="Google Shape;98;p16"/>
              <p:cNvSpPr/>
              <p:nvPr/>
            </p:nvSpPr>
            <p:spPr>
              <a:xfrm>
                <a:off x="2345827" y="4406862"/>
                <a:ext cx="45835" cy="39287"/>
              </a:xfrm>
              <a:custGeom>
                <a:rect b="b" l="l" r="r" t="t"/>
                <a:pathLst>
                  <a:path extrusionOk="0" h="39287" w="45835">
                    <a:moveTo>
                      <a:pt x="0" y="26192"/>
                    </a:moveTo>
                    <a:lnTo>
                      <a:pt x="13096" y="39287"/>
                    </a:lnTo>
                    <a:lnTo>
                      <a:pt x="45835" y="0"/>
                    </a:lnTo>
                  </a:path>
                </a:pathLst>
              </a:custGeom>
              <a:noFill/>
              <a:ln cap="rnd" cmpd="sng" w="9525">
                <a:solidFill>
                  <a:srgbClr val="FF300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4082F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99" name="Google Shape;99;p16"/>
              <p:cNvSpPr/>
              <p:nvPr/>
            </p:nvSpPr>
            <p:spPr>
              <a:xfrm>
                <a:off x="2430949" y="4433053"/>
                <a:ext cx="52383" cy="6547"/>
              </a:xfrm>
              <a:custGeom>
                <a:rect b="b" l="l" r="r" t="t"/>
                <a:pathLst>
                  <a:path extrusionOk="0" h="6547" w="52383">
                    <a:moveTo>
                      <a:pt x="0" y="0"/>
                    </a:moveTo>
                    <a:lnTo>
                      <a:pt x="52383" y="0"/>
                    </a:lnTo>
                  </a:path>
                </a:pathLst>
              </a:custGeom>
              <a:noFill/>
              <a:ln cap="rnd" cmpd="sng" w="9525">
                <a:solidFill>
                  <a:srgbClr val="FF300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4082F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100" name="Google Shape;100;p16"/>
              <p:cNvSpPr/>
              <p:nvPr/>
            </p:nvSpPr>
            <p:spPr>
              <a:xfrm>
                <a:off x="2430949" y="4472340"/>
                <a:ext cx="91670" cy="6547"/>
              </a:xfrm>
              <a:custGeom>
                <a:rect b="b" l="l" r="r" t="t"/>
                <a:pathLst>
                  <a:path extrusionOk="0" h="6547" w="91670">
                    <a:moveTo>
                      <a:pt x="0" y="0"/>
                    </a:moveTo>
                    <a:lnTo>
                      <a:pt x="91670" y="0"/>
                    </a:lnTo>
                  </a:path>
                </a:pathLst>
              </a:custGeom>
              <a:noFill/>
              <a:ln cap="rnd" cmpd="sng" w="9525">
                <a:solidFill>
                  <a:srgbClr val="FF300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4082F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101" name="Google Shape;101;p16"/>
              <p:cNvSpPr/>
              <p:nvPr/>
            </p:nvSpPr>
            <p:spPr>
              <a:xfrm>
                <a:off x="2430949" y="4550915"/>
                <a:ext cx="52383" cy="6547"/>
              </a:xfrm>
              <a:custGeom>
                <a:rect b="b" l="l" r="r" t="t"/>
                <a:pathLst>
                  <a:path extrusionOk="0" h="6547" w="52383">
                    <a:moveTo>
                      <a:pt x="0" y="0"/>
                    </a:moveTo>
                    <a:lnTo>
                      <a:pt x="52383" y="0"/>
                    </a:lnTo>
                  </a:path>
                </a:pathLst>
              </a:custGeom>
              <a:noFill/>
              <a:ln cap="rnd" cmpd="sng" w="9525">
                <a:solidFill>
                  <a:srgbClr val="FF300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4082F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102" name="Google Shape;102;p16"/>
              <p:cNvSpPr/>
              <p:nvPr/>
            </p:nvSpPr>
            <p:spPr>
              <a:xfrm>
                <a:off x="2430949" y="4590202"/>
                <a:ext cx="91670" cy="6547"/>
              </a:xfrm>
              <a:custGeom>
                <a:rect b="b" l="l" r="r" t="t"/>
                <a:pathLst>
                  <a:path extrusionOk="0" h="6547" w="91670">
                    <a:moveTo>
                      <a:pt x="0" y="0"/>
                    </a:moveTo>
                    <a:lnTo>
                      <a:pt x="91670" y="0"/>
                    </a:lnTo>
                  </a:path>
                </a:pathLst>
              </a:custGeom>
              <a:noFill/>
              <a:ln cap="rnd" cmpd="sng" w="9525">
                <a:solidFill>
                  <a:srgbClr val="FF300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4082F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</p:grpSp>
      </p:grpSp>
      <p:sp>
        <p:nvSpPr>
          <p:cNvPr id="103" name="Google Shape;103;p16"/>
          <p:cNvSpPr txBox="1"/>
          <p:nvPr/>
        </p:nvSpPr>
        <p:spPr>
          <a:xfrm>
            <a:off x="203375" y="4485275"/>
            <a:ext cx="53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The research brief can be found </a:t>
            </a:r>
            <a:r>
              <a:rPr lang="en" sz="10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here</a:t>
            </a:r>
            <a:r>
              <a:rPr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556825" y="981500"/>
            <a:ext cx="7068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What do NV Cx consider when comparing across apps</a:t>
            </a:r>
            <a:endParaRPr b="1" sz="4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Google Shape;114;p18"/>
          <p:cNvGraphicFramePr/>
          <p:nvPr/>
        </p:nvGraphicFramePr>
        <p:xfrm>
          <a:off x="5522400" y="181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{2D17966B-EFF7-4F01-8B75-842CB72CF429}</a:tableStyleId>
              </a:tblPr>
              <a:tblGrid>
                <a:gridCol w="1898650"/>
                <a:gridCol w="728350"/>
              </a:tblGrid>
              <a:tr h="40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50%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49%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46%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20%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19%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18%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9%</a:t>
                      </a:r>
                      <a:endParaRPr b="1"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18" title="Q32. When you order grocery delivery, how frequently do you compare prices/fees across apps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50" y="1813051"/>
            <a:ext cx="4609449" cy="2850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190150" y="1123100"/>
            <a:ext cx="4056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Frequency of comparing apps </a:t>
            </a: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when ordering grocery delivery:</a:t>
            </a:r>
            <a:endParaRPr b="1"/>
          </a:p>
        </p:txBody>
      </p:sp>
      <p:sp>
        <p:nvSpPr>
          <p:cNvPr id="118" name="Google Shape;118;p18"/>
          <p:cNvSpPr txBox="1"/>
          <p:nvPr/>
        </p:nvSpPr>
        <p:spPr>
          <a:xfrm>
            <a:off x="5014175" y="1123100"/>
            <a:ext cx="405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Top apps used in comparison*</a:t>
            </a: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 b="1"/>
          </a:p>
        </p:txBody>
      </p:sp>
      <p:pic>
        <p:nvPicPr>
          <p:cNvPr id="119" name="Google Shape;119;p18"/>
          <p:cNvPicPr preferRelativeResize="0"/>
          <p:nvPr/>
        </p:nvPicPr>
        <p:blipFill rotWithShape="1">
          <a:blip r:embed="rId4">
            <a:alphaModFix/>
          </a:blip>
          <a:srcRect b="30252" l="0" r="0" t="30346"/>
          <a:stretch/>
        </p:blipFill>
        <p:spPr>
          <a:xfrm>
            <a:off x="5739475" y="1887525"/>
            <a:ext cx="1234924" cy="27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 rotWithShape="1">
          <a:blip r:embed="rId5">
            <a:alphaModFix/>
          </a:blip>
          <a:srcRect b="33199" l="0" r="0" t="34793"/>
          <a:stretch/>
        </p:blipFill>
        <p:spPr>
          <a:xfrm>
            <a:off x="5555450" y="2235925"/>
            <a:ext cx="1900276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 rotWithShape="1">
          <a:blip r:embed="rId6">
            <a:alphaModFix/>
          </a:blip>
          <a:srcRect b="28797" l="0" r="0" t="28966"/>
          <a:stretch/>
        </p:blipFill>
        <p:spPr>
          <a:xfrm>
            <a:off x="5869625" y="2704213"/>
            <a:ext cx="1151974" cy="27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 rotWithShape="1">
          <a:blip r:embed="rId7">
            <a:alphaModFix/>
          </a:blip>
          <a:srcRect b="22877" l="0" r="0" t="27624"/>
          <a:stretch/>
        </p:blipFill>
        <p:spPr>
          <a:xfrm>
            <a:off x="6014050" y="3110900"/>
            <a:ext cx="983076" cy="27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/>
          <p:cNvPicPr preferRelativeResize="0"/>
          <p:nvPr/>
        </p:nvPicPr>
        <p:blipFill rotWithShape="1">
          <a:blip r:embed="rId8">
            <a:alphaModFix/>
          </a:blip>
          <a:srcRect b="30866" l="0" r="0" t="21936"/>
          <a:stretch/>
        </p:blipFill>
        <p:spPr>
          <a:xfrm>
            <a:off x="5828150" y="3444789"/>
            <a:ext cx="1234924" cy="327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 rotWithShape="1">
          <a:blip r:embed="rId9">
            <a:alphaModFix/>
          </a:blip>
          <a:srcRect b="15420" l="0" r="0" t="13777"/>
          <a:stretch/>
        </p:blipFill>
        <p:spPr>
          <a:xfrm>
            <a:off x="6014050" y="3865975"/>
            <a:ext cx="983074" cy="361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/>
          <p:cNvPicPr preferRelativeResize="0"/>
          <p:nvPr/>
        </p:nvPicPr>
        <p:blipFill rotWithShape="1">
          <a:blip r:embed="rId10">
            <a:alphaModFix/>
          </a:blip>
          <a:srcRect b="15444" l="0" r="0" t="17897"/>
          <a:stretch/>
        </p:blipFill>
        <p:spPr>
          <a:xfrm>
            <a:off x="6128075" y="4320925"/>
            <a:ext cx="846326" cy="27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/>
        </p:nvSpPr>
        <p:spPr>
          <a:xfrm>
            <a:off x="249650" y="95575"/>
            <a:ext cx="73098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Cx that compare Rx compare grocery apps three-fourths of the time when ordering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86850" y="4663125"/>
            <a:ext cx="3000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Base: n=443 DoorDash users who compare apps for Rx</a:t>
            </a:r>
            <a:endParaRPr sz="6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roxima Nova"/>
                <a:ea typeface="Proxima Nova"/>
                <a:cs typeface="Proxima Nova"/>
                <a:sym typeface="Proxima Nova"/>
              </a:rPr>
              <a:t>*Base: n=284 DoorDash users who order Grocery delivery</a:t>
            </a:r>
            <a:endParaRPr sz="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Source: Comparing Across Apps</a:t>
            </a:r>
            <a:endParaRPr sz="6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8425"/>
            <a:ext cx="8839199" cy="3394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6550" y="4537681"/>
            <a:ext cx="317025" cy="31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3900" y="4458169"/>
            <a:ext cx="476049" cy="47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0275" y="4574806"/>
            <a:ext cx="242775" cy="24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28163" y="4574806"/>
            <a:ext cx="242775" cy="24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30400" y="4574806"/>
            <a:ext cx="242775" cy="24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36425" y="4574806"/>
            <a:ext cx="242775" cy="24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67175" y="4574806"/>
            <a:ext cx="242775" cy="24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099210" y="4574806"/>
            <a:ext cx="242775" cy="24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 txBox="1"/>
          <p:nvPr/>
        </p:nvSpPr>
        <p:spPr>
          <a:xfrm>
            <a:off x="334575" y="86125"/>
            <a:ext cx="7442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Delivery fees are the top considered factor when comparing apps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86850" y="4739325"/>
            <a:ext cx="30000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roxima Nova"/>
                <a:ea typeface="Proxima Nova"/>
                <a:cs typeface="Proxima Nova"/>
                <a:sym typeface="Proxima Nova"/>
              </a:rPr>
              <a:t>*Base: n=284 DoorDash users who order Grocery delivery</a:t>
            </a:r>
            <a:endParaRPr sz="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Source: Comparing Across Apps</a:t>
            </a:r>
            <a:endParaRPr sz="6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285725" y="903550"/>
            <a:ext cx="73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Top factors considered when comparing grocery orders across apps: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125" y="1547775"/>
            <a:ext cx="9144000" cy="3001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86850" y="4663125"/>
            <a:ext cx="3000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roxima Nova"/>
                <a:ea typeface="Proxima Nova"/>
                <a:cs typeface="Proxima Nova"/>
                <a:sym typeface="Proxima Nova"/>
              </a:rPr>
              <a:t>*Base: n=284 DoorDash users who order Grocery delivery</a:t>
            </a:r>
            <a:endParaRPr sz="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Source: Comparing Across Apps</a:t>
            </a:r>
            <a:endParaRPr sz="6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474475" y="1748375"/>
            <a:ext cx="364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Why do Cx choose                              ? </a:t>
            </a:r>
            <a:endParaRPr b="1"/>
          </a:p>
        </p:txBody>
      </p:sp>
      <p:sp>
        <p:nvSpPr>
          <p:cNvPr id="153" name="Google Shape;153;p20"/>
          <p:cNvSpPr txBox="1"/>
          <p:nvPr/>
        </p:nvSpPr>
        <p:spPr>
          <a:xfrm>
            <a:off x="4722800" y="1748375"/>
            <a:ext cx="377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Why do Cx choose                            ?</a:t>
            </a:r>
            <a:endParaRPr b="1"/>
          </a:p>
        </p:txBody>
      </p:sp>
      <p:sp>
        <p:nvSpPr>
          <p:cNvPr id="154" name="Google Shape;154;p20"/>
          <p:cNvSpPr txBox="1"/>
          <p:nvPr/>
        </p:nvSpPr>
        <p:spPr>
          <a:xfrm>
            <a:off x="353450" y="171075"/>
            <a:ext cx="78477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Cx choose DoorDash because of individual cost features while Cx choose Instacart for total cost value and grocery staples.</a:t>
            </a:r>
            <a:endParaRPr b="1" sz="23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55" name="Google Shape;155;p20"/>
          <p:cNvGraphicFramePr/>
          <p:nvPr/>
        </p:nvGraphicFramePr>
        <p:xfrm>
          <a:off x="575000" y="231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{69D4E820-D569-464C-B4F7-676DF57B6F54}</a:tableStyleId>
              </a:tblPr>
              <a:tblGrid>
                <a:gridCol w="646650"/>
                <a:gridCol w="2600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CC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1.</a:t>
                      </a:r>
                      <a:endParaRPr b="1" sz="1300">
                        <a:solidFill>
                          <a:srgbClr val="CC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CC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Delivery time</a:t>
                      </a:r>
                      <a:endParaRPr sz="1300">
                        <a:solidFill>
                          <a:srgbClr val="CC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CC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2.</a:t>
                      </a:r>
                      <a:endParaRPr b="1" sz="1300">
                        <a:solidFill>
                          <a:srgbClr val="CC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CC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Discounts/promos</a:t>
                      </a:r>
                      <a:endParaRPr sz="1300">
                        <a:solidFill>
                          <a:srgbClr val="CC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CC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3.</a:t>
                      </a:r>
                      <a:endParaRPr b="1" sz="1300">
                        <a:solidFill>
                          <a:srgbClr val="CC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CC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Delivery fees</a:t>
                      </a:r>
                      <a:endParaRPr sz="1300">
                        <a:solidFill>
                          <a:srgbClr val="CC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CC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4.</a:t>
                      </a:r>
                      <a:endParaRPr b="1" sz="1300">
                        <a:solidFill>
                          <a:srgbClr val="CC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CC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Total cost of order</a:t>
                      </a:r>
                      <a:endParaRPr sz="1300">
                        <a:solidFill>
                          <a:srgbClr val="CC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CC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5.</a:t>
                      </a:r>
                      <a:endParaRPr b="1" sz="1300">
                        <a:solidFill>
                          <a:srgbClr val="CC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CC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Service fees</a:t>
                      </a:r>
                      <a:endParaRPr sz="1300">
                        <a:solidFill>
                          <a:srgbClr val="CC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" name="Google Shape;156;p20"/>
          <p:cNvGraphicFramePr/>
          <p:nvPr/>
        </p:nvGraphicFramePr>
        <p:xfrm>
          <a:off x="4832750" y="231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{69D4E820-D569-464C-B4F7-676DF57B6F54}</a:tableStyleId>
              </a:tblPr>
              <a:tblGrid>
                <a:gridCol w="646650"/>
                <a:gridCol w="2789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274E1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1.</a:t>
                      </a:r>
                      <a:endParaRPr b="1" sz="1300">
                        <a:solidFill>
                          <a:srgbClr val="274E1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74E1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Delivery time</a:t>
                      </a:r>
                      <a:endParaRPr sz="1300">
                        <a:solidFill>
                          <a:srgbClr val="274E1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274E1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2.</a:t>
                      </a:r>
                      <a:endParaRPr b="1" sz="1300">
                        <a:solidFill>
                          <a:srgbClr val="274E1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274E1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Total cost of order</a:t>
                      </a:r>
                      <a:endParaRPr b="1" sz="1300">
                        <a:solidFill>
                          <a:srgbClr val="274E1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274E1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3.</a:t>
                      </a:r>
                      <a:endParaRPr b="1" sz="1300">
                        <a:solidFill>
                          <a:srgbClr val="274E1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74E1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Discount/promos</a:t>
                      </a:r>
                      <a:endParaRPr sz="1300">
                        <a:solidFill>
                          <a:srgbClr val="274E1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274E1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4.</a:t>
                      </a:r>
                      <a:endParaRPr b="1" sz="1300">
                        <a:solidFill>
                          <a:srgbClr val="274E1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274E1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Price of grocery staples</a:t>
                      </a:r>
                      <a:endParaRPr b="1" sz="1300">
                        <a:solidFill>
                          <a:srgbClr val="274E1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274E1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5.</a:t>
                      </a:r>
                      <a:endParaRPr b="1" sz="1300">
                        <a:solidFill>
                          <a:srgbClr val="274E1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74E1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Delivery fees</a:t>
                      </a:r>
                      <a:endParaRPr sz="1300">
                        <a:solidFill>
                          <a:srgbClr val="274E1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7" name="Google Shape;15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9363" y="3089469"/>
            <a:ext cx="317025" cy="31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2138" y="3937931"/>
            <a:ext cx="317025" cy="31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6488" y="2753356"/>
            <a:ext cx="242775" cy="24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1238" y="3180844"/>
            <a:ext cx="242775" cy="24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9851" y="3423619"/>
            <a:ext cx="476049" cy="47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2625" y="2668244"/>
            <a:ext cx="476049" cy="47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21250" y="3559394"/>
            <a:ext cx="242775" cy="24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6488" y="3916806"/>
            <a:ext cx="242775" cy="24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96488" y="2336406"/>
            <a:ext cx="242775" cy="24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09263" y="2423781"/>
            <a:ext cx="242775" cy="24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 rotWithShape="1">
          <a:blip r:embed="rId9">
            <a:alphaModFix/>
          </a:blip>
          <a:srcRect b="30252" l="0" r="0" t="30346"/>
          <a:stretch/>
        </p:blipFill>
        <p:spPr>
          <a:xfrm>
            <a:off x="2120975" y="1811625"/>
            <a:ext cx="1234924" cy="27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 rotWithShape="1">
          <a:blip r:embed="rId10">
            <a:alphaModFix/>
          </a:blip>
          <a:srcRect b="28797" l="0" r="0" t="28966"/>
          <a:stretch/>
        </p:blipFill>
        <p:spPr>
          <a:xfrm>
            <a:off x="6400125" y="1811613"/>
            <a:ext cx="1151974" cy="27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oorDash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838A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